
<file path=[Content_Types].xml><?xml version="1.0" encoding="utf-8"?>
<Types xmlns="http://schemas.openxmlformats.org/package/2006/content-types">
  <Default Extension="jpeg" ContentType="image/jpeg"/>
  <Default Extension="jpg" ContentType="image/jpeg"/>
  <Default Extension="mov" ContentType="video/quicktime"/>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57" r:id="rId3"/>
    <p:sldId id="258" r:id="rId4"/>
    <p:sldId id="259" r:id="rId5"/>
    <p:sldId id="284" r:id="rId6"/>
    <p:sldId id="261"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5" r:id="rId28"/>
    <p:sldId id="281" r:id="rId29"/>
    <p:sldId id="282" r:id="rId30"/>
    <p:sldId id="283" r:id="rId31"/>
  </p:sldIdLst>
  <p:sldSz cx="9144000" cy="5143500" type="screen16x9"/>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6" autoAdjust="0"/>
    <p:restoredTop sz="87223" autoAdjust="0"/>
  </p:normalViewPr>
  <p:slideViewPr>
    <p:cSldViewPr snapToGrid="0">
      <p:cViewPr varScale="1">
        <p:scale>
          <a:sx n="94" d="100"/>
          <a:sy n="94" d="100"/>
        </p:scale>
        <p:origin x="109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present my RP2 project on Vietnamese lexical decision. The focus is how frequency group and syllable length relate to response time, using a collected dataset and a cautious preliminary analysis.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begin with the route of the talk, my research story. First, the Vietnamese writing and spacing problem, then explain how that motivates a lexical decision experiment. After that, I present the design, the data pipeline, the cleaning and quality checks, and finally the preliminary results. The main goal is to show that the project is methodologically controlled and that the results are interpreted cautiously.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Vietnamese writing has a layered history: Chữ Hán, Chữ Nôm, and then Quốc ngữ. Quốc ngữ was shaped by several missionaries and later spread through schooling, administration, and print culture, so it is not a single-inventor story.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Vietnamese spacing creates a useful research problem. Spaces often separate syllables, but a lexical word can contain more than one syllable, such as </a:t>
            </a:r>
            <a:r>
              <a:rPr lang="en-US" dirty="0" err="1"/>
              <a:t>sinh</a:t>
            </a:r>
            <a:r>
              <a:rPr lang="en-US" dirty="0"/>
              <a:t> </a:t>
            </a:r>
            <a:r>
              <a:rPr lang="en-US" dirty="0" err="1"/>
              <a:t>viên</a:t>
            </a:r>
            <a:r>
              <a:rPr lang="en-US" dirty="0"/>
              <a:t>. The project does not solve tokenization; it tests frequency group and syllable length in lexical decision.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the tokenization problem gives the motivation, but I do not treat automatic tokenization as the final answer. I use it to prepare candidate items, then rely on manual lexical review for the final stimuli. This slide gives the main research question and hypotheses. I test whether frequency group and syllable length predict log reaction time for correct Vietnamese real-word responses. H1 predicts that high-frequency words are faster. H2 predicts that longer syllable length increases response time. H3 tests whether the frequency effect changes across syllable lengths. I treat the interaction cautiously because the main effects are the clearer part of the analysis.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stimuli were prepared for the lexical decision experiment. I first used corpus frequency data to collect candidate real-word items, then checked them through manual lexical review because automatic tokenization alone was not reliable enough. After this preparation, I selected the final real words and created pseudowords for the actual task.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 show the core experimental design. It is a 3 x 4 within-participant design: three frequency groups and four syllable lengths. Each participant sees items from every condition, so differences are compared within the same participants rather than between separate participant groups. The balanced cells make the later model easier to interpret.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 explain why pseudowords are included. Without pseudowords, participants could treat the task as simple word reading. Pseudowords force a real lexical decision, because participants must decide whether each string is a word or not. Their accuracy also helps check task quality and response bias.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 previous preparation steps lead to this lexical decision experiment. </a:t>
            </a:r>
          </a:p>
          <a:p>
            <a:r>
              <a:rPr lang="en-US" dirty="0"/>
              <a:t>After selecting the real words and creating the pseudowords, participants completed the actual task shown here. First, they saw the instructions, where F meant “word” and J meant “nonword.” Then they completed four practice trials with feedback, so they understood the response mapping before the main experiment. In the main task, each participant saw 120 randomized trials, including both real words and pseudowords. For each item, the experiment recorded the keyboard response, reaction time, and accuracy, and exported one CSV file per participant.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control task artifacts, the experiment uses practice trials, randomized main trials, pseudowords, and QC checks. Practice trials reduce learning effects during the main task. Randomization prevents item order from driving the result. Pseudowords help detect response bias, and QC checks look for fatigue, missing RTs, very fast responses, or one-key overuse. F and J make responses balanced and fast, but they do not completely remove key-side bias.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short PsychoPy demo can be inserted here to show the actual timing and response screen. The demo helps make the procedure concrete before moving into data handling.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methodology pipeline shows the big workflow: PsychoPy and Pavlovia for the experiment, CSV export, Python and pandas for cleaning, then R Markdown and mixed-effects models for analysis.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Cleaning and QC focus on concrete checks: encoding, participant IDs, trial counts, response mapping, numeric RT conversion, log_rt, missing values, and stimulus validation. Raw files are preserved and analysis copies are created separately.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dataset currently has 48 participants and the expected trial structure. The RT model uses correct real-word main trials, while accuracy is summarized separately because pseudowords are central for task quality.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Reproducibility comes from keeping raw CSVs, cleaning scripts, cleaned datasets, QC outputs, and the R Markdown analysis separate. Each transformation has a named input and output.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the reaction-time analysis, I do not model raw RT directly, because RT data are usually skewed and have a long right tail. So I use log RT to make the data more suitable for linear modeling. I also use a mixed-effects model because the same participant answered many items, and the same item was seen by many participants. Accuracy is kept separate, because it tells me more about task quality, especially whether participants could distinguish real words from pseudowords.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main model I use for correct real-word responses. The fixed effects are frequency group, syllable length, and their interaction. I also include random intercepts for participants and items, because some participants are naturally faster or slower, and some words are naturally easier or harder. The important point is that I should not treat all 3,306 observations as completely independent.</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lower RT means a faster response. These values are descriptive raw RTs in seconds, while the statistical model later uses log RT. The pattern goes in the expected direction: high-frequency words are responded to faster than low-frequency words, and reaction time increases as syllable length becomes longer. So this slide gives the first descriptive evidence for the frequency and length effects, before I move to the model comparison.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interaction asks whether the frequency effect changes depending on syllable length. The result is statistically below .05, with p = .0449, but it is very close to the threshold. So I do not want to overstate it. I interpret it as a possible interaction pattern, while the clearer findings are still the main effects of frequency group and syllable length.</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table shows the model-building logic step by step. The baseline model is compared with a model adding frequency group, then syllable length, and finally the interaction. Frequency group improves the model, but the biggest improvement comes from syllable length. The interaction adds only a small improvement, and because the model becomes more complex, I treat that part cautiously.</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 use diagnostics to check whether the model is trustworthy enough for preliminary interpretation. The residual plots check whether the errors look reasonably random. The QQ plot checks whether residuals are close to normal. VIF checks whether predictors are too strongly correlated. The singular-fit check tests whether the random effects are overfitted or unsupported. No singular fit was detected, which is good. These diagnostics do not prove the model is perfect; they support cautious preliminary reporting.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 connect accuracy to task validity. High word accuracy suggests real words were recognized reliably. Pseudoword accuracy is lower, which is expected because pseudowords are harder, but 82 percent still suggests participants were not simply pressing word for everything. Zero flagged participants and few missing RTs support usable data quality. This strengthens the interpretation of the lexical decision task.</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 bring the results back to the research question. The strongest result is that frequency group and syllable length follow the expected directions: high frequency is faster, and longer syllable length is slower. The interaction is interesting, but secondary and should be treated cautiously. Lexical decision RT reflects both lexical processing and decision or response processes, so the final report should avoid claiming pure lexical access.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point of this slide is caution. The dataset is usable, but 48 participants is still a minimum sample. Pseudowords, item matching, and the frequency source should be checked again before final reporting. The current model is also a starting model with random intercepts, so richer structures can be tested later if stable. Overall, the results are ready for discussion, but not yet a final thesis-level conclusion.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six-month plan is realistic because design, data collection, cleaning, and first analysis are already in place. The remaining work is robustness checking, interpretation, and writing.</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are included for academic completeness. Do not read them aloud; just mention that they support the background, lexical decision, frequency, and modeling choices.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briefly and invite questions about the design, cleaning decisions, model structure, or cautious interpretation. The references should not be read aloud unless someone asks about a specific source.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3" name="Untertitel 2">
            <a:extLst>
              <a:ext uri="{FF2B5EF4-FFF2-40B4-BE49-F238E27FC236}">
                <a16:creationId xmlns:a16="http://schemas.microsoft.com/office/drawing/2014/main" id="{C162B93B-F3F1-49F7-BFB7-B03F37BDF4AA}"/>
              </a:ext>
            </a:extLst>
          </p:cNvPr>
          <p:cNvSpPr>
            <a:spLocks noGrp="1"/>
          </p:cNvSpPr>
          <p:nvPr>
            <p:ph type="subTitle" idx="1" hasCustomPrompt="1"/>
          </p:nvPr>
        </p:nvSpPr>
        <p:spPr>
          <a:xfrm>
            <a:off x="474557" y="2841830"/>
            <a:ext cx="6408712" cy="324000"/>
          </a:xfrm>
          <a:prstGeom prst="rect">
            <a:avLst/>
          </a:prstGeom>
        </p:spPr>
        <p:txBody>
          <a:bodyPr/>
          <a:lstStyle>
            <a:lvl1pPr marL="0" indent="0" algn="l">
              <a:lnSpc>
                <a:spcPts val="2400"/>
              </a:lnSpc>
              <a:spcAft>
                <a:spcPts val="0"/>
              </a:spcAft>
              <a:buNone/>
              <a:defRPr sz="1500" b="0">
                <a:solidFill>
                  <a:schemeClr val="bg2"/>
                </a:solidFill>
                <a:latin typeface="RUB Scala MZ"/>
                <a:ea typeface="RUB Scala MZ"/>
                <a:cs typeface="RUB Scala MZ"/>
              </a:defRPr>
            </a:lvl1pPr>
            <a:lvl2pPr marL="0" indent="0" algn="l">
              <a:lnSpc>
                <a:spcPts val="2400"/>
              </a:lnSpc>
              <a:spcAft>
                <a:spcPts val="0"/>
              </a:spcAft>
              <a:buNone/>
              <a:defRPr sz="1500" b="0">
                <a:solidFill>
                  <a:schemeClr val="bg2"/>
                </a:solidFill>
              </a:defRPr>
            </a:lvl2pPr>
            <a:lvl3pPr marL="0" indent="0" algn="l">
              <a:lnSpc>
                <a:spcPts val="2400"/>
              </a:lnSpc>
              <a:spcAft>
                <a:spcPts val="0"/>
              </a:spcAft>
              <a:buNone/>
              <a:defRPr sz="1500" b="0">
                <a:solidFill>
                  <a:schemeClr val="bg2"/>
                </a:solidFill>
              </a:defRPr>
            </a:lvl3pPr>
            <a:lvl4pPr marL="0" indent="0" algn="l">
              <a:lnSpc>
                <a:spcPts val="2400"/>
              </a:lnSpc>
              <a:spcAft>
                <a:spcPts val="0"/>
              </a:spcAft>
              <a:buNone/>
              <a:defRPr sz="1500" b="0">
                <a:solidFill>
                  <a:schemeClr val="bg2"/>
                </a:solidFill>
              </a:defRPr>
            </a:lvl4pPr>
            <a:lvl5pPr marL="0" indent="0" algn="l">
              <a:lnSpc>
                <a:spcPts val="2400"/>
              </a:lnSpc>
              <a:spcAft>
                <a:spcPts val="0"/>
              </a:spcAft>
              <a:buNone/>
              <a:defRPr sz="1500" b="0">
                <a:solidFill>
                  <a:schemeClr val="bg2"/>
                </a:solidFill>
              </a:defRPr>
            </a:lvl5pPr>
            <a:lvl6pPr marL="0" indent="0" algn="l">
              <a:lnSpc>
                <a:spcPts val="2400"/>
              </a:lnSpc>
              <a:spcAft>
                <a:spcPts val="0"/>
              </a:spcAft>
              <a:buNone/>
              <a:defRPr sz="1500" b="0">
                <a:solidFill>
                  <a:schemeClr val="bg2"/>
                </a:solidFill>
              </a:defRPr>
            </a:lvl6pPr>
            <a:lvl7pPr marL="0" indent="0" algn="l">
              <a:lnSpc>
                <a:spcPts val="2400"/>
              </a:lnSpc>
              <a:spcAft>
                <a:spcPts val="0"/>
              </a:spcAft>
              <a:buNone/>
              <a:defRPr sz="1500" b="0">
                <a:solidFill>
                  <a:schemeClr val="bg2"/>
                </a:solidFill>
              </a:defRPr>
            </a:lvl7pPr>
            <a:lvl8pPr marL="0" indent="0" algn="l">
              <a:lnSpc>
                <a:spcPts val="2400"/>
              </a:lnSpc>
              <a:spcAft>
                <a:spcPts val="0"/>
              </a:spcAft>
              <a:buNone/>
              <a:defRPr sz="1500" b="0">
                <a:solidFill>
                  <a:schemeClr val="bg2"/>
                </a:solidFill>
              </a:defRPr>
            </a:lvl8pPr>
            <a:lvl9pPr marL="0" indent="0" algn="l">
              <a:lnSpc>
                <a:spcPts val="2400"/>
              </a:lnSpc>
              <a:spcAft>
                <a:spcPts val="0"/>
              </a:spcAft>
              <a:buNone/>
              <a:defRPr sz="1500" b="0">
                <a:solidFill>
                  <a:schemeClr val="bg2"/>
                </a:solidFill>
              </a:defRPr>
            </a:lvl9pPr>
          </a:lstStyle>
          <a:p>
            <a:pPr>
              <a:buNone/>
            </a:pPr>
            <a:r>
              <a:t>Subtitle / Author</a:t>
            </a:r>
          </a:p>
        </p:txBody>
      </p:sp>
      <p:sp>
        <p:nvSpPr>
          <p:cNvPr id="23" name="Titel 22">
            <a:extLst>
              <a:ext uri="{FF2B5EF4-FFF2-40B4-BE49-F238E27FC236}">
                <a16:creationId xmlns:a16="http://schemas.microsoft.com/office/drawing/2014/main" id="{259FB325-4F00-4E24-9BB5-CBE59A8EE6E3}"/>
              </a:ext>
            </a:extLst>
          </p:cNvPr>
          <p:cNvSpPr>
            <a:spLocks noGrp="1"/>
          </p:cNvSpPr>
          <p:nvPr>
            <p:ph type="title"/>
          </p:nvPr>
        </p:nvSpPr>
        <p:spPr>
          <a:xfrm>
            <a:off x="474556" y="1662477"/>
            <a:ext cx="6408711" cy="1168553"/>
          </a:xfrm>
          <a:prstGeom prst="rect">
            <a:avLst/>
          </a:prstGeom>
        </p:spPr>
        <p:txBody>
          <a:bodyPr/>
          <a:lstStyle>
            <a:lvl1pPr>
              <a:lnSpc>
                <a:spcPct val="100000"/>
              </a:lnSpc>
              <a:buNone/>
              <a:defRPr sz="4000" b="1" cap="all">
                <a:latin typeface="RubFlama"/>
                <a:ea typeface="RubFlama"/>
                <a:cs typeface="RubFlama"/>
              </a:defRPr>
            </a:lvl1pPr>
          </a:lstStyle>
          <a:p>
            <a:pPr>
              <a:buNone/>
            </a:pPr>
            <a:r>
              <a:t>Mastertitelformat bearbeiten</a:t>
            </a:r>
          </a:p>
        </p:txBody>
      </p:sp>
      <p:pic>
        <p:nvPicPr>
          <p:cNvPr id="24" name="Grafik 8"/>
          <p:cNvPicPr>
            <a:picLocks noChangeAspect="1"/>
          </p:cNvPicPr>
          <p:nvPr/>
        </p:nvPicPr>
        <p:blipFill rotWithShape="1">
          <a:blip r:embed="rId2"/>
          <a:srcRect r="28060"/>
          <a:stretch/>
        </p:blipFill>
        <p:spPr>
          <a:xfrm>
            <a:off x="6876256" y="366333"/>
            <a:ext cx="2267744" cy="4554850"/>
          </a:xfrm>
          <a:prstGeom prst="rect">
            <a:avLst/>
          </a:prstGeom>
        </p:spPr>
      </p:pic>
      <p:pic>
        <p:nvPicPr>
          <p:cNvPr id="25" name="Grafik 9"/>
          <p:cNvPicPr>
            <a:picLocks noChangeAspect="1"/>
          </p:cNvPicPr>
          <p:nvPr/>
        </p:nvPicPr>
        <p:blipFill>
          <a:blip r:embed="rId3"/>
          <a:stretch>
            <a:fillRect/>
          </a:stretch>
        </p:blipFill>
        <p:spPr>
          <a:xfrm>
            <a:off x="474557" y="4380649"/>
            <a:ext cx="1089286" cy="456175"/>
          </a:xfrm>
          <a:prstGeom prst="rect">
            <a:avLst/>
          </a:prstGeom>
        </p:spPr>
      </p:pic>
      <p:pic>
        <p:nvPicPr>
          <p:cNvPr id="26" name="Grafik 10"/>
          <p:cNvPicPr>
            <a:picLocks noChangeAspect="1"/>
          </p:cNvPicPr>
          <p:nvPr/>
        </p:nvPicPr>
        <p:blipFill>
          <a:blip r:embed="rId4"/>
          <a:stretch>
            <a:fillRect/>
          </a:stretch>
        </p:blipFill>
        <p:spPr>
          <a:xfrm>
            <a:off x="1754521" y="4306028"/>
            <a:ext cx="1089287" cy="604355"/>
          </a:xfrm>
          <a:prstGeom prst="rect">
            <a:avLst/>
          </a:prstGeom>
        </p:spPr>
      </p:pic>
      <p:sp>
        <p:nvSpPr>
          <p:cNvPr id="17" name="Textplatzhalter 16">
            <a:extLst>
              <a:ext uri="{FF2B5EF4-FFF2-40B4-BE49-F238E27FC236}">
                <a16:creationId xmlns:a16="http://schemas.microsoft.com/office/drawing/2014/main" id="{C6FF916D-1E24-9147-B308-6EF1EA4407DC}"/>
              </a:ext>
            </a:extLst>
          </p:cNvPr>
          <p:cNvSpPr>
            <a:spLocks noGrp="1"/>
          </p:cNvSpPr>
          <p:nvPr>
            <p:ph type="body" idx="11" hasCustomPrompt="1"/>
          </p:nvPr>
        </p:nvSpPr>
        <p:spPr>
          <a:xfrm>
            <a:off x="474556" y="1334851"/>
            <a:ext cx="3455988" cy="284163"/>
          </a:xfrm>
          <a:prstGeom prst="rect">
            <a:avLst/>
          </a:prstGeom>
        </p:spPr>
        <p:txBody>
          <a:bodyPr/>
          <a:lstStyle>
            <a:lvl1pPr>
              <a:buNone/>
              <a:defRPr b="0" i="0">
                <a:latin typeface="RubFlama"/>
                <a:ea typeface="RubFlama"/>
                <a:cs typeface="RubFlama"/>
              </a:defRPr>
            </a:lvl1pPr>
          </a:lstStyle>
          <a:p>
            <a:pPr>
              <a:buNone/>
            </a:pPr>
            <a:r>
              <a:t>Type of presentation / Place</a:t>
            </a:r>
          </a:p>
        </p:txBody>
      </p:sp>
      <p:sp>
        <p:nvSpPr>
          <p:cNvPr id="19" name="Textplatzhalter 18">
            <a:extLst>
              <a:ext uri="{FF2B5EF4-FFF2-40B4-BE49-F238E27FC236}">
                <a16:creationId xmlns:a16="http://schemas.microsoft.com/office/drawing/2014/main" id="{598C9846-10EA-584E-9393-A7E61E5FE5BE}"/>
              </a:ext>
            </a:extLst>
          </p:cNvPr>
          <p:cNvSpPr>
            <a:spLocks noGrp="1"/>
          </p:cNvSpPr>
          <p:nvPr>
            <p:ph type="body" idx="12" hasCustomPrompt="1"/>
          </p:nvPr>
        </p:nvSpPr>
        <p:spPr>
          <a:xfrm>
            <a:off x="474663" y="3147814"/>
            <a:ext cx="6408737" cy="324001"/>
          </a:xfrm>
          <a:prstGeom prst="rect">
            <a:avLst/>
          </a:prstGeom>
        </p:spPr>
        <p:txBody>
          <a:bodyPr/>
          <a:lstStyle>
            <a:lvl1pPr>
              <a:buNone/>
              <a:defRPr sz="900" b="0" i="0">
                <a:latin typeface="RubFlama"/>
                <a:ea typeface="RubFlama"/>
                <a:cs typeface="RubFlama"/>
              </a:defRPr>
            </a:lvl1pPr>
          </a:lstStyle>
          <a:p>
            <a:pPr>
              <a:buNone/>
            </a:pPr>
            <a:r>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line // Inhalt">
    <p:spTree>
      <p:nvGrpSpPr>
        <p:cNvPr id="1" name=""/>
        <p:cNvGrpSpPr/>
        <p:nvPr/>
      </p:nvGrpSpPr>
      <p:grpSpPr>
        <a:xfrm>
          <a:off x="0" y="0"/>
          <a:ext cx="0" cy="0"/>
          <a:chOff x="0" y="0"/>
          <a:chExt cx="0" cy="0"/>
        </a:xfrm>
      </p:grpSpPr>
      <p:pic>
        <p:nvPicPr>
          <p:cNvPr id="2" name="Grafik 11"/>
          <p:cNvPicPr>
            <a:picLocks noChangeAspect="1"/>
          </p:cNvPicPr>
          <p:nvPr/>
        </p:nvPicPr>
        <p:blipFill>
          <a:blip r:embed="rId2">
            <a:alphaModFix amt="24000"/>
          </a:blip>
          <a:stretch>
            <a:fillRect/>
          </a:stretch>
        </p:blipFill>
        <p:spPr>
          <a:xfrm rot="740469">
            <a:off x="823" y="703030"/>
            <a:ext cx="2123715" cy="2416642"/>
          </a:xfrm>
          <a:prstGeom prst="rect">
            <a:avLst/>
          </a:prstGeom>
        </p:spPr>
      </p:pic>
      <p:sp>
        <p:nvSpPr>
          <p:cNvPr id="3" name="Inhaltsplatzhalter 2">
            <a:extLst>
              <a:ext uri="{FF2B5EF4-FFF2-40B4-BE49-F238E27FC236}">
                <a16:creationId xmlns:a16="http://schemas.microsoft.com/office/drawing/2014/main" id="{AD92C8D6-9752-4127-9D6B-D30F8C216ACF}"/>
              </a:ext>
            </a:extLst>
          </p:cNvPr>
          <p:cNvSpPr>
            <a:spLocks noGrp="1"/>
          </p:cNvSpPr>
          <p:nvPr>
            <p:ph idx="1" hasCustomPrompt="1"/>
          </p:nvPr>
        </p:nvSpPr>
        <p:spPr>
          <a:xfrm>
            <a:off x="4499992" y="503998"/>
            <a:ext cx="4320008" cy="3780001"/>
          </a:xfrm>
          <a:prstGeom prst="rect">
            <a:avLst/>
          </a:prstGeom>
        </p:spPr>
        <p:txBody>
          <a:bodyPr/>
          <a:lstStyle>
            <a:lvl1pPr>
              <a:buNone/>
              <a:defRPr/>
            </a:lvl1pPr>
            <a:lvl2pPr>
              <a:buNone/>
              <a:defRPr/>
            </a:lvl2pPr>
            <a:lvl3pPr>
              <a:buNone/>
              <a:defRPr/>
            </a:lvl3pPr>
            <a:lvl4pPr>
              <a:buNone/>
              <a:defRPr/>
            </a:lvl4pPr>
            <a:lvl5pPr>
              <a:buNone/>
              <a:defRPr/>
            </a:lvl5pPr>
            <a:lvl6pPr marL="0" indent="0">
              <a:buNone/>
              <a:defRPr/>
            </a:lvl6pPr>
            <a:lvl7pPr>
              <a:buNone/>
              <a:defRPr/>
            </a:lvl7pPr>
            <a:lvl8pPr>
              <a:buNone/>
              <a:defRPr/>
            </a:lvl8pPr>
            <a:lvl9pPr>
              <a:buNone/>
              <a:defRPr/>
            </a:lvl9pPr>
          </a:lstStyle>
          <a:p>
            <a:pPr>
              <a:buNone/>
            </a:pPr>
            <a:r>
              <a:t>Subline auf erster Ebene // für weitere Ebenen &gt;&gt; Menü &gt; Start &gt; Absatz &gt; Listenebene erhöhen </a:t>
            </a:r>
          </a:p>
          <a:p>
            <a:pPr>
              <a:buNone/>
            </a:pPr>
            <a:r>
              <a:t>Zweite Ebene</a:t>
            </a:r>
          </a:p>
          <a:p>
            <a:pPr>
              <a:buNone/>
            </a:pPr>
            <a:r>
              <a:t>Dritte Ebene</a:t>
            </a:r>
          </a:p>
          <a:p>
            <a:pPr>
              <a:buNone/>
            </a:pPr>
            <a:r>
              <a:t>Vierte Ebene</a:t>
            </a:r>
          </a:p>
          <a:p>
            <a:pPr>
              <a:buNone/>
            </a:pPr>
            <a:r>
              <a:t>Fünfte Ebene</a:t>
            </a:r>
          </a:p>
          <a:p>
            <a:pPr>
              <a:buNone/>
            </a:pPr>
            <a:r>
              <a:t>Sechste Ebene</a:t>
            </a:r>
          </a:p>
          <a:p>
            <a:pPr>
              <a:buNone/>
            </a:pPr>
            <a:r>
              <a:t>Siebte Ebene</a:t>
            </a:r>
          </a:p>
          <a:p>
            <a:pPr>
              <a:buNone/>
            </a:pPr>
            <a:r>
              <a:t>Achte Ebene</a:t>
            </a:r>
          </a:p>
          <a:p>
            <a:pPr>
              <a:buNone/>
            </a:pPr>
            <a:r>
              <a:t>Neunte Ebene</a:t>
            </a:r>
          </a:p>
        </p:txBody>
      </p:sp>
      <p:sp>
        <p:nvSpPr>
          <p:cNvPr id="8" name="Fußzeilenplatzhalter 7">
            <a:extLst>
              <a:ext uri="{FF2B5EF4-FFF2-40B4-BE49-F238E27FC236}">
                <a16:creationId xmlns:a16="http://schemas.microsoft.com/office/drawing/2014/main" id="{3261E425-9AF3-4B68-A7DE-55697E59EC40}"/>
              </a:ext>
            </a:extLst>
          </p:cNvPr>
          <p:cNvSpPr>
            <a:spLocks noGrp="1"/>
          </p:cNvSpPr>
          <p:nvPr>
            <p:ph type="ftr" idx="11"/>
          </p:nvPr>
        </p:nvSpPr>
        <p:spPr/>
        <p:txBody>
          <a:bodyPr/>
          <a:lstStyle>
            <a:lvl1pPr>
              <a:buNone/>
              <a:defRPr/>
            </a:lvl1pPr>
          </a:lstStyle>
          <a:p>
            <a:r>
              <a:t>Title | Section</a:t>
            </a:r>
          </a:p>
        </p:txBody>
      </p:sp>
      <p:sp>
        <p:nvSpPr>
          <p:cNvPr id="9" name="Foliennummernplatzhalter 8">
            <a:extLst>
              <a:ext uri="{FF2B5EF4-FFF2-40B4-BE49-F238E27FC236}">
                <a16:creationId xmlns:a16="http://schemas.microsoft.com/office/drawing/2014/main" id="{DC8FE19E-1A66-4F06-9454-D8ECA4880C8E}"/>
              </a:ext>
            </a:extLst>
          </p:cNvPr>
          <p:cNvSpPr>
            <a:spLocks noGrp="1"/>
          </p:cNvSpPr>
          <p:nvPr>
            <p:ph type="sldNum" idx="12"/>
          </p:nvPr>
        </p:nvSpPr>
        <p:spPr/>
        <p:txBody>
          <a:bodyPr/>
          <a:lstStyle/>
          <a:p>
            <a:fld id="{6C8FC03C-C266-4645-ABC5-645062898383}" type="slidenum">
              <a:t>‹#›</a:t>
            </a:fld>
            <a:fld id="{D6C92596-E737-FF90-EBB5-6AFD01EC4D29}" type="slidenum">
              <a:t>‹#›</a:t>
            </a:fld>
            <a:endParaRPr/>
          </a:p>
        </p:txBody>
      </p:sp>
      <p:sp>
        <p:nvSpPr>
          <p:cNvPr id="11" name="Titel 1">
            <a:extLst>
              <a:ext uri="{FF2B5EF4-FFF2-40B4-BE49-F238E27FC236}">
                <a16:creationId xmlns:a16="http://schemas.microsoft.com/office/drawing/2014/main" id="{6126DC0A-0CAB-AB43-BA9F-FC6891F5367A}"/>
              </a:ext>
            </a:extLst>
          </p:cNvPr>
          <p:cNvSpPr>
            <a:spLocks noGrp="1"/>
          </p:cNvSpPr>
          <p:nvPr>
            <p:ph type="title" hasCustomPrompt="1"/>
          </p:nvPr>
        </p:nvSpPr>
        <p:spPr>
          <a:xfrm>
            <a:off x="324000" y="1203598"/>
            <a:ext cx="1727720" cy="1512168"/>
          </a:xfrm>
          <a:prstGeom prst="rect">
            <a:avLst/>
          </a:prstGeom>
        </p:spPr>
        <p:txBody>
          <a:bodyPr anchor="ctr"/>
          <a:lstStyle>
            <a:lvl1pPr>
              <a:buNone/>
              <a:defRPr/>
            </a:lvl1pPr>
          </a:lstStyle>
          <a:p>
            <a:r>
              <a:t>Section 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pic>
        <p:nvPicPr>
          <p:cNvPr id="2" name="Grafik 11"/>
          <p:cNvPicPr>
            <a:picLocks noChangeAspect="1"/>
          </p:cNvPicPr>
          <p:nvPr/>
        </p:nvPicPr>
        <p:blipFill rotWithShape="1">
          <a:blip r:embed="rId2">
            <a:alphaModFix amt="43000"/>
          </a:blip>
          <a:srcRect t="40753" r="42388"/>
          <a:stretch/>
        </p:blipFill>
        <p:spPr>
          <a:xfrm>
            <a:off x="7092280" y="0"/>
            <a:ext cx="2051720" cy="2099460"/>
          </a:xfrm>
          <a:prstGeom prst="rect">
            <a:avLst/>
          </a:prstGeom>
        </p:spPr>
      </p:pic>
      <p:sp>
        <p:nvSpPr>
          <p:cNvPr id="3" name="Fußzeilenplatzhalter 2">
            <a:extLst>
              <a:ext uri="{FF2B5EF4-FFF2-40B4-BE49-F238E27FC236}">
                <a16:creationId xmlns:a16="http://schemas.microsoft.com/office/drawing/2014/main" id="{E97D7879-BA70-4DD0-99E9-74C1A1FA34B5}"/>
              </a:ext>
            </a:extLst>
          </p:cNvPr>
          <p:cNvSpPr>
            <a:spLocks noGrp="1"/>
          </p:cNvSpPr>
          <p:nvPr>
            <p:ph type="ftr" idx="12"/>
          </p:nvPr>
        </p:nvSpPr>
        <p:spPr/>
        <p:txBody>
          <a:bodyPr/>
          <a:lstStyle>
            <a:lvl1pPr>
              <a:buNone/>
              <a:defRPr/>
            </a:lvl1pPr>
          </a:lstStyle>
          <a:p>
            <a:r>
              <a:t>Title | Section</a:t>
            </a:r>
          </a:p>
        </p:txBody>
      </p:sp>
      <p:sp>
        <p:nvSpPr>
          <p:cNvPr id="4" name="Foliennummernplatzhalter 3">
            <a:extLst>
              <a:ext uri="{FF2B5EF4-FFF2-40B4-BE49-F238E27FC236}">
                <a16:creationId xmlns:a16="http://schemas.microsoft.com/office/drawing/2014/main" id="{EB422CC4-3EFE-4A06-B194-FAB2C24ECED1}"/>
              </a:ext>
            </a:extLst>
          </p:cNvPr>
          <p:cNvSpPr>
            <a:spLocks noGrp="1"/>
          </p:cNvSpPr>
          <p:nvPr>
            <p:ph type="sldNum" idx="13"/>
          </p:nvPr>
        </p:nvSpPr>
        <p:spPr/>
        <p:txBody>
          <a:bodyPr/>
          <a:lstStyle/>
          <a:p>
            <a:fld id="{6C8FC03C-C266-4645-ABC5-645062898383}" type="slidenum">
              <a:t>‹#›</a:t>
            </a:fld>
            <a:fld id="{D6C92596-E737-FF90-EBB5-6AFD01EC4D29}" type="slidenum">
              <a:t>‹#›</a:t>
            </a:fld>
            <a:endParaRPr/>
          </a:p>
        </p:txBody>
      </p:sp>
      <p:sp>
        <p:nvSpPr>
          <p:cNvPr id="10" name="Titel 1">
            <a:extLst>
              <a:ext uri="{FF2B5EF4-FFF2-40B4-BE49-F238E27FC236}">
                <a16:creationId xmlns:a16="http://schemas.microsoft.com/office/drawing/2014/main" id="{35AFD21E-93DF-EF44-A4EC-A8CC429A71C8}"/>
              </a:ext>
            </a:extLst>
          </p:cNvPr>
          <p:cNvSpPr>
            <a:spLocks noGrp="1"/>
          </p:cNvSpPr>
          <p:nvPr>
            <p:ph type="title" hasCustomPrompt="1"/>
          </p:nvPr>
        </p:nvSpPr>
        <p:spPr>
          <a:xfrm>
            <a:off x="468000" y="396000"/>
            <a:ext cx="7005358" cy="468000"/>
          </a:xfrm>
          <a:prstGeom prst="rect">
            <a:avLst/>
          </a:prstGeom>
        </p:spPr>
        <p:txBody>
          <a:bodyPr/>
          <a:lstStyle>
            <a:lvl1pPr>
              <a:buNone/>
              <a:defRPr/>
            </a:lvl1pPr>
          </a:lstStyle>
          <a:p>
            <a:r>
              <a:t>KAPITEL | CHART-HEADLINE</a:t>
            </a:r>
          </a:p>
        </p:txBody>
      </p:sp>
      <p:sp>
        <p:nvSpPr>
          <p:cNvPr id="11" name="Inhaltsplatzhalter 2">
            <a:extLst>
              <a:ext uri="{FF2B5EF4-FFF2-40B4-BE49-F238E27FC236}">
                <a16:creationId xmlns:a16="http://schemas.microsoft.com/office/drawing/2014/main" id="{7474D2A3-CE0A-4E44-8F36-1E3F1FDB7264}"/>
              </a:ext>
            </a:extLst>
          </p:cNvPr>
          <p:cNvSpPr>
            <a:spLocks noGrp="1"/>
          </p:cNvSpPr>
          <p:nvPr>
            <p:ph idx="1" hasCustomPrompt="1"/>
          </p:nvPr>
        </p:nvSpPr>
        <p:spPr>
          <a:xfrm>
            <a:off x="468000" y="918000"/>
            <a:ext cx="7632392" cy="3366000"/>
          </a:xfrm>
          <a:prstGeom prst="rect">
            <a:avLst/>
          </a:prstGeom>
        </p:spPr>
        <p:txBody>
          <a:bodyPr/>
          <a:lstStyle>
            <a:lvl1pPr>
              <a:buNone/>
              <a:defRPr/>
            </a:lvl1pPr>
            <a:lvl2pPr>
              <a:buNone/>
              <a:defRPr/>
            </a:lvl2pPr>
            <a:lvl3pPr>
              <a:buNone/>
              <a:defRPr/>
            </a:lvl3pPr>
            <a:lvl4pPr>
              <a:buNone/>
              <a:defRPr/>
            </a:lvl4pPr>
            <a:lvl5pPr>
              <a:buNone/>
              <a:defRPr/>
            </a:lvl5pPr>
          </a:lstStyle>
          <a:p>
            <a:pPr>
              <a:buNone/>
            </a:pPr>
            <a:r>
              <a:t>Subline first level</a:t>
            </a:r>
          </a:p>
          <a:p>
            <a:pPr>
              <a:buNone/>
            </a:pPr>
            <a:r>
              <a:t>Text</a:t>
            </a:r>
          </a:p>
          <a:p>
            <a:pPr>
              <a:buNone/>
            </a:pPr>
            <a:r>
              <a:t>Bullet 1</a:t>
            </a:r>
          </a:p>
          <a:p>
            <a:pPr>
              <a:buNone/>
            </a:pPr>
            <a:r>
              <a:t>Bullet 2</a:t>
            </a:r>
          </a:p>
          <a:p>
            <a:pPr>
              <a:buNone/>
            </a:pPr>
            <a:r>
              <a:t>Bullet 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ilder inkl. Headline">
    <p:spTree>
      <p:nvGrpSpPr>
        <p:cNvPr id="1" name=""/>
        <p:cNvGrpSpPr/>
        <p:nvPr/>
      </p:nvGrpSpPr>
      <p:grpSpPr>
        <a:xfrm>
          <a:off x="0" y="0"/>
          <a:ext cx="0" cy="0"/>
          <a:chOff x="0" y="0"/>
          <a:chExt cx="0" cy="0"/>
        </a:xfrm>
      </p:grpSpPr>
      <p:pic>
        <p:nvPicPr>
          <p:cNvPr id="5" name="Grafik 9"/>
          <p:cNvPicPr>
            <a:picLocks noChangeAspect="1"/>
          </p:cNvPicPr>
          <p:nvPr/>
        </p:nvPicPr>
        <p:blipFill rotWithShape="1">
          <a:blip r:embed="rId2">
            <a:alphaModFix amt="43000"/>
          </a:blip>
          <a:srcRect t="40753" r="42388"/>
          <a:stretch/>
        </p:blipFill>
        <p:spPr>
          <a:xfrm>
            <a:off x="7092280" y="0"/>
            <a:ext cx="2051720" cy="2099460"/>
          </a:xfrm>
          <a:prstGeom prst="rect">
            <a:avLst/>
          </a:prstGeom>
        </p:spPr>
      </p:pic>
      <p:sp>
        <p:nvSpPr>
          <p:cNvPr id="7" name="Bildplatzhalter 6">
            <a:extLst>
              <a:ext uri="{FF2B5EF4-FFF2-40B4-BE49-F238E27FC236}">
                <a16:creationId xmlns:a16="http://schemas.microsoft.com/office/drawing/2014/main" id="{EC3A98A1-0379-4B57-A126-017C70E1949C}"/>
              </a:ext>
            </a:extLst>
          </p:cNvPr>
          <p:cNvSpPr>
            <a:spLocks noGrp="1"/>
          </p:cNvSpPr>
          <p:nvPr>
            <p:ph type="pic" idx="10" hasCustomPrompt="1"/>
          </p:nvPr>
        </p:nvSpPr>
        <p:spPr>
          <a:xfrm>
            <a:off x="468000" y="954000"/>
            <a:ext cx="3960000" cy="2646000"/>
          </a:xfrm>
          <a:prstGeom prst="rect">
            <a:avLst/>
          </a:prstGeom>
        </p:spPr>
        <p:txBody>
          <a:bodyPr anchor="ctr"/>
          <a:lstStyle>
            <a:lvl1pPr algn="ctr">
              <a:buNone/>
              <a:defRPr/>
            </a:lvl1pPr>
          </a:lstStyle>
          <a:p>
            <a:r>
              <a:t>Add Image</a:t>
            </a:r>
          </a:p>
        </p:txBody>
      </p:sp>
      <p:sp>
        <p:nvSpPr>
          <p:cNvPr id="3" name="Fußzeilenplatzhalter 2">
            <a:extLst>
              <a:ext uri="{FF2B5EF4-FFF2-40B4-BE49-F238E27FC236}">
                <a16:creationId xmlns:a16="http://schemas.microsoft.com/office/drawing/2014/main" id="{E97D7879-BA70-4DD0-99E9-74C1A1FA34B5}"/>
              </a:ext>
            </a:extLst>
          </p:cNvPr>
          <p:cNvSpPr>
            <a:spLocks noGrp="1"/>
          </p:cNvSpPr>
          <p:nvPr>
            <p:ph type="ftr" idx="12"/>
          </p:nvPr>
        </p:nvSpPr>
        <p:spPr/>
        <p:txBody>
          <a:bodyPr/>
          <a:lstStyle>
            <a:lvl1pPr>
              <a:buNone/>
              <a:defRPr/>
            </a:lvl1pPr>
          </a:lstStyle>
          <a:p>
            <a:r>
              <a:t>Title | Section</a:t>
            </a:r>
          </a:p>
        </p:txBody>
      </p:sp>
      <p:sp>
        <p:nvSpPr>
          <p:cNvPr id="4" name="Foliennummernplatzhalter 3">
            <a:extLst>
              <a:ext uri="{FF2B5EF4-FFF2-40B4-BE49-F238E27FC236}">
                <a16:creationId xmlns:a16="http://schemas.microsoft.com/office/drawing/2014/main" id="{EB422CC4-3EFE-4A06-B194-FAB2C24ECED1}"/>
              </a:ext>
            </a:extLst>
          </p:cNvPr>
          <p:cNvSpPr>
            <a:spLocks noGrp="1"/>
          </p:cNvSpPr>
          <p:nvPr>
            <p:ph type="sldNum" idx="13"/>
          </p:nvPr>
        </p:nvSpPr>
        <p:spPr/>
        <p:txBody>
          <a:bodyPr/>
          <a:lstStyle/>
          <a:p>
            <a:fld id="{6C8FC03C-C266-4645-ABC5-645062898383}" type="slidenum">
              <a:t>‹#›</a:t>
            </a:fld>
            <a:fld id="{D6C92596-E737-FF90-EBB5-6AFD01EC4D29}" type="slidenum">
              <a:t>‹#›</a:t>
            </a:fld>
            <a:endParaRPr/>
          </a:p>
        </p:txBody>
      </p:sp>
      <p:sp>
        <p:nvSpPr>
          <p:cNvPr id="6" name="Textplatzhalter 5">
            <a:extLst>
              <a:ext uri="{FF2B5EF4-FFF2-40B4-BE49-F238E27FC236}">
                <a16:creationId xmlns:a16="http://schemas.microsoft.com/office/drawing/2014/main" id="{6DC3B07E-B021-4B5C-9450-33EDD5844452}"/>
              </a:ext>
            </a:extLst>
          </p:cNvPr>
          <p:cNvSpPr>
            <a:spLocks noGrp="1"/>
          </p:cNvSpPr>
          <p:nvPr>
            <p:ph type="body" idx="14" hasCustomPrompt="1"/>
          </p:nvPr>
        </p:nvSpPr>
        <p:spPr>
          <a:xfrm>
            <a:off x="468000" y="3708000"/>
            <a:ext cx="3960000" cy="576000"/>
          </a:xfrm>
          <a:prstGeom prst="rect">
            <a:avLst/>
          </a:prstGeom>
        </p:spPr>
        <p:txBody>
          <a:bodyPr/>
          <a:lstStyle>
            <a:lvl1pPr>
              <a:lnSpc>
                <a:spcPts val="1200"/>
              </a:lnSpc>
              <a:spcAft>
                <a:spcPts val="0"/>
              </a:spcAft>
              <a:buNone/>
              <a:defRPr sz="900"/>
            </a:lvl1pPr>
            <a:lvl2pPr>
              <a:lnSpc>
                <a:spcPts val="1200"/>
              </a:lnSpc>
              <a:spcAft>
                <a:spcPts val="0"/>
              </a:spcAft>
              <a:buNone/>
              <a:defRPr sz="900"/>
            </a:lvl2pPr>
            <a:lvl3pPr>
              <a:lnSpc>
                <a:spcPts val="1200"/>
              </a:lnSpc>
              <a:spcAft>
                <a:spcPts val="0"/>
              </a:spcAft>
              <a:buNone/>
              <a:defRPr sz="900"/>
            </a:lvl3pPr>
            <a:lvl4pPr>
              <a:lnSpc>
                <a:spcPts val="1200"/>
              </a:lnSpc>
              <a:spcAft>
                <a:spcPts val="0"/>
              </a:spcAft>
              <a:buNone/>
              <a:defRPr sz="900"/>
            </a:lvl4pPr>
            <a:lvl5pPr>
              <a:lnSpc>
                <a:spcPts val="1200"/>
              </a:lnSpc>
              <a:spcAft>
                <a:spcPts val="0"/>
              </a:spcAft>
              <a:buNone/>
              <a:defRPr sz="900"/>
            </a:lvl5pPr>
            <a:lvl6pPr>
              <a:lnSpc>
                <a:spcPts val="1200"/>
              </a:lnSpc>
              <a:spcAft>
                <a:spcPts val="0"/>
              </a:spcAft>
              <a:buNone/>
              <a:defRPr sz="900"/>
            </a:lvl6pPr>
            <a:lvl7pPr>
              <a:lnSpc>
                <a:spcPts val="1200"/>
              </a:lnSpc>
              <a:spcAft>
                <a:spcPts val="0"/>
              </a:spcAft>
              <a:buNone/>
              <a:defRPr sz="900"/>
            </a:lvl7pPr>
            <a:lvl8pPr>
              <a:lnSpc>
                <a:spcPts val="1200"/>
              </a:lnSpc>
              <a:spcAft>
                <a:spcPts val="0"/>
              </a:spcAft>
              <a:buNone/>
              <a:defRPr sz="900"/>
            </a:lvl8pPr>
            <a:lvl9pPr>
              <a:lnSpc>
                <a:spcPts val="1200"/>
              </a:lnSpc>
              <a:spcAft>
                <a:spcPts val="0"/>
              </a:spcAft>
              <a:buNone/>
              <a:defRPr sz="900"/>
            </a:lvl9pPr>
          </a:lstStyle>
          <a:p>
            <a:pPr>
              <a:buNone/>
            </a:pPr>
            <a:r>
              <a:t>Image title</a:t>
            </a:r>
          </a:p>
          <a:p>
            <a:pPr>
              <a:buNone/>
            </a:pPr>
            <a:r>
              <a:t>Explanation</a:t>
            </a:r>
          </a:p>
        </p:txBody>
      </p:sp>
      <p:sp>
        <p:nvSpPr>
          <p:cNvPr id="8" name="Bildplatzhalter 6">
            <a:extLst>
              <a:ext uri="{FF2B5EF4-FFF2-40B4-BE49-F238E27FC236}">
                <a16:creationId xmlns:a16="http://schemas.microsoft.com/office/drawing/2014/main" id="{CFABEA7C-7103-4FAC-AAB1-B8FF06848676}"/>
              </a:ext>
            </a:extLst>
          </p:cNvPr>
          <p:cNvSpPr>
            <a:spLocks noGrp="1"/>
          </p:cNvSpPr>
          <p:nvPr>
            <p:ph type="pic" idx="15" hasCustomPrompt="1"/>
          </p:nvPr>
        </p:nvSpPr>
        <p:spPr>
          <a:xfrm>
            <a:off x="4680000" y="954000"/>
            <a:ext cx="3960000" cy="2646000"/>
          </a:xfrm>
          <a:prstGeom prst="rect">
            <a:avLst/>
          </a:prstGeom>
        </p:spPr>
        <p:txBody>
          <a:bodyPr anchor="ctr"/>
          <a:lstStyle>
            <a:lvl1pPr algn="ctr">
              <a:buNone/>
              <a:defRPr/>
            </a:lvl1pPr>
          </a:lstStyle>
          <a:p>
            <a:r>
              <a:t>Add Image</a:t>
            </a:r>
          </a:p>
        </p:txBody>
      </p:sp>
      <p:sp>
        <p:nvSpPr>
          <p:cNvPr id="9" name="Textplatzhalter 5">
            <a:extLst>
              <a:ext uri="{FF2B5EF4-FFF2-40B4-BE49-F238E27FC236}">
                <a16:creationId xmlns:a16="http://schemas.microsoft.com/office/drawing/2014/main" id="{9CA26BD8-E4CD-4A9F-ACC0-895F1FD2744F}"/>
              </a:ext>
            </a:extLst>
          </p:cNvPr>
          <p:cNvSpPr>
            <a:spLocks noGrp="1"/>
          </p:cNvSpPr>
          <p:nvPr>
            <p:ph type="body" idx="16" hasCustomPrompt="1"/>
          </p:nvPr>
        </p:nvSpPr>
        <p:spPr>
          <a:xfrm>
            <a:off x="4680000" y="3708000"/>
            <a:ext cx="3960000" cy="576000"/>
          </a:xfrm>
          <a:prstGeom prst="rect">
            <a:avLst/>
          </a:prstGeom>
        </p:spPr>
        <p:txBody>
          <a:bodyPr/>
          <a:lstStyle>
            <a:lvl1pPr>
              <a:lnSpc>
                <a:spcPts val="1200"/>
              </a:lnSpc>
              <a:spcAft>
                <a:spcPts val="0"/>
              </a:spcAft>
              <a:buNone/>
              <a:defRPr sz="900"/>
            </a:lvl1pPr>
            <a:lvl2pPr>
              <a:lnSpc>
                <a:spcPts val="1200"/>
              </a:lnSpc>
              <a:spcAft>
                <a:spcPts val="0"/>
              </a:spcAft>
              <a:buNone/>
              <a:defRPr sz="900"/>
            </a:lvl2pPr>
            <a:lvl3pPr>
              <a:lnSpc>
                <a:spcPts val="1200"/>
              </a:lnSpc>
              <a:spcAft>
                <a:spcPts val="0"/>
              </a:spcAft>
              <a:buNone/>
              <a:defRPr sz="900"/>
            </a:lvl3pPr>
            <a:lvl4pPr>
              <a:lnSpc>
                <a:spcPts val="1200"/>
              </a:lnSpc>
              <a:spcAft>
                <a:spcPts val="0"/>
              </a:spcAft>
              <a:buNone/>
              <a:defRPr sz="900"/>
            </a:lvl4pPr>
            <a:lvl5pPr>
              <a:lnSpc>
                <a:spcPts val="1200"/>
              </a:lnSpc>
              <a:spcAft>
                <a:spcPts val="0"/>
              </a:spcAft>
              <a:buNone/>
              <a:defRPr sz="900"/>
            </a:lvl5pPr>
            <a:lvl6pPr>
              <a:lnSpc>
                <a:spcPts val="1200"/>
              </a:lnSpc>
              <a:spcAft>
                <a:spcPts val="0"/>
              </a:spcAft>
              <a:buNone/>
              <a:defRPr sz="900"/>
            </a:lvl6pPr>
            <a:lvl7pPr>
              <a:lnSpc>
                <a:spcPts val="1200"/>
              </a:lnSpc>
              <a:spcAft>
                <a:spcPts val="0"/>
              </a:spcAft>
              <a:buNone/>
              <a:defRPr sz="900"/>
            </a:lvl7pPr>
            <a:lvl8pPr>
              <a:lnSpc>
                <a:spcPts val="1200"/>
              </a:lnSpc>
              <a:spcAft>
                <a:spcPts val="0"/>
              </a:spcAft>
              <a:buNone/>
              <a:defRPr sz="900"/>
            </a:lvl8pPr>
            <a:lvl9pPr>
              <a:lnSpc>
                <a:spcPts val="1200"/>
              </a:lnSpc>
              <a:spcAft>
                <a:spcPts val="0"/>
              </a:spcAft>
              <a:buNone/>
              <a:defRPr sz="900"/>
            </a:lvl9pPr>
          </a:lstStyle>
          <a:p>
            <a:pPr>
              <a:buNone/>
            </a:pPr>
            <a:r>
              <a:t>Image title</a:t>
            </a:r>
          </a:p>
          <a:p>
            <a:pPr>
              <a:buNone/>
            </a:pPr>
            <a:r>
              <a:t>Explanation</a:t>
            </a:r>
          </a:p>
        </p:txBody>
      </p:sp>
      <p:sp>
        <p:nvSpPr>
          <p:cNvPr id="2" name="Titel 1">
            <a:extLst>
              <a:ext uri="{FF2B5EF4-FFF2-40B4-BE49-F238E27FC236}">
                <a16:creationId xmlns:a16="http://schemas.microsoft.com/office/drawing/2014/main" id="{F0B3784F-BC20-4A45-986C-728B00F5961B}"/>
              </a:ext>
            </a:extLst>
          </p:cNvPr>
          <p:cNvSpPr>
            <a:spLocks noGrp="1"/>
          </p:cNvSpPr>
          <p:nvPr>
            <p:ph type="title" hasCustomPrompt="1"/>
          </p:nvPr>
        </p:nvSpPr>
        <p:spPr>
          <a:xfrm>
            <a:off x="468000" y="396000"/>
            <a:ext cx="7560000" cy="468000"/>
          </a:xfrm>
          <a:prstGeom prst="rect">
            <a:avLst/>
          </a:prstGeom>
        </p:spPr>
        <p:txBody>
          <a:bodyPr/>
          <a:lstStyle>
            <a:lvl1pPr>
              <a:buNone/>
              <a:defRPr/>
            </a:lvl1pPr>
          </a:lstStyle>
          <a:p>
            <a:r>
              <a:t>Section | Section headline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eadline / Text / Bild">
    <p:spTree>
      <p:nvGrpSpPr>
        <p:cNvPr id="1" name=""/>
        <p:cNvGrpSpPr/>
        <p:nvPr/>
      </p:nvGrpSpPr>
      <p:grpSpPr>
        <a:xfrm>
          <a:off x="0" y="0"/>
          <a:ext cx="0" cy="0"/>
          <a:chOff x="0" y="0"/>
          <a:chExt cx="0" cy="0"/>
        </a:xfrm>
      </p:grpSpPr>
      <p:pic>
        <p:nvPicPr>
          <p:cNvPr id="2" name="Grafik 10"/>
          <p:cNvPicPr>
            <a:picLocks noChangeAspect="1"/>
          </p:cNvPicPr>
          <p:nvPr/>
        </p:nvPicPr>
        <p:blipFill rotWithShape="1">
          <a:blip r:embed="rId2">
            <a:alphaModFix amt="43000"/>
          </a:blip>
          <a:srcRect t="40753" r="42388"/>
          <a:stretch/>
        </p:blipFill>
        <p:spPr>
          <a:xfrm>
            <a:off x="7092280" y="0"/>
            <a:ext cx="2051720" cy="2099460"/>
          </a:xfrm>
          <a:prstGeom prst="rect">
            <a:avLst/>
          </a:prstGeom>
        </p:spPr>
      </p:pic>
      <p:sp>
        <p:nvSpPr>
          <p:cNvPr id="8" name="Fußzeilenplatzhalter 7">
            <a:extLst>
              <a:ext uri="{FF2B5EF4-FFF2-40B4-BE49-F238E27FC236}">
                <a16:creationId xmlns:a16="http://schemas.microsoft.com/office/drawing/2014/main" id="{3261E425-9AF3-4B68-A7DE-55697E59EC40}"/>
              </a:ext>
            </a:extLst>
          </p:cNvPr>
          <p:cNvSpPr>
            <a:spLocks noGrp="1"/>
          </p:cNvSpPr>
          <p:nvPr>
            <p:ph type="ftr" idx="11"/>
          </p:nvPr>
        </p:nvSpPr>
        <p:spPr/>
        <p:txBody>
          <a:bodyPr/>
          <a:lstStyle/>
          <a:p>
            <a:r>
              <a:t>Titel | ggf. weitere Angaben</a:t>
            </a:r>
          </a:p>
        </p:txBody>
      </p:sp>
      <p:sp>
        <p:nvSpPr>
          <p:cNvPr id="9" name="Foliennummernplatzhalter 8">
            <a:extLst>
              <a:ext uri="{FF2B5EF4-FFF2-40B4-BE49-F238E27FC236}">
                <a16:creationId xmlns:a16="http://schemas.microsoft.com/office/drawing/2014/main" id="{DC8FE19E-1A66-4F06-9454-D8ECA4880C8E}"/>
              </a:ext>
            </a:extLst>
          </p:cNvPr>
          <p:cNvSpPr>
            <a:spLocks noGrp="1"/>
          </p:cNvSpPr>
          <p:nvPr>
            <p:ph type="sldNum" idx="12"/>
          </p:nvPr>
        </p:nvSpPr>
        <p:spPr/>
        <p:txBody>
          <a:bodyPr/>
          <a:lstStyle/>
          <a:p>
            <a:fld id="{6C8FC03C-C266-4645-ABC5-645062898383}" type="slidenum">
              <a:t>‹#›</a:t>
            </a:fld>
            <a:fld id="{D6C92596-E737-FF90-EBB5-6AFD01EC4D29}" type="slidenum">
              <a:t>‹#›</a:t>
            </a:fld>
            <a:endParaRPr/>
          </a:p>
        </p:txBody>
      </p:sp>
      <p:sp>
        <p:nvSpPr>
          <p:cNvPr id="5" name="Bildplatzhalter 4">
            <a:extLst>
              <a:ext uri="{FF2B5EF4-FFF2-40B4-BE49-F238E27FC236}">
                <a16:creationId xmlns:a16="http://schemas.microsoft.com/office/drawing/2014/main" id="{6DB40BEE-2C74-4B7C-AA75-FB330D4E18BC}"/>
              </a:ext>
            </a:extLst>
          </p:cNvPr>
          <p:cNvSpPr>
            <a:spLocks noGrp="1"/>
          </p:cNvSpPr>
          <p:nvPr>
            <p:ph type="pic" idx="13" hasCustomPrompt="1"/>
          </p:nvPr>
        </p:nvSpPr>
        <p:spPr>
          <a:xfrm>
            <a:off x="4104000" y="954000"/>
            <a:ext cx="4536000" cy="3024000"/>
          </a:xfrm>
          <a:prstGeom prst="rect">
            <a:avLst/>
          </a:prstGeom>
        </p:spPr>
        <p:txBody>
          <a:bodyPr anchor="ctr"/>
          <a:lstStyle>
            <a:lvl1pPr algn="ctr">
              <a:buNone/>
              <a:defRPr/>
            </a:lvl1pPr>
          </a:lstStyle>
          <a:p>
            <a:r>
              <a:t>Add Image</a:t>
            </a:r>
          </a:p>
        </p:txBody>
      </p:sp>
      <p:sp>
        <p:nvSpPr>
          <p:cNvPr id="10" name="Titel 1">
            <a:extLst>
              <a:ext uri="{FF2B5EF4-FFF2-40B4-BE49-F238E27FC236}">
                <a16:creationId xmlns:a16="http://schemas.microsoft.com/office/drawing/2014/main" id="{1A8D6956-691E-E04E-8C15-E1B520BBF98A}"/>
              </a:ext>
            </a:extLst>
          </p:cNvPr>
          <p:cNvSpPr>
            <a:spLocks noGrp="1"/>
          </p:cNvSpPr>
          <p:nvPr>
            <p:ph type="title" hasCustomPrompt="1"/>
          </p:nvPr>
        </p:nvSpPr>
        <p:spPr>
          <a:xfrm>
            <a:off x="468000" y="396000"/>
            <a:ext cx="7560000" cy="468000"/>
          </a:xfrm>
          <a:prstGeom prst="rect">
            <a:avLst/>
          </a:prstGeom>
        </p:spPr>
        <p:txBody>
          <a:bodyPr/>
          <a:lstStyle>
            <a:lvl1pPr>
              <a:buNone/>
              <a:defRPr/>
            </a:lvl1pPr>
          </a:lstStyle>
          <a:p>
            <a:r>
              <a:t>KAPITEL | CHART-HEADLINE</a:t>
            </a:r>
          </a:p>
        </p:txBody>
      </p:sp>
      <p:sp>
        <p:nvSpPr>
          <p:cNvPr id="12" name="Inhaltsplatzhalter 2">
            <a:extLst>
              <a:ext uri="{FF2B5EF4-FFF2-40B4-BE49-F238E27FC236}">
                <a16:creationId xmlns:a16="http://schemas.microsoft.com/office/drawing/2014/main" id="{AC0A025C-8C18-BDCA-6D1D-0392EE474B4B}"/>
              </a:ext>
            </a:extLst>
          </p:cNvPr>
          <p:cNvSpPr>
            <a:spLocks noGrp="1"/>
          </p:cNvSpPr>
          <p:nvPr>
            <p:ph idx="1" hasCustomPrompt="1"/>
          </p:nvPr>
        </p:nvSpPr>
        <p:spPr>
          <a:xfrm>
            <a:off x="473706" y="884479"/>
            <a:ext cx="3594238" cy="3271448"/>
          </a:xfrm>
          <a:prstGeom prst="rect">
            <a:avLst/>
          </a:prstGeom>
        </p:spPr>
        <p:txBody>
          <a:bodyPr/>
          <a:lstStyle>
            <a:lvl1pPr>
              <a:buNone/>
              <a:defRPr/>
            </a:lvl1pPr>
            <a:lvl2pPr>
              <a:buNone/>
              <a:defRPr/>
            </a:lvl2pPr>
            <a:lvl3pPr>
              <a:buNone/>
              <a:defRPr/>
            </a:lvl3pPr>
            <a:lvl4pPr>
              <a:buNone/>
              <a:defRPr/>
            </a:lvl4pPr>
            <a:lvl5pPr>
              <a:buNone/>
              <a:defRPr/>
            </a:lvl5pPr>
            <a:lvl6pPr marL="0" indent="0">
              <a:buNone/>
              <a:defRPr/>
            </a:lvl6pPr>
            <a:lvl7pPr>
              <a:buNone/>
              <a:defRPr/>
            </a:lvl7pPr>
            <a:lvl8pPr>
              <a:buNone/>
              <a:defRPr/>
            </a:lvl8pPr>
            <a:lvl9pPr>
              <a:buNone/>
              <a:defRPr/>
            </a:lvl9pPr>
          </a:lstStyle>
          <a:p>
            <a:pPr>
              <a:buNone/>
            </a:pPr>
            <a:r>
              <a:t>Subline auf erster Ebene // für weitere Ebenen &gt;&gt; Menü &gt; Start &gt; Absatz &gt; Listenebene erhöhen </a:t>
            </a:r>
          </a:p>
          <a:p>
            <a:pPr>
              <a:buNone/>
            </a:pPr>
            <a:r>
              <a:t>Zweite Ebene</a:t>
            </a:r>
          </a:p>
          <a:p>
            <a:pPr>
              <a:buNone/>
            </a:pPr>
            <a:r>
              <a:t>Dritte Ebene</a:t>
            </a:r>
          </a:p>
          <a:p>
            <a:pPr>
              <a:buNone/>
            </a:pPr>
            <a:r>
              <a:t>Vierte Ebene</a:t>
            </a:r>
          </a:p>
          <a:p>
            <a:pPr>
              <a:buNone/>
            </a:pPr>
            <a:r>
              <a:t>Fünfte Ebene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 Text / Bild inkl. Bildunterzeile">
    <p:spTree>
      <p:nvGrpSpPr>
        <p:cNvPr id="1" name=""/>
        <p:cNvGrpSpPr/>
        <p:nvPr/>
      </p:nvGrpSpPr>
      <p:grpSpPr>
        <a:xfrm>
          <a:off x="0" y="0"/>
          <a:ext cx="0" cy="0"/>
          <a:chOff x="0" y="0"/>
          <a:chExt cx="0" cy="0"/>
        </a:xfrm>
      </p:grpSpPr>
      <p:pic>
        <p:nvPicPr>
          <p:cNvPr id="4" name="Grafik 10"/>
          <p:cNvPicPr>
            <a:picLocks noChangeAspect="1"/>
          </p:cNvPicPr>
          <p:nvPr/>
        </p:nvPicPr>
        <p:blipFill rotWithShape="1">
          <a:blip r:embed="rId2">
            <a:alphaModFix amt="43000"/>
          </a:blip>
          <a:srcRect t="40753" r="42388"/>
          <a:stretch/>
        </p:blipFill>
        <p:spPr>
          <a:xfrm>
            <a:off x="7092280" y="0"/>
            <a:ext cx="2051720" cy="2099460"/>
          </a:xfrm>
          <a:prstGeom prst="rect">
            <a:avLst/>
          </a:prstGeom>
        </p:spPr>
      </p:pic>
      <p:sp>
        <p:nvSpPr>
          <p:cNvPr id="2" name="Titel 1">
            <a:extLst>
              <a:ext uri="{FF2B5EF4-FFF2-40B4-BE49-F238E27FC236}">
                <a16:creationId xmlns:a16="http://schemas.microsoft.com/office/drawing/2014/main" id="{587C5EEB-0C9B-48D4-B68B-ED5DAA3A4142}"/>
              </a:ext>
            </a:extLst>
          </p:cNvPr>
          <p:cNvSpPr>
            <a:spLocks noGrp="1"/>
          </p:cNvSpPr>
          <p:nvPr>
            <p:ph type="title" hasCustomPrompt="1"/>
          </p:nvPr>
        </p:nvSpPr>
        <p:spPr>
          <a:xfrm>
            <a:off x="468000" y="396000"/>
            <a:ext cx="7560000" cy="468000"/>
          </a:xfrm>
          <a:prstGeom prst="rect">
            <a:avLst/>
          </a:prstGeom>
        </p:spPr>
        <p:txBody>
          <a:bodyPr/>
          <a:lstStyle>
            <a:lvl1pPr>
              <a:buNone/>
              <a:defRPr/>
            </a:lvl1pPr>
          </a:lstStyle>
          <a:p>
            <a:r>
              <a:t>KAPITEL | CHART-HEADLINE</a:t>
            </a:r>
          </a:p>
        </p:txBody>
      </p:sp>
      <p:sp>
        <p:nvSpPr>
          <p:cNvPr id="3" name="Inhaltsplatzhalter 2">
            <a:extLst>
              <a:ext uri="{FF2B5EF4-FFF2-40B4-BE49-F238E27FC236}">
                <a16:creationId xmlns:a16="http://schemas.microsoft.com/office/drawing/2014/main" id="{D8908C78-951A-4E37-A107-5E5D411A762E}"/>
              </a:ext>
            </a:extLst>
          </p:cNvPr>
          <p:cNvSpPr>
            <a:spLocks noGrp="1"/>
          </p:cNvSpPr>
          <p:nvPr>
            <p:ph idx="1" hasCustomPrompt="1"/>
          </p:nvPr>
        </p:nvSpPr>
        <p:spPr>
          <a:xfrm>
            <a:off x="468000" y="918000"/>
            <a:ext cx="4104000" cy="3366000"/>
          </a:xfrm>
          <a:prstGeom prst="rect">
            <a:avLst/>
          </a:prstGeom>
        </p:spPr>
        <p:txBody>
          <a:bodyPr/>
          <a:lstStyle>
            <a:lvl1pPr>
              <a:buNone/>
              <a:defRPr/>
            </a:lvl1pPr>
          </a:lstStyle>
          <a:p>
            <a:pPr>
              <a:buNone/>
            </a:pPr>
            <a:r>
              <a:t>Subline auf erster Ebene // für weitere Ebenen &gt;&gt; Menü &gt; Start &gt; Absatz &gt; Listenebene erhöhen </a:t>
            </a:r>
          </a:p>
          <a:p>
            <a:pPr>
              <a:buNone/>
            </a:pPr>
            <a:r>
              <a:t>Zweite Ebene</a:t>
            </a:r>
          </a:p>
          <a:p>
            <a:pPr>
              <a:buNone/>
            </a:pPr>
            <a:r>
              <a:t>Dritte Ebene</a:t>
            </a:r>
          </a:p>
          <a:p>
            <a:pPr>
              <a:buNone/>
            </a:pPr>
            <a:r>
              <a:t>Vierte Ebene</a:t>
            </a:r>
          </a:p>
          <a:p>
            <a:pPr>
              <a:buNone/>
            </a:pPr>
            <a:r>
              <a:t>Fünfte Ebene</a:t>
            </a:r>
          </a:p>
          <a:p>
            <a:pPr>
              <a:buNone/>
            </a:pPr>
            <a:r>
              <a:t>Sechste Ebene</a:t>
            </a:r>
          </a:p>
          <a:p>
            <a:pPr>
              <a:buNone/>
            </a:pPr>
            <a:r>
              <a:t>Siebte Ebene</a:t>
            </a:r>
          </a:p>
          <a:p>
            <a:pPr>
              <a:buNone/>
            </a:pPr>
            <a:r>
              <a:t>Achte Ebene</a:t>
            </a:r>
          </a:p>
          <a:p>
            <a:pPr>
              <a:buNone/>
            </a:pPr>
            <a:r>
              <a:t>Neunte Ebene</a:t>
            </a:r>
          </a:p>
        </p:txBody>
      </p:sp>
      <p:sp>
        <p:nvSpPr>
          <p:cNvPr id="8" name="Fußzeilenplatzhalter 7">
            <a:extLst>
              <a:ext uri="{FF2B5EF4-FFF2-40B4-BE49-F238E27FC236}">
                <a16:creationId xmlns:a16="http://schemas.microsoft.com/office/drawing/2014/main" id="{3261E425-9AF3-4B68-A7DE-55697E59EC40}"/>
              </a:ext>
            </a:extLst>
          </p:cNvPr>
          <p:cNvSpPr>
            <a:spLocks noGrp="1"/>
          </p:cNvSpPr>
          <p:nvPr>
            <p:ph type="ftr" idx="11"/>
          </p:nvPr>
        </p:nvSpPr>
        <p:spPr/>
        <p:txBody>
          <a:bodyPr/>
          <a:lstStyle>
            <a:lvl1pPr>
              <a:buNone/>
              <a:defRPr/>
            </a:lvl1pPr>
          </a:lstStyle>
          <a:p>
            <a:r>
              <a:t>Title | Chapter</a:t>
            </a:r>
          </a:p>
        </p:txBody>
      </p:sp>
      <p:sp>
        <p:nvSpPr>
          <p:cNvPr id="9" name="Foliennummernplatzhalter 8">
            <a:extLst>
              <a:ext uri="{FF2B5EF4-FFF2-40B4-BE49-F238E27FC236}">
                <a16:creationId xmlns:a16="http://schemas.microsoft.com/office/drawing/2014/main" id="{DC8FE19E-1A66-4F06-9454-D8ECA4880C8E}"/>
              </a:ext>
            </a:extLst>
          </p:cNvPr>
          <p:cNvSpPr>
            <a:spLocks noGrp="1"/>
          </p:cNvSpPr>
          <p:nvPr>
            <p:ph type="sldNum" idx="12"/>
          </p:nvPr>
        </p:nvSpPr>
        <p:spPr/>
        <p:txBody>
          <a:bodyPr/>
          <a:lstStyle/>
          <a:p>
            <a:fld id="{6C8FC03C-C266-4645-ABC5-645062898383}" type="slidenum">
              <a:t>‹#›</a:t>
            </a:fld>
            <a:fld id="{D6C92596-E737-FF90-EBB5-6AFD01EC4D29}" type="slidenum">
              <a:t>‹#›</a:t>
            </a:fld>
            <a:endParaRPr/>
          </a:p>
        </p:txBody>
      </p:sp>
      <p:sp>
        <p:nvSpPr>
          <p:cNvPr id="5" name="Bildplatzhalter 4">
            <a:extLst>
              <a:ext uri="{FF2B5EF4-FFF2-40B4-BE49-F238E27FC236}">
                <a16:creationId xmlns:a16="http://schemas.microsoft.com/office/drawing/2014/main" id="{6DB40BEE-2C74-4B7C-AA75-FB330D4E18BC}"/>
              </a:ext>
            </a:extLst>
          </p:cNvPr>
          <p:cNvSpPr>
            <a:spLocks noGrp="1"/>
          </p:cNvSpPr>
          <p:nvPr>
            <p:ph type="pic" idx="13"/>
          </p:nvPr>
        </p:nvSpPr>
        <p:spPr>
          <a:xfrm>
            <a:off x="4680000" y="954000"/>
            <a:ext cx="3960000" cy="2646000"/>
          </a:xfrm>
          <a:prstGeom prst="rect">
            <a:avLst/>
          </a:prstGeom>
        </p:spPr>
        <p:txBody>
          <a:bodyPr anchor="ctr"/>
          <a:lstStyle>
            <a:lvl1pPr algn="ctr">
              <a:buNone/>
              <a:defRPr/>
            </a:lvl1pPr>
          </a:lstStyle>
          <a:p>
            <a:r>
              <a:t>Bild durch Klicken auf Symbol hinzufügen</a:t>
            </a:r>
          </a:p>
        </p:txBody>
      </p:sp>
      <p:sp>
        <p:nvSpPr>
          <p:cNvPr id="10" name="Textplatzhalter 5">
            <a:extLst>
              <a:ext uri="{FF2B5EF4-FFF2-40B4-BE49-F238E27FC236}">
                <a16:creationId xmlns:a16="http://schemas.microsoft.com/office/drawing/2014/main" id="{E8C92916-9C2D-4160-84A7-92C7AE8CF342}"/>
              </a:ext>
            </a:extLst>
          </p:cNvPr>
          <p:cNvSpPr>
            <a:spLocks noGrp="1"/>
          </p:cNvSpPr>
          <p:nvPr>
            <p:ph type="body" idx="16" hasCustomPrompt="1"/>
          </p:nvPr>
        </p:nvSpPr>
        <p:spPr>
          <a:xfrm>
            <a:off x="4680000" y="3708000"/>
            <a:ext cx="3960000" cy="576000"/>
          </a:xfrm>
          <a:prstGeom prst="rect">
            <a:avLst/>
          </a:prstGeom>
        </p:spPr>
        <p:txBody>
          <a:bodyPr/>
          <a:lstStyle>
            <a:lvl1pPr>
              <a:lnSpc>
                <a:spcPts val="1200"/>
              </a:lnSpc>
              <a:spcAft>
                <a:spcPts val="0"/>
              </a:spcAft>
              <a:buNone/>
              <a:defRPr sz="900"/>
            </a:lvl1pPr>
            <a:lvl2pPr>
              <a:lnSpc>
                <a:spcPts val="1200"/>
              </a:lnSpc>
              <a:spcAft>
                <a:spcPts val="0"/>
              </a:spcAft>
              <a:buNone/>
              <a:defRPr sz="900"/>
            </a:lvl2pPr>
            <a:lvl3pPr>
              <a:lnSpc>
                <a:spcPts val="1200"/>
              </a:lnSpc>
              <a:spcAft>
                <a:spcPts val="0"/>
              </a:spcAft>
              <a:buNone/>
              <a:defRPr sz="900"/>
            </a:lvl3pPr>
            <a:lvl4pPr>
              <a:lnSpc>
                <a:spcPts val="1200"/>
              </a:lnSpc>
              <a:spcAft>
                <a:spcPts val="0"/>
              </a:spcAft>
              <a:buNone/>
              <a:defRPr sz="900"/>
            </a:lvl4pPr>
            <a:lvl5pPr>
              <a:lnSpc>
                <a:spcPts val="1200"/>
              </a:lnSpc>
              <a:spcAft>
                <a:spcPts val="0"/>
              </a:spcAft>
              <a:buNone/>
              <a:defRPr sz="900"/>
            </a:lvl5pPr>
            <a:lvl6pPr>
              <a:lnSpc>
                <a:spcPts val="1200"/>
              </a:lnSpc>
              <a:spcAft>
                <a:spcPts val="0"/>
              </a:spcAft>
              <a:buNone/>
              <a:defRPr sz="900"/>
            </a:lvl6pPr>
            <a:lvl7pPr>
              <a:lnSpc>
                <a:spcPts val="1200"/>
              </a:lnSpc>
              <a:spcAft>
                <a:spcPts val="0"/>
              </a:spcAft>
              <a:buNone/>
              <a:defRPr sz="900"/>
            </a:lvl7pPr>
            <a:lvl8pPr>
              <a:lnSpc>
                <a:spcPts val="1200"/>
              </a:lnSpc>
              <a:spcAft>
                <a:spcPts val="0"/>
              </a:spcAft>
              <a:buNone/>
              <a:defRPr sz="900"/>
            </a:lvl8pPr>
            <a:lvl9pPr>
              <a:lnSpc>
                <a:spcPts val="1200"/>
              </a:lnSpc>
              <a:spcAft>
                <a:spcPts val="0"/>
              </a:spcAft>
              <a:buNone/>
              <a:defRPr sz="900"/>
            </a:lvl9pPr>
          </a:lstStyle>
          <a:p>
            <a:pPr>
              <a:buNone/>
            </a:pPr>
            <a:r>
              <a:t>Bildunterzeile // für weitere Ebenen (Text)  &gt;&gt; Menü &gt; Start &gt; Absatz &gt; Listenebene erhöhen </a:t>
            </a:r>
          </a:p>
          <a:p>
            <a:pPr>
              <a:buNone/>
            </a:pPr>
            <a:endParaRPr/>
          </a:p>
          <a:p>
            <a:pPr>
              <a:buNone/>
            </a:pPr>
            <a:r>
              <a:t>Zweite Ebene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ild vollflächig">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EC3A98A1-0379-4B57-A126-017C70E1949C}"/>
              </a:ext>
            </a:extLst>
          </p:cNvPr>
          <p:cNvSpPr>
            <a:spLocks noGrp="1"/>
          </p:cNvSpPr>
          <p:nvPr>
            <p:ph type="pic" idx="10" hasCustomPrompt="1"/>
          </p:nvPr>
        </p:nvSpPr>
        <p:spPr>
          <a:xfrm>
            <a:off x="0" y="0"/>
            <a:ext cx="9144000" cy="5148000"/>
          </a:xfrm>
          <a:prstGeom prst="rect">
            <a:avLst/>
          </a:prstGeom>
        </p:spPr>
        <p:txBody>
          <a:bodyPr anchor="ctr"/>
          <a:lstStyle>
            <a:lvl1pPr algn="ctr">
              <a:buNone/>
              <a:defRPr/>
            </a:lvl1pPr>
          </a:lstStyle>
          <a:p>
            <a:r>
              <a:t>Vollbild durch klicken einfügen.</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4" name="Fußzeilenplatzhalter 3">
            <a:extLst>
              <a:ext uri="{FF2B5EF4-FFF2-40B4-BE49-F238E27FC236}">
                <a16:creationId xmlns:a16="http://schemas.microsoft.com/office/drawing/2014/main" id="{762F6D41-300A-44A6-A773-F84C7424CD65}"/>
              </a:ext>
            </a:extLst>
          </p:cNvPr>
          <p:cNvSpPr>
            <a:spLocks noGrp="1"/>
          </p:cNvSpPr>
          <p:nvPr>
            <p:ph type="ftr" idx="11"/>
          </p:nvPr>
        </p:nvSpPr>
        <p:spPr/>
        <p:txBody>
          <a:bodyPr/>
          <a:lstStyle/>
          <a:p>
            <a:r>
              <a:t>Titel | ggf. weitere Angaben</a:t>
            </a:r>
          </a:p>
        </p:txBody>
      </p:sp>
      <p:sp>
        <p:nvSpPr>
          <p:cNvPr id="5" name="Foliennummernplatzhalter 4">
            <a:extLst>
              <a:ext uri="{FF2B5EF4-FFF2-40B4-BE49-F238E27FC236}">
                <a16:creationId xmlns:a16="http://schemas.microsoft.com/office/drawing/2014/main" id="{D5674647-E98A-4E91-B769-603FBD38FC2E}"/>
              </a:ext>
            </a:extLst>
          </p:cNvPr>
          <p:cNvSpPr>
            <a:spLocks noGrp="1"/>
          </p:cNvSpPr>
          <p:nvPr>
            <p:ph type="sldNum" idx="12"/>
          </p:nvPr>
        </p:nvSpPr>
        <p:spPr/>
        <p:txBody>
          <a:bodyPr/>
          <a:lstStyle/>
          <a:p>
            <a:fld id="{6C8FC03C-C266-4645-ABC5-645062898383}" type="slidenum">
              <a:t>‹#›</a:t>
            </a:fld>
            <a:fld id="{D6C92596-E737-FF90-EBB5-6AFD01EC4D29}" type="slidenum">
              <a:t>‹#›</a:t>
            </a:fld>
            <a:endParaRPr/>
          </a:p>
        </p:txBody>
      </p:sp>
      <p:pic>
        <p:nvPicPr>
          <p:cNvPr id="6" name="Grafik 6"/>
          <p:cNvPicPr>
            <a:picLocks noChangeAspect="1"/>
          </p:cNvPicPr>
          <p:nvPr/>
        </p:nvPicPr>
        <p:blipFill rotWithShape="1">
          <a:blip r:embed="rId2">
            <a:alphaModFix amt="67000"/>
          </a:blip>
          <a:srcRect l="38349" t="-1686" r="-40434" b="1686"/>
          <a:stretch/>
        </p:blipFill>
        <p:spPr>
          <a:xfrm>
            <a:off x="0" y="411510"/>
            <a:ext cx="2812691" cy="3981189"/>
          </a:xfrm>
          <a:prstGeom prst="rect">
            <a:avLst/>
          </a:prstGeom>
        </p:spPr>
      </p:pic>
      <p:sp>
        <p:nvSpPr>
          <p:cNvPr id="8" name="Titel 1">
            <a:extLst>
              <a:ext uri="{FF2B5EF4-FFF2-40B4-BE49-F238E27FC236}">
                <a16:creationId xmlns:a16="http://schemas.microsoft.com/office/drawing/2014/main" id="{3B9F49EF-43AE-7A4F-B85A-0880A386201F}"/>
              </a:ext>
            </a:extLst>
          </p:cNvPr>
          <p:cNvSpPr>
            <a:spLocks noGrp="1"/>
          </p:cNvSpPr>
          <p:nvPr>
            <p:ph type="ctrTitle" hasCustomPrompt="1"/>
          </p:nvPr>
        </p:nvSpPr>
        <p:spPr>
          <a:xfrm>
            <a:off x="1619672" y="1744699"/>
            <a:ext cx="6892745" cy="1653568"/>
          </a:xfrm>
          <a:prstGeom prst="rect">
            <a:avLst/>
          </a:prstGeom>
        </p:spPr>
        <p:txBody>
          <a:bodyPr anchor="b"/>
          <a:lstStyle>
            <a:lvl1pPr algn="l">
              <a:buNone/>
              <a:defRPr sz="4800" b="1" i="0">
                <a:solidFill>
                  <a:srgbClr val="1F3B51"/>
                </a:solidFill>
                <a:latin typeface="RubFlama"/>
                <a:ea typeface="RubFlama"/>
                <a:cs typeface="RubFlama"/>
              </a:defRPr>
            </a:lvl1pPr>
          </a:lstStyle>
          <a:p>
            <a:r>
              <a:t>Thank you for your attention</a:t>
            </a:r>
          </a:p>
        </p:txBody>
      </p:sp>
      <p:sp>
        <p:nvSpPr>
          <p:cNvPr id="9" name="Untertitel 2">
            <a:extLst>
              <a:ext uri="{FF2B5EF4-FFF2-40B4-BE49-F238E27FC236}">
                <a16:creationId xmlns:a16="http://schemas.microsoft.com/office/drawing/2014/main" id="{F62B29B8-A8FA-1C45-AD65-779582E09F3E}"/>
              </a:ext>
            </a:extLst>
          </p:cNvPr>
          <p:cNvSpPr>
            <a:spLocks noGrp="1"/>
          </p:cNvSpPr>
          <p:nvPr>
            <p:ph type="subTitle" idx="1" hasCustomPrompt="1"/>
          </p:nvPr>
        </p:nvSpPr>
        <p:spPr>
          <a:xfrm>
            <a:off x="1619672" y="1287000"/>
            <a:ext cx="6892745" cy="365125"/>
          </a:xfrm>
          <a:prstGeom prst="rect">
            <a:avLst/>
          </a:prstGeom>
        </p:spPr>
        <p:txBody>
          <a:bodyPr/>
          <a:lstStyle>
            <a:lvl1pPr marL="0" indent="0" algn="l">
              <a:buNone/>
              <a:defRPr sz="1800" b="0" i="0">
                <a:latin typeface="RubFlama"/>
                <a:ea typeface="RubFlama"/>
                <a:cs typeface="RubFlam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Title</a:t>
            </a:r>
          </a:p>
        </p:txBody>
      </p:sp>
      <p:sp>
        <p:nvSpPr>
          <p:cNvPr id="10" name="Textplatzhalter 6">
            <a:extLst>
              <a:ext uri="{FF2B5EF4-FFF2-40B4-BE49-F238E27FC236}">
                <a16:creationId xmlns:a16="http://schemas.microsoft.com/office/drawing/2014/main" id="{CB6DFADE-29F8-914E-9FD9-E144A4C9CD12}"/>
              </a:ext>
            </a:extLst>
          </p:cNvPr>
          <p:cNvSpPr>
            <a:spLocks noGrp="1"/>
          </p:cNvSpPr>
          <p:nvPr>
            <p:ph type="body" idx="13" hasCustomPrompt="1"/>
          </p:nvPr>
        </p:nvSpPr>
        <p:spPr>
          <a:xfrm>
            <a:off x="1619672" y="3483149"/>
            <a:ext cx="6892745" cy="312737"/>
          </a:xfrm>
          <a:prstGeom prst="rect">
            <a:avLst/>
          </a:prstGeom>
        </p:spPr>
        <p:txBody>
          <a:bodyPr/>
          <a:lstStyle>
            <a:lvl2pPr marL="457200" indent="0" algn="r">
              <a:buNone/>
              <a:defRPr>
                <a:solidFill>
                  <a:schemeClr val="tx1">
                    <a:lumMod val="65000"/>
                    <a:lumOff val="35000"/>
                  </a:schemeClr>
                </a:solidFill>
                <a:latin typeface="RUB Scala MZ"/>
                <a:ea typeface="RUB Scala MZ"/>
                <a:cs typeface="RUB Scala MZ"/>
              </a:defRPr>
            </a:lvl2pPr>
          </a:lstStyle>
          <a:p>
            <a:pPr>
              <a:buNone/>
            </a:pPr>
            <a:r>
              <a:t>E-Mail - Autor</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Headline // Tabelle">
    <p:spTree>
      <p:nvGrpSpPr>
        <p:cNvPr id="1" name=""/>
        <p:cNvGrpSpPr/>
        <p:nvPr/>
      </p:nvGrpSpPr>
      <p:grpSpPr>
        <a:xfrm>
          <a:off x="0" y="0"/>
          <a:ext cx="0" cy="0"/>
          <a:chOff x="0" y="0"/>
          <a:chExt cx="0" cy="0"/>
        </a:xfrm>
      </p:grpSpPr>
      <p:pic>
        <p:nvPicPr>
          <p:cNvPr id="3" name="Grafik 17"/>
          <p:cNvPicPr>
            <a:picLocks noChangeAspect="1"/>
          </p:cNvPicPr>
          <p:nvPr/>
        </p:nvPicPr>
        <p:blipFill rotWithShape="1">
          <a:blip r:embed="rId2">
            <a:alphaModFix amt="43000"/>
          </a:blip>
          <a:srcRect t="40753" r="42388"/>
          <a:stretch/>
        </p:blipFill>
        <p:spPr>
          <a:xfrm>
            <a:off x="7092280" y="0"/>
            <a:ext cx="2051720" cy="2099460"/>
          </a:xfrm>
          <a:prstGeom prst="rect">
            <a:avLst/>
          </a:prstGeom>
        </p:spPr>
      </p:pic>
      <p:sp>
        <p:nvSpPr>
          <p:cNvPr id="2" name="Titel 1">
            <a:extLst>
              <a:ext uri="{FF2B5EF4-FFF2-40B4-BE49-F238E27FC236}">
                <a16:creationId xmlns:a16="http://schemas.microsoft.com/office/drawing/2014/main" id="{A576A311-4F08-4AFB-9C38-5CA9C7524D16}"/>
              </a:ext>
            </a:extLst>
          </p:cNvPr>
          <p:cNvSpPr>
            <a:spLocks noGrp="1"/>
          </p:cNvSpPr>
          <p:nvPr>
            <p:ph type="title" hasCustomPrompt="1"/>
          </p:nvPr>
        </p:nvSpPr>
        <p:spPr>
          <a:xfrm>
            <a:off x="468000" y="396000"/>
            <a:ext cx="7560000" cy="468000"/>
          </a:xfrm>
          <a:prstGeom prst="rect">
            <a:avLst/>
          </a:prstGeom>
        </p:spPr>
        <p:txBody>
          <a:bodyPr/>
          <a:lstStyle>
            <a:lvl1pPr>
              <a:buNone/>
              <a:defRPr/>
            </a:lvl1pPr>
          </a:lstStyle>
          <a:p>
            <a:r>
              <a:t>KAPITEL | CHART-HEADLINE</a:t>
            </a:r>
          </a:p>
        </p:txBody>
      </p:sp>
      <p:sp>
        <p:nvSpPr>
          <p:cNvPr id="8" name="Fußzeilenplatzhalter 7">
            <a:extLst>
              <a:ext uri="{FF2B5EF4-FFF2-40B4-BE49-F238E27FC236}">
                <a16:creationId xmlns:a16="http://schemas.microsoft.com/office/drawing/2014/main" id="{3261E425-9AF3-4B68-A7DE-55697E59EC40}"/>
              </a:ext>
            </a:extLst>
          </p:cNvPr>
          <p:cNvSpPr>
            <a:spLocks noGrp="1"/>
          </p:cNvSpPr>
          <p:nvPr>
            <p:ph type="ftr" idx="11"/>
          </p:nvPr>
        </p:nvSpPr>
        <p:spPr/>
        <p:txBody>
          <a:bodyPr/>
          <a:lstStyle/>
          <a:p>
            <a:r>
              <a:t>Titel | ggf. weitere Angaben</a:t>
            </a:r>
          </a:p>
        </p:txBody>
      </p:sp>
      <p:sp>
        <p:nvSpPr>
          <p:cNvPr id="9" name="Foliennummernplatzhalter 8">
            <a:extLst>
              <a:ext uri="{FF2B5EF4-FFF2-40B4-BE49-F238E27FC236}">
                <a16:creationId xmlns:a16="http://schemas.microsoft.com/office/drawing/2014/main" id="{DC8FE19E-1A66-4F06-9454-D8ECA4880C8E}"/>
              </a:ext>
            </a:extLst>
          </p:cNvPr>
          <p:cNvSpPr>
            <a:spLocks noGrp="1"/>
          </p:cNvSpPr>
          <p:nvPr>
            <p:ph type="sldNum" idx="12"/>
          </p:nvPr>
        </p:nvSpPr>
        <p:spPr/>
        <p:txBody>
          <a:bodyPr/>
          <a:lstStyle/>
          <a:p>
            <a:fld id="{6C8FC03C-C266-4645-ABC5-645062898383}" type="slidenum">
              <a:t>‹#›</a:t>
            </a:fld>
            <a:fld id="{D6C92596-E737-FF90-EBB5-6AFD01EC4D29}" type="slidenum">
              <a:t>‹#›</a:t>
            </a:fld>
            <a:endParaRPr/>
          </a:p>
        </p:txBody>
      </p:sp>
      <p:sp>
        <p:nvSpPr>
          <p:cNvPr id="5" name="Tabellenplatzhalter 4">
            <a:extLst>
              <a:ext uri="{FF2B5EF4-FFF2-40B4-BE49-F238E27FC236}">
                <a16:creationId xmlns:a16="http://schemas.microsoft.com/office/drawing/2014/main" id="{F5A8BB0B-4BD0-4791-8A9B-89C9D0000E35}"/>
              </a:ext>
            </a:extLst>
          </p:cNvPr>
          <p:cNvSpPr>
            <a:spLocks noGrp="1"/>
          </p:cNvSpPr>
          <p:nvPr>
            <p:ph type="tbl" idx="13"/>
          </p:nvPr>
        </p:nvSpPr>
        <p:spPr>
          <a:xfrm>
            <a:off x="468000" y="918000"/>
            <a:ext cx="8172000" cy="3366000"/>
          </a:xfrm>
          <a:prstGeom prst="rect">
            <a:avLst/>
          </a:prstGeom>
        </p:spPr>
        <p:txBody>
          <a:bodyPr anchor="ctr"/>
          <a:lstStyle>
            <a:lvl1pPr algn="ctr">
              <a:buNone/>
              <a:defRPr/>
            </a:lvl1pPr>
          </a:lstStyle>
          <a:p>
            <a:r>
              <a:t>Tabelle durch Klicken auf Symbol hinzufügen</a:t>
            </a:r>
          </a:p>
        </p:txBody>
      </p:sp>
      <p:sp>
        <p:nvSpPr>
          <p:cNvPr id="16" name="Listenebenen">
            <a:extLst>
              <a:ext uri="{FF2B5EF4-FFF2-40B4-BE49-F238E27FC236}">
                <a16:creationId xmlns:a16="http://schemas.microsoft.com/office/drawing/2014/main" id="{84A0104B-AA90-4DE7-ADAE-6959FBC15DB1}"/>
              </a:ext>
            </a:extLst>
          </p:cNvPr>
          <p:cNvSpPr>
            <a:spLocks noGrp="1"/>
          </p:cNvSpPr>
          <p:nvPr/>
        </p:nvSpPr>
        <p:spPr>
          <a:xfrm rot="10800000" flipH="1" flipV="1">
            <a:off x="-2628800" y="1368000"/>
            <a:ext cx="2520800" cy="1527786"/>
          </a:xfrm>
          <a:prstGeom prst="rect">
            <a:avLst/>
          </a:prstGeom>
          <a:noFill/>
          <a:ln w="12700">
            <a:noFill/>
          </a:ln>
        </p:spPr>
        <p:txBody>
          <a:bodyPr vert="horz" wrap="square" lIns="0" tIns="0" rIns="0" bIns="0" anchor="t">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marL="0" indent="0" algn="r">
              <a:lnSpc>
                <a:spcPct val="100000"/>
              </a:lnSpc>
              <a:spcBef>
                <a:spcPts val="0"/>
              </a:spcBef>
              <a:spcAft>
                <a:spcPts val="0"/>
              </a:spcAft>
              <a:buNone/>
            </a:pPr>
            <a:r>
              <a:rPr sz="1200" b="0">
                <a:solidFill>
                  <a:schemeClr val="tx1"/>
                </a:solidFill>
                <a:latin typeface="+mn-lt"/>
                <a:ea typeface="+mn-lt"/>
                <a:cs typeface="+mn-lt"/>
              </a:rPr>
              <a:t>Einfärbung einer Spalte/Zeile: </a:t>
            </a:r>
            <a:br/>
            <a:r>
              <a:rPr sz="1200" b="1">
                <a:solidFill>
                  <a:schemeClr val="tx1"/>
                </a:solidFill>
                <a:latin typeface="+mn-lt"/>
                <a:ea typeface="+mn-lt"/>
                <a:cs typeface="+mn-lt"/>
              </a:rPr>
              <a:t>Markieren der Spalte/Zeile:</a:t>
            </a:r>
          </a:p>
          <a:p>
            <a:pPr marL="0" indent="0" algn="r">
              <a:lnSpc>
                <a:spcPct val="100000"/>
              </a:lnSpc>
              <a:spcBef>
                <a:spcPts val="0"/>
              </a:spcBef>
              <a:spcAft>
                <a:spcPts val="0"/>
              </a:spcAft>
              <a:buNone/>
            </a:pPr>
            <a:r>
              <a:rPr sz="1200" b="1">
                <a:solidFill>
                  <a:schemeClr val="tx1"/>
                </a:solidFill>
                <a:latin typeface="+mn-lt"/>
                <a:ea typeface="+mn-lt"/>
                <a:cs typeface="+mn-lt"/>
              </a:rPr>
              <a:t> Entwurf / Tabellentools &gt; Schattierung &gt;</a:t>
            </a:r>
          </a:p>
          <a:p>
            <a:pPr marL="0" indent="0" algn="r">
              <a:lnSpc>
                <a:spcPct val="100000"/>
              </a:lnSpc>
              <a:spcBef>
                <a:spcPts val="0"/>
              </a:spcBef>
              <a:spcAft>
                <a:spcPts val="0"/>
              </a:spcAft>
              <a:buNone/>
            </a:pPr>
            <a:endParaRPr sz="1200" b="1">
              <a:solidFill>
                <a:schemeClr val="tx1"/>
              </a:solidFill>
              <a:latin typeface="+mn-lt"/>
              <a:ea typeface="+mn-lt"/>
              <a:cs typeface="+mn-lt"/>
            </a:endParaRPr>
          </a:p>
          <a:p>
            <a:pPr marL="0" indent="0" algn="r">
              <a:lnSpc>
                <a:spcPct val="100000"/>
              </a:lnSpc>
              <a:spcBef>
                <a:spcPts val="0"/>
              </a:spcBef>
              <a:spcAft>
                <a:spcPts val="0"/>
              </a:spcAft>
              <a:buNone/>
            </a:pPr>
            <a:r>
              <a:rPr sz="1200" b="1">
                <a:solidFill>
                  <a:schemeClr val="tx1"/>
                </a:solidFill>
                <a:latin typeface="+mn-lt"/>
                <a:ea typeface="+mn-lt"/>
                <a:cs typeface="+mn-lt"/>
              </a:rPr>
              <a:t>Die gewünschte Farbe aus den Designfarben auswählen</a:t>
            </a:r>
          </a:p>
        </p:txBody>
      </p:sp>
      <p:sp>
        <p:nvSpPr>
          <p:cNvPr id="10" name="Zurücksetzen">
            <a:extLst>
              <a:ext uri="{FF2B5EF4-FFF2-40B4-BE49-F238E27FC236}">
                <a16:creationId xmlns:a16="http://schemas.microsoft.com/office/drawing/2014/main" id="{431D1FFE-03BA-4520-A89B-CDD1BC7E4751}"/>
              </a:ext>
            </a:extLst>
          </p:cNvPr>
          <p:cNvSpPr>
            <a:spLocks noGrp="1"/>
          </p:cNvSpPr>
          <p:nvPr/>
        </p:nvSpPr>
        <p:spPr>
          <a:xfrm rot="10800000" flipH="1" flipV="1">
            <a:off x="9252000" y="648000"/>
            <a:ext cx="1944000" cy="612000"/>
          </a:xfrm>
          <a:prstGeom prst="rect">
            <a:avLst/>
          </a:prstGeom>
          <a:noFill/>
          <a:ln w="12700">
            <a:noFill/>
          </a:ln>
        </p:spPr>
        <p:txBody>
          <a:bodyPr vert="horz" wrap="square" lIns="0" tIns="0" rIns="0" bIns="0" anchor="t">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indent="0" algn="l">
              <a:lnSpc>
                <a:spcPct val="100000"/>
              </a:lnSpc>
              <a:spcBef>
                <a:spcPts val="0"/>
              </a:spcBef>
              <a:spcAft>
                <a:spcPts val="0"/>
              </a:spcAft>
              <a:buNone/>
            </a:pPr>
            <a:r>
              <a:rPr sz="1200" b="0">
                <a:solidFill>
                  <a:schemeClr val="tx1"/>
                </a:solidFill>
                <a:latin typeface="+mn-lt"/>
                <a:ea typeface="+mn-lt"/>
                <a:cs typeface="+mn-lt"/>
              </a:rPr>
              <a:t>Folie in Ursprungsform </a:t>
            </a:r>
          </a:p>
          <a:p>
            <a:pPr indent="0" algn="l">
              <a:lnSpc>
                <a:spcPct val="100000"/>
              </a:lnSpc>
              <a:spcBef>
                <a:spcPts val="0"/>
              </a:spcBef>
              <a:spcAft>
                <a:spcPts val="0"/>
              </a:spcAft>
              <a:buNone/>
            </a:pPr>
            <a:r>
              <a:rPr sz="1200" b="0">
                <a:solidFill>
                  <a:schemeClr val="tx1"/>
                </a:solidFill>
                <a:latin typeface="+mn-lt"/>
                <a:ea typeface="+mn-lt"/>
                <a:cs typeface="+mn-lt"/>
              </a:rPr>
              <a:t>bringen über Menü:</a:t>
            </a:r>
          </a:p>
          <a:p>
            <a:pPr indent="0" algn="l">
              <a:lnSpc>
                <a:spcPct val="100000"/>
              </a:lnSpc>
              <a:spcBef>
                <a:spcPts val="0"/>
              </a:spcBef>
              <a:spcAft>
                <a:spcPts val="0"/>
              </a:spcAft>
              <a:buNone/>
            </a:pPr>
            <a:r>
              <a:rPr sz="1200" b="1">
                <a:solidFill>
                  <a:schemeClr val="tx1"/>
                </a:solidFill>
                <a:latin typeface="+mn-lt"/>
                <a:ea typeface="+mn-lt"/>
                <a:cs typeface="+mn-lt"/>
              </a:rPr>
              <a:t>Start &gt; Folien &gt; Zurücksetzen</a:t>
            </a:r>
          </a:p>
        </p:txBody>
      </p:sp>
      <p:sp>
        <p:nvSpPr>
          <p:cNvPr id="11" name="Hilfslinien">
            <a:extLst>
              <a:ext uri="{FF2B5EF4-FFF2-40B4-BE49-F238E27FC236}">
                <a16:creationId xmlns:a16="http://schemas.microsoft.com/office/drawing/2014/main" id="{38EA8585-E11F-4D10-9DAB-78E6756B2D63}"/>
              </a:ext>
            </a:extLst>
          </p:cNvPr>
          <p:cNvSpPr>
            <a:spLocks noGrp="1"/>
          </p:cNvSpPr>
          <p:nvPr/>
        </p:nvSpPr>
        <p:spPr>
          <a:xfrm rot="10800000" flipH="1" flipV="1">
            <a:off x="431801" y="-468000"/>
            <a:ext cx="8280400" cy="360000"/>
          </a:xfrm>
          <a:prstGeom prst="rect">
            <a:avLst/>
          </a:prstGeom>
          <a:noFill/>
          <a:ln w="12700">
            <a:noFill/>
          </a:ln>
        </p:spPr>
        <p:txBody>
          <a:bodyPr vert="horz" wrap="square" lIns="0" tIns="0" rIns="0" bIns="0" anchor="b">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marL="0" indent="0" algn="ctr">
              <a:lnSpc>
                <a:spcPct val="100000"/>
              </a:lnSpc>
              <a:spcBef>
                <a:spcPts val="0"/>
              </a:spcBef>
              <a:spcAft>
                <a:spcPts val="0"/>
              </a:spcAft>
              <a:buNone/>
            </a:pPr>
            <a:r>
              <a:rPr sz="1200" b="0" i="0" u="none" cap="none" spc="0">
                <a:ln>
                  <a:noFill/>
                </a:ln>
                <a:solidFill>
                  <a:schemeClr val="tx1"/>
                </a:solidFill>
                <a:latin typeface="+mn-lt"/>
                <a:ea typeface="+mn-lt"/>
                <a:cs typeface="+mn-lt"/>
              </a:rPr>
              <a:t>Löschen einer Spalte/Zeile: </a:t>
            </a:r>
            <a:r>
              <a:rPr sz="1200" b="1" i="0" u="none" cap="none" spc="0">
                <a:ln>
                  <a:noFill/>
                </a:ln>
                <a:solidFill>
                  <a:schemeClr val="tx1"/>
                </a:solidFill>
                <a:latin typeface="+mn-lt"/>
                <a:ea typeface="+mn-lt"/>
                <a:cs typeface="+mn-lt"/>
              </a:rPr>
              <a:t>Markieren der Spalte/Zeile: Layout &gt; Löschen &gt; Spalte bzw. Zeile löschen</a:t>
            </a:r>
          </a:p>
        </p:txBody>
      </p:sp>
      <p:sp>
        <p:nvSpPr>
          <p:cNvPr id="12" name="Fußzeile">
            <a:extLst>
              <a:ext uri="{FF2B5EF4-FFF2-40B4-BE49-F238E27FC236}">
                <a16:creationId xmlns:a16="http://schemas.microsoft.com/office/drawing/2014/main" id="{4EFB3271-7B15-42ED-A704-B39FAEDC1436}"/>
              </a:ext>
            </a:extLst>
          </p:cNvPr>
          <p:cNvSpPr>
            <a:spLocks noGrp="1"/>
          </p:cNvSpPr>
          <p:nvPr/>
        </p:nvSpPr>
        <p:spPr>
          <a:xfrm rot="10800000" flipH="1" flipV="1">
            <a:off x="431800" y="5255998"/>
            <a:ext cx="8280400" cy="360001"/>
          </a:xfrm>
          <a:prstGeom prst="rect">
            <a:avLst/>
          </a:prstGeom>
          <a:noFill/>
          <a:ln w="12700">
            <a:noFill/>
          </a:ln>
        </p:spPr>
        <p:txBody>
          <a:bodyPr vert="horz" wrap="square" lIns="0" tIns="0" rIns="0" bIns="0" anchor="t">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marL="0" indent="0" algn="ctr">
              <a:lnSpc>
                <a:spcPct val="100000"/>
              </a:lnSpc>
              <a:spcBef>
                <a:spcPts val="0"/>
              </a:spcBef>
              <a:spcAft>
                <a:spcPts val="0"/>
              </a:spcAft>
              <a:buNone/>
            </a:pPr>
            <a:r>
              <a:rPr sz="1200" b="0">
                <a:solidFill>
                  <a:schemeClr val="tx1"/>
                </a:solidFill>
                <a:latin typeface="+mn-lt"/>
                <a:ea typeface="+mn-lt"/>
                <a:cs typeface="+mn-lt"/>
              </a:rPr>
              <a:t>Fußzeile anpassen: </a:t>
            </a:r>
            <a:r>
              <a:rPr sz="1200" b="1">
                <a:solidFill>
                  <a:schemeClr val="tx1"/>
                </a:solidFill>
                <a:latin typeface="+mn-lt"/>
                <a:ea typeface="+mn-lt"/>
                <a:cs typeface="+mn-lt"/>
              </a:rPr>
              <a:t>Einfügen &gt; Text &gt; Kopf- und Fußzeile</a:t>
            </a:r>
          </a:p>
        </p:txBody>
      </p:sp>
      <p:sp>
        <p:nvSpPr>
          <p:cNvPr id="13" name="Layoutwechsel">
            <a:extLst>
              <a:ext uri="{FF2B5EF4-FFF2-40B4-BE49-F238E27FC236}">
                <a16:creationId xmlns:a16="http://schemas.microsoft.com/office/drawing/2014/main" id="{6BCDAEA0-53BC-4E57-84CA-5C530F05A90E}"/>
              </a:ext>
            </a:extLst>
          </p:cNvPr>
          <p:cNvSpPr>
            <a:spLocks noGrp="1"/>
          </p:cNvSpPr>
          <p:nvPr/>
        </p:nvSpPr>
        <p:spPr>
          <a:xfrm rot="10800000" flipH="1" flipV="1">
            <a:off x="9252000" y="2283786"/>
            <a:ext cx="2952848" cy="1044048"/>
          </a:xfrm>
          <a:prstGeom prst="rect">
            <a:avLst/>
          </a:prstGeom>
          <a:noFill/>
          <a:ln w="12700">
            <a:noFill/>
          </a:ln>
        </p:spPr>
        <p:txBody>
          <a:bodyPr vert="horz" wrap="square" lIns="0" tIns="0" rIns="0" bIns="0" anchor="t">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indent="0" algn="l">
              <a:lnSpc>
                <a:spcPct val="100000"/>
              </a:lnSpc>
              <a:spcBef>
                <a:spcPts val="0"/>
              </a:spcBef>
              <a:spcAft>
                <a:spcPts val="0"/>
              </a:spcAft>
              <a:buNone/>
            </a:pPr>
            <a:r>
              <a:rPr sz="1200" b="0">
                <a:solidFill>
                  <a:schemeClr val="tx1"/>
                </a:solidFill>
                <a:latin typeface="+mn-lt"/>
                <a:ea typeface="+mn-lt"/>
                <a:cs typeface="+mn-lt"/>
              </a:rPr>
              <a:t>Einfügen einer Spalte/Zeile:</a:t>
            </a:r>
          </a:p>
          <a:p>
            <a:pPr indent="0" algn="l">
              <a:lnSpc>
                <a:spcPct val="100000"/>
              </a:lnSpc>
              <a:spcBef>
                <a:spcPts val="0"/>
              </a:spcBef>
              <a:spcAft>
                <a:spcPts val="0"/>
              </a:spcAft>
              <a:buNone/>
            </a:pPr>
            <a:r>
              <a:rPr sz="1200" b="1">
                <a:solidFill>
                  <a:schemeClr val="tx1"/>
                </a:solidFill>
                <a:latin typeface="+mn-lt"/>
                <a:ea typeface="+mn-lt"/>
                <a:cs typeface="+mn-lt"/>
              </a:rPr>
              <a:t>Markieren der Spalte/Zeile neben der eine weitere eingefügt werden soll:</a:t>
            </a:r>
          </a:p>
          <a:p>
            <a:pPr indent="0" algn="l">
              <a:lnSpc>
                <a:spcPct val="100000"/>
              </a:lnSpc>
              <a:spcBef>
                <a:spcPts val="0"/>
              </a:spcBef>
              <a:spcAft>
                <a:spcPts val="0"/>
              </a:spcAft>
              <a:buNone/>
            </a:pPr>
            <a:r>
              <a:rPr sz="1200" b="1">
                <a:solidFill>
                  <a:schemeClr val="tx1"/>
                </a:solidFill>
                <a:latin typeface="+mn-lt"/>
                <a:ea typeface="+mn-lt"/>
                <a:cs typeface="+mn-lt"/>
              </a:rPr>
              <a:t>Layout &gt; Hier die gewünschte Einfügeoption auswählen</a:t>
            </a:r>
          </a:p>
        </p:txBody>
      </p:sp>
      <p:sp>
        <p:nvSpPr>
          <p:cNvPr id="19" name="Gerader Verbinder 18">
            <a:extLst>
              <a:ext uri="{FF2B5EF4-FFF2-40B4-BE49-F238E27FC236}">
                <a16:creationId xmlns:a16="http://schemas.microsoft.com/office/drawing/2014/main" id="{098FEE7A-74D6-45A5-B581-B7E71AE302E5}"/>
              </a:ext>
            </a:extLst>
          </p:cNvPr>
          <p:cNvSpPr>
            <a:spLocks noGrp="1"/>
          </p:cNvSpPr>
          <p:nvPr/>
        </p:nvSpPr>
        <p:spPr>
          <a:xfrm>
            <a:off x="0" y="4485600"/>
            <a:ext cx="9144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sp>
      <p:pic>
        <p:nvPicPr>
          <p:cNvPr id="22" name="Grafik 3"/>
          <p:cNvPicPr>
            <a:picLocks noChangeAspect="1"/>
          </p:cNvPicPr>
          <p:nvPr/>
        </p:nvPicPr>
        <p:blipFill rotWithShape="1">
          <a:blip r:embed="rId3"/>
          <a:srcRect b="4513"/>
          <a:stretch/>
        </p:blipFill>
        <p:spPr>
          <a:xfrm>
            <a:off x="9252000" y="3327773"/>
            <a:ext cx="2067213" cy="864158"/>
          </a:xfrm>
          <a:prstGeom prst="rect">
            <a:avLst/>
          </a:prstGeom>
        </p:spPr>
      </p:pic>
      <p:pic>
        <p:nvPicPr>
          <p:cNvPr id="23" name="Grafik 16"/>
          <p:cNvPicPr>
            <a:picLocks noChangeAspect="1"/>
          </p:cNvPicPr>
          <p:nvPr/>
        </p:nvPicPr>
        <p:blipFill>
          <a:blip r:embed="rId4"/>
          <a:stretch>
            <a:fillRect/>
          </a:stretch>
        </p:blipFill>
        <p:spPr>
          <a:xfrm>
            <a:off x="7730714" y="4571638"/>
            <a:ext cx="1089286" cy="4561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F9F4F7C7-BE10-4E7D-8B23-2EFDC7141F80}"/>
              </a:ext>
            </a:extLst>
          </p:cNvPr>
          <p:cNvSpPr>
            <a:spLocks noGrp="1"/>
          </p:cNvSpPr>
          <p:nvPr>
            <p:ph type="dt" idx="2"/>
          </p:nvPr>
        </p:nvSpPr>
        <p:spPr>
          <a:xfrm>
            <a:off x="360000" y="5524114"/>
            <a:ext cx="4284008" cy="179984"/>
          </a:xfrm>
          <a:prstGeom prst="rect">
            <a:avLst/>
          </a:prstGeom>
        </p:spPr>
        <p:txBody>
          <a:bodyPr vert="horz" lIns="0" tIns="0" rIns="0" bIns="0" anchor="ctr">
            <a:noAutofit/>
          </a:bodyPr>
          <a:lstStyle>
            <a:lvl1pPr marL="0" indent="0" algn="l">
              <a:lnSpc>
                <a:spcPct val="100000"/>
              </a:lnSpc>
              <a:spcBef>
                <a:spcPts val="0"/>
              </a:spcBef>
              <a:buNone/>
              <a:defRPr sz="900">
                <a:solidFill>
                  <a:schemeClr val="tx2"/>
                </a:solidFill>
                <a:latin typeface="+mn-lt"/>
                <a:ea typeface="+mn-lt"/>
                <a:cs typeface="+mn-lt"/>
              </a:defRPr>
            </a:lvl1pPr>
            <a:lvl2pPr marL="0" indent="0" algn="l">
              <a:lnSpc>
                <a:spcPct val="100000"/>
              </a:lnSpc>
              <a:spcBef>
                <a:spcPts val="0"/>
              </a:spcBef>
              <a:buNone/>
              <a:defRPr sz="1200">
                <a:latin typeface="+mn-lt"/>
                <a:ea typeface="+mn-lt"/>
                <a:cs typeface="+mn-lt"/>
              </a:defRPr>
            </a:lvl2pPr>
            <a:lvl3pPr marL="0" indent="0" algn="l">
              <a:lnSpc>
                <a:spcPct val="100000"/>
              </a:lnSpc>
              <a:spcBef>
                <a:spcPts val="0"/>
              </a:spcBef>
              <a:buNone/>
              <a:defRPr sz="1200">
                <a:latin typeface="+mn-lt"/>
                <a:ea typeface="+mn-lt"/>
                <a:cs typeface="+mn-lt"/>
              </a:defRPr>
            </a:lvl3pPr>
            <a:lvl4pPr marL="0" indent="0" algn="l">
              <a:lnSpc>
                <a:spcPct val="100000"/>
              </a:lnSpc>
              <a:spcBef>
                <a:spcPts val="0"/>
              </a:spcBef>
              <a:buNone/>
              <a:defRPr sz="1200">
                <a:latin typeface="+mn-lt"/>
                <a:ea typeface="+mn-lt"/>
                <a:cs typeface="+mn-lt"/>
              </a:defRPr>
            </a:lvl4pPr>
            <a:lvl5pPr marL="0" indent="0" algn="l">
              <a:lnSpc>
                <a:spcPct val="100000"/>
              </a:lnSpc>
              <a:spcBef>
                <a:spcPts val="0"/>
              </a:spcBef>
              <a:buNone/>
              <a:defRPr sz="1200">
                <a:latin typeface="+mn-lt"/>
                <a:ea typeface="+mn-lt"/>
                <a:cs typeface="+mn-lt"/>
              </a:defRPr>
            </a:lvl5pPr>
            <a:lvl6pPr marL="0" indent="0" algn="l">
              <a:lnSpc>
                <a:spcPct val="100000"/>
              </a:lnSpc>
              <a:spcBef>
                <a:spcPts val="0"/>
              </a:spcBef>
              <a:buNone/>
              <a:defRPr sz="1200">
                <a:latin typeface="+mn-lt"/>
                <a:ea typeface="+mn-lt"/>
                <a:cs typeface="+mn-lt"/>
              </a:defRPr>
            </a:lvl6pPr>
            <a:lvl7pPr marL="0" indent="0" algn="l">
              <a:lnSpc>
                <a:spcPct val="100000"/>
              </a:lnSpc>
              <a:spcBef>
                <a:spcPts val="0"/>
              </a:spcBef>
              <a:buNone/>
              <a:defRPr sz="1200">
                <a:latin typeface="+mn-lt"/>
                <a:ea typeface="+mn-lt"/>
                <a:cs typeface="+mn-lt"/>
              </a:defRPr>
            </a:lvl7pPr>
            <a:lvl8pPr marL="0" indent="0" algn="l">
              <a:lnSpc>
                <a:spcPct val="100000"/>
              </a:lnSpc>
              <a:spcBef>
                <a:spcPts val="0"/>
              </a:spcBef>
              <a:buNone/>
              <a:defRPr sz="1200">
                <a:latin typeface="+mn-lt"/>
                <a:ea typeface="+mn-lt"/>
                <a:cs typeface="+mn-lt"/>
              </a:defRPr>
            </a:lvl8pPr>
            <a:lvl9pPr marL="0" indent="0" algn="l">
              <a:lnSpc>
                <a:spcPct val="100000"/>
              </a:lnSpc>
              <a:spcBef>
                <a:spcPts val="0"/>
              </a:spcBef>
              <a:buNone/>
              <a:defRPr sz="1200">
                <a:latin typeface="+mn-lt"/>
                <a:ea typeface="+mn-lt"/>
                <a:cs typeface="+mn-lt"/>
              </a:defRPr>
            </a:lvl9pPr>
          </a:lstStyle>
          <a:p>
            <a:endParaRPr/>
          </a:p>
        </p:txBody>
      </p:sp>
      <p:sp>
        <p:nvSpPr>
          <p:cNvPr id="5" name="Fußzeilenplatzhalter 4">
            <a:extLst>
              <a:ext uri="{FF2B5EF4-FFF2-40B4-BE49-F238E27FC236}">
                <a16:creationId xmlns:a16="http://schemas.microsoft.com/office/drawing/2014/main" id="{A1EEA1ED-5C51-4627-98EA-C41A0F500499}"/>
              </a:ext>
            </a:extLst>
          </p:cNvPr>
          <p:cNvSpPr>
            <a:spLocks noGrp="1"/>
          </p:cNvSpPr>
          <p:nvPr>
            <p:ph type="ftr" idx="3"/>
          </p:nvPr>
        </p:nvSpPr>
        <p:spPr>
          <a:xfrm>
            <a:off x="720000" y="4752000"/>
            <a:ext cx="6300000" cy="108000"/>
          </a:xfrm>
          <a:prstGeom prst="rect">
            <a:avLst/>
          </a:prstGeom>
        </p:spPr>
        <p:txBody>
          <a:bodyPr vert="horz" lIns="0" tIns="0" rIns="0" bIns="0" anchor="ctr">
            <a:noAutofit/>
          </a:bodyPr>
          <a:lstStyle>
            <a:lvl1pPr marL="0" indent="0" algn="l">
              <a:lnSpc>
                <a:spcPct val="100000"/>
              </a:lnSpc>
              <a:spcBef>
                <a:spcPts val="0"/>
              </a:spcBef>
              <a:buNone/>
              <a:defRPr sz="900">
                <a:solidFill>
                  <a:schemeClr val="tx2"/>
                </a:solidFill>
                <a:latin typeface="+mn-lt"/>
                <a:ea typeface="+mn-lt"/>
                <a:cs typeface="+mn-lt"/>
              </a:defRPr>
            </a:lvl1pPr>
            <a:lvl2pPr marL="0" indent="0" algn="l">
              <a:lnSpc>
                <a:spcPct val="100000"/>
              </a:lnSpc>
              <a:spcBef>
                <a:spcPts val="0"/>
              </a:spcBef>
              <a:buNone/>
              <a:defRPr sz="1200">
                <a:latin typeface="+mn-lt"/>
                <a:ea typeface="+mn-lt"/>
                <a:cs typeface="+mn-lt"/>
              </a:defRPr>
            </a:lvl2pPr>
            <a:lvl3pPr marL="0" indent="0" algn="l">
              <a:lnSpc>
                <a:spcPct val="100000"/>
              </a:lnSpc>
              <a:spcBef>
                <a:spcPts val="0"/>
              </a:spcBef>
              <a:buNone/>
              <a:defRPr sz="1200">
                <a:latin typeface="+mn-lt"/>
                <a:ea typeface="+mn-lt"/>
                <a:cs typeface="+mn-lt"/>
              </a:defRPr>
            </a:lvl3pPr>
            <a:lvl4pPr marL="0" indent="0" algn="l">
              <a:lnSpc>
                <a:spcPct val="100000"/>
              </a:lnSpc>
              <a:spcBef>
                <a:spcPts val="0"/>
              </a:spcBef>
              <a:buNone/>
              <a:defRPr sz="1200">
                <a:latin typeface="+mn-lt"/>
                <a:ea typeface="+mn-lt"/>
                <a:cs typeface="+mn-lt"/>
              </a:defRPr>
            </a:lvl4pPr>
            <a:lvl5pPr marL="0" indent="0" algn="l">
              <a:lnSpc>
                <a:spcPct val="100000"/>
              </a:lnSpc>
              <a:spcBef>
                <a:spcPts val="0"/>
              </a:spcBef>
              <a:buNone/>
              <a:defRPr sz="1200">
                <a:latin typeface="+mn-lt"/>
                <a:ea typeface="+mn-lt"/>
                <a:cs typeface="+mn-lt"/>
              </a:defRPr>
            </a:lvl5pPr>
            <a:lvl6pPr marL="0" indent="0" algn="l">
              <a:lnSpc>
                <a:spcPct val="100000"/>
              </a:lnSpc>
              <a:spcBef>
                <a:spcPts val="0"/>
              </a:spcBef>
              <a:buNone/>
              <a:defRPr sz="1200">
                <a:latin typeface="+mn-lt"/>
                <a:ea typeface="+mn-lt"/>
                <a:cs typeface="+mn-lt"/>
              </a:defRPr>
            </a:lvl6pPr>
            <a:lvl7pPr marL="0" indent="0" algn="l">
              <a:lnSpc>
                <a:spcPct val="100000"/>
              </a:lnSpc>
              <a:spcBef>
                <a:spcPts val="0"/>
              </a:spcBef>
              <a:buNone/>
              <a:defRPr sz="1200">
                <a:latin typeface="+mn-lt"/>
                <a:ea typeface="+mn-lt"/>
                <a:cs typeface="+mn-lt"/>
              </a:defRPr>
            </a:lvl7pPr>
            <a:lvl8pPr marL="0" indent="0" algn="l">
              <a:lnSpc>
                <a:spcPct val="100000"/>
              </a:lnSpc>
              <a:spcBef>
                <a:spcPts val="0"/>
              </a:spcBef>
              <a:buNone/>
              <a:defRPr sz="1200">
                <a:latin typeface="+mn-lt"/>
                <a:ea typeface="+mn-lt"/>
                <a:cs typeface="+mn-lt"/>
              </a:defRPr>
            </a:lvl8pPr>
            <a:lvl9pPr marL="0" indent="0" algn="l">
              <a:lnSpc>
                <a:spcPct val="100000"/>
              </a:lnSpc>
              <a:spcBef>
                <a:spcPts val="0"/>
              </a:spcBef>
              <a:buNone/>
              <a:defRPr sz="1200">
                <a:latin typeface="+mn-lt"/>
                <a:ea typeface="+mn-lt"/>
                <a:cs typeface="+mn-lt"/>
              </a:defRPr>
            </a:lvl9pPr>
          </a:lstStyle>
          <a:p>
            <a:r>
              <a:t>Titel | ggf. weitere Angaben</a:t>
            </a:r>
          </a:p>
        </p:txBody>
      </p:sp>
      <p:sp>
        <p:nvSpPr>
          <p:cNvPr id="6" name="Foliennummernplatzhalter 5">
            <a:extLst>
              <a:ext uri="{FF2B5EF4-FFF2-40B4-BE49-F238E27FC236}">
                <a16:creationId xmlns:a16="http://schemas.microsoft.com/office/drawing/2014/main" id="{9CA03226-6650-4CAB-AD5B-9473B9BEE5A0}"/>
              </a:ext>
            </a:extLst>
          </p:cNvPr>
          <p:cNvSpPr>
            <a:spLocks noGrp="1"/>
          </p:cNvSpPr>
          <p:nvPr>
            <p:ph type="sldNum" idx="4"/>
          </p:nvPr>
        </p:nvSpPr>
        <p:spPr>
          <a:xfrm>
            <a:off x="324000" y="4752000"/>
            <a:ext cx="252000" cy="108000"/>
          </a:xfrm>
          <a:prstGeom prst="rect">
            <a:avLst/>
          </a:prstGeom>
        </p:spPr>
        <p:txBody>
          <a:bodyPr vert="horz" lIns="0" tIns="0" rIns="0" bIns="0" anchor="ctr">
            <a:noAutofit/>
          </a:bodyPr>
          <a:lstStyle>
            <a:lvl1pPr marL="0" indent="0" algn="l">
              <a:lnSpc>
                <a:spcPct val="100000"/>
              </a:lnSpc>
              <a:spcBef>
                <a:spcPts val="0"/>
              </a:spcBef>
              <a:buNone/>
              <a:defRPr sz="900">
                <a:solidFill>
                  <a:schemeClr val="tx2"/>
                </a:solidFill>
                <a:latin typeface="+mn-lt"/>
                <a:ea typeface="+mn-lt"/>
                <a:cs typeface="+mn-lt"/>
              </a:defRPr>
            </a:lvl1pPr>
            <a:lvl2pPr marL="0" indent="0" algn="l">
              <a:lnSpc>
                <a:spcPct val="100000"/>
              </a:lnSpc>
              <a:spcBef>
                <a:spcPts val="0"/>
              </a:spcBef>
              <a:buNone/>
              <a:defRPr sz="1200">
                <a:latin typeface="+mn-lt"/>
                <a:ea typeface="+mn-lt"/>
                <a:cs typeface="+mn-lt"/>
              </a:defRPr>
            </a:lvl2pPr>
            <a:lvl3pPr marL="0" indent="0" algn="l">
              <a:lnSpc>
                <a:spcPct val="100000"/>
              </a:lnSpc>
              <a:spcBef>
                <a:spcPts val="0"/>
              </a:spcBef>
              <a:buNone/>
              <a:defRPr sz="1200">
                <a:latin typeface="+mn-lt"/>
                <a:ea typeface="+mn-lt"/>
                <a:cs typeface="+mn-lt"/>
              </a:defRPr>
            </a:lvl3pPr>
            <a:lvl4pPr marL="0" indent="0" algn="l">
              <a:lnSpc>
                <a:spcPct val="100000"/>
              </a:lnSpc>
              <a:spcBef>
                <a:spcPts val="0"/>
              </a:spcBef>
              <a:buNone/>
              <a:defRPr sz="1200">
                <a:latin typeface="+mn-lt"/>
                <a:ea typeface="+mn-lt"/>
                <a:cs typeface="+mn-lt"/>
              </a:defRPr>
            </a:lvl4pPr>
            <a:lvl5pPr marL="0" indent="0" algn="l">
              <a:lnSpc>
                <a:spcPct val="100000"/>
              </a:lnSpc>
              <a:spcBef>
                <a:spcPts val="0"/>
              </a:spcBef>
              <a:buNone/>
              <a:defRPr sz="1200">
                <a:latin typeface="+mn-lt"/>
                <a:ea typeface="+mn-lt"/>
                <a:cs typeface="+mn-lt"/>
              </a:defRPr>
            </a:lvl5pPr>
            <a:lvl6pPr marL="0" indent="0" algn="l">
              <a:lnSpc>
                <a:spcPct val="100000"/>
              </a:lnSpc>
              <a:spcBef>
                <a:spcPts val="0"/>
              </a:spcBef>
              <a:buNone/>
              <a:defRPr sz="1200">
                <a:latin typeface="+mn-lt"/>
                <a:ea typeface="+mn-lt"/>
                <a:cs typeface="+mn-lt"/>
              </a:defRPr>
            </a:lvl6pPr>
            <a:lvl7pPr marL="0" indent="0" algn="l">
              <a:lnSpc>
                <a:spcPct val="100000"/>
              </a:lnSpc>
              <a:spcBef>
                <a:spcPts val="0"/>
              </a:spcBef>
              <a:buNone/>
              <a:defRPr sz="1200">
                <a:latin typeface="+mn-lt"/>
                <a:ea typeface="+mn-lt"/>
                <a:cs typeface="+mn-lt"/>
              </a:defRPr>
            </a:lvl7pPr>
            <a:lvl8pPr marL="0" indent="0" algn="l">
              <a:lnSpc>
                <a:spcPct val="100000"/>
              </a:lnSpc>
              <a:spcBef>
                <a:spcPts val="0"/>
              </a:spcBef>
              <a:buNone/>
              <a:defRPr sz="1200">
                <a:latin typeface="+mn-lt"/>
                <a:ea typeface="+mn-lt"/>
                <a:cs typeface="+mn-lt"/>
              </a:defRPr>
            </a:lvl8pPr>
            <a:lvl9pPr marL="0" indent="0" algn="l">
              <a:lnSpc>
                <a:spcPct val="100000"/>
              </a:lnSpc>
              <a:spcBef>
                <a:spcPts val="0"/>
              </a:spcBef>
              <a:buNone/>
              <a:defRPr sz="1200">
                <a:latin typeface="+mn-lt"/>
                <a:ea typeface="+mn-lt"/>
                <a:cs typeface="+mn-lt"/>
              </a:defRPr>
            </a:lvl9pPr>
          </a:lstStyle>
          <a:p>
            <a:fld id="{6C8FC03C-C266-4645-ABC5-645062898383}" type="slidenum">
              <a:t>‹#›</a:t>
            </a:fld>
            <a:fld id="{D6C92596-E737-FF90-EBB5-6AFD01EC4D29}" type="slidenum">
              <a:t>‹#›</a:t>
            </a:fld>
            <a:endParaRPr/>
          </a:p>
        </p:txBody>
      </p:sp>
      <p:sp>
        <p:nvSpPr>
          <p:cNvPr id="12" name="Text // Listenebene erhöhen">
            <a:extLst>
              <a:ext uri="{FF2B5EF4-FFF2-40B4-BE49-F238E27FC236}">
                <a16:creationId xmlns:a16="http://schemas.microsoft.com/office/drawing/2014/main" id="{B970B92B-B9AF-4A54-B656-7C99BD72F23A}"/>
              </a:ext>
            </a:extLst>
          </p:cNvPr>
          <p:cNvSpPr>
            <a:spLocks noGrp="1"/>
          </p:cNvSpPr>
          <p:nvPr/>
        </p:nvSpPr>
        <p:spPr>
          <a:xfrm>
            <a:off x="-2016000" y="2787874"/>
            <a:ext cx="936000" cy="396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sz="1200" b="1">
                <a:solidFill>
                  <a:schemeClr val="tx1"/>
                </a:solidFill>
                <a:latin typeface="+mn-lt"/>
                <a:ea typeface="+mn-lt"/>
                <a:cs typeface="+mn-lt"/>
              </a:rPr>
              <a:t>Listenebene</a:t>
            </a:r>
          </a:p>
          <a:p>
            <a:pPr marL="0" indent="0" algn="r">
              <a:lnSpc>
                <a:spcPct val="100000"/>
              </a:lnSpc>
              <a:spcBef>
                <a:spcPts val="0"/>
              </a:spcBef>
              <a:spcAft>
                <a:spcPts val="0"/>
              </a:spcAft>
              <a:buNone/>
            </a:pPr>
            <a:r>
              <a:rPr sz="1200" b="1">
                <a:solidFill>
                  <a:schemeClr val="tx1"/>
                </a:solidFill>
                <a:latin typeface="+mn-lt"/>
                <a:ea typeface="+mn-lt"/>
                <a:cs typeface="+mn-lt"/>
              </a:rPr>
              <a:t>erhöhen</a:t>
            </a:r>
          </a:p>
        </p:txBody>
      </p:sp>
      <p:sp>
        <p:nvSpPr>
          <p:cNvPr id="13" name="Text // Listenebene verringern">
            <a:extLst>
              <a:ext uri="{FF2B5EF4-FFF2-40B4-BE49-F238E27FC236}">
                <a16:creationId xmlns:a16="http://schemas.microsoft.com/office/drawing/2014/main" id="{55B1E023-F83F-4080-8547-48B853CBA3B7}"/>
              </a:ext>
            </a:extLst>
          </p:cNvPr>
          <p:cNvSpPr>
            <a:spLocks noGrp="1"/>
          </p:cNvSpPr>
          <p:nvPr/>
        </p:nvSpPr>
        <p:spPr>
          <a:xfrm>
            <a:off x="-2016000" y="3291874"/>
            <a:ext cx="936000" cy="396000"/>
          </a:xfrm>
          <a:prstGeom prst="rect">
            <a:avLst/>
          </a:prstGeom>
          <a:noFill/>
        </p:spPr>
        <p:txBody>
          <a:bodyPr wrap="square" lIns="0" tIns="0" rIns="0" bIns="0" anchor="ctr">
            <a:noAutofit/>
          </a:bodyPr>
          <a:lstStyle/>
          <a:p>
            <a:pPr marL="0" indent="0" algn="r">
              <a:lnSpc>
                <a:spcPct val="100000"/>
              </a:lnSpc>
              <a:spcBef>
                <a:spcPts val="0"/>
              </a:spcBef>
              <a:spcAft>
                <a:spcPts val="0"/>
              </a:spcAft>
              <a:buNone/>
            </a:pPr>
            <a:r>
              <a:rPr sz="1200" b="1">
                <a:solidFill>
                  <a:schemeClr val="tx1"/>
                </a:solidFill>
                <a:latin typeface="+mn-lt"/>
                <a:ea typeface="+mn-lt"/>
                <a:cs typeface="+mn-lt"/>
              </a:rPr>
              <a:t>Listenebene</a:t>
            </a:r>
          </a:p>
          <a:p>
            <a:pPr marL="0" indent="0" algn="r">
              <a:lnSpc>
                <a:spcPct val="100000"/>
              </a:lnSpc>
              <a:spcBef>
                <a:spcPts val="0"/>
              </a:spcBef>
              <a:spcAft>
                <a:spcPts val="0"/>
              </a:spcAft>
              <a:buNone/>
            </a:pPr>
            <a:r>
              <a:rPr sz="1200" b="1">
                <a:solidFill>
                  <a:schemeClr val="tx1"/>
                </a:solidFill>
                <a:latin typeface="+mn-lt"/>
                <a:ea typeface="+mn-lt"/>
                <a:cs typeface="+mn-lt"/>
              </a:rPr>
              <a:t>verringern</a:t>
            </a:r>
          </a:p>
        </p:txBody>
      </p:sp>
      <p:sp>
        <p:nvSpPr>
          <p:cNvPr id="25" name="Listenebenen">
            <a:extLst>
              <a:ext uri="{FF2B5EF4-FFF2-40B4-BE49-F238E27FC236}">
                <a16:creationId xmlns:a16="http://schemas.microsoft.com/office/drawing/2014/main" id="{F34064DF-FB6B-4926-B967-F246EA96513F}"/>
              </a:ext>
            </a:extLst>
          </p:cNvPr>
          <p:cNvSpPr>
            <a:spLocks noGrp="1"/>
          </p:cNvSpPr>
          <p:nvPr/>
        </p:nvSpPr>
        <p:spPr>
          <a:xfrm rot="10800000" flipH="1" flipV="1">
            <a:off x="-2088000" y="1368000"/>
            <a:ext cx="1980000" cy="828000"/>
          </a:xfrm>
          <a:prstGeom prst="rect">
            <a:avLst/>
          </a:prstGeom>
          <a:noFill/>
          <a:ln w="12700">
            <a:noFill/>
          </a:ln>
        </p:spPr>
        <p:txBody>
          <a:bodyPr vert="horz" wrap="square" lIns="0" tIns="0" rIns="0" bIns="0" anchor="t">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marL="0" indent="0" algn="r">
              <a:lnSpc>
                <a:spcPct val="100000"/>
              </a:lnSpc>
              <a:spcBef>
                <a:spcPts val="0"/>
              </a:spcBef>
              <a:spcAft>
                <a:spcPts val="0"/>
              </a:spcAft>
              <a:buNone/>
            </a:pPr>
            <a:r>
              <a:rPr sz="1200" b="0">
                <a:solidFill>
                  <a:schemeClr val="tx1"/>
                </a:solidFill>
                <a:latin typeface="+mn-lt"/>
                <a:ea typeface="+mn-lt"/>
                <a:cs typeface="+mn-lt"/>
              </a:rPr>
              <a:t>Listen erstellen</a:t>
            </a:r>
          </a:p>
          <a:p>
            <a:pPr marL="0" indent="0" algn="r">
              <a:lnSpc>
                <a:spcPct val="100000"/>
              </a:lnSpc>
              <a:spcBef>
                <a:spcPts val="0"/>
              </a:spcBef>
              <a:spcAft>
                <a:spcPts val="0"/>
              </a:spcAft>
              <a:buNone/>
            </a:pPr>
            <a:r>
              <a:rPr sz="1200" b="0">
                <a:solidFill>
                  <a:schemeClr val="tx1"/>
                </a:solidFill>
                <a:latin typeface="+mn-lt"/>
                <a:ea typeface="+mn-lt"/>
                <a:cs typeface="+mn-lt"/>
              </a:rPr>
              <a:t>Wechseln Sie die Textebene</a:t>
            </a:r>
          </a:p>
          <a:p>
            <a:pPr marL="0" indent="0" algn="r">
              <a:lnSpc>
                <a:spcPct val="100000"/>
              </a:lnSpc>
              <a:spcBef>
                <a:spcPts val="0"/>
              </a:spcBef>
              <a:spcAft>
                <a:spcPts val="0"/>
              </a:spcAft>
              <a:buNone/>
            </a:pPr>
            <a:r>
              <a:rPr sz="1200" b="0">
                <a:solidFill>
                  <a:schemeClr val="tx1"/>
                </a:solidFill>
                <a:latin typeface="+mn-lt"/>
                <a:ea typeface="+mn-lt"/>
                <a:cs typeface="+mn-lt"/>
              </a:rPr>
              <a:t>im Menü über: </a:t>
            </a:r>
            <a:br/>
            <a:r>
              <a:rPr sz="1200" b="1">
                <a:solidFill>
                  <a:schemeClr val="tx1"/>
                </a:solidFill>
                <a:latin typeface="+mn-lt"/>
                <a:ea typeface="+mn-lt"/>
                <a:cs typeface="+mn-lt"/>
              </a:rPr>
              <a:t>Start &gt; Absatz &gt; Listenebene erhöhen/verringern</a:t>
            </a:r>
          </a:p>
        </p:txBody>
      </p:sp>
      <p:pic>
        <p:nvPicPr>
          <p:cNvPr id="26" name="Bild // Listenebene verringern"/>
          <p:cNvPicPr>
            <a:picLocks noChangeAspect="1"/>
          </p:cNvPicPr>
          <p:nvPr/>
        </p:nvPicPr>
        <p:blipFill>
          <a:blip r:embed="rId11"/>
          <a:stretch>
            <a:fillRect/>
          </a:stretch>
        </p:blipFill>
        <p:spPr>
          <a:xfrm>
            <a:off x="-963360" y="3291874"/>
            <a:ext cx="855360" cy="396000"/>
          </a:xfrm>
          <a:prstGeom prst="rect">
            <a:avLst/>
          </a:prstGeom>
        </p:spPr>
      </p:pic>
      <p:pic>
        <p:nvPicPr>
          <p:cNvPr id="27" name="Bild // Listenebene erhöhen"/>
          <p:cNvPicPr>
            <a:picLocks noChangeAspect="1"/>
          </p:cNvPicPr>
          <p:nvPr/>
        </p:nvPicPr>
        <p:blipFill>
          <a:blip r:embed="rId12"/>
          <a:stretch>
            <a:fillRect/>
          </a:stretch>
        </p:blipFill>
        <p:spPr>
          <a:xfrm>
            <a:off x="-963360" y="2787874"/>
            <a:ext cx="855360" cy="396000"/>
          </a:xfrm>
          <a:prstGeom prst="rect">
            <a:avLst/>
          </a:prstGeom>
        </p:spPr>
      </p:pic>
      <p:sp>
        <p:nvSpPr>
          <p:cNvPr id="14" name="Zurücksetzen">
            <a:extLst>
              <a:ext uri="{FF2B5EF4-FFF2-40B4-BE49-F238E27FC236}">
                <a16:creationId xmlns:a16="http://schemas.microsoft.com/office/drawing/2014/main" id="{4BCA4F23-C8E6-4A08-A4E5-98B55DA2E2C2}"/>
              </a:ext>
            </a:extLst>
          </p:cNvPr>
          <p:cNvSpPr>
            <a:spLocks noGrp="1"/>
          </p:cNvSpPr>
          <p:nvPr/>
        </p:nvSpPr>
        <p:spPr>
          <a:xfrm rot="10800000" flipH="1" flipV="1">
            <a:off x="9252000" y="648000"/>
            <a:ext cx="1944000" cy="612000"/>
          </a:xfrm>
          <a:prstGeom prst="rect">
            <a:avLst/>
          </a:prstGeom>
          <a:noFill/>
          <a:ln w="12700">
            <a:noFill/>
          </a:ln>
        </p:spPr>
        <p:txBody>
          <a:bodyPr vert="horz" wrap="square" lIns="0" tIns="0" rIns="0" bIns="0" anchor="t">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indent="0" algn="l">
              <a:lnSpc>
                <a:spcPct val="100000"/>
              </a:lnSpc>
              <a:spcBef>
                <a:spcPts val="0"/>
              </a:spcBef>
              <a:spcAft>
                <a:spcPts val="0"/>
              </a:spcAft>
              <a:buNone/>
            </a:pPr>
            <a:r>
              <a:rPr sz="1200" b="0">
                <a:solidFill>
                  <a:schemeClr val="tx1"/>
                </a:solidFill>
                <a:latin typeface="+mn-lt"/>
                <a:ea typeface="+mn-lt"/>
                <a:cs typeface="+mn-lt"/>
              </a:rPr>
              <a:t>Folie in Ursprungsform </a:t>
            </a:r>
          </a:p>
          <a:p>
            <a:pPr indent="0" algn="l">
              <a:lnSpc>
                <a:spcPct val="100000"/>
              </a:lnSpc>
              <a:spcBef>
                <a:spcPts val="0"/>
              </a:spcBef>
              <a:spcAft>
                <a:spcPts val="0"/>
              </a:spcAft>
              <a:buNone/>
            </a:pPr>
            <a:r>
              <a:rPr sz="1200" b="0">
                <a:solidFill>
                  <a:schemeClr val="tx1"/>
                </a:solidFill>
                <a:latin typeface="+mn-lt"/>
                <a:ea typeface="+mn-lt"/>
                <a:cs typeface="+mn-lt"/>
              </a:rPr>
              <a:t>bringen über Menü:</a:t>
            </a:r>
          </a:p>
          <a:p>
            <a:pPr indent="0" algn="l">
              <a:lnSpc>
                <a:spcPct val="100000"/>
              </a:lnSpc>
              <a:spcBef>
                <a:spcPts val="0"/>
              </a:spcBef>
              <a:spcAft>
                <a:spcPts val="0"/>
              </a:spcAft>
              <a:buNone/>
            </a:pPr>
            <a:r>
              <a:rPr sz="1200" b="1">
                <a:solidFill>
                  <a:schemeClr val="tx1"/>
                </a:solidFill>
                <a:latin typeface="+mn-lt"/>
                <a:ea typeface="+mn-lt"/>
                <a:cs typeface="+mn-lt"/>
              </a:rPr>
              <a:t>Start &gt; Folien &gt; Zurücksetzen</a:t>
            </a:r>
          </a:p>
        </p:txBody>
      </p:sp>
      <p:sp>
        <p:nvSpPr>
          <p:cNvPr id="15" name="Hilfslinien">
            <a:extLst>
              <a:ext uri="{FF2B5EF4-FFF2-40B4-BE49-F238E27FC236}">
                <a16:creationId xmlns:a16="http://schemas.microsoft.com/office/drawing/2014/main" id="{1506FF5A-15CF-4584-919C-AEB1FCC3F5FA}"/>
              </a:ext>
            </a:extLst>
          </p:cNvPr>
          <p:cNvSpPr>
            <a:spLocks noGrp="1"/>
          </p:cNvSpPr>
          <p:nvPr/>
        </p:nvSpPr>
        <p:spPr>
          <a:xfrm rot="10800000" flipH="1" flipV="1">
            <a:off x="431801" y="-468000"/>
            <a:ext cx="8280400" cy="360000"/>
          </a:xfrm>
          <a:prstGeom prst="rect">
            <a:avLst/>
          </a:prstGeom>
          <a:noFill/>
          <a:ln w="12700">
            <a:noFill/>
          </a:ln>
        </p:spPr>
        <p:txBody>
          <a:bodyPr vert="horz" wrap="square" lIns="0" tIns="0" rIns="0" bIns="0" anchor="b">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marL="0" indent="0" algn="ctr">
              <a:lnSpc>
                <a:spcPct val="100000"/>
              </a:lnSpc>
              <a:spcBef>
                <a:spcPts val="0"/>
              </a:spcBef>
              <a:spcAft>
                <a:spcPts val="0"/>
              </a:spcAft>
              <a:buNone/>
            </a:pPr>
            <a:r>
              <a:rPr sz="1200" b="0" i="0" u="none" cap="none" spc="0">
                <a:ln>
                  <a:noFill/>
                </a:ln>
                <a:solidFill>
                  <a:schemeClr val="tx1"/>
                </a:solidFill>
                <a:latin typeface="+mn-lt"/>
                <a:ea typeface="+mn-lt"/>
                <a:cs typeface="+mn-lt"/>
              </a:rPr>
              <a:t>Hilfslinien anzeigen über Menü: </a:t>
            </a:r>
            <a:r>
              <a:rPr sz="1200" b="1" i="0" u="none" cap="none" spc="0">
                <a:ln>
                  <a:noFill/>
                </a:ln>
                <a:solidFill>
                  <a:schemeClr val="tx1"/>
                </a:solidFill>
                <a:latin typeface="+mn-lt"/>
                <a:ea typeface="+mn-lt"/>
                <a:cs typeface="+mn-lt"/>
              </a:rPr>
              <a:t>Ansicht &gt; Anzeigen &gt; Haken bei Führungslinien setzen</a:t>
            </a:r>
          </a:p>
        </p:txBody>
      </p:sp>
      <p:sp>
        <p:nvSpPr>
          <p:cNvPr id="16" name="Fußzeile">
            <a:extLst>
              <a:ext uri="{FF2B5EF4-FFF2-40B4-BE49-F238E27FC236}">
                <a16:creationId xmlns:a16="http://schemas.microsoft.com/office/drawing/2014/main" id="{436BEFAE-0DCC-442E-AE38-D82F0B700372}"/>
              </a:ext>
            </a:extLst>
          </p:cNvPr>
          <p:cNvSpPr>
            <a:spLocks noGrp="1"/>
          </p:cNvSpPr>
          <p:nvPr/>
        </p:nvSpPr>
        <p:spPr>
          <a:xfrm rot="10800000" flipH="1" flipV="1">
            <a:off x="431800" y="5255998"/>
            <a:ext cx="8280400" cy="360001"/>
          </a:xfrm>
          <a:prstGeom prst="rect">
            <a:avLst/>
          </a:prstGeom>
          <a:noFill/>
          <a:ln w="12700">
            <a:noFill/>
          </a:ln>
        </p:spPr>
        <p:txBody>
          <a:bodyPr vert="horz" wrap="square" lIns="0" tIns="0" rIns="0" bIns="0" anchor="t">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marL="0" indent="0" algn="ctr">
              <a:lnSpc>
                <a:spcPct val="100000"/>
              </a:lnSpc>
              <a:spcBef>
                <a:spcPts val="0"/>
              </a:spcBef>
              <a:spcAft>
                <a:spcPts val="0"/>
              </a:spcAft>
              <a:buNone/>
            </a:pPr>
            <a:r>
              <a:rPr sz="1200" b="0">
                <a:solidFill>
                  <a:schemeClr val="tx1"/>
                </a:solidFill>
                <a:latin typeface="+mn-lt"/>
                <a:ea typeface="+mn-lt"/>
                <a:cs typeface="+mn-lt"/>
              </a:rPr>
              <a:t>Fußzeile anpassen: </a:t>
            </a:r>
            <a:r>
              <a:rPr sz="1200" b="1">
                <a:solidFill>
                  <a:schemeClr val="tx1"/>
                </a:solidFill>
                <a:latin typeface="+mn-lt"/>
                <a:ea typeface="+mn-lt"/>
                <a:cs typeface="+mn-lt"/>
              </a:rPr>
              <a:t>Einfügen &gt; Text &gt; Kopf- und Fußzeile</a:t>
            </a:r>
          </a:p>
        </p:txBody>
      </p:sp>
      <p:sp>
        <p:nvSpPr>
          <p:cNvPr id="30" name="Layoutwechsel">
            <a:extLst>
              <a:ext uri="{FF2B5EF4-FFF2-40B4-BE49-F238E27FC236}">
                <a16:creationId xmlns:a16="http://schemas.microsoft.com/office/drawing/2014/main" id="{A94C8A45-8379-4734-8F95-4F6F066AF80D}"/>
              </a:ext>
            </a:extLst>
          </p:cNvPr>
          <p:cNvSpPr>
            <a:spLocks noGrp="1"/>
          </p:cNvSpPr>
          <p:nvPr/>
        </p:nvSpPr>
        <p:spPr>
          <a:xfrm rot="10800000" flipH="1" flipV="1">
            <a:off x="9252000" y="2283786"/>
            <a:ext cx="1944000" cy="612000"/>
          </a:xfrm>
          <a:prstGeom prst="rect">
            <a:avLst/>
          </a:prstGeom>
          <a:noFill/>
          <a:ln w="12700">
            <a:noFill/>
          </a:ln>
        </p:spPr>
        <p:txBody>
          <a:bodyPr vert="horz" wrap="square" lIns="0" tIns="0" rIns="0" bIns="0" anchor="t">
            <a:noAutofit/>
          </a:bodyPr>
          <a:lstStyle>
            <a:lvl1pPr marL="0" algn="l">
              <a:buNone/>
              <a:defRPr sz="2100">
                <a:solidFill>
                  <a:schemeClr val="tx1"/>
                </a:solidFill>
                <a:latin typeface="+mn-lt"/>
                <a:ea typeface="+mn-lt"/>
                <a:cs typeface="+mn-lt"/>
              </a:defRPr>
            </a:lvl1pPr>
            <a:lvl2pPr marL="521528" algn="l">
              <a:buNone/>
              <a:defRPr sz="2100">
                <a:solidFill>
                  <a:schemeClr val="tx1"/>
                </a:solidFill>
                <a:latin typeface="+mn-lt"/>
                <a:ea typeface="+mn-lt"/>
                <a:cs typeface="+mn-lt"/>
              </a:defRPr>
            </a:lvl2pPr>
            <a:lvl3pPr marL="1043056" algn="l">
              <a:buNone/>
              <a:defRPr sz="2100">
                <a:solidFill>
                  <a:schemeClr val="tx1"/>
                </a:solidFill>
                <a:latin typeface="+mn-lt"/>
                <a:ea typeface="+mn-lt"/>
                <a:cs typeface="+mn-lt"/>
              </a:defRPr>
            </a:lvl3pPr>
            <a:lvl4pPr marL="1564584" algn="l">
              <a:buNone/>
              <a:defRPr sz="2100">
                <a:solidFill>
                  <a:schemeClr val="tx1"/>
                </a:solidFill>
                <a:latin typeface="+mn-lt"/>
                <a:ea typeface="+mn-lt"/>
                <a:cs typeface="+mn-lt"/>
              </a:defRPr>
            </a:lvl4pPr>
            <a:lvl5pPr marL="2086112" algn="l">
              <a:buNone/>
              <a:defRPr sz="2100">
                <a:solidFill>
                  <a:schemeClr val="tx1"/>
                </a:solidFill>
                <a:latin typeface="+mn-lt"/>
                <a:ea typeface="+mn-lt"/>
                <a:cs typeface="+mn-lt"/>
              </a:defRPr>
            </a:lvl5pPr>
            <a:lvl6pPr marL="2607640" algn="l">
              <a:buNone/>
              <a:defRPr sz="2100">
                <a:solidFill>
                  <a:schemeClr val="tx1"/>
                </a:solidFill>
                <a:latin typeface="+mn-lt"/>
                <a:ea typeface="+mn-lt"/>
                <a:cs typeface="+mn-lt"/>
              </a:defRPr>
            </a:lvl6pPr>
            <a:lvl7pPr marL="3129168" algn="l">
              <a:buNone/>
              <a:defRPr sz="2100">
                <a:solidFill>
                  <a:schemeClr val="tx1"/>
                </a:solidFill>
                <a:latin typeface="+mn-lt"/>
                <a:ea typeface="+mn-lt"/>
                <a:cs typeface="+mn-lt"/>
              </a:defRPr>
            </a:lvl7pPr>
            <a:lvl8pPr marL="3650696" algn="l">
              <a:buNone/>
              <a:defRPr sz="2100">
                <a:solidFill>
                  <a:schemeClr val="tx1"/>
                </a:solidFill>
                <a:latin typeface="+mn-lt"/>
                <a:ea typeface="+mn-lt"/>
                <a:cs typeface="+mn-lt"/>
              </a:defRPr>
            </a:lvl8pPr>
            <a:lvl9pPr marL="4172224" algn="l">
              <a:buNone/>
              <a:defRPr sz="2100">
                <a:solidFill>
                  <a:schemeClr val="tx1"/>
                </a:solidFill>
                <a:latin typeface="+mn-lt"/>
                <a:ea typeface="+mn-lt"/>
                <a:cs typeface="+mn-lt"/>
              </a:defRPr>
            </a:lvl9pPr>
          </a:lstStyle>
          <a:p>
            <a:pPr indent="0" algn="l">
              <a:lnSpc>
                <a:spcPct val="100000"/>
              </a:lnSpc>
              <a:spcBef>
                <a:spcPts val="0"/>
              </a:spcBef>
              <a:spcAft>
                <a:spcPts val="0"/>
              </a:spcAft>
              <a:buNone/>
            </a:pPr>
            <a:r>
              <a:rPr sz="1200" b="0">
                <a:solidFill>
                  <a:schemeClr val="tx1"/>
                </a:solidFill>
                <a:latin typeface="+mn-lt"/>
                <a:ea typeface="+mn-lt"/>
                <a:cs typeface="+mn-lt"/>
              </a:rPr>
              <a:t>Wechsel des Folienlayouts </a:t>
            </a:r>
            <a:br/>
            <a:r>
              <a:rPr sz="1200" b="0">
                <a:solidFill>
                  <a:schemeClr val="tx1"/>
                </a:solidFill>
                <a:latin typeface="+mn-lt"/>
                <a:ea typeface="+mn-lt"/>
                <a:cs typeface="+mn-lt"/>
              </a:rPr>
              <a:t>im Menü über:</a:t>
            </a:r>
          </a:p>
          <a:p>
            <a:pPr marL="0" indent="0" algn="l">
              <a:lnSpc>
                <a:spcPct val="100000"/>
              </a:lnSpc>
              <a:spcBef>
                <a:spcPts val="0"/>
              </a:spcBef>
              <a:spcAft>
                <a:spcPts val="0"/>
              </a:spcAft>
              <a:buNone/>
            </a:pPr>
            <a:r>
              <a:rPr sz="1200" b="1">
                <a:solidFill>
                  <a:schemeClr val="tx1"/>
                </a:solidFill>
                <a:latin typeface="+mn-lt"/>
                <a:ea typeface="+mn-lt"/>
                <a:cs typeface="+mn-lt"/>
              </a:rPr>
              <a:t>Start &gt; Folien &gt; Layout</a:t>
            </a:r>
          </a:p>
        </p:txBody>
      </p:sp>
      <p:sp>
        <p:nvSpPr>
          <p:cNvPr id="17" name="Gerader Verbinder 16">
            <a:extLst>
              <a:ext uri="{FF2B5EF4-FFF2-40B4-BE49-F238E27FC236}">
                <a16:creationId xmlns:a16="http://schemas.microsoft.com/office/drawing/2014/main" id="{C13F3A2C-A8B8-4DAC-AF36-266A796EB663}"/>
              </a:ext>
            </a:extLst>
          </p:cNvPr>
          <p:cNvSpPr>
            <a:spLocks noGrp="1"/>
          </p:cNvSpPr>
          <p:nvPr/>
        </p:nvSpPr>
        <p:spPr>
          <a:xfrm>
            <a:off x="0" y="4485600"/>
            <a:ext cx="9144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sp>
      <p:pic>
        <p:nvPicPr>
          <p:cNvPr id="33" name="Grafik 20"/>
          <p:cNvPicPr>
            <a:picLocks noChangeAspect="1"/>
          </p:cNvPicPr>
          <p:nvPr/>
        </p:nvPicPr>
        <p:blipFill>
          <a:blip r:embed="rId13"/>
          <a:stretch>
            <a:fillRect/>
          </a:stretch>
        </p:blipFill>
        <p:spPr>
          <a:xfrm>
            <a:off x="7730714" y="4571638"/>
            <a:ext cx="1089286" cy="4561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dt="0"/>
  <p:txStyles>
    <p:titleStyle>
      <a:lvl1pPr marL="0" indent="0" algn="l">
        <a:lnSpc>
          <a:spcPct val="100000"/>
        </a:lnSpc>
        <a:spcBef>
          <a:spcPts val="0"/>
        </a:spcBef>
        <a:buNone/>
        <a:defRPr sz="2700" b="1">
          <a:solidFill>
            <a:schemeClr val="tx2"/>
          </a:solidFill>
          <a:latin typeface="RubFlama"/>
          <a:ea typeface="RubFlama"/>
          <a:cs typeface="RubFlama"/>
        </a:defRPr>
      </a:lvl1pPr>
    </p:titleStyle>
    <p:bodyStyle>
      <a:lvl1pPr marL="0" indent="0" algn="l">
        <a:lnSpc>
          <a:spcPts val="1800"/>
        </a:lnSpc>
        <a:spcBef>
          <a:spcPts val="0"/>
        </a:spcBef>
        <a:spcAft>
          <a:spcPts val="1200"/>
        </a:spcAft>
        <a:buNone/>
        <a:defRPr sz="1500" b="1">
          <a:solidFill>
            <a:schemeClr val="tx2"/>
          </a:solidFill>
          <a:latin typeface="RUB Scala MZ"/>
          <a:ea typeface="RUB Scala MZ"/>
          <a:cs typeface="RUB Scala MZ"/>
        </a:defRPr>
      </a:lvl1pPr>
      <a:lvl2pPr marL="0" indent="0" algn="l">
        <a:lnSpc>
          <a:spcPts val="1800"/>
        </a:lnSpc>
        <a:spcBef>
          <a:spcPts val="0"/>
        </a:spcBef>
        <a:spcAft>
          <a:spcPts val="600"/>
        </a:spcAft>
        <a:buNone/>
        <a:defRPr sz="1500">
          <a:solidFill>
            <a:schemeClr val="tx2"/>
          </a:solidFill>
          <a:latin typeface="RUB Scala MZ"/>
          <a:ea typeface="RUB Scala MZ"/>
          <a:cs typeface="RUB Scala MZ"/>
        </a:defRPr>
      </a:lvl2pPr>
      <a:lvl3pPr marL="234000" indent="-234000" algn="l">
        <a:lnSpc>
          <a:spcPts val="1800"/>
        </a:lnSpc>
        <a:spcBef>
          <a:spcPts val="0"/>
        </a:spcBef>
        <a:spcAft>
          <a:spcPts val="600"/>
        </a:spcAft>
        <a:buChar char="§"/>
        <a:defRPr sz="1500">
          <a:solidFill>
            <a:schemeClr val="tx2"/>
          </a:solidFill>
          <a:latin typeface="RUB Scala MZ"/>
          <a:ea typeface="RUB Scala MZ"/>
          <a:cs typeface="RUB Scala MZ"/>
        </a:defRPr>
      </a:lvl3pPr>
      <a:lvl4pPr marL="468000" indent="-234000" algn="l">
        <a:lnSpc>
          <a:spcPts val="1800"/>
        </a:lnSpc>
        <a:spcBef>
          <a:spcPts val="0"/>
        </a:spcBef>
        <a:spcAft>
          <a:spcPts val="600"/>
        </a:spcAft>
        <a:buChar char="§"/>
        <a:defRPr sz="1500">
          <a:solidFill>
            <a:schemeClr val="tx2"/>
          </a:solidFill>
          <a:latin typeface="RUB Scala MZ"/>
          <a:ea typeface="RUB Scala MZ"/>
          <a:cs typeface="RUB Scala MZ"/>
        </a:defRPr>
      </a:lvl4pPr>
      <a:lvl5pPr marL="702000" indent="-234000" algn="l">
        <a:lnSpc>
          <a:spcPts val="1800"/>
        </a:lnSpc>
        <a:spcBef>
          <a:spcPts val="0"/>
        </a:spcBef>
        <a:spcAft>
          <a:spcPts val="600"/>
        </a:spcAft>
        <a:buChar char="§"/>
        <a:defRPr sz="1500">
          <a:solidFill>
            <a:schemeClr val="tx2"/>
          </a:solidFill>
          <a:latin typeface="RUB Scala MZ"/>
          <a:ea typeface="RUB Scala MZ"/>
          <a:cs typeface="RUB Scala MZ"/>
        </a:defRPr>
      </a:lvl5pPr>
      <a:lvl6pPr marL="0" indent="0" algn="l">
        <a:lnSpc>
          <a:spcPts val="1800"/>
        </a:lnSpc>
        <a:spcBef>
          <a:spcPts val="0"/>
        </a:spcBef>
        <a:spcAft>
          <a:spcPts val="600"/>
        </a:spcAft>
        <a:buNone/>
        <a:defRPr sz="1500">
          <a:solidFill>
            <a:schemeClr val="tx2"/>
          </a:solidFill>
          <a:latin typeface="RUB Scala MZ"/>
          <a:ea typeface="RUB Scala MZ"/>
          <a:cs typeface="RUB Scala MZ"/>
        </a:defRPr>
      </a:lvl6pPr>
      <a:lvl7pPr marL="0" indent="0" algn="l">
        <a:lnSpc>
          <a:spcPts val="1800"/>
        </a:lnSpc>
        <a:spcBef>
          <a:spcPts val="0"/>
        </a:spcBef>
        <a:spcAft>
          <a:spcPts val="600"/>
        </a:spcAft>
        <a:buNone/>
        <a:defRPr sz="1500">
          <a:solidFill>
            <a:schemeClr val="tx2"/>
          </a:solidFill>
          <a:latin typeface="RUB Scala MZ"/>
          <a:ea typeface="RUB Scala MZ"/>
          <a:cs typeface="RUB Scala MZ"/>
        </a:defRPr>
      </a:lvl7pPr>
      <a:lvl8pPr marL="0" indent="0" algn="l">
        <a:lnSpc>
          <a:spcPts val="1800"/>
        </a:lnSpc>
        <a:spcBef>
          <a:spcPts val="0"/>
        </a:spcBef>
        <a:spcAft>
          <a:spcPts val="600"/>
        </a:spcAft>
        <a:buNone/>
        <a:defRPr sz="1500">
          <a:solidFill>
            <a:schemeClr val="tx2"/>
          </a:solidFill>
          <a:latin typeface="RUB Scala MZ"/>
          <a:ea typeface="RUB Scala MZ"/>
          <a:cs typeface="RUB Scala MZ"/>
        </a:defRPr>
      </a:lvl8pPr>
      <a:lvl9pPr marL="0" indent="0" algn="l">
        <a:lnSpc>
          <a:spcPts val="1800"/>
        </a:lnSpc>
        <a:spcBef>
          <a:spcPts val="0"/>
        </a:spcBef>
        <a:spcAft>
          <a:spcPts val="600"/>
        </a:spcAft>
        <a:buNone/>
        <a:defRPr sz="1500">
          <a:solidFill>
            <a:schemeClr val="tx2"/>
          </a:solidFill>
          <a:latin typeface="RUB Scala MZ"/>
          <a:ea typeface="RUB Scala MZ"/>
          <a:cs typeface="RUB Scala MZ"/>
        </a:defRPr>
      </a:lvl9pPr>
    </p:bodyStyle>
    <p:otherStyle>
      <a:lvl1pPr marL="0" algn="l">
        <a:buNone/>
        <a:defRPr sz="1350">
          <a:solidFill>
            <a:schemeClr val="tx1"/>
          </a:solidFill>
          <a:latin typeface="+mn-lt"/>
          <a:ea typeface="+mn-lt"/>
          <a:cs typeface="+mn-lt"/>
        </a:defRPr>
      </a:lvl1pPr>
      <a:lvl2pPr marL="342900" algn="l">
        <a:buNone/>
        <a:defRPr sz="1350">
          <a:solidFill>
            <a:schemeClr val="tx1"/>
          </a:solidFill>
          <a:latin typeface="+mn-lt"/>
          <a:ea typeface="+mn-lt"/>
          <a:cs typeface="+mn-lt"/>
        </a:defRPr>
      </a:lvl2pPr>
      <a:lvl3pPr marL="685800" algn="l">
        <a:buNone/>
        <a:defRPr sz="1350">
          <a:solidFill>
            <a:schemeClr val="tx1"/>
          </a:solidFill>
          <a:latin typeface="+mn-lt"/>
          <a:ea typeface="+mn-lt"/>
          <a:cs typeface="+mn-lt"/>
        </a:defRPr>
      </a:lvl3pPr>
      <a:lvl4pPr marL="1028700" algn="l">
        <a:buNone/>
        <a:defRPr sz="1350">
          <a:solidFill>
            <a:schemeClr val="tx1"/>
          </a:solidFill>
          <a:latin typeface="+mn-lt"/>
          <a:ea typeface="+mn-lt"/>
          <a:cs typeface="+mn-lt"/>
        </a:defRPr>
      </a:lvl4pPr>
      <a:lvl5pPr marL="1371600" algn="l">
        <a:buNone/>
        <a:defRPr sz="1350">
          <a:solidFill>
            <a:schemeClr val="tx1"/>
          </a:solidFill>
          <a:latin typeface="+mn-lt"/>
          <a:ea typeface="+mn-lt"/>
          <a:cs typeface="+mn-lt"/>
        </a:defRPr>
      </a:lvl5pPr>
      <a:lvl6pPr marL="1714500" algn="l">
        <a:buNone/>
        <a:defRPr sz="1350">
          <a:solidFill>
            <a:schemeClr val="tx1"/>
          </a:solidFill>
          <a:latin typeface="+mn-lt"/>
          <a:ea typeface="+mn-lt"/>
          <a:cs typeface="+mn-lt"/>
        </a:defRPr>
      </a:lvl6pPr>
      <a:lvl7pPr marL="2057400" algn="l">
        <a:buNone/>
        <a:defRPr sz="1350">
          <a:solidFill>
            <a:schemeClr val="tx1"/>
          </a:solidFill>
          <a:latin typeface="+mn-lt"/>
          <a:ea typeface="+mn-lt"/>
          <a:cs typeface="+mn-lt"/>
        </a:defRPr>
      </a:lvl7pPr>
      <a:lvl8pPr marL="2400300" algn="l">
        <a:buNone/>
        <a:defRPr sz="1350">
          <a:solidFill>
            <a:schemeClr val="tx1"/>
          </a:solidFill>
          <a:latin typeface="+mn-lt"/>
          <a:ea typeface="+mn-lt"/>
          <a:cs typeface="+mn-lt"/>
        </a:defRPr>
      </a:lvl8pPr>
      <a:lvl9pPr marL="2743200" algn="l">
        <a:buNone/>
        <a:defRPr sz="135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1.jpeg"/><Relationship Id="rId4" Type="http://schemas.openxmlformats.org/officeDocument/2006/relationships/image" Target="../media/image10.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image" Target="../media/image12.jpe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22.png"/><Relationship Id="rId4"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D186C4B-3285-4C4F-9792-05910C0E7A72}"/>
              </a:ext>
            </a:extLst>
          </p:cNvPr>
          <p:cNvSpPr>
            <a:spLocks noGrp="1"/>
          </p:cNvSpPr>
          <p:nvPr/>
        </p:nvSpPr>
        <p:spPr>
          <a:xfrm>
            <a:off x="476250" y="1390650"/>
            <a:ext cx="8918762" cy="1047750"/>
          </a:xfrm>
          <a:prstGeom prst="rect">
            <a:avLst/>
          </a:prstGeom>
        </p:spPr>
        <p:txBody>
          <a:bodyPr lIns="0" tIns="0" rIns="0" bIns="0"/>
          <a:lstStyle/>
          <a:p>
            <a:r>
              <a:rPr sz="4800" b="1" dirty="0">
                <a:solidFill>
                  <a:srgbClr val="003A61"/>
                </a:solidFill>
                <a:latin typeface="Arial"/>
                <a:ea typeface="Arial"/>
                <a:cs typeface="Arial"/>
              </a:rPr>
              <a:t>Vietnamese Lexical</a:t>
            </a:r>
          </a:p>
          <a:p>
            <a:r>
              <a:rPr sz="4800" b="1" dirty="0">
                <a:solidFill>
                  <a:srgbClr val="003A61"/>
                </a:solidFill>
                <a:latin typeface="Arial"/>
                <a:ea typeface="Arial"/>
                <a:cs typeface="Arial"/>
              </a:rPr>
              <a:t>Decision Task</a:t>
            </a:r>
          </a:p>
        </p:txBody>
      </p:sp>
      <p:sp>
        <p:nvSpPr>
          <p:cNvPr id="2" name="Rectangle 1">
            <a:extLst>
              <a:ext uri="{FF2B5EF4-FFF2-40B4-BE49-F238E27FC236}">
                <a16:creationId xmlns:a16="http://schemas.microsoft.com/office/drawing/2014/main" id="{32182A55-C71A-493A-8BF9-7A2031746B2E}"/>
              </a:ext>
            </a:extLst>
          </p:cNvPr>
          <p:cNvSpPr>
            <a:spLocks noGrp="1"/>
          </p:cNvSpPr>
          <p:nvPr/>
        </p:nvSpPr>
        <p:spPr>
          <a:xfrm>
            <a:off x="504825" y="3238887"/>
            <a:ext cx="4953000" cy="228600"/>
          </a:xfrm>
          <a:prstGeom prst="rect">
            <a:avLst/>
          </a:prstGeom>
        </p:spPr>
        <p:txBody>
          <a:bodyPr lIns="0" tIns="0" rIns="0" bIns="0"/>
          <a:lstStyle/>
          <a:p>
            <a:r>
              <a:rPr sz="1200" b="1" dirty="0">
                <a:solidFill>
                  <a:srgbClr val="8DB600"/>
                </a:solidFill>
                <a:latin typeface="Arial"/>
                <a:ea typeface="Arial"/>
                <a:cs typeface="Arial"/>
              </a:rPr>
              <a:t>R</a:t>
            </a:r>
            <a:r>
              <a:rPr lang="en-US" sz="1200" b="1" dirty="0">
                <a:solidFill>
                  <a:srgbClr val="8DB600"/>
                </a:solidFill>
                <a:latin typeface="Arial"/>
                <a:ea typeface="Arial"/>
                <a:cs typeface="Arial"/>
              </a:rPr>
              <a:t>esearch </a:t>
            </a:r>
            <a:r>
              <a:rPr sz="1200" b="1" dirty="0">
                <a:solidFill>
                  <a:srgbClr val="8DB600"/>
                </a:solidFill>
                <a:latin typeface="Arial"/>
                <a:ea typeface="Arial"/>
                <a:cs typeface="Arial"/>
              </a:rPr>
              <a:t>P</a:t>
            </a:r>
            <a:r>
              <a:rPr lang="en-US" sz="1200" b="1" dirty="0">
                <a:solidFill>
                  <a:srgbClr val="8DB600"/>
                </a:solidFill>
                <a:latin typeface="Arial"/>
                <a:ea typeface="Arial"/>
                <a:cs typeface="Arial"/>
              </a:rPr>
              <a:t>roject </a:t>
            </a:r>
            <a:r>
              <a:rPr sz="1200" b="1" dirty="0">
                <a:solidFill>
                  <a:srgbClr val="8DB600"/>
                </a:solidFill>
                <a:latin typeface="Arial"/>
                <a:ea typeface="Arial"/>
                <a:cs typeface="Arial"/>
              </a:rPr>
              <a:t>2 </a:t>
            </a:r>
            <a:endParaRPr lang="en-US" sz="1200" b="1" dirty="0">
              <a:solidFill>
                <a:srgbClr val="8DB600"/>
              </a:solidFill>
              <a:latin typeface="Arial"/>
              <a:ea typeface="Arial"/>
              <a:cs typeface="Arial"/>
            </a:endParaRPr>
          </a:p>
          <a:p>
            <a:r>
              <a:rPr sz="1200" b="1" dirty="0">
                <a:solidFill>
                  <a:srgbClr val="8DB600"/>
                </a:solidFill>
                <a:latin typeface="Arial"/>
                <a:ea typeface="Arial"/>
                <a:cs typeface="Arial"/>
              </a:rPr>
              <a:t>Colloquium</a:t>
            </a:r>
            <a:r>
              <a:rPr lang="en-US" sz="1200" b="1" dirty="0">
                <a:solidFill>
                  <a:srgbClr val="8DB600"/>
                </a:solidFill>
                <a:latin typeface="Arial"/>
                <a:ea typeface="Arial"/>
                <a:cs typeface="Arial"/>
              </a:rPr>
              <a:t> 2</a:t>
            </a:r>
            <a:endParaRPr sz="1200" b="1" dirty="0">
              <a:solidFill>
                <a:srgbClr val="8DB600"/>
              </a:solidFill>
              <a:latin typeface="Arial"/>
              <a:ea typeface="Arial"/>
              <a:cs typeface="Arial"/>
            </a:endParaRPr>
          </a:p>
        </p:txBody>
      </p:sp>
      <p:sp>
        <p:nvSpPr>
          <p:cNvPr id="3" name="Rectangle 2">
            <a:extLst>
              <a:ext uri="{FF2B5EF4-FFF2-40B4-BE49-F238E27FC236}">
                <a16:creationId xmlns:a16="http://schemas.microsoft.com/office/drawing/2014/main" id="{4AA6DCCD-6458-4F1C-98EF-1007DE89550B}"/>
              </a:ext>
            </a:extLst>
          </p:cNvPr>
          <p:cNvSpPr>
            <a:spLocks noGrp="1"/>
          </p:cNvSpPr>
          <p:nvPr/>
        </p:nvSpPr>
        <p:spPr>
          <a:xfrm>
            <a:off x="504825" y="3688603"/>
            <a:ext cx="4381500" cy="590550"/>
          </a:xfrm>
          <a:prstGeom prst="rect">
            <a:avLst/>
          </a:prstGeom>
        </p:spPr>
        <p:txBody>
          <a:bodyPr lIns="0" tIns="0" rIns="0" bIns="0"/>
          <a:lstStyle/>
          <a:p>
            <a:r>
              <a:rPr sz="900" b="1" dirty="0">
                <a:solidFill>
                  <a:srgbClr val="263845"/>
                </a:solidFill>
                <a:latin typeface="Arial"/>
                <a:ea typeface="Arial"/>
                <a:cs typeface="Arial"/>
              </a:rPr>
              <a:t>Dang Nhat Quang</a:t>
            </a:r>
            <a:endParaRPr lang="en-US" sz="900" b="1" dirty="0">
              <a:solidFill>
                <a:srgbClr val="263845"/>
              </a:solidFill>
              <a:latin typeface="Arial"/>
              <a:ea typeface="Arial"/>
              <a:cs typeface="Arial"/>
            </a:endParaRPr>
          </a:p>
          <a:p>
            <a:endParaRPr lang="en-US" sz="900" b="1" dirty="0">
              <a:solidFill>
                <a:srgbClr val="263845"/>
              </a:solidFill>
              <a:latin typeface="Arial"/>
              <a:ea typeface="Arial"/>
              <a:cs typeface="Arial"/>
            </a:endParaRPr>
          </a:p>
          <a:p>
            <a:endParaRPr sz="900" b="1" dirty="0">
              <a:solidFill>
                <a:srgbClr val="263845"/>
              </a:solidFill>
              <a:latin typeface="Arial"/>
              <a:ea typeface="Arial"/>
              <a:cs typeface="Arial"/>
            </a:endParaRPr>
          </a:p>
          <a:p>
            <a:r>
              <a:rPr sz="1100" dirty="0">
                <a:solidFill>
                  <a:srgbClr val="263845"/>
                </a:solidFill>
                <a:latin typeface="Arial"/>
                <a:ea typeface="Arial"/>
                <a:cs typeface="Arial"/>
              </a:rPr>
              <a:t>Supervisor: </a:t>
            </a:r>
            <a:r>
              <a:rPr sz="1100" b="1" dirty="0">
                <a:solidFill>
                  <a:srgbClr val="263845"/>
                </a:solidFill>
                <a:latin typeface="Arial"/>
                <a:ea typeface="Arial"/>
                <a:cs typeface="Arial"/>
              </a:rPr>
              <a:t>Prof. Dr. Tibor Kiss</a:t>
            </a:r>
          </a:p>
          <a:p>
            <a:r>
              <a:rPr lang="en-US" sz="900" dirty="0">
                <a:solidFill>
                  <a:srgbClr val="263845"/>
                </a:solidFill>
                <a:latin typeface="Arial"/>
                <a:ea typeface="Arial"/>
                <a:cs typeface="Arial"/>
              </a:rPr>
              <a:t>07 July </a:t>
            </a:r>
            <a:r>
              <a:rPr sz="900" dirty="0">
                <a:solidFill>
                  <a:srgbClr val="263845"/>
                </a:solidFill>
                <a:latin typeface="Arial"/>
                <a:ea typeface="Arial"/>
                <a:cs typeface="Arial"/>
              </a:rPr>
              <a:t>2026</a:t>
            </a:r>
          </a:p>
        </p:txBody>
      </p:sp>
    </p:spTree>
    <p:extLst>
      <p:ext uri="{BB962C8B-B14F-4D97-AF65-F5344CB8AC3E}">
        <p14:creationId xmlns:p14="http://schemas.microsoft.com/office/powerpoint/2010/main" val="1826234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56A545E-592F-4E5F-9A8F-CD82D778E8AB}"/>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F9E5D629-E952-44D5-8F27-3586EC9C0F9D}"/>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02 | RESEARCH STORY</a:t>
            </a:r>
          </a:p>
        </p:txBody>
      </p:sp>
      <p:sp>
        <p:nvSpPr>
          <p:cNvPr id="3" name="Rectangle 2">
            <a:extLst>
              <a:ext uri="{FF2B5EF4-FFF2-40B4-BE49-F238E27FC236}">
                <a16:creationId xmlns:a16="http://schemas.microsoft.com/office/drawing/2014/main" id="{14C9FD36-C124-4FB6-8207-94BDC1D90701}"/>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talk follows the project from linguistic motivation to cautious preliminary results.</a:t>
            </a:r>
          </a:p>
        </p:txBody>
      </p:sp>
      <p:sp>
        <p:nvSpPr>
          <p:cNvPr id="4" name="Rectangle 3">
            <a:extLst>
              <a:ext uri="{FF2B5EF4-FFF2-40B4-BE49-F238E27FC236}">
                <a16:creationId xmlns:a16="http://schemas.microsoft.com/office/drawing/2014/main" id="{A42553E9-ACB7-4F29-AF27-90CD296B0D4E}"/>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A091FFF6-3F99-413D-930B-222BFF6C5D96}"/>
              </a:ext>
            </a:extLst>
          </p:cNvPr>
          <p:cNvSpPr>
            <a:spLocks noGrp="1"/>
          </p:cNvSpPr>
          <p:nvPr/>
        </p:nvSpPr>
        <p:spPr>
          <a:xfrm>
            <a:off x="527512" y="1852612"/>
            <a:ext cx="1695450" cy="7810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6" name="Rectangle 5">
            <a:extLst>
              <a:ext uri="{FF2B5EF4-FFF2-40B4-BE49-F238E27FC236}">
                <a16:creationId xmlns:a16="http://schemas.microsoft.com/office/drawing/2014/main" id="{73C01721-29D4-4475-9FF0-6231A3C78A3F}"/>
              </a:ext>
            </a:extLst>
          </p:cNvPr>
          <p:cNvSpPr>
            <a:spLocks noGrp="1"/>
          </p:cNvSpPr>
          <p:nvPr/>
        </p:nvSpPr>
        <p:spPr>
          <a:xfrm>
            <a:off x="641812" y="1947862"/>
            <a:ext cx="1466850" cy="190500"/>
          </a:xfrm>
          <a:prstGeom prst="rect">
            <a:avLst/>
          </a:prstGeom>
        </p:spPr>
        <p:txBody>
          <a:bodyPr lIns="0" tIns="0" rIns="0" bIns="0"/>
          <a:lstStyle/>
          <a:p>
            <a:r>
              <a:rPr sz="900" b="1">
                <a:solidFill>
                  <a:srgbClr val="003A61"/>
                </a:solidFill>
                <a:latin typeface="Arial"/>
                <a:ea typeface="Arial"/>
                <a:cs typeface="Arial"/>
              </a:rPr>
              <a:t>Background</a:t>
            </a:r>
          </a:p>
        </p:txBody>
      </p:sp>
      <p:sp>
        <p:nvSpPr>
          <p:cNvPr id="7" name="Rectangle 6">
            <a:extLst>
              <a:ext uri="{FF2B5EF4-FFF2-40B4-BE49-F238E27FC236}">
                <a16:creationId xmlns:a16="http://schemas.microsoft.com/office/drawing/2014/main" id="{7215D113-1638-4C76-8AAF-C2B0B977BAC3}"/>
              </a:ext>
            </a:extLst>
          </p:cNvPr>
          <p:cNvSpPr>
            <a:spLocks noGrp="1"/>
          </p:cNvSpPr>
          <p:nvPr/>
        </p:nvSpPr>
        <p:spPr>
          <a:xfrm>
            <a:off x="641812" y="2176462"/>
            <a:ext cx="1466850" cy="381000"/>
          </a:xfrm>
          <a:prstGeom prst="rect">
            <a:avLst/>
          </a:prstGeom>
        </p:spPr>
        <p:txBody>
          <a:bodyPr lIns="0" tIns="0" rIns="0" bIns="0"/>
          <a:lstStyle/>
          <a:p>
            <a:r>
              <a:rPr sz="863">
                <a:solidFill>
                  <a:srgbClr val="263845"/>
                </a:solidFill>
                <a:latin typeface="Arial"/>
                <a:ea typeface="Arial"/>
                <a:cs typeface="Arial"/>
              </a:rPr>
              <a:t>Vietnamese writing and spacing</a:t>
            </a:r>
          </a:p>
        </p:txBody>
      </p:sp>
      <p:sp>
        <p:nvSpPr>
          <p:cNvPr id="8" name="Rectangle 7">
            <a:extLst>
              <a:ext uri="{FF2B5EF4-FFF2-40B4-BE49-F238E27FC236}">
                <a16:creationId xmlns:a16="http://schemas.microsoft.com/office/drawing/2014/main" id="{2FBDF433-BB0C-4C68-9BF1-2DB0720C0FE3}"/>
              </a:ext>
            </a:extLst>
          </p:cNvPr>
          <p:cNvSpPr>
            <a:spLocks noGrp="1"/>
          </p:cNvSpPr>
          <p:nvPr/>
        </p:nvSpPr>
        <p:spPr>
          <a:xfrm>
            <a:off x="2242012" y="2119312"/>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9" name="Rectangle 8">
            <a:extLst>
              <a:ext uri="{FF2B5EF4-FFF2-40B4-BE49-F238E27FC236}">
                <a16:creationId xmlns:a16="http://schemas.microsoft.com/office/drawing/2014/main" id="{4F3DEED1-3E94-44EF-A386-B10FAA9E73AE}"/>
              </a:ext>
            </a:extLst>
          </p:cNvPr>
          <p:cNvSpPr>
            <a:spLocks noGrp="1"/>
          </p:cNvSpPr>
          <p:nvPr/>
        </p:nvSpPr>
        <p:spPr>
          <a:xfrm>
            <a:off x="2480137" y="1852612"/>
            <a:ext cx="1695450" cy="7810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10" name="Rectangle 9">
            <a:extLst>
              <a:ext uri="{FF2B5EF4-FFF2-40B4-BE49-F238E27FC236}">
                <a16:creationId xmlns:a16="http://schemas.microsoft.com/office/drawing/2014/main" id="{9A21C863-4A9B-4DA2-A703-23C8633F22B3}"/>
              </a:ext>
            </a:extLst>
          </p:cNvPr>
          <p:cNvSpPr>
            <a:spLocks noGrp="1"/>
          </p:cNvSpPr>
          <p:nvPr/>
        </p:nvSpPr>
        <p:spPr>
          <a:xfrm>
            <a:off x="2594437" y="1947862"/>
            <a:ext cx="1466850" cy="190500"/>
          </a:xfrm>
          <a:prstGeom prst="rect">
            <a:avLst/>
          </a:prstGeom>
        </p:spPr>
        <p:txBody>
          <a:bodyPr lIns="0" tIns="0" rIns="0" bIns="0"/>
          <a:lstStyle/>
          <a:p>
            <a:r>
              <a:rPr sz="900" b="1">
                <a:solidFill>
                  <a:srgbClr val="003A61"/>
                </a:solidFill>
                <a:latin typeface="Arial"/>
                <a:ea typeface="Arial"/>
                <a:cs typeface="Arial"/>
              </a:rPr>
              <a:t>Problem</a:t>
            </a:r>
          </a:p>
        </p:txBody>
      </p:sp>
      <p:sp>
        <p:nvSpPr>
          <p:cNvPr id="11" name="Rectangle 10">
            <a:extLst>
              <a:ext uri="{FF2B5EF4-FFF2-40B4-BE49-F238E27FC236}">
                <a16:creationId xmlns:a16="http://schemas.microsoft.com/office/drawing/2014/main" id="{CA7AFBC5-5D2F-4625-88A7-66B538C8604D}"/>
              </a:ext>
            </a:extLst>
          </p:cNvPr>
          <p:cNvSpPr>
            <a:spLocks noGrp="1"/>
          </p:cNvSpPr>
          <p:nvPr/>
        </p:nvSpPr>
        <p:spPr>
          <a:xfrm>
            <a:off x="2594437" y="2176462"/>
            <a:ext cx="1466850" cy="381000"/>
          </a:xfrm>
          <a:prstGeom prst="rect">
            <a:avLst/>
          </a:prstGeom>
        </p:spPr>
        <p:txBody>
          <a:bodyPr lIns="0" tIns="0" rIns="0" bIns="0"/>
          <a:lstStyle/>
          <a:p>
            <a:r>
              <a:rPr sz="863">
                <a:solidFill>
                  <a:srgbClr val="263845"/>
                </a:solidFill>
                <a:latin typeface="Arial"/>
                <a:ea typeface="Arial"/>
                <a:cs typeface="Arial"/>
              </a:rPr>
              <a:t>syllables are spaced, lexical words may be multi-syllabic</a:t>
            </a:r>
          </a:p>
        </p:txBody>
      </p:sp>
      <p:sp>
        <p:nvSpPr>
          <p:cNvPr id="12" name="Rectangle 11">
            <a:extLst>
              <a:ext uri="{FF2B5EF4-FFF2-40B4-BE49-F238E27FC236}">
                <a16:creationId xmlns:a16="http://schemas.microsoft.com/office/drawing/2014/main" id="{495D2499-3678-4B63-B6F2-5B85EC42441C}"/>
              </a:ext>
            </a:extLst>
          </p:cNvPr>
          <p:cNvSpPr>
            <a:spLocks noGrp="1"/>
          </p:cNvSpPr>
          <p:nvPr/>
        </p:nvSpPr>
        <p:spPr>
          <a:xfrm>
            <a:off x="4194637" y="2119312"/>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13" name="Rectangle 12">
            <a:extLst>
              <a:ext uri="{FF2B5EF4-FFF2-40B4-BE49-F238E27FC236}">
                <a16:creationId xmlns:a16="http://schemas.microsoft.com/office/drawing/2014/main" id="{8A9B485D-37A8-41BE-A842-24B98A1F2371}"/>
              </a:ext>
            </a:extLst>
          </p:cNvPr>
          <p:cNvSpPr>
            <a:spLocks noGrp="1"/>
          </p:cNvSpPr>
          <p:nvPr/>
        </p:nvSpPr>
        <p:spPr>
          <a:xfrm>
            <a:off x="4432762" y="1852612"/>
            <a:ext cx="1695450" cy="7810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14" name="Rectangle 13">
            <a:extLst>
              <a:ext uri="{FF2B5EF4-FFF2-40B4-BE49-F238E27FC236}">
                <a16:creationId xmlns:a16="http://schemas.microsoft.com/office/drawing/2014/main" id="{8DC3849E-E980-4A89-BE42-C0734EB2429D}"/>
              </a:ext>
            </a:extLst>
          </p:cNvPr>
          <p:cNvSpPr>
            <a:spLocks noGrp="1"/>
          </p:cNvSpPr>
          <p:nvPr/>
        </p:nvSpPr>
        <p:spPr>
          <a:xfrm>
            <a:off x="4547062" y="1947862"/>
            <a:ext cx="1466850" cy="190500"/>
          </a:xfrm>
          <a:prstGeom prst="rect">
            <a:avLst/>
          </a:prstGeom>
        </p:spPr>
        <p:txBody>
          <a:bodyPr lIns="0" tIns="0" rIns="0" bIns="0"/>
          <a:lstStyle/>
          <a:p>
            <a:r>
              <a:rPr sz="900" b="1">
                <a:solidFill>
                  <a:srgbClr val="003A61"/>
                </a:solidFill>
                <a:latin typeface="Arial"/>
                <a:ea typeface="Arial"/>
                <a:cs typeface="Arial"/>
              </a:rPr>
              <a:t>Design</a:t>
            </a:r>
          </a:p>
        </p:txBody>
      </p:sp>
      <p:sp>
        <p:nvSpPr>
          <p:cNvPr id="15" name="Rectangle 14">
            <a:extLst>
              <a:ext uri="{FF2B5EF4-FFF2-40B4-BE49-F238E27FC236}">
                <a16:creationId xmlns:a16="http://schemas.microsoft.com/office/drawing/2014/main" id="{115AD94C-7870-41F2-94FD-9F7367B8840D}"/>
              </a:ext>
            </a:extLst>
          </p:cNvPr>
          <p:cNvSpPr>
            <a:spLocks noGrp="1"/>
          </p:cNvSpPr>
          <p:nvPr/>
        </p:nvSpPr>
        <p:spPr>
          <a:xfrm>
            <a:off x="4547062" y="2176462"/>
            <a:ext cx="1466850" cy="381000"/>
          </a:xfrm>
          <a:prstGeom prst="rect">
            <a:avLst/>
          </a:prstGeom>
        </p:spPr>
        <p:txBody>
          <a:bodyPr lIns="0" tIns="0" rIns="0" bIns="0"/>
          <a:lstStyle/>
          <a:p>
            <a:r>
              <a:rPr sz="863">
                <a:solidFill>
                  <a:srgbClr val="263845"/>
                </a:solidFill>
                <a:latin typeface="Arial"/>
                <a:ea typeface="Arial"/>
                <a:cs typeface="Arial"/>
              </a:rPr>
              <a:t>3 x 4 within-participant lexical decision</a:t>
            </a:r>
          </a:p>
        </p:txBody>
      </p:sp>
      <p:sp>
        <p:nvSpPr>
          <p:cNvPr id="16" name="Rectangle 15">
            <a:extLst>
              <a:ext uri="{FF2B5EF4-FFF2-40B4-BE49-F238E27FC236}">
                <a16:creationId xmlns:a16="http://schemas.microsoft.com/office/drawing/2014/main" id="{8796AC55-2C8A-4BAD-A0AA-B86CCDCB4A2C}"/>
              </a:ext>
            </a:extLst>
          </p:cNvPr>
          <p:cNvSpPr>
            <a:spLocks noGrp="1"/>
          </p:cNvSpPr>
          <p:nvPr/>
        </p:nvSpPr>
        <p:spPr>
          <a:xfrm>
            <a:off x="6147262" y="2119312"/>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17" name="Rectangle 16">
            <a:extLst>
              <a:ext uri="{FF2B5EF4-FFF2-40B4-BE49-F238E27FC236}">
                <a16:creationId xmlns:a16="http://schemas.microsoft.com/office/drawing/2014/main" id="{2A35F272-BEAD-44BC-B2B4-28E9524D24A2}"/>
              </a:ext>
            </a:extLst>
          </p:cNvPr>
          <p:cNvSpPr>
            <a:spLocks noGrp="1"/>
          </p:cNvSpPr>
          <p:nvPr/>
        </p:nvSpPr>
        <p:spPr>
          <a:xfrm>
            <a:off x="6385387" y="1852612"/>
            <a:ext cx="1695450" cy="7810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18" name="Rectangle 17">
            <a:extLst>
              <a:ext uri="{FF2B5EF4-FFF2-40B4-BE49-F238E27FC236}">
                <a16:creationId xmlns:a16="http://schemas.microsoft.com/office/drawing/2014/main" id="{FAE2923F-B1FC-4B92-BD12-96E631D522D5}"/>
              </a:ext>
            </a:extLst>
          </p:cNvPr>
          <p:cNvSpPr>
            <a:spLocks noGrp="1"/>
          </p:cNvSpPr>
          <p:nvPr/>
        </p:nvSpPr>
        <p:spPr>
          <a:xfrm>
            <a:off x="6499687" y="1947862"/>
            <a:ext cx="1466850" cy="190500"/>
          </a:xfrm>
          <a:prstGeom prst="rect">
            <a:avLst/>
          </a:prstGeom>
        </p:spPr>
        <p:txBody>
          <a:bodyPr lIns="0" tIns="0" rIns="0" bIns="0"/>
          <a:lstStyle/>
          <a:p>
            <a:r>
              <a:rPr sz="900" b="1">
                <a:solidFill>
                  <a:srgbClr val="003A61"/>
                </a:solidFill>
                <a:latin typeface="Arial"/>
                <a:ea typeface="Arial"/>
                <a:cs typeface="Arial"/>
              </a:rPr>
              <a:t>Pipeline</a:t>
            </a:r>
          </a:p>
        </p:txBody>
      </p:sp>
      <p:sp>
        <p:nvSpPr>
          <p:cNvPr id="19" name="Rectangle 18">
            <a:extLst>
              <a:ext uri="{FF2B5EF4-FFF2-40B4-BE49-F238E27FC236}">
                <a16:creationId xmlns:a16="http://schemas.microsoft.com/office/drawing/2014/main" id="{7B845B89-773B-4E0B-AB52-E91F3622959D}"/>
              </a:ext>
            </a:extLst>
          </p:cNvPr>
          <p:cNvSpPr>
            <a:spLocks noGrp="1"/>
          </p:cNvSpPr>
          <p:nvPr/>
        </p:nvSpPr>
        <p:spPr>
          <a:xfrm>
            <a:off x="6499687" y="2176462"/>
            <a:ext cx="1466850" cy="381000"/>
          </a:xfrm>
          <a:prstGeom prst="rect">
            <a:avLst/>
          </a:prstGeom>
        </p:spPr>
        <p:txBody>
          <a:bodyPr lIns="0" tIns="0" rIns="0" bIns="0"/>
          <a:lstStyle/>
          <a:p>
            <a:r>
              <a:rPr sz="863">
                <a:solidFill>
                  <a:srgbClr val="263845"/>
                </a:solidFill>
                <a:latin typeface="Arial"/>
                <a:ea typeface="Arial"/>
                <a:cs typeface="Arial"/>
              </a:rPr>
              <a:t>PsychoPy/Pavlovia, Python/pandas, R Markdown</a:t>
            </a:r>
          </a:p>
        </p:txBody>
      </p:sp>
      <p:sp>
        <p:nvSpPr>
          <p:cNvPr id="20" name="Rectangle 19">
            <a:extLst>
              <a:ext uri="{FF2B5EF4-FFF2-40B4-BE49-F238E27FC236}">
                <a16:creationId xmlns:a16="http://schemas.microsoft.com/office/drawing/2014/main" id="{4D900646-A4CA-4EB6-B1DB-F8CD386168BB}"/>
              </a:ext>
            </a:extLst>
          </p:cNvPr>
          <p:cNvSpPr>
            <a:spLocks noGrp="1"/>
          </p:cNvSpPr>
          <p:nvPr/>
        </p:nvSpPr>
        <p:spPr>
          <a:xfrm>
            <a:off x="527512" y="2995612"/>
            <a:ext cx="1695450" cy="7810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21" name="Rectangle 20">
            <a:extLst>
              <a:ext uri="{FF2B5EF4-FFF2-40B4-BE49-F238E27FC236}">
                <a16:creationId xmlns:a16="http://schemas.microsoft.com/office/drawing/2014/main" id="{F9D0FF54-17E5-407B-B689-6E51F133DF11}"/>
              </a:ext>
            </a:extLst>
          </p:cNvPr>
          <p:cNvSpPr>
            <a:spLocks noGrp="1"/>
          </p:cNvSpPr>
          <p:nvPr/>
        </p:nvSpPr>
        <p:spPr>
          <a:xfrm>
            <a:off x="641812" y="3090862"/>
            <a:ext cx="1466850" cy="190500"/>
          </a:xfrm>
          <a:prstGeom prst="rect">
            <a:avLst/>
          </a:prstGeom>
        </p:spPr>
        <p:txBody>
          <a:bodyPr lIns="0" tIns="0" rIns="0" bIns="0"/>
          <a:lstStyle/>
          <a:p>
            <a:r>
              <a:rPr sz="900" b="1">
                <a:solidFill>
                  <a:srgbClr val="003A61"/>
                </a:solidFill>
                <a:latin typeface="Arial"/>
                <a:ea typeface="Arial"/>
                <a:cs typeface="Arial"/>
              </a:rPr>
              <a:t>QC</a:t>
            </a:r>
          </a:p>
        </p:txBody>
      </p:sp>
      <p:sp>
        <p:nvSpPr>
          <p:cNvPr id="22" name="Rectangle 21">
            <a:extLst>
              <a:ext uri="{FF2B5EF4-FFF2-40B4-BE49-F238E27FC236}">
                <a16:creationId xmlns:a16="http://schemas.microsoft.com/office/drawing/2014/main" id="{65870F6E-34DC-4224-BF5A-F7C2792B8C70}"/>
              </a:ext>
            </a:extLst>
          </p:cNvPr>
          <p:cNvSpPr>
            <a:spLocks noGrp="1"/>
          </p:cNvSpPr>
          <p:nvPr/>
        </p:nvSpPr>
        <p:spPr>
          <a:xfrm>
            <a:off x="641812" y="3319462"/>
            <a:ext cx="1466850" cy="381000"/>
          </a:xfrm>
          <a:prstGeom prst="rect">
            <a:avLst/>
          </a:prstGeom>
        </p:spPr>
        <p:txBody>
          <a:bodyPr lIns="0" tIns="0" rIns="0" bIns="0"/>
          <a:lstStyle/>
          <a:p>
            <a:r>
              <a:rPr sz="863">
                <a:solidFill>
                  <a:srgbClr val="263845"/>
                </a:solidFill>
                <a:latin typeface="Arial"/>
                <a:ea typeface="Arial"/>
                <a:cs typeface="Arial"/>
              </a:rPr>
              <a:t>participant, item, trial, RT, response checks</a:t>
            </a:r>
          </a:p>
        </p:txBody>
      </p:sp>
      <p:sp>
        <p:nvSpPr>
          <p:cNvPr id="23" name="Rectangle 22">
            <a:extLst>
              <a:ext uri="{FF2B5EF4-FFF2-40B4-BE49-F238E27FC236}">
                <a16:creationId xmlns:a16="http://schemas.microsoft.com/office/drawing/2014/main" id="{ACA88D7B-78C2-435E-8F3B-944A81CD9B11}"/>
              </a:ext>
            </a:extLst>
          </p:cNvPr>
          <p:cNvSpPr>
            <a:spLocks noGrp="1"/>
          </p:cNvSpPr>
          <p:nvPr/>
        </p:nvSpPr>
        <p:spPr>
          <a:xfrm>
            <a:off x="2242012" y="3262312"/>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24" name="Rectangle 23">
            <a:extLst>
              <a:ext uri="{FF2B5EF4-FFF2-40B4-BE49-F238E27FC236}">
                <a16:creationId xmlns:a16="http://schemas.microsoft.com/office/drawing/2014/main" id="{BBB04E4B-DFE8-4DE0-B9AE-37E135C17F29}"/>
              </a:ext>
            </a:extLst>
          </p:cNvPr>
          <p:cNvSpPr>
            <a:spLocks noGrp="1"/>
          </p:cNvSpPr>
          <p:nvPr/>
        </p:nvSpPr>
        <p:spPr>
          <a:xfrm>
            <a:off x="2480137" y="2995612"/>
            <a:ext cx="1695450" cy="7810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25" name="Rectangle 24">
            <a:extLst>
              <a:ext uri="{FF2B5EF4-FFF2-40B4-BE49-F238E27FC236}">
                <a16:creationId xmlns:a16="http://schemas.microsoft.com/office/drawing/2014/main" id="{9639D94A-44E8-48E8-A05B-786F81223FAC}"/>
              </a:ext>
            </a:extLst>
          </p:cNvPr>
          <p:cNvSpPr>
            <a:spLocks noGrp="1"/>
          </p:cNvSpPr>
          <p:nvPr/>
        </p:nvSpPr>
        <p:spPr>
          <a:xfrm>
            <a:off x="2594437" y="3090862"/>
            <a:ext cx="1466850" cy="190500"/>
          </a:xfrm>
          <a:prstGeom prst="rect">
            <a:avLst/>
          </a:prstGeom>
        </p:spPr>
        <p:txBody>
          <a:bodyPr lIns="0" tIns="0" rIns="0" bIns="0"/>
          <a:lstStyle/>
          <a:p>
            <a:r>
              <a:rPr sz="900" b="1">
                <a:solidFill>
                  <a:srgbClr val="003A61"/>
                </a:solidFill>
                <a:latin typeface="Arial"/>
                <a:ea typeface="Arial"/>
                <a:cs typeface="Arial"/>
              </a:rPr>
              <a:t>Results</a:t>
            </a:r>
          </a:p>
        </p:txBody>
      </p:sp>
      <p:sp>
        <p:nvSpPr>
          <p:cNvPr id="26" name="Rectangle 25">
            <a:extLst>
              <a:ext uri="{FF2B5EF4-FFF2-40B4-BE49-F238E27FC236}">
                <a16:creationId xmlns:a16="http://schemas.microsoft.com/office/drawing/2014/main" id="{897958B9-C617-4D17-B396-45C98E2F1002}"/>
              </a:ext>
            </a:extLst>
          </p:cNvPr>
          <p:cNvSpPr>
            <a:spLocks noGrp="1"/>
          </p:cNvSpPr>
          <p:nvPr/>
        </p:nvSpPr>
        <p:spPr>
          <a:xfrm>
            <a:off x="2594437" y="3319462"/>
            <a:ext cx="1466850" cy="381000"/>
          </a:xfrm>
          <a:prstGeom prst="rect">
            <a:avLst/>
          </a:prstGeom>
        </p:spPr>
        <p:txBody>
          <a:bodyPr lIns="0" tIns="0" rIns="0" bIns="0"/>
          <a:lstStyle/>
          <a:p>
            <a:r>
              <a:rPr sz="863">
                <a:solidFill>
                  <a:srgbClr val="263845"/>
                </a:solidFill>
                <a:latin typeface="Arial"/>
                <a:ea typeface="Arial"/>
                <a:cs typeface="Arial"/>
              </a:rPr>
              <a:t>frequency, length, interaction, diagnostics</a:t>
            </a:r>
          </a:p>
        </p:txBody>
      </p:sp>
      <p:sp>
        <p:nvSpPr>
          <p:cNvPr id="27" name="Rectangle 26">
            <a:extLst>
              <a:ext uri="{FF2B5EF4-FFF2-40B4-BE49-F238E27FC236}">
                <a16:creationId xmlns:a16="http://schemas.microsoft.com/office/drawing/2014/main" id="{401A6C61-9F26-4DB8-BA28-5F8929860DEB}"/>
              </a:ext>
            </a:extLst>
          </p:cNvPr>
          <p:cNvSpPr>
            <a:spLocks noGrp="1"/>
          </p:cNvSpPr>
          <p:nvPr/>
        </p:nvSpPr>
        <p:spPr>
          <a:xfrm>
            <a:off x="4194637" y="3262312"/>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28" name="Rectangle 27">
            <a:extLst>
              <a:ext uri="{FF2B5EF4-FFF2-40B4-BE49-F238E27FC236}">
                <a16:creationId xmlns:a16="http://schemas.microsoft.com/office/drawing/2014/main" id="{428089F6-09F8-430F-B27E-C7D1C6784AD6}"/>
              </a:ext>
            </a:extLst>
          </p:cNvPr>
          <p:cNvSpPr>
            <a:spLocks noGrp="1"/>
          </p:cNvSpPr>
          <p:nvPr/>
        </p:nvSpPr>
        <p:spPr>
          <a:xfrm>
            <a:off x="4432762" y="2995612"/>
            <a:ext cx="1695450" cy="7810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29" name="Rectangle 28">
            <a:extLst>
              <a:ext uri="{FF2B5EF4-FFF2-40B4-BE49-F238E27FC236}">
                <a16:creationId xmlns:a16="http://schemas.microsoft.com/office/drawing/2014/main" id="{CA1A4AC4-E7DF-4EA2-BF94-EB1CD33F74E4}"/>
              </a:ext>
            </a:extLst>
          </p:cNvPr>
          <p:cNvSpPr>
            <a:spLocks noGrp="1"/>
          </p:cNvSpPr>
          <p:nvPr/>
        </p:nvSpPr>
        <p:spPr>
          <a:xfrm>
            <a:off x="4547062" y="3090862"/>
            <a:ext cx="1466850" cy="190500"/>
          </a:xfrm>
          <a:prstGeom prst="rect">
            <a:avLst/>
          </a:prstGeom>
        </p:spPr>
        <p:txBody>
          <a:bodyPr lIns="0" tIns="0" rIns="0" bIns="0"/>
          <a:lstStyle/>
          <a:p>
            <a:r>
              <a:rPr sz="900" b="1">
                <a:solidFill>
                  <a:srgbClr val="003A61"/>
                </a:solidFill>
                <a:latin typeface="Arial"/>
                <a:ea typeface="Arial"/>
                <a:cs typeface="Arial"/>
              </a:rPr>
              <a:t>Next steps</a:t>
            </a:r>
          </a:p>
        </p:txBody>
      </p:sp>
      <p:sp>
        <p:nvSpPr>
          <p:cNvPr id="30" name="Rectangle 29">
            <a:extLst>
              <a:ext uri="{FF2B5EF4-FFF2-40B4-BE49-F238E27FC236}">
                <a16:creationId xmlns:a16="http://schemas.microsoft.com/office/drawing/2014/main" id="{9321CA24-D05F-449C-B8A5-F8FC1E389A8B}"/>
              </a:ext>
            </a:extLst>
          </p:cNvPr>
          <p:cNvSpPr>
            <a:spLocks noGrp="1"/>
          </p:cNvSpPr>
          <p:nvPr/>
        </p:nvSpPr>
        <p:spPr>
          <a:xfrm>
            <a:off x="4547062" y="3319462"/>
            <a:ext cx="1466850" cy="381000"/>
          </a:xfrm>
          <a:prstGeom prst="rect">
            <a:avLst/>
          </a:prstGeom>
        </p:spPr>
        <p:txBody>
          <a:bodyPr lIns="0" tIns="0" rIns="0" bIns="0"/>
          <a:lstStyle/>
          <a:p>
            <a:r>
              <a:rPr sz="863">
                <a:solidFill>
                  <a:srgbClr val="263845"/>
                </a:solidFill>
                <a:latin typeface="Arial"/>
                <a:ea typeface="Arial"/>
                <a:cs typeface="Arial"/>
              </a:rPr>
              <a:t>limitations and six-month plan</a:t>
            </a:r>
          </a:p>
        </p:txBody>
      </p:sp>
    </p:spTree>
    <p:extLst>
      <p:ext uri="{BB962C8B-B14F-4D97-AF65-F5344CB8AC3E}">
        <p14:creationId xmlns:p14="http://schemas.microsoft.com/office/powerpoint/2010/main" val="1826234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8EFAF9D-BF53-4FE4-A23B-F8080AD1DDA4}"/>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CF2706FD-5D3F-4DDF-A62C-1E3F02653113}"/>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03 | BACKGROUND</a:t>
            </a:r>
          </a:p>
        </p:txBody>
      </p:sp>
      <p:sp>
        <p:nvSpPr>
          <p:cNvPr id="3" name="Rectangle 2">
            <a:extLst>
              <a:ext uri="{FF2B5EF4-FFF2-40B4-BE49-F238E27FC236}">
                <a16:creationId xmlns:a16="http://schemas.microsoft.com/office/drawing/2014/main" id="{AFAF53F1-4713-4B13-8D57-63F5E056D57B}"/>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Quốc ngữ is the current endpoint of a layered writing history, not a single-inventor story.</a:t>
            </a:r>
          </a:p>
        </p:txBody>
      </p:sp>
      <p:sp>
        <p:nvSpPr>
          <p:cNvPr id="4" name="Rectangle 3">
            <a:extLst>
              <a:ext uri="{FF2B5EF4-FFF2-40B4-BE49-F238E27FC236}">
                <a16:creationId xmlns:a16="http://schemas.microsoft.com/office/drawing/2014/main" id="{13E5D975-346D-432E-A261-7985AF40A3E5}"/>
              </a:ext>
            </a:extLst>
          </p:cNvPr>
          <p:cNvSpPr>
            <a:spLocks noGrp="1"/>
          </p:cNvSpPr>
          <p:nvPr/>
        </p:nvSpPr>
        <p:spPr>
          <a:xfrm>
            <a:off x="476250" y="4514850"/>
            <a:ext cx="6667500" cy="171450"/>
          </a:xfrm>
          <a:prstGeom prst="rect">
            <a:avLst/>
          </a:prstGeom>
        </p:spPr>
        <p:txBody>
          <a:bodyPr lIns="0" tIns="0" rIns="0" bIns="0"/>
          <a:lstStyle/>
          <a:p>
            <a:r>
              <a:rPr sz="638">
                <a:solidFill>
                  <a:srgbClr val="63717A"/>
                </a:solidFill>
                <a:latin typeface="Arial"/>
                <a:ea typeface="Arial"/>
                <a:cs typeface="Arial"/>
              </a:rPr>
              <a:t>Sources: Fernandes &amp; Assunção, 2017; DeFrancis, 1977; Encyclopaedia Britannica, 2026</a:t>
            </a:r>
          </a:p>
        </p:txBody>
      </p:sp>
      <p:sp>
        <p:nvSpPr>
          <p:cNvPr id="5" name="Rectangle 4">
            <a:extLst>
              <a:ext uri="{FF2B5EF4-FFF2-40B4-BE49-F238E27FC236}">
                <a16:creationId xmlns:a16="http://schemas.microsoft.com/office/drawing/2014/main" id="{91EB933F-DFDF-4F08-9EE1-9F47F4B3811F}"/>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6" name="Rectangle 5">
            <a:extLst>
              <a:ext uri="{FF2B5EF4-FFF2-40B4-BE49-F238E27FC236}">
                <a16:creationId xmlns:a16="http://schemas.microsoft.com/office/drawing/2014/main" id="{E576746E-B0E4-45F9-9CD7-9F2320B3D830}"/>
              </a:ext>
            </a:extLst>
          </p:cNvPr>
          <p:cNvSpPr>
            <a:spLocks noGrp="1"/>
          </p:cNvSpPr>
          <p:nvPr/>
        </p:nvSpPr>
        <p:spPr>
          <a:xfrm>
            <a:off x="666750" y="1619250"/>
            <a:ext cx="1952625" cy="904875"/>
          </a:xfrm>
          <a:prstGeom prst="rect">
            <a:avLst/>
          </a:prstGeom>
          <a:solidFill>
            <a:srgbClr val="EEF4F8"/>
          </a:solidFill>
          <a:ln w="7620">
            <a:solidFill>
              <a:srgbClr val="003A61"/>
            </a:solidFill>
          </a:ln>
        </p:spPr>
        <p:txBody>
          <a:bodyPr lIns="0" tIns="0" rIns="0" bIns="0"/>
          <a:lstStyle/>
          <a:p>
            <a:r>
              <a:rPr sz="100">
                <a:solidFill>
                  <a:srgbClr val="EEF4F8"/>
                </a:solidFill>
                <a:latin typeface="Arial"/>
                <a:ea typeface="Arial"/>
                <a:cs typeface="Arial"/>
              </a:rPr>
              <a:t>.</a:t>
            </a:r>
          </a:p>
        </p:txBody>
      </p:sp>
      <p:sp>
        <p:nvSpPr>
          <p:cNvPr id="7" name="Rectangle 6">
            <a:extLst>
              <a:ext uri="{FF2B5EF4-FFF2-40B4-BE49-F238E27FC236}">
                <a16:creationId xmlns:a16="http://schemas.microsoft.com/office/drawing/2014/main" id="{ACF208B5-B6C4-4A2E-BAFA-E90203B44BE1}"/>
              </a:ext>
            </a:extLst>
          </p:cNvPr>
          <p:cNvSpPr>
            <a:spLocks noGrp="1"/>
          </p:cNvSpPr>
          <p:nvPr/>
        </p:nvSpPr>
        <p:spPr>
          <a:xfrm>
            <a:off x="752475" y="1704975"/>
            <a:ext cx="1781175" cy="171450"/>
          </a:xfrm>
          <a:prstGeom prst="rect">
            <a:avLst/>
          </a:prstGeom>
        </p:spPr>
        <p:txBody>
          <a:bodyPr lIns="0" tIns="0" rIns="0" bIns="0"/>
          <a:lstStyle/>
          <a:p>
            <a:pPr algn="ctr">
              <a:defRPr sz="825" b="1">
                <a:solidFill>
                  <a:srgbClr val="003A61"/>
                </a:solidFill>
                <a:latin typeface="Arial"/>
                <a:ea typeface="Arial"/>
                <a:cs typeface="Arial"/>
              </a:defRPr>
            </a:pPr>
            <a:r>
              <a:rPr sz="825" b="1">
                <a:solidFill>
                  <a:srgbClr val="003A61"/>
                </a:solidFill>
                <a:latin typeface="Arial"/>
                <a:ea typeface="Arial"/>
                <a:cs typeface="Arial"/>
              </a:rPr>
              <a:t>Chữ Hán</a:t>
            </a:r>
          </a:p>
        </p:txBody>
      </p:sp>
      <p:sp>
        <p:nvSpPr>
          <p:cNvPr id="8" name="Rectangle 7">
            <a:extLst>
              <a:ext uri="{FF2B5EF4-FFF2-40B4-BE49-F238E27FC236}">
                <a16:creationId xmlns:a16="http://schemas.microsoft.com/office/drawing/2014/main" id="{7CD0DEB1-2E48-4E7A-BBE5-E6BFDC1C89D1}"/>
              </a:ext>
            </a:extLst>
          </p:cNvPr>
          <p:cNvSpPr>
            <a:spLocks noGrp="1"/>
          </p:cNvSpPr>
          <p:nvPr/>
        </p:nvSpPr>
        <p:spPr>
          <a:xfrm>
            <a:off x="752475" y="1914525"/>
            <a:ext cx="1781175" cy="542925"/>
          </a:xfrm>
          <a:prstGeom prst="rect">
            <a:avLst/>
          </a:prstGeom>
        </p:spPr>
        <p:txBody>
          <a:bodyPr lIns="0" tIns="0" rIns="0" bIns="0"/>
          <a:lstStyle/>
          <a:p>
            <a:pPr algn="ctr">
              <a:defRPr sz="713">
                <a:solidFill>
                  <a:srgbClr val="263845"/>
                </a:solidFill>
                <a:latin typeface="Arial"/>
                <a:ea typeface="Arial"/>
                <a:cs typeface="Arial"/>
              </a:defRPr>
            </a:pPr>
            <a:r>
              <a:rPr sz="713">
                <a:solidFill>
                  <a:srgbClr val="263845"/>
                </a:solidFill>
                <a:latin typeface="Arial"/>
                <a:ea typeface="Arial"/>
                <a:cs typeface="Arial"/>
              </a:rPr>
              <a:t>Chinese characters</a:t>
            </a:r>
          </a:p>
          <a:p>
            <a:pPr algn="ctr">
              <a:defRPr sz="713">
                <a:solidFill>
                  <a:srgbClr val="263845"/>
                </a:solidFill>
                <a:latin typeface="Arial"/>
                <a:ea typeface="Arial"/>
                <a:cs typeface="Arial"/>
              </a:defRPr>
            </a:pPr>
            <a:r>
              <a:rPr sz="713">
                <a:solidFill>
                  <a:srgbClr val="263845"/>
                </a:solidFill>
                <a:latin typeface="Arial"/>
                <a:ea typeface="Arial"/>
                <a:cs typeface="Arial"/>
              </a:rPr>
              <a:t>administration, scholarship</a:t>
            </a:r>
          </a:p>
        </p:txBody>
      </p:sp>
      <p:sp>
        <p:nvSpPr>
          <p:cNvPr id="9" name="Rectangle 8">
            <a:extLst>
              <a:ext uri="{FF2B5EF4-FFF2-40B4-BE49-F238E27FC236}">
                <a16:creationId xmlns:a16="http://schemas.microsoft.com/office/drawing/2014/main" id="{303F485F-D3C1-4E85-A27E-489BE05C06CE}"/>
              </a:ext>
            </a:extLst>
          </p:cNvPr>
          <p:cNvSpPr>
            <a:spLocks noGrp="1"/>
          </p:cNvSpPr>
          <p:nvPr/>
        </p:nvSpPr>
        <p:spPr>
          <a:xfrm>
            <a:off x="2733675" y="19526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10" name="Rectangle 9">
            <a:extLst>
              <a:ext uri="{FF2B5EF4-FFF2-40B4-BE49-F238E27FC236}">
                <a16:creationId xmlns:a16="http://schemas.microsoft.com/office/drawing/2014/main" id="{BB80D6E0-0341-4884-B101-C1F159F8019D}"/>
              </a:ext>
            </a:extLst>
          </p:cNvPr>
          <p:cNvSpPr>
            <a:spLocks noGrp="1"/>
          </p:cNvSpPr>
          <p:nvPr/>
        </p:nvSpPr>
        <p:spPr>
          <a:xfrm>
            <a:off x="3286125" y="1619250"/>
            <a:ext cx="1952625" cy="904875"/>
          </a:xfrm>
          <a:prstGeom prst="rect">
            <a:avLst/>
          </a:prstGeom>
          <a:solidFill>
            <a:srgbClr val="EEF4F8"/>
          </a:solidFill>
          <a:ln w="7620">
            <a:solidFill>
              <a:srgbClr val="003A61"/>
            </a:solidFill>
          </a:ln>
        </p:spPr>
        <p:txBody>
          <a:bodyPr lIns="0" tIns="0" rIns="0" bIns="0"/>
          <a:lstStyle/>
          <a:p>
            <a:r>
              <a:rPr sz="100">
                <a:solidFill>
                  <a:srgbClr val="EEF4F8"/>
                </a:solidFill>
                <a:latin typeface="Arial"/>
                <a:ea typeface="Arial"/>
                <a:cs typeface="Arial"/>
              </a:rPr>
              <a:t>.</a:t>
            </a:r>
          </a:p>
        </p:txBody>
      </p:sp>
      <p:sp>
        <p:nvSpPr>
          <p:cNvPr id="11" name="Rectangle 10">
            <a:extLst>
              <a:ext uri="{FF2B5EF4-FFF2-40B4-BE49-F238E27FC236}">
                <a16:creationId xmlns:a16="http://schemas.microsoft.com/office/drawing/2014/main" id="{6B7B96BD-8BF0-4133-BE94-CFD6747624EC}"/>
              </a:ext>
            </a:extLst>
          </p:cNvPr>
          <p:cNvSpPr>
            <a:spLocks noGrp="1"/>
          </p:cNvSpPr>
          <p:nvPr/>
        </p:nvSpPr>
        <p:spPr>
          <a:xfrm>
            <a:off x="3371850" y="1704975"/>
            <a:ext cx="1781175" cy="171450"/>
          </a:xfrm>
          <a:prstGeom prst="rect">
            <a:avLst/>
          </a:prstGeom>
        </p:spPr>
        <p:txBody>
          <a:bodyPr lIns="0" tIns="0" rIns="0" bIns="0"/>
          <a:lstStyle/>
          <a:p>
            <a:pPr algn="ctr">
              <a:defRPr sz="825" b="1">
                <a:solidFill>
                  <a:srgbClr val="003A61"/>
                </a:solidFill>
                <a:latin typeface="Arial"/>
                <a:ea typeface="Arial"/>
                <a:cs typeface="Arial"/>
              </a:defRPr>
            </a:pPr>
            <a:r>
              <a:rPr sz="825" b="1">
                <a:solidFill>
                  <a:srgbClr val="003A61"/>
                </a:solidFill>
                <a:latin typeface="Arial"/>
                <a:ea typeface="Arial"/>
                <a:cs typeface="Arial"/>
              </a:rPr>
              <a:t>Chữ Nôm</a:t>
            </a:r>
          </a:p>
        </p:txBody>
      </p:sp>
      <p:sp>
        <p:nvSpPr>
          <p:cNvPr id="12" name="Rectangle 11">
            <a:extLst>
              <a:ext uri="{FF2B5EF4-FFF2-40B4-BE49-F238E27FC236}">
                <a16:creationId xmlns:a16="http://schemas.microsoft.com/office/drawing/2014/main" id="{7F06C2B8-2522-4A34-A938-21949A7F52D9}"/>
              </a:ext>
            </a:extLst>
          </p:cNvPr>
          <p:cNvSpPr>
            <a:spLocks noGrp="1"/>
          </p:cNvSpPr>
          <p:nvPr/>
        </p:nvSpPr>
        <p:spPr>
          <a:xfrm>
            <a:off x="3371850" y="1914525"/>
            <a:ext cx="1781175" cy="542925"/>
          </a:xfrm>
          <a:prstGeom prst="rect">
            <a:avLst/>
          </a:prstGeom>
        </p:spPr>
        <p:txBody>
          <a:bodyPr lIns="0" tIns="0" rIns="0" bIns="0"/>
          <a:lstStyle/>
          <a:p>
            <a:pPr algn="ctr">
              <a:defRPr sz="713">
                <a:solidFill>
                  <a:srgbClr val="263845"/>
                </a:solidFill>
                <a:latin typeface="Arial"/>
                <a:ea typeface="Arial"/>
                <a:cs typeface="Arial"/>
              </a:defRPr>
            </a:pPr>
            <a:r>
              <a:rPr sz="713">
                <a:solidFill>
                  <a:srgbClr val="263845"/>
                </a:solidFill>
                <a:latin typeface="Arial"/>
                <a:ea typeface="Arial"/>
                <a:cs typeface="Arial"/>
              </a:rPr>
              <a:t>vernacular Vietnamese</a:t>
            </a:r>
          </a:p>
          <a:p>
            <a:pPr algn="ctr">
              <a:defRPr sz="713">
                <a:solidFill>
                  <a:srgbClr val="263845"/>
                </a:solidFill>
                <a:latin typeface="Arial"/>
                <a:ea typeface="Arial"/>
                <a:cs typeface="Arial"/>
              </a:defRPr>
            </a:pPr>
            <a:r>
              <a:rPr sz="713">
                <a:solidFill>
                  <a:srgbClr val="263845"/>
                </a:solidFill>
                <a:latin typeface="Arial"/>
                <a:ea typeface="Arial"/>
                <a:cs typeface="Arial"/>
              </a:rPr>
              <a:t>adapted/created characters</a:t>
            </a:r>
          </a:p>
        </p:txBody>
      </p:sp>
      <p:sp>
        <p:nvSpPr>
          <p:cNvPr id="13" name="Rectangle 12">
            <a:extLst>
              <a:ext uri="{FF2B5EF4-FFF2-40B4-BE49-F238E27FC236}">
                <a16:creationId xmlns:a16="http://schemas.microsoft.com/office/drawing/2014/main" id="{19D91EF8-662D-4086-9007-09703C761630}"/>
              </a:ext>
            </a:extLst>
          </p:cNvPr>
          <p:cNvSpPr>
            <a:spLocks noGrp="1"/>
          </p:cNvSpPr>
          <p:nvPr/>
        </p:nvSpPr>
        <p:spPr>
          <a:xfrm>
            <a:off x="5353050" y="19526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14" name="Rectangle 13">
            <a:extLst>
              <a:ext uri="{FF2B5EF4-FFF2-40B4-BE49-F238E27FC236}">
                <a16:creationId xmlns:a16="http://schemas.microsoft.com/office/drawing/2014/main" id="{C6774B82-A309-4DBA-91F4-8308F19B2339}"/>
              </a:ext>
            </a:extLst>
          </p:cNvPr>
          <p:cNvSpPr>
            <a:spLocks noGrp="1"/>
          </p:cNvSpPr>
          <p:nvPr/>
        </p:nvSpPr>
        <p:spPr>
          <a:xfrm>
            <a:off x="5905500" y="1619250"/>
            <a:ext cx="1952625" cy="904875"/>
          </a:xfrm>
          <a:prstGeom prst="rect">
            <a:avLst/>
          </a:prstGeom>
          <a:solidFill>
            <a:srgbClr val="DDECB3"/>
          </a:solidFill>
          <a:ln w="7620">
            <a:solidFill>
              <a:srgbClr val="003A61"/>
            </a:solidFill>
          </a:ln>
        </p:spPr>
        <p:txBody>
          <a:bodyPr lIns="0" tIns="0" rIns="0" bIns="0"/>
          <a:lstStyle/>
          <a:p>
            <a:r>
              <a:rPr sz="100">
                <a:solidFill>
                  <a:srgbClr val="DDECB3"/>
                </a:solidFill>
                <a:latin typeface="Arial"/>
                <a:ea typeface="Arial"/>
                <a:cs typeface="Arial"/>
              </a:rPr>
              <a:t>.</a:t>
            </a:r>
          </a:p>
        </p:txBody>
      </p:sp>
      <p:sp>
        <p:nvSpPr>
          <p:cNvPr id="15" name="Rectangle 14">
            <a:extLst>
              <a:ext uri="{FF2B5EF4-FFF2-40B4-BE49-F238E27FC236}">
                <a16:creationId xmlns:a16="http://schemas.microsoft.com/office/drawing/2014/main" id="{9F7B8E85-F27B-43F9-A3FE-413AC544D18E}"/>
              </a:ext>
            </a:extLst>
          </p:cNvPr>
          <p:cNvSpPr>
            <a:spLocks noGrp="1"/>
          </p:cNvSpPr>
          <p:nvPr/>
        </p:nvSpPr>
        <p:spPr>
          <a:xfrm>
            <a:off x="5991225" y="1704975"/>
            <a:ext cx="1781175" cy="171450"/>
          </a:xfrm>
          <a:prstGeom prst="rect">
            <a:avLst/>
          </a:prstGeom>
        </p:spPr>
        <p:txBody>
          <a:bodyPr lIns="0" tIns="0" rIns="0" bIns="0"/>
          <a:lstStyle/>
          <a:p>
            <a:pPr algn="ctr">
              <a:defRPr sz="825" b="1">
                <a:solidFill>
                  <a:srgbClr val="003A61"/>
                </a:solidFill>
                <a:latin typeface="Arial"/>
                <a:ea typeface="Arial"/>
                <a:cs typeface="Arial"/>
              </a:defRPr>
            </a:pPr>
            <a:r>
              <a:rPr sz="825" b="1">
                <a:solidFill>
                  <a:srgbClr val="003A61"/>
                </a:solidFill>
                <a:latin typeface="Arial"/>
                <a:ea typeface="Arial"/>
                <a:cs typeface="Arial"/>
              </a:rPr>
              <a:t>Quốc ngữ</a:t>
            </a:r>
          </a:p>
        </p:txBody>
      </p:sp>
      <p:sp>
        <p:nvSpPr>
          <p:cNvPr id="16" name="Rectangle 15">
            <a:extLst>
              <a:ext uri="{FF2B5EF4-FFF2-40B4-BE49-F238E27FC236}">
                <a16:creationId xmlns:a16="http://schemas.microsoft.com/office/drawing/2014/main" id="{D2A920B9-7E82-403A-B812-97A329CCEC2E}"/>
              </a:ext>
            </a:extLst>
          </p:cNvPr>
          <p:cNvSpPr>
            <a:spLocks noGrp="1"/>
          </p:cNvSpPr>
          <p:nvPr/>
        </p:nvSpPr>
        <p:spPr>
          <a:xfrm>
            <a:off x="5991225" y="1914525"/>
            <a:ext cx="1781175" cy="542925"/>
          </a:xfrm>
          <a:prstGeom prst="rect">
            <a:avLst/>
          </a:prstGeom>
        </p:spPr>
        <p:txBody>
          <a:bodyPr lIns="0" tIns="0" rIns="0" bIns="0"/>
          <a:lstStyle/>
          <a:p>
            <a:pPr algn="ctr">
              <a:defRPr sz="713">
                <a:solidFill>
                  <a:srgbClr val="263845"/>
                </a:solidFill>
                <a:latin typeface="Arial"/>
                <a:ea typeface="Arial"/>
                <a:cs typeface="Arial"/>
              </a:defRPr>
            </a:pPr>
            <a:r>
              <a:rPr sz="713">
                <a:solidFill>
                  <a:srgbClr val="263845"/>
                </a:solidFill>
                <a:latin typeface="Arial"/>
                <a:ea typeface="Arial"/>
                <a:cs typeface="Arial"/>
              </a:rPr>
              <a:t>Latin-based Vietnamese</a:t>
            </a:r>
          </a:p>
          <a:p>
            <a:pPr algn="ctr">
              <a:defRPr sz="713">
                <a:solidFill>
                  <a:srgbClr val="263845"/>
                </a:solidFill>
                <a:latin typeface="Arial"/>
                <a:ea typeface="Arial"/>
                <a:cs typeface="Arial"/>
              </a:defRPr>
            </a:pPr>
            <a:r>
              <a:rPr sz="713">
                <a:solidFill>
                  <a:srgbClr val="263845"/>
                </a:solidFill>
                <a:latin typeface="Arial"/>
                <a:ea typeface="Arial"/>
                <a:cs typeface="Arial"/>
              </a:rPr>
              <a:t>missionary codification, later mass adoption</a:t>
            </a:r>
          </a:p>
        </p:txBody>
      </p:sp>
      <p:sp>
        <p:nvSpPr>
          <p:cNvPr id="17" name="Rectangle 16">
            <a:extLst>
              <a:ext uri="{FF2B5EF4-FFF2-40B4-BE49-F238E27FC236}">
                <a16:creationId xmlns:a16="http://schemas.microsoft.com/office/drawing/2014/main" id="{2ABD622D-24B5-4377-BAE9-274E581ABE1A}"/>
              </a:ext>
            </a:extLst>
          </p:cNvPr>
          <p:cNvSpPr>
            <a:spLocks noGrp="1"/>
          </p:cNvSpPr>
          <p:nvPr/>
        </p:nvSpPr>
        <p:spPr>
          <a:xfrm>
            <a:off x="857250" y="3000375"/>
            <a:ext cx="7096125" cy="74295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18" name="Rectangle 17">
            <a:extLst>
              <a:ext uri="{FF2B5EF4-FFF2-40B4-BE49-F238E27FC236}">
                <a16:creationId xmlns:a16="http://schemas.microsoft.com/office/drawing/2014/main" id="{A1F5965A-21CE-4A3E-BB56-61D55B29DB41}"/>
              </a:ext>
            </a:extLst>
          </p:cNvPr>
          <p:cNvSpPr>
            <a:spLocks noGrp="1"/>
          </p:cNvSpPr>
          <p:nvPr/>
        </p:nvSpPr>
        <p:spPr>
          <a:xfrm>
            <a:off x="971550" y="3095625"/>
            <a:ext cx="6867525" cy="190500"/>
          </a:xfrm>
          <a:prstGeom prst="rect">
            <a:avLst/>
          </a:prstGeom>
        </p:spPr>
        <p:txBody>
          <a:bodyPr lIns="0" tIns="0" rIns="0" bIns="0"/>
          <a:lstStyle/>
          <a:p>
            <a:r>
              <a:rPr sz="900" b="1">
                <a:solidFill>
                  <a:srgbClr val="003A61"/>
                </a:solidFill>
                <a:latin typeface="Arial"/>
                <a:ea typeface="Arial"/>
                <a:cs typeface="Arial"/>
              </a:rPr>
              <a:t>Clarification</a:t>
            </a:r>
          </a:p>
        </p:txBody>
      </p:sp>
      <p:sp>
        <p:nvSpPr>
          <p:cNvPr id="19" name="Rectangle 18">
            <a:extLst>
              <a:ext uri="{FF2B5EF4-FFF2-40B4-BE49-F238E27FC236}">
                <a16:creationId xmlns:a16="http://schemas.microsoft.com/office/drawing/2014/main" id="{E53ED71F-6AB9-4AE4-BD2D-5E6CC78DDBA8}"/>
              </a:ext>
            </a:extLst>
          </p:cNvPr>
          <p:cNvSpPr>
            <a:spLocks noGrp="1"/>
          </p:cNvSpPr>
          <p:nvPr/>
        </p:nvSpPr>
        <p:spPr>
          <a:xfrm>
            <a:off x="971550" y="3324225"/>
            <a:ext cx="6867525" cy="342900"/>
          </a:xfrm>
          <a:prstGeom prst="rect">
            <a:avLst/>
          </a:prstGeom>
        </p:spPr>
        <p:txBody>
          <a:bodyPr lIns="0" tIns="0" rIns="0" bIns="0"/>
          <a:lstStyle/>
          <a:p>
            <a:r>
              <a:rPr sz="915">
                <a:solidFill>
                  <a:srgbClr val="263845"/>
                </a:solidFill>
                <a:latin typeface="Arial"/>
                <a:ea typeface="Arial"/>
                <a:cs typeface="Arial"/>
              </a:rPr>
              <a:t>The modern script was shaped by several European missionaries. Portuguese Jesuits were central in early romanization; Alexandre de Rhodes published an influential Vietnamese-Portuguese-Latin dictionary in 1651. Later French colonial schooling/administration and Vietnamese print culture helped Quốc ngữ spread.</a:t>
            </a:r>
          </a:p>
        </p:txBody>
      </p:sp>
      <p:sp>
        <p:nvSpPr>
          <p:cNvPr id="20" name="Rectangle 19">
            <a:extLst>
              <a:ext uri="{FF2B5EF4-FFF2-40B4-BE49-F238E27FC236}">
                <a16:creationId xmlns:a16="http://schemas.microsoft.com/office/drawing/2014/main" id="{6F692322-C93C-46FE-8641-016EEB54D340}"/>
              </a:ext>
            </a:extLst>
          </p:cNvPr>
          <p:cNvSpPr>
            <a:spLocks noGrp="1"/>
          </p:cNvSpPr>
          <p:nvPr/>
        </p:nvSpPr>
        <p:spPr>
          <a:xfrm>
            <a:off x="876300" y="3952875"/>
            <a:ext cx="6667500" cy="304800"/>
          </a:xfrm>
          <a:prstGeom prst="rect">
            <a:avLst/>
          </a:prstGeom>
        </p:spPr>
        <p:txBody>
          <a:bodyPr lIns="0" tIns="0" rIns="0" bIns="0"/>
          <a:lstStyle/>
          <a:p>
            <a:r>
              <a:rPr sz="1050" b="1">
                <a:solidFill>
                  <a:srgbClr val="003A61"/>
                </a:solidFill>
                <a:latin typeface="Arial"/>
                <a:ea typeface="Arial"/>
                <a:cs typeface="Arial"/>
              </a:rPr>
              <a:t>Why this matters here: the modern script is alphabetic and spaced, but spacing does not make Vietnamese word boundaries simple.</a:t>
            </a:r>
          </a:p>
        </p:txBody>
      </p:sp>
      <p:pic>
        <p:nvPicPr>
          <p:cNvPr id="22" name="Picture 21" descr="1 Phương pháp luyện viết chữ Hán đẹp cho người mới bắt đầu – Thư Pháp Dụng  Phẩm">
            <a:extLst>
              <a:ext uri="{FF2B5EF4-FFF2-40B4-BE49-F238E27FC236}">
                <a16:creationId xmlns:a16="http://schemas.microsoft.com/office/drawing/2014/main" id="{DADB36D9-D7A1-0A3F-E584-5C3D49188D79}"/>
              </a:ext>
            </a:extLst>
          </p:cNvPr>
          <p:cNvPicPr>
            <a:picLocks noChangeAspect="1"/>
          </p:cNvPicPr>
          <p:nvPr/>
        </p:nvPicPr>
        <p:blipFill>
          <a:blip r:embed="rId3"/>
          <a:stretch>
            <a:fillRect/>
          </a:stretch>
        </p:blipFill>
        <p:spPr>
          <a:xfrm>
            <a:off x="926493" y="1363885"/>
            <a:ext cx="1350838" cy="1177480"/>
          </a:xfrm>
          <a:prstGeom prst="rect">
            <a:avLst/>
          </a:prstGeom>
        </p:spPr>
      </p:pic>
      <p:pic>
        <p:nvPicPr>
          <p:cNvPr id="23" name="Picture 22" descr="Chữ Nôm, Hán Nôm, and Chữ Quốc Ngữ: Addressing Common Misconceptions :  r/ChuNom">
            <a:extLst>
              <a:ext uri="{FF2B5EF4-FFF2-40B4-BE49-F238E27FC236}">
                <a16:creationId xmlns:a16="http://schemas.microsoft.com/office/drawing/2014/main" id="{678CB875-3721-3CCD-AED9-D44449021575}"/>
              </a:ext>
            </a:extLst>
          </p:cNvPr>
          <p:cNvPicPr>
            <a:picLocks noChangeAspect="1"/>
          </p:cNvPicPr>
          <p:nvPr/>
        </p:nvPicPr>
        <p:blipFill>
          <a:blip r:embed="rId4"/>
          <a:stretch>
            <a:fillRect/>
          </a:stretch>
        </p:blipFill>
        <p:spPr>
          <a:xfrm>
            <a:off x="3637192" y="1403795"/>
            <a:ext cx="1250489" cy="1306067"/>
          </a:xfrm>
          <a:prstGeom prst="rect">
            <a:avLst/>
          </a:prstGeom>
        </p:spPr>
      </p:pic>
      <p:pic>
        <p:nvPicPr>
          <p:cNvPr id="24" name="Picture 23" descr="Tại sao Bảng chữ cái tiếng Việt cần phải được “chuẩn hóa”? | Nghiên Cứu  Lịch Sử">
            <a:extLst>
              <a:ext uri="{FF2B5EF4-FFF2-40B4-BE49-F238E27FC236}">
                <a16:creationId xmlns:a16="http://schemas.microsoft.com/office/drawing/2014/main" id="{675BD3BD-E693-20BF-40C7-C6767676023C}"/>
              </a:ext>
            </a:extLst>
          </p:cNvPr>
          <p:cNvPicPr>
            <a:picLocks noChangeAspect="1"/>
          </p:cNvPicPr>
          <p:nvPr/>
        </p:nvPicPr>
        <p:blipFill>
          <a:blip r:embed="rId5"/>
          <a:stretch>
            <a:fillRect/>
          </a:stretch>
        </p:blipFill>
        <p:spPr>
          <a:xfrm>
            <a:off x="6247542" y="1283494"/>
            <a:ext cx="1274685" cy="1443038"/>
          </a:xfrm>
          <a:prstGeom prst="rect">
            <a:avLst/>
          </a:prstGeom>
        </p:spPr>
      </p:pic>
    </p:spTree>
    <p:extLst>
      <p:ext uri="{BB962C8B-B14F-4D97-AF65-F5344CB8AC3E}">
        <p14:creationId xmlns:p14="http://schemas.microsoft.com/office/powerpoint/2010/main" val="182623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6"/>
                                        </p:tgtEl>
                                      </p:cBhvr>
                                    </p:animEffect>
                                    <p:anim calcmode="lin" valueType="num">
                                      <p:cBhvr>
                                        <p:cTn id="7" dur="1000"/>
                                        <p:tgtEl>
                                          <p:spTgt spid="6"/>
                                        </p:tgtEl>
                                        <p:attrNameLst>
                                          <p:attrName>ppt_x</p:attrName>
                                        </p:attrNameLst>
                                      </p:cBhvr>
                                      <p:tavLst>
                                        <p:tav tm="0">
                                          <p:val>
                                            <p:strVal val="ppt_x"/>
                                          </p:val>
                                        </p:tav>
                                        <p:tav tm="100000">
                                          <p:val>
                                            <p:strVal val="ppt_x"/>
                                          </p:val>
                                        </p:tav>
                                      </p:tavLst>
                                    </p:anim>
                                    <p:anim calcmode="lin" valueType="num">
                                      <p:cBhvr>
                                        <p:cTn id="8" dur="1000"/>
                                        <p:tgtEl>
                                          <p:spTgt spid="6"/>
                                        </p:tgtEl>
                                        <p:attrNameLst>
                                          <p:attrName>ppt_y</p:attrName>
                                        </p:attrNameLst>
                                      </p:cBhvr>
                                      <p:tavLst>
                                        <p:tav tm="0">
                                          <p:val>
                                            <p:strVal val="ppt_y"/>
                                          </p:val>
                                        </p:tav>
                                        <p:tav tm="100000">
                                          <p:val>
                                            <p:strVal val="ppt_y+.1"/>
                                          </p:val>
                                        </p:tav>
                                      </p:tavLst>
                                    </p:anim>
                                    <p:set>
                                      <p:cBhvr>
                                        <p:cTn id="9" dur="1" fill="hold">
                                          <p:stCondLst>
                                            <p:cond delay="999"/>
                                          </p:stCondLst>
                                        </p:cTn>
                                        <p:tgtEl>
                                          <p:spTgt spid="6"/>
                                        </p:tgtEl>
                                        <p:attrNameLst>
                                          <p:attrName>style.visibility</p:attrName>
                                        </p:attrNameLst>
                                      </p:cBhvr>
                                      <p:to>
                                        <p:strVal val="hidden"/>
                                      </p:to>
                                    </p:set>
                                  </p:childTnLst>
                                </p:cTn>
                              </p:par>
                              <p:par>
                                <p:cTn id="10" presetID="42" presetClass="exit" presetSubtype="0" fill="hold" grpId="0" nodeType="withEffect">
                                  <p:stCondLst>
                                    <p:cond delay="0"/>
                                  </p:stCondLst>
                                  <p:childTnLst>
                                    <p:animEffect transition="out" filter="fade">
                                      <p:cBhvr>
                                        <p:cTn id="11" dur="1000"/>
                                        <p:tgtEl>
                                          <p:spTgt spid="7"/>
                                        </p:tgtEl>
                                      </p:cBhvr>
                                    </p:animEffect>
                                    <p:anim calcmode="lin" valueType="num">
                                      <p:cBhvr>
                                        <p:cTn id="12" dur="1000"/>
                                        <p:tgtEl>
                                          <p:spTgt spid="7"/>
                                        </p:tgtEl>
                                        <p:attrNameLst>
                                          <p:attrName>ppt_x</p:attrName>
                                        </p:attrNameLst>
                                      </p:cBhvr>
                                      <p:tavLst>
                                        <p:tav tm="0">
                                          <p:val>
                                            <p:strVal val="ppt_x"/>
                                          </p:val>
                                        </p:tav>
                                        <p:tav tm="100000">
                                          <p:val>
                                            <p:strVal val="ppt_x"/>
                                          </p:val>
                                        </p:tav>
                                      </p:tavLst>
                                    </p:anim>
                                    <p:anim calcmode="lin" valueType="num">
                                      <p:cBhvr>
                                        <p:cTn id="13" dur="1000"/>
                                        <p:tgtEl>
                                          <p:spTgt spid="7"/>
                                        </p:tgtEl>
                                        <p:attrNameLst>
                                          <p:attrName>ppt_y</p:attrName>
                                        </p:attrNameLst>
                                      </p:cBhvr>
                                      <p:tavLst>
                                        <p:tav tm="0">
                                          <p:val>
                                            <p:strVal val="ppt_y"/>
                                          </p:val>
                                        </p:tav>
                                        <p:tav tm="100000">
                                          <p:val>
                                            <p:strVal val="ppt_y+.1"/>
                                          </p:val>
                                        </p:tav>
                                      </p:tavLst>
                                    </p:anim>
                                    <p:set>
                                      <p:cBhvr>
                                        <p:cTn id="14" dur="1" fill="hold">
                                          <p:stCondLst>
                                            <p:cond delay="999"/>
                                          </p:stCondLst>
                                        </p:cTn>
                                        <p:tgtEl>
                                          <p:spTgt spid="7"/>
                                        </p:tgtEl>
                                        <p:attrNameLst>
                                          <p:attrName>style.visibility</p:attrName>
                                        </p:attrNameLst>
                                      </p:cBhvr>
                                      <p:to>
                                        <p:strVal val="hidden"/>
                                      </p:to>
                                    </p:set>
                                  </p:childTnLst>
                                </p:cTn>
                              </p:par>
                              <p:par>
                                <p:cTn id="15" presetID="42" presetClass="exit" presetSubtype="0" fill="hold" grpId="0" nodeType="withEffect">
                                  <p:stCondLst>
                                    <p:cond delay="0"/>
                                  </p:stCondLst>
                                  <p:childTnLst>
                                    <p:animEffect transition="out" filter="fade">
                                      <p:cBhvr>
                                        <p:cTn id="16" dur="1000"/>
                                        <p:tgtEl>
                                          <p:spTgt spid="8"/>
                                        </p:tgtEl>
                                      </p:cBhvr>
                                    </p:animEffect>
                                    <p:anim calcmode="lin" valueType="num">
                                      <p:cBhvr>
                                        <p:cTn id="17" dur="1000"/>
                                        <p:tgtEl>
                                          <p:spTgt spid="8"/>
                                        </p:tgtEl>
                                        <p:attrNameLst>
                                          <p:attrName>ppt_x</p:attrName>
                                        </p:attrNameLst>
                                      </p:cBhvr>
                                      <p:tavLst>
                                        <p:tav tm="0">
                                          <p:val>
                                            <p:strVal val="ppt_x"/>
                                          </p:val>
                                        </p:tav>
                                        <p:tav tm="100000">
                                          <p:val>
                                            <p:strVal val="ppt_x"/>
                                          </p:val>
                                        </p:tav>
                                      </p:tavLst>
                                    </p:anim>
                                    <p:anim calcmode="lin" valueType="num">
                                      <p:cBhvr>
                                        <p:cTn id="18" dur="1000"/>
                                        <p:tgtEl>
                                          <p:spTgt spid="8"/>
                                        </p:tgtEl>
                                        <p:attrNameLst>
                                          <p:attrName>ppt_y</p:attrName>
                                        </p:attrNameLst>
                                      </p:cBhvr>
                                      <p:tavLst>
                                        <p:tav tm="0">
                                          <p:val>
                                            <p:strVal val="ppt_y"/>
                                          </p:val>
                                        </p:tav>
                                        <p:tav tm="100000">
                                          <p:val>
                                            <p:strVal val="ppt_y+.1"/>
                                          </p:val>
                                        </p:tav>
                                      </p:tavLst>
                                    </p:anim>
                                    <p:set>
                                      <p:cBhvr>
                                        <p:cTn id="19" dur="1" fill="hold">
                                          <p:stCondLst>
                                            <p:cond delay="999"/>
                                          </p:stCondLst>
                                        </p:cTn>
                                        <p:tgtEl>
                                          <p:spTgt spid="8"/>
                                        </p:tgtEl>
                                        <p:attrNameLst>
                                          <p:attrName>style.visibility</p:attrName>
                                        </p:attrNameLst>
                                      </p:cBhvr>
                                      <p:to>
                                        <p:strVal val="hidden"/>
                                      </p:to>
                                    </p:set>
                                  </p:childTnLst>
                                </p:cTn>
                              </p:par>
                              <p:par>
                                <p:cTn id="20" presetID="42" presetClass="exit" presetSubtype="0" fill="hold" grpId="0" nodeType="withEffect">
                                  <p:stCondLst>
                                    <p:cond delay="0"/>
                                  </p:stCondLst>
                                  <p:childTnLst>
                                    <p:animEffect transition="out" filter="fade">
                                      <p:cBhvr>
                                        <p:cTn id="21" dur="1000"/>
                                        <p:tgtEl>
                                          <p:spTgt spid="10"/>
                                        </p:tgtEl>
                                      </p:cBhvr>
                                    </p:animEffect>
                                    <p:anim calcmode="lin" valueType="num">
                                      <p:cBhvr>
                                        <p:cTn id="22" dur="1000"/>
                                        <p:tgtEl>
                                          <p:spTgt spid="10"/>
                                        </p:tgtEl>
                                        <p:attrNameLst>
                                          <p:attrName>ppt_x</p:attrName>
                                        </p:attrNameLst>
                                      </p:cBhvr>
                                      <p:tavLst>
                                        <p:tav tm="0">
                                          <p:val>
                                            <p:strVal val="ppt_x"/>
                                          </p:val>
                                        </p:tav>
                                        <p:tav tm="100000">
                                          <p:val>
                                            <p:strVal val="ppt_x"/>
                                          </p:val>
                                        </p:tav>
                                      </p:tavLst>
                                    </p:anim>
                                    <p:anim calcmode="lin" valueType="num">
                                      <p:cBhvr>
                                        <p:cTn id="23" dur="1000"/>
                                        <p:tgtEl>
                                          <p:spTgt spid="10"/>
                                        </p:tgtEl>
                                        <p:attrNameLst>
                                          <p:attrName>ppt_y</p:attrName>
                                        </p:attrNameLst>
                                      </p:cBhvr>
                                      <p:tavLst>
                                        <p:tav tm="0">
                                          <p:val>
                                            <p:strVal val="ppt_y"/>
                                          </p:val>
                                        </p:tav>
                                        <p:tav tm="100000">
                                          <p:val>
                                            <p:strVal val="ppt_y+.1"/>
                                          </p:val>
                                        </p:tav>
                                      </p:tavLst>
                                    </p:anim>
                                    <p:set>
                                      <p:cBhvr>
                                        <p:cTn id="24" dur="1" fill="hold">
                                          <p:stCondLst>
                                            <p:cond delay="999"/>
                                          </p:stCondLst>
                                        </p:cTn>
                                        <p:tgtEl>
                                          <p:spTgt spid="10"/>
                                        </p:tgtEl>
                                        <p:attrNameLst>
                                          <p:attrName>style.visibility</p:attrName>
                                        </p:attrNameLst>
                                      </p:cBhvr>
                                      <p:to>
                                        <p:strVal val="hidden"/>
                                      </p:to>
                                    </p:set>
                                  </p:childTnLst>
                                </p:cTn>
                              </p:par>
                              <p:par>
                                <p:cTn id="25" presetID="42" presetClass="exit" presetSubtype="0" fill="hold" grpId="0" nodeType="withEffect">
                                  <p:stCondLst>
                                    <p:cond delay="0"/>
                                  </p:stCondLst>
                                  <p:childTnLst>
                                    <p:animEffect transition="out" filter="fade">
                                      <p:cBhvr>
                                        <p:cTn id="26" dur="1000"/>
                                        <p:tgtEl>
                                          <p:spTgt spid="11"/>
                                        </p:tgtEl>
                                      </p:cBhvr>
                                    </p:animEffect>
                                    <p:anim calcmode="lin" valueType="num">
                                      <p:cBhvr>
                                        <p:cTn id="27" dur="1000"/>
                                        <p:tgtEl>
                                          <p:spTgt spid="11"/>
                                        </p:tgtEl>
                                        <p:attrNameLst>
                                          <p:attrName>ppt_x</p:attrName>
                                        </p:attrNameLst>
                                      </p:cBhvr>
                                      <p:tavLst>
                                        <p:tav tm="0">
                                          <p:val>
                                            <p:strVal val="ppt_x"/>
                                          </p:val>
                                        </p:tav>
                                        <p:tav tm="100000">
                                          <p:val>
                                            <p:strVal val="ppt_x"/>
                                          </p:val>
                                        </p:tav>
                                      </p:tavLst>
                                    </p:anim>
                                    <p:anim calcmode="lin" valueType="num">
                                      <p:cBhvr>
                                        <p:cTn id="28" dur="1000"/>
                                        <p:tgtEl>
                                          <p:spTgt spid="11"/>
                                        </p:tgtEl>
                                        <p:attrNameLst>
                                          <p:attrName>ppt_y</p:attrName>
                                        </p:attrNameLst>
                                      </p:cBhvr>
                                      <p:tavLst>
                                        <p:tav tm="0">
                                          <p:val>
                                            <p:strVal val="ppt_y"/>
                                          </p:val>
                                        </p:tav>
                                        <p:tav tm="100000">
                                          <p:val>
                                            <p:strVal val="ppt_y+.1"/>
                                          </p:val>
                                        </p:tav>
                                      </p:tavLst>
                                    </p:anim>
                                    <p:set>
                                      <p:cBhvr>
                                        <p:cTn id="29" dur="1" fill="hold">
                                          <p:stCondLst>
                                            <p:cond delay="999"/>
                                          </p:stCondLst>
                                        </p:cTn>
                                        <p:tgtEl>
                                          <p:spTgt spid="11"/>
                                        </p:tgtEl>
                                        <p:attrNameLst>
                                          <p:attrName>style.visibility</p:attrName>
                                        </p:attrNameLst>
                                      </p:cBhvr>
                                      <p:to>
                                        <p:strVal val="hidden"/>
                                      </p:to>
                                    </p:set>
                                  </p:childTnLst>
                                </p:cTn>
                              </p:par>
                              <p:par>
                                <p:cTn id="30" presetID="42" presetClass="exit" presetSubtype="0" fill="hold" grpId="0" nodeType="withEffect">
                                  <p:stCondLst>
                                    <p:cond delay="0"/>
                                  </p:stCondLst>
                                  <p:childTnLst>
                                    <p:animEffect transition="out" filter="fade">
                                      <p:cBhvr>
                                        <p:cTn id="31" dur="1000"/>
                                        <p:tgtEl>
                                          <p:spTgt spid="12"/>
                                        </p:tgtEl>
                                      </p:cBhvr>
                                    </p:animEffect>
                                    <p:anim calcmode="lin" valueType="num">
                                      <p:cBhvr>
                                        <p:cTn id="32" dur="1000"/>
                                        <p:tgtEl>
                                          <p:spTgt spid="12"/>
                                        </p:tgtEl>
                                        <p:attrNameLst>
                                          <p:attrName>ppt_x</p:attrName>
                                        </p:attrNameLst>
                                      </p:cBhvr>
                                      <p:tavLst>
                                        <p:tav tm="0">
                                          <p:val>
                                            <p:strVal val="ppt_x"/>
                                          </p:val>
                                        </p:tav>
                                        <p:tav tm="100000">
                                          <p:val>
                                            <p:strVal val="ppt_x"/>
                                          </p:val>
                                        </p:tav>
                                      </p:tavLst>
                                    </p:anim>
                                    <p:anim calcmode="lin" valueType="num">
                                      <p:cBhvr>
                                        <p:cTn id="33" dur="1000"/>
                                        <p:tgtEl>
                                          <p:spTgt spid="12"/>
                                        </p:tgtEl>
                                        <p:attrNameLst>
                                          <p:attrName>ppt_y</p:attrName>
                                        </p:attrNameLst>
                                      </p:cBhvr>
                                      <p:tavLst>
                                        <p:tav tm="0">
                                          <p:val>
                                            <p:strVal val="ppt_y"/>
                                          </p:val>
                                        </p:tav>
                                        <p:tav tm="100000">
                                          <p:val>
                                            <p:strVal val="ppt_y+.1"/>
                                          </p:val>
                                        </p:tav>
                                      </p:tavLst>
                                    </p:anim>
                                    <p:set>
                                      <p:cBhvr>
                                        <p:cTn id="34" dur="1" fill="hold">
                                          <p:stCondLst>
                                            <p:cond delay="999"/>
                                          </p:stCondLst>
                                        </p:cTn>
                                        <p:tgtEl>
                                          <p:spTgt spid="12"/>
                                        </p:tgtEl>
                                        <p:attrNameLst>
                                          <p:attrName>style.visibility</p:attrName>
                                        </p:attrNameLst>
                                      </p:cBhvr>
                                      <p:to>
                                        <p:strVal val="hidden"/>
                                      </p:to>
                                    </p:set>
                                  </p:childTnLst>
                                </p:cTn>
                              </p:par>
                              <p:par>
                                <p:cTn id="35" presetID="42" presetClass="exit" presetSubtype="0" fill="hold" grpId="0" nodeType="withEffect">
                                  <p:stCondLst>
                                    <p:cond delay="0"/>
                                  </p:stCondLst>
                                  <p:childTnLst>
                                    <p:animEffect transition="out" filter="fade">
                                      <p:cBhvr>
                                        <p:cTn id="36" dur="1000"/>
                                        <p:tgtEl>
                                          <p:spTgt spid="14"/>
                                        </p:tgtEl>
                                      </p:cBhvr>
                                    </p:animEffect>
                                    <p:anim calcmode="lin" valueType="num">
                                      <p:cBhvr>
                                        <p:cTn id="37" dur="1000"/>
                                        <p:tgtEl>
                                          <p:spTgt spid="14"/>
                                        </p:tgtEl>
                                        <p:attrNameLst>
                                          <p:attrName>ppt_x</p:attrName>
                                        </p:attrNameLst>
                                      </p:cBhvr>
                                      <p:tavLst>
                                        <p:tav tm="0">
                                          <p:val>
                                            <p:strVal val="ppt_x"/>
                                          </p:val>
                                        </p:tav>
                                        <p:tav tm="100000">
                                          <p:val>
                                            <p:strVal val="ppt_x"/>
                                          </p:val>
                                        </p:tav>
                                      </p:tavLst>
                                    </p:anim>
                                    <p:anim calcmode="lin" valueType="num">
                                      <p:cBhvr>
                                        <p:cTn id="38" dur="1000"/>
                                        <p:tgtEl>
                                          <p:spTgt spid="14"/>
                                        </p:tgtEl>
                                        <p:attrNameLst>
                                          <p:attrName>ppt_y</p:attrName>
                                        </p:attrNameLst>
                                      </p:cBhvr>
                                      <p:tavLst>
                                        <p:tav tm="0">
                                          <p:val>
                                            <p:strVal val="ppt_y"/>
                                          </p:val>
                                        </p:tav>
                                        <p:tav tm="100000">
                                          <p:val>
                                            <p:strVal val="ppt_y+.1"/>
                                          </p:val>
                                        </p:tav>
                                      </p:tavLst>
                                    </p:anim>
                                    <p:set>
                                      <p:cBhvr>
                                        <p:cTn id="39" dur="1" fill="hold">
                                          <p:stCondLst>
                                            <p:cond delay="999"/>
                                          </p:stCondLst>
                                        </p:cTn>
                                        <p:tgtEl>
                                          <p:spTgt spid="14"/>
                                        </p:tgtEl>
                                        <p:attrNameLst>
                                          <p:attrName>style.visibility</p:attrName>
                                        </p:attrNameLst>
                                      </p:cBhvr>
                                      <p:to>
                                        <p:strVal val="hidden"/>
                                      </p:to>
                                    </p:set>
                                  </p:childTnLst>
                                </p:cTn>
                              </p:par>
                              <p:par>
                                <p:cTn id="40" presetID="42" presetClass="exit" presetSubtype="0" fill="hold" grpId="0" nodeType="withEffect">
                                  <p:stCondLst>
                                    <p:cond delay="0"/>
                                  </p:stCondLst>
                                  <p:childTnLst>
                                    <p:animEffect transition="out" filter="fade">
                                      <p:cBhvr>
                                        <p:cTn id="41" dur="1000"/>
                                        <p:tgtEl>
                                          <p:spTgt spid="15"/>
                                        </p:tgtEl>
                                      </p:cBhvr>
                                    </p:animEffect>
                                    <p:anim calcmode="lin" valueType="num">
                                      <p:cBhvr>
                                        <p:cTn id="42" dur="1000"/>
                                        <p:tgtEl>
                                          <p:spTgt spid="15"/>
                                        </p:tgtEl>
                                        <p:attrNameLst>
                                          <p:attrName>ppt_x</p:attrName>
                                        </p:attrNameLst>
                                      </p:cBhvr>
                                      <p:tavLst>
                                        <p:tav tm="0">
                                          <p:val>
                                            <p:strVal val="ppt_x"/>
                                          </p:val>
                                        </p:tav>
                                        <p:tav tm="100000">
                                          <p:val>
                                            <p:strVal val="ppt_x"/>
                                          </p:val>
                                        </p:tav>
                                      </p:tavLst>
                                    </p:anim>
                                    <p:anim calcmode="lin" valueType="num">
                                      <p:cBhvr>
                                        <p:cTn id="43" dur="1000"/>
                                        <p:tgtEl>
                                          <p:spTgt spid="15"/>
                                        </p:tgtEl>
                                        <p:attrNameLst>
                                          <p:attrName>ppt_y</p:attrName>
                                        </p:attrNameLst>
                                      </p:cBhvr>
                                      <p:tavLst>
                                        <p:tav tm="0">
                                          <p:val>
                                            <p:strVal val="ppt_y"/>
                                          </p:val>
                                        </p:tav>
                                        <p:tav tm="100000">
                                          <p:val>
                                            <p:strVal val="ppt_y+.1"/>
                                          </p:val>
                                        </p:tav>
                                      </p:tavLst>
                                    </p:anim>
                                    <p:set>
                                      <p:cBhvr>
                                        <p:cTn id="44" dur="1" fill="hold">
                                          <p:stCondLst>
                                            <p:cond delay="999"/>
                                          </p:stCondLst>
                                        </p:cTn>
                                        <p:tgtEl>
                                          <p:spTgt spid="15"/>
                                        </p:tgtEl>
                                        <p:attrNameLst>
                                          <p:attrName>style.visibility</p:attrName>
                                        </p:attrNameLst>
                                      </p:cBhvr>
                                      <p:to>
                                        <p:strVal val="hidden"/>
                                      </p:to>
                                    </p:set>
                                  </p:childTnLst>
                                </p:cTn>
                              </p:par>
                              <p:par>
                                <p:cTn id="45" presetID="42" presetClass="exit" presetSubtype="0" fill="hold" grpId="0" nodeType="withEffect">
                                  <p:stCondLst>
                                    <p:cond delay="0"/>
                                  </p:stCondLst>
                                  <p:childTnLst>
                                    <p:animEffect transition="out" filter="fade">
                                      <p:cBhvr>
                                        <p:cTn id="46" dur="1000"/>
                                        <p:tgtEl>
                                          <p:spTgt spid="16"/>
                                        </p:tgtEl>
                                      </p:cBhvr>
                                    </p:animEffect>
                                    <p:anim calcmode="lin" valueType="num">
                                      <p:cBhvr>
                                        <p:cTn id="47" dur="1000"/>
                                        <p:tgtEl>
                                          <p:spTgt spid="16"/>
                                        </p:tgtEl>
                                        <p:attrNameLst>
                                          <p:attrName>ppt_x</p:attrName>
                                        </p:attrNameLst>
                                      </p:cBhvr>
                                      <p:tavLst>
                                        <p:tav tm="0">
                                          <p:val>
                                            <p:strVal val="ppt_x"/>
                                          </p:val>
                                        </p:tav>
                                        <p:tav tm="100000">
                                          <p:val>
                                            <p:strVal val="ppt_x"/>
                                          </p:val>
                                        </p:tav>
                                      </p:tavLst>
                                    </p:anim>
                                    <p:anim calcmode="lin" valueType="num">
                                      <p:cBhvr>
                                        <p:cTn id="48" dur="1000"/>
                                        <p:tgtEl>
                                          <p:spTgt spid="16"/>
                                        </p:tgtEl>
                                        <p:attrNameLst>
                                          <p:attrName>ppt_y</p:attrName>
                                        </p:attrNameLst>
                                      </p:cBhvr>
                                      <p:tavLst>
                                        <p:tav tm="0">
                                          <p:val>
                                            <p:strVal val="ppt_y"/>
                                          </p:val>
                                        </p:tav>
                                        <p:tav tm="100000">
                                          <p:val>
                                            <p:strVal val="ppt_y+.1"/>
                                          </p:val>
                                        </p:tav>
                                      </p:tavLst>
                                    </p:anim>
                                    <p:set>
                                      <p:cBhvr>
                                        <p:cTn id="49" dur="1" fill="hold">
                                          <p:stCondLst>
                                            <p:cond delay="999"/>
                                          </p:stCondLst>
                                        </p:cTn>
                                        <p:tgtEl>
                                          <p:spTgt spid="16"/>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1000"/>
                                        <p:tgtEl>
                                          <p:spTgt spid="24"/>
                                        </p:tgtEl>
                                      </p:cBhvr>
                                    </p:animEffect>
                                    <p:anim calcmode="lin" valueType="num">
                                      <p:cBhvr>
                                        <p:cTn id="55" dur="1000" fill="hold"/>
                                        <p:tgtEl>
                                          <p:spTgt spid="24"/>
                                        </p:tgtEl>
                                        <p:attrNameLst>
                                          <p:attrName>ppt_x</p:attrName>
                                        </p:attrNameLst>
                                      </p:cBhvr>
                                      <p:tavLst>
                                        <p:tav tm="0">
                                          <p:val>
                                            <p:strVal val="#ppt_x"/>
                                          </p:val>
                                        </p:tav>
                                        <p:tav tm="100000">
                                          <p:val>
                                            <p:strVal val="#ppt_x"/>
                                          </p:val>
                                        </p:tav>
                                      </p:tavLst>
                                    </p:anim>
                                    <p:anim calcmode="lin" valueType="num">
                                      <p:cBhvr>
                                        <p:cTn id="56" dur="1000" fill="hold"/>
                                        <p:tgtEl>
                                          <p:spTgt spid="24"/>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1000"/>
                                        <p:tgtEl>
                                          <p:spTgt spid="23"/>
                                        </p:tgtEl>
                                      </p:cBhvr>
                                    </p:animEffect>
                                    <p:anim calcmode="lin" valueType="num">
                                      <p:cBhvr>
                                        <p:cTn id="60" dur="1000" fill="hold"/>
                                        <p:tgtEl>
                                          <p:spTgt spid="23"/>
                                        </p:tgtEl>
                                        <p:attrNameLst>
                                          <p:attrName>ppt_x</p:attrName>
                                        </p:attrNameLst>
                                      </p:cBhvr>
                                      <p:tavLst>
                                        <p:tav tm="0">
                                          <p:val>
                                            <p:strVal val="#ppt_x"/>
                                          </p:val>
                                        </p:tav>
                                        <p:tav tm="100000">
                                          <p:val>
                                            <p:strVal val="#ppt_x"/>
                                          </p:val>
                                        </p:tav>
                                      </p:tavLst>
                                    </p:anim>
                                    <p:anim calcmode="lin" valueType="num">
                                      <p:cBhvr>
                                        <p:cTn id="61" dur="1000" fill="hold"/>
                                        <p:tgtEl>
                                          <p:spTgt spid="23"/>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1000"/>
                                        <p:tgtEl>
                                          <p:spTgt spid="22"/>
                                        </p:tgtEl>
                                      </p:cBhvr>
                                    </p:animEffect>
                                    <p:anim calcmode="lin" valueType="num">
                                      <p:cBhvr>
                                        <p:cTn id="65" dur="1000" fill="hold"/>
                                        <p:tgtEl>
                                          <p:spTgt spid="22"/>
                                        </p:tgtEl>
                                        <p:attrNameLst>
                                          <p:attrName>ppt_x</p:attrName>
                                        </p:attrNameLst>
                                      </p:cBhvr>
                                      <p:tavLst>
                                        <p:tav tm="0">
                                          <p:val>
                                            <p:strVal val="#ppt_x"/>
                                          </p:val>
                                        </p:tav>
                                        <p:tav tm="100000">
                                          <p:val>
                                            <p:strVal val="#ppt_x"/>
                                          </p:val>
                                        </p:tav>
                                      </p:tavLst>
                                    </p:anim>
                                    <p:anim calcmode="lin" valueType="num">
                                      <p:cBhvr>
                                        <p:cTn id="6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10" grpId="0" animBg="1"/>
      <p:bldP spid="11" grpId="0"/>
      <p:bldP spid="12" grpId="0"/>
      <p:bldP spid="14" grpId="0" animBg="1"/>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C8CCFB47-7D7E-485E-96A7-B6F78548B6C9}"/>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800EA783-B2F5-41F2-9F38-4E56ED6DCDEC}"/>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04 | TOKENIZATION PROBLEM</a:t>
            </a:r>
          </a:p>
        </p:txBody>
      </p:sp>
      <p:sp>
        <p:nvSpPr>
          <p:cNvPr id="3" name="Rectangle 2">
            <a:extLst>
              <a:ext uri="{FF2B5EF4-FFF2-40B4-BE49-F238E27FC236}">
                <a16:creationId xmlns:a16="http://schemas.microsoft.com/office/drawing/2014/main" id="{114CBFF6-1A12-42BD-B908-9AC84793A694}"/>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Vietnamese spaces often separate syllables, while lexical words may contain several syllables.</a:t>
            </a:r>
          </a:p>
        </p:txBody>
      </p:sp>
      <p:sp>
        <p:nvSpPr>
          <p:cNvPr id="4" name="Rectangle 3">
            <a:extLst>
              <a:ext uri="{FF2B5EF4-FFF2-40B4-BE49-F238E27FC236}">
                <a16:creationId xmlns:a16="http://schemas.microsoft.com/office/drawing/2014/main" id="{D9ACB20D-CAE6-4B57-B0C2-C4CED7877443}"/>
              </a:ext>
            </a:extLst>
          </p:cNvPr>
          <p:cNvSpPr>
            <a:spLocks noGrp="1"/>
          </p:cNvSpPr>
          <p:nvPr/>
        </p:nvSpPr>
        <p:spPr>
          <a:xfrm>
            <a:off x="476250" y="4514850"/>
            <a:ext cx="6667500" cy="171450"/>
          </a:xfrm>
          <a:prstGeom prst="rect">
            <a:avLst/>
          </a:prstGeom>
        </p:spPr>
        <p:txBody>
          <a:bodyPr lIns="0" tIns="0" rIns="0" bIns="0"/>
          <a:lstStyle/>
          <a:p>
            <a:r>
              <a:rPr sz="638">
                <a:solidFill>
                  <a:srgbClr val="63717A"/>
                </a:solidFill>
                <a:latin typeface="Arial"/>
                <a:ea typeface="Arial"/>
                <a:cs typeface="Arial"/>
              </a:rPr>
              <a:t>Sources: Ha, 2003; Đinh et al., 2008; Verdonschot et al., 2022</a:t>
            </a:r>
          </a:p>
        </p:txBody>
      </p:sp>
      <p:sp>
        <p:nvSpPr>
          <p:cNvPr id="5" name="Rectangle 4">
            <a:extLst>
              <a:ext uri="{FF2B5EF4-FFF2-40B4-BE49-F238E27FC236}">
                <a16:creationId xmlns:a16="http://schemas.microsoft.com/office/drawing/2014/main" id="{F428D748-D365-43C2-BCB1-75D464046E8A}"/>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6" name="Rectangle 5">
            <a:extLst>
              <a:ext uri="{FF2B5EF4-FFF2-40B4-BE49-F238E27FC236}">
                <a16:creationId xmlns:a16="http://schemas.microsoft.com/office/drawing/2014/main" id="{540DA20D-6EAD-48AD-A270-216E65B868DF}"/>
              </a:ext>
            </a:extLst>
          </p:cNvPr>
          <p:cNvSpPr>
            <a:spLocks noGrp="1"/>
          </p:cNvSpPr>
          <p:nvPr/>
        </p:nvSpPr>
        <p:spPr>
          <a:xfrm>
            <a:off x="685800" y="1238250"/>
            <a:ext cx="1905000" cy="171450"/>
          </a:xfrm>
          <a:prstGeom prst="rect">
            <a:avLst/>
          </a:prstGeom>
        </p:spPr>
        <p:txBody>
          <a:bodyPr lIns="0" tIns="0" rIns="0" bIns="0"/>
          <a:lstStyle/>
          <a:p>
            <a:r>
              <a:rPr sz="750" b="1">
                <a:solidFill>
                  <a:srgbClr val="63717A"/>
                </a:solidFill>
                <a:latin typeface="Arial"/>
                <a:ea typeface="Arial"/>
                <a:cs typeface="Arial"/>
              </a:rPr>
              <a:t>Example string</a:t>
            </a:r>
          </a:p>
        </p:txBody>
      </p:sp>
      <p:sp>
        <p:nvSpPr>
          <p:cNvPr id="7" name="Rectangle 6">
            <a:extLst>
              <a:ext uri="{FF2B5EF4-FFF2-40B4-BE49-F238E27FC236}">
                <a16:creationId xmlns:a16="http://schemas.microsoft.com/office/drawing/2014/main" id="{E47DE0A4-4B05-4DFA-8FCF-4DEFB3177C43}"/>
              </a:ext>
            </a:extLst>
          </p:cNvPr>
          <p:cNvSpPr>
            <a:spLocks noGrp="1"/>
          </p:cNvSpPr>
          <p:nvPr/>
        </p:nvSpPr>
        <p:spPr>
          <a:xfrm>
            <a:off x="685800" y="1466850"/>
            <a:ext cx="5238750" cy="381000"/>
          </a:xfrm>
          <a:prstGeom prst="rect">
            <a:avLst/>
          </a:prstGeom>
        </p:spPr>
        <p:txBody>
          <a:bodyPr lIns="0" tIns="0" rIns="0" bIns="0"/>
          <a:lstStyle/>
          <a:p>
            <a:r>
              <a:rPr sz="2250" b="1">
                <a:solidFill>
                  <a:srgbClr val="003A61"/>
                </a:solidFill>
                <a:latin typeface="Arial"/>
                <a:ea typeface="Arial"/>
                <a:cs typeface="Arial"/>
              </a:rPr>
              <a:t>sinh viên học tiếng Việt</a:t>
            </a:r>
          </a:p>
        </p:txBody>
      </p:sp>
      <p:sp>
        <p:nvSpPr>
          <p:cNvPr id="8" name="Rectangle 7">
            <a:extLst>
              <a:ext uri="{FF2B5EF4-FFF2-40B4-BE49-F238E27FC236}">
                <a16:creationId xmlns:a16="http://schemas.microsoft.com/office/drawing/2014/main" id="{30B968F7-67E8-453E-9A0B-3FEC8C0C1FCA}"/>
              </a:ext>
            </a:extLst>
          </p:cNvPr>
          <p:cNvSpPr>
            <a:spLocks noGrp="1"/>
          </p:cNvSpPr>
          <p:nvPr/>
        </p:nvSpPr>
        <p:spPr>
          <a:xfrm>
            <a:off x="685800" y="2209800"/>
            <a:ext cx="2286000" cy="190500"/>
          </a:xfrm>
          <a:prstGeom prst="rect">
            <a:avLst/>
          </a:prstGeom>
        </p:spPr>
        <p:txBody>
          <a:bodyPr lIns="0" tIns="0" rIns="0" bIns="0"/>
          <a:lstStyle/>
          <a:p>
            <a:r>
              <a:rPr sz="900" b="1">
                <a:solidFill>
                  <a:srgbClr val="63717A"/>
                </a:solidFill>
                <a:latin typeface="Arial"/>
                <a:ea typeface="Arial"/>
                <a:cs typeface="Arial"/>
              </a:rPr>
              <a:t>Syllable-spaced orthography</a:t>
            </a:r>
          </a:p>
        </p:txBody>
      </p:sp>
      <p:sp>
        <p:nvSpPr>
          <p:cNvPr id="9" name="Rectangle 8">
            <a:extLst>
              <a:ext uri="{FF2B5EF4-FFF2-40B4-BE49-F238E27FC236}">
                <a16:creationId xmlns:a16="http://schemas.microsoft.com/office/drawing/2014/main" id="{30CCE1EC-6006-4868-8E7C-309869A58585}"/>
              </a:ext>
            </a:extLst>
          </p:cNvPr>
          <p:cNvSpPr>
            <a:spLocks noGrp="1"/>
          </p:cNvSpPr>
          <p:nvPr/>
        </p:nvSpPr>
        <p:spPr>
          <a:xfrm>
            <a:off x="685800" y="2476500"/>
            <a:ext cx="914400" cy="419100"/>
          </a:xfrm>
          <a:prstGeom prst="rect">
            <a:avLst/>
          </a:prstGeom>
          <a:solidFill>
            <a:srgbClr val="EEF4F8"/>
          </a:solidFill>
          <a:ln w="7620">
            <a:solidFill>
              <a:srgbClr val="003A61"/>
            </a:solidFill>
          </a:ln>
        </p:spPr>
      </p:sp>
      <p:sp>
        <p:nvSpPr>
          <p:cNvPr id="10" name="Rectangle 9">
            <a:extLst>
              <a:ext uri="{FF2B5EF4-FFF2-40B4-BE49-F238E27FC236}">
                <a16:creationId xmlns:a16="http://schemas.microsoft.com/office/drawing/2014/main" id="{EAFBE238-A46E-426F-9185-11E6C07A865A}"/>
              </a:ext>
            </a:extLst>
          </p:cNvPr>
          <p:cNvSpPr>
            <a:spLocks noGrp="1"/>
          </p:cNvSpPr>
          <p:nvPr/>
        </p:nvSpPr>
        <p:spPr>
          <a:xfrm>
            <a:off x="685800" y="2590800"/>
            <a:ext cx="914400" cy="209550"/>
          </a:xfrm>
          <a:prstGeom prst="rect">
            <a:avLst/>
          </a:prstGeom>
        </p:spPr>
        <p:txBody>
          <a:bodyPr lIns="0" tIns="0" rIns="0" bIns="0"/>
          <a:lstStyle/>
          <a:p>
            <a:pPr algn="ctr">
              <a:defRPr sz="1200" b="1">
                <a:solidFill>
                  <a:srgbClr val="003A61"/>
                </a:solidFill>
                <a:latin typeface="Arial"/>
                <a:ea typeface="Arial"/>
                <a:cs typeface="Arial"/>
              </a:defRPr>
            </a:pPr>
            <a:r>
              <a:rPr sz="1200" b="1">
                <a:solidFill>
                  <a:srgbClr val="003A61"/>
                </a:solidFill>
                <a:latin typeface="Arial"/>
                <a:ea typeface="Arial"/>
                <a:cs typeface="Arial"/>
              </a:rPr>
              <a:t>sinh</a:t>
            </a:r>
          </a:p>
        </p:txBody>
      </p:sp>
      <p:sp>
        <p:nvSpPr>
          <p:cNvPr id="32" name="Rectangle 31">
            <a:extLst>
              <a:ext uri="{FF2B5EF4-FFF2-40B4-BE49-F238E27FC236}">
                <a16:creationId xmlns:a16="http://schemas.microsoft.com/office/drawing/2014/main" id="{F1746F84-35ED-1CD7-8814-22750ED6E457}"/>
              </a:ext>
            </a:extLst>
          </p:cNvPr>
          <p:cNvSpPr/>
          <p:nvPr/>
        </p:nvSpPr>
        <p:spPr>
          <a:xfrm>
            <a:off x="1714500" y="2398395"/>
            <a:ext cx="2300203" cy="552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34C4400-6E9E-4BAA-8ED0-718088287335}"/>
              </a:ext>
            </a:extLst>
          </p:cNvPr>
          <p:cNvSpPr>
            <a:spLocks noGrp="1"/>
          </p:cNvSpPr>
          <p:nvPr/>
        </p:nvSpPr>
        <p:spPr>
          <a:xfrm>
            <a:off x="1847850" y="2476500"/>
            <a:ext cx="914400" cy="419100"/>
          </a:xfrm>
          <a:prstGeom prst="rect">
            <a:avLst/>
          </a:prstGeom>
          <a:solidFill>
            <a:srgbClr val="EEF4F8"/>
          </a:solidFill>
          <a:ln w="7620">
            <a:solidFill>
              <a:srgbClr val="003A61"/>
            </a:solidFill>
          </a:ln>
        </p:spPr>
      </p:sp>
      <p:sp>
        <p:nvSpPr>
          <p:cNvPr id="12" name="Rectangle 11">
            <a:extLst>
              <a:ext uri="{FF2B5EF4-FFF2-40B4-BE49-F238E27FC236}">
                <a16:creationId xmlns:a16="http://schemas.microsoft.com/office/drawing/2014/main" id="{030C5FC2-2D0F-4AFD-BFE7-4DC320C8BC94}"/>
              </a:ext>
            </a:extLst>
          </p:cNvPr>
          <p:cNvSpPr>
            <a:spLocks noGrp="1"/>
          </p:cNvSpPr>
          <p:nvPr/>
        </p:nvSpPr>
        <p:spPr>
          <a:xfrm>
            <a:off x="1847850" y="2590800"/>
            <a:ext cx="914400" cy="209550"/>
          </a:xfrm>
          <a:prstGeom prst="rect">
            <a:avLst/>
          </a:prstGeom>
        </p:spPr>
        <p:txBody>
          <a:bodyPr lIns="0" tIns="0" rIns="0" bIns="0"/>
          <a:lstStyle/>
          <a:p>
            <a:pPr algn="ctr">
              <a:defRPr sz="1200" b="1">
                <a:solidFill>
                  <a:srgbClr val="003A61"/>
                </a:solidFill>
                <a:latin typeface="Arial"/>
                <a:ea typeface="Arial"/>
                <a:cs typeface="Arial"/>
              </a:defRPr>
            </a:pPr>
            <a:r>
              <a:rPr sz="1200" b="1">
                <a:solidFill>
                  <a:srgbClr val="003A61"/>
                </a:solidFill>
                <a:latin typeface="Arial"/>
                <a:ea typeface="Arial"/>
                <a:cs typeface="Arial"/>
              </a:rPr>
              <a:t>viên</a:t>
            </a:r>
          </a:p>
        </p:txBody>
      </p:sp>
      <p:sp>
        <p:nvSpPr>
          <p:cNvPr id="13" name="Rectangle 12">
            <a:extLst>
              <a:ext uri="{FF2B5EF4-FFF2-40B4-BE49-F238E27FC236}">
                <a16:creationId xmlns:a16="http://schemas.microsoft.com/office/drawing/2014/main" id="{4773E0D7-F12A-4BC5-A3BE-EA94FD8DC75E}"/>
              </a:ext>
            </a:extLst>
          </p:cNvPr>
          <p:cNvSpPr>
            <a:spLocks noGrp="1"/>
          </p:cNvSpPr>
          <p:nvPr/>
        </p:nvSpPr>
        <p:spPr>
          <a:xfrm>
            <a:off x="3009900" y="2476500"/>
            <a:ext cx="914400" cy="419100"/>
          </a:xfrm>
          <a:prstGeom prst="rect">
            <a:avLst/>
          </a:prstGeom>
          <a:solidFill>
            <a:srgbClr val="EEF4F8"/>
          </a:solidFill>
          <a:ln w="7620">
            <a:solidFill>
              <a:srgbClr val="003A61"/>
            </a:solidFill>
          </a:ln>
        </p:spPr>
      </p:sp>
      <p:sp>
        <p:nvSpPr>
          <p:cNvPr id="14" name="Rectangle 13">
            <a:extLst>
              <a:ext uri="{FF2B5EF4-FFF2-40B4-BE49-F238E27FC236}">
                <a16:creationId xmlns:a16="http://schemas.microsoft.com/office/drawing/2014/main" id="{BE2C4A51-0134-4EF4-A3EA-2772D30D1194}"/>
              </a:ext>
            </a:extLst>
          </p:cNvPr>
          <p:cNvSpPr>
            <a:spLocks noGrp="1"/>
          </p:cNvSpPr>
          <p:nvPr/>
        </p:nvSpPr>
        <p:spPr>
          <a:xfrm>
            <a:off x="3009900" y="2590800"/>
            <a:ext cx="914400" cy="209550"/>
          </a:xfrm>
          <a:prstGeom prst="rect">
            <a:avLst/>
          </a:prstGeom>
        </p:spPr>
        <p:txBody>
          <a:bodyPr lIns="0" tIns="0" rIns="0" bIns="0"/>
          <a:lstStyle/>
          <a:p>
            <a:pPr algn="ctr">
              <a:defRPr sz="1200" b="1">
                <a:solidFill>
                  <a:srgbClr val="003A61"/>
                </a:solidFill>
                <a:latin typeface="Arial"/>
                <a:ea typeface="Arial"/>
                <a:cs typeface="Arial"/>
              </a:defRPr>
            </a:pPr>
            <a:r>
              <a:rPr sz="1200" b="1">
                <a:solidFill>
                  <a:srgbClr val="003A61"/>
                </a:solidFill>
                <a:latin typeface="Arial"/>
                <a:ea typeface="Arial"/>
                <a:cs typeface="Arial"/>
              </a:rPr>
              <a:t>học</a:t>
            </a:r>
          </a:p>
        </p:txBody>
      </p:sp>
      <p:sp>
        <p:nvSpPr>
          <p:cNvPr id="30" name="Rectangle 29">
            <a:extLst>
              <a:ext uri="{FF2B5EF4-FFF2-40B4-BE49-F238E27FC236}">
                <a16:creationId xmlns:a16="http://schemas.microsoft.com/office/drawing/2014/main" id="{6513D2CC-3C63-C2C6-9E5B-D23942C98FF9}"/>
              </a:ext>
            </a:extLst>
          </p:cNvPr>
          <p:cNvSpPr/>
          <p:nvPr/>
        </p:nvSpPr>
        <p:spPr>
          <a:xfrm>
            <a:off x="4081548" y="2400300"/>
            <a:ext cx="2300203" cy="5524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83A2117-785B-4A15-BD40-946E85D7E221}"/>
              </a:ext>
            </a:extLst>
          </p:cNvPr>
          <p:cNvSpPr>
            <a:spLocks noGrp="1"/>
          </p:cNvSpPr>
          <p:nvPr/>
        </p:nvSpPr>
        <p:spPr>
          <a:xfrm>
            <a:off x="4171950" y="2476500"/>
            <a:ext cx="914400" cy="419100"/>
          </a:xfrm>
          <a:prstGeom prst="rect">
            <a:avLst/>
          </a:prstGeom>
          <a:solidFill>
            <a:srgbClr val="EEF4F8"/>
          </a:solidFill>
          <a:ln w="7620">
            <a:solidFill>
              <a:srgbClr val="003A61"/>
            </a:solidFill>
          </a:ln>
        </p:spPr>
      </p:sp>
      <p:sp>
        <p:nvSpPr>
          <p:cNvPr id="16" name="Rectangle 15">
            <a:extLst>
              <a:ext uri="{FF2B5EF4-FFF2-40B4-BE49-F238E27FC236}">
                <a16:creationId xmlns:a16="http://schemas.microsoft.com/office/drawing/2014/main" id="{E971E1F3-7ED2-4D96-993D-312C011FAAC5}"/>
              </a:ext>
            </a:extLst>
          </p:cNvPr>
          <p:cNvSpPr>
            <a:spLocks noGrp="1"/>
          </p:cNvSpPr>
          <p:nvPr/>
        </p:nvSpPr>
        <p:spPr>
          <a:xfrm>
            <a:off x="4171950" y="2590800"/>
            <a:ext cx="914400" cy="209550"/>
          </a:xfrm>
          <a:prstGeom prst="rect">
            <a:avLst/>
          </a:prstGeom>
        </p:spPr>
        <p:txBody>
          <a:bodyPr lIns="0" tIns="0" rIns="0" bIns="0"/>
          <a:lstStyle/>
          <a:p>
            <a:pPr algn="ctr">
              <a:defRPr sz="1200" b="1">
                <a:solidFill>
                  <a:srgbClr val="003A61"/>
                </a:solidFill>
                <a:latin typeface="Arial"/>
                <a:ea typeface="Arial"/>
                <a:cs typeface="Arial"/>
              </a:defRPr>
            </a:pPr>
            <a:r>
              <a:rPr sz="1200" b="1">
                <a:solidFill>
                  <a:srgbClr val="003A61"/>
                </a:solidFill>
                <a:latin typeface="Arial"/>
                <a:ea typeface="Arial"/>
                <a:cs typeface="Arial"/>
              </a:rPr>
              <a:t>tiếng</a:t>
            </a:r>
          </a:p>
        </p:txBody>
      </p:sp>
      <p:sp>
        <p:nvSpPr>
          <p:cNvPr id="17" name="Rectangle 16">
            <a:extLst>
              <a:ext uri="{FF2B5EF4-FFF2-40B4-BE49-F238E27FC236}">
                <a16:creationId xmlns:a16="http://schemas.microsoft.com/office/drawing/2014/main" id="{39030A06-A24B-4CB8-B42A-18620D467E94}"/>
              </a:ext>
            </a:extLst>
          </p:cNvPr>
          <p:cNvSpPr>
            <a:spLocks noGrp="1"/>
          </p:cNvSpPr>
          <p:nvPr/>
        </p:nvSpPr>
        <p:spPr>
          <a:xfrm>
            <a:off x="5334000" y="2476500"/>
            <a:ext cx="914400" cy="419100"/>
          </a:xfrm>
          <a:prstGeom prst="rect">
            <a:avLst/>
          </a:prstGeom>
          <a:solidFill>
            <a:srgbClr val="EEF4F8"/>
          </a:solidFill>
          <a:ln w="7620">
            <a:solidFill>
              <a:srgbClr val="003A61"/>
            </a:solidFill>
          </a:ln>
        </p:spPr>
      </p:sp>
      <p:sp>
        <p:nvSpPr>
          <p:cNvPr id="18" name="Rectangle 17">
            <a:extLst>
              <a:ext uri="{FF2B5EF4-FFF2-40B4-BE49-F238E27FC236}">
                <a16:creationId xmlns:a16="http://schemas.microsoft.com/office/drawing/2014/main" id="{881BD131-9189-4576-86D3-753362146ECF}"/>
              </a:ext>
            </a:extLst>
          </p:cNvPr>
          <p:cNvSpPr>
            <a:spLocks noGrp="1"/>
          </p:cNvSpPr>
          <p:nvPr/>
        </p:nvSpPr>
        <p:spPr>
          <a:xfrm>
            <a:off x="5334000" y="2590800"/>
            <a:ext cx="914400" cy="209550"/>
          </a:xfrm>
          <a:prstGeom prst="rect">
            <a:avLst/>
          </a:prstGeom>
        </p:spPr>
        <p:txBody>
          <a:bodyPr lIns="0" tIns="0" rIns="0" bIns="0"/>
          <a:lstStyle/>
          <a:p>
            <a:pPr algn="ctr">
              <a:defRPr sz="1200" b="1">
                <a:solidFill>
                  <a:srgbClr val="003A61"/>
                </a:solidFill>
                <a:latin typeface="Arial"/>
                <a:ea typeface="Arial"/>
                <a:cs typeface="Arial"/>
              </a:defRPr>
            </a:pPr>
            <a:r>
              <a:rPr sz="1200" b="1">
                <a:solidFill>
                  <a:srgbClr val="003A61"/>
                </a:solidFill>
                <a:latin typeface="Arial"/>
                <a:ea typeface="Arial"/>
                <a:cs typeface="Arial"/>
              </a:rPr>
              <a:t>Việt</a:t>
            </a:r>
          </a:p>
        </p:txBody>
      </p:sp>
      <p:sp>
        <p:nvSpPr>
          <p:cNvPr id="19" name="Rectangle 18">
            <a:extLst>
              <a:ext uri="{FF2B5EF4-FFF2-40B4-BE49-F238E27FC236}">
                <a16:creationId xmlns:a16="http://schemas.microsoft.com/office/drawing/2014/main" id="{56604C5C-2FEB-401D-8BAB-27A9213ABB95}"/>
              </a:ext>
            </a:extLst>
          </p:cNvPr>
          <p:cNvSpPr>
            <a:spLocks noGrp="1"/>
          </p:cNvSpPr>
          <p:nvPr/>
        </p:nvSpPr>
        <p:spPr>
          <a:xfrm>
            <a:off x="685800" y="3219450"/>
            <a:ext cx="2286000" cy="190500"/>
          </a:xfrm>
          <a:prstGeom prst="rect">
            <a:avLst/>
          </a:prstGeom>
        </p:spPr>
        <p:txBody>
          <a:bodyPr lIns="0" tIns="0" rIns="0" bIns="0"/>
          <a:lstStyle/>
          <a:p>
            <a:r>
              <a:rPr sz="900" b="1">
                <a:solidFill>
                  <a:srgbClr val="63717A"/>
                </a:solidFill>
                <a:latin typeface="Arial"/>
                <a:ea typeface="Arial"/>
                <a:cs typeface="Arial"/>
              </a:rPr>
              <a:t>Lexical-word interpretation</a:t>
            </a:r>
          </a:p>
        </p:txBody>
      </p:sp>
      <p:sp>
        <p:nvSpPr>
          <p:cNvPr id="20" name="Rectangle 19">
            <a:extLst>
              <a:ext uri="{FF2B5EF4-FFF2-40B4-BE49-F238E27FC236}">
                <a16:creationId xmlns:a16="http://schemas.microsoft.com/office/drawing/2014/main" id="{AE9BBEA2-EDDF-47ED-994D-BF66B41E2EA2}"/>
              </a:ext>
            </a:extLst>
          </p:cNvPr>
          <p:cNvSpPr>
            <a:spLocks noGrp="1"/>
          </p:cNvSpPr>
          <p:nvPr/>
        </p:nvSpPr>
        <p:spPr>
          <a:xfrm>
            <a:off x="685800" y="3486150"/>
            <a:ext cx="2076450" cy="457200"/>
          </a:xfrm>
          <a:prstGeom prst="rect">
            <a:avLst/>
          </a:prstGeom>
          <a:solidFill>
            <a:srgbClr val="DDECB3"/>
          </a:solidFill>
          <a:ln w="9525">
            <a:solidFill>
              <a:srgbClr val="8DB600"/>
            </a:solidFill>
          </a:ln>
        </p:spPr>
        <p:txBody>
          <a:bodyPr lIns="0" tIns="0" rIns="0" bIns="0"/>
          <a:lstStyle/>
          <a:p>
            <a:r>
              <a:rPr sz="100">
                <a:solidFill>
                  <a:srgbClr val="DDECB3"/>
                </a:solidFill>
                <a:latin typeface="Arial"/>
                <a:ea typeface="Arial"/>
                <a:cs typeface="Arial"/>
              </a:rPr>
              <a:t>.</a:t>
            </a:r>
          </a:p>
        </p:txBody>
      </p:sp>
      <p:sp>
        <p:nvSpPr>
          <p:cNvPr id="21" name="Rectangle 20">
            <a:extLst>
              <a:ext uri="{FF2B5EF4-FFF2-40B4-BE49-F238E27FC236}">
                <a16:creationId xmlns:a16="http://schemas.microsoft.com/office/drawing/2014/main" id="{31DCAAA2-6767-415A-A1D0-F5CA4A57C78F}"/>
              </a:ext>
            </a:extLst>
          </p:cNvPr>
          <p:cNvSpPr>
            <a:spLocks noGrp="1"/>
          </p:cNvSpPr>
          <p:nvPr/>
        </p:nvSpPr>
        <p:spPr>
          <a:xfrm>
            <a:off x="685800" y="3609975"/>
            <a:ext cx="2076450" cy="209550"/>
          </a:xfrm>
          <a:prstGeom prst="rect">
            <a:avLst/>
          </a:prstGeom>
        </p:spPr>
        <p:txBody>
          <a:bodyPr lIns="0" tIns="0" rIns="0" bIns="0"/>
          <a:lstStyle/>
          <a:p>
            <a:pPr algn="ctr">
              <a:defRPr sz="1200" b="1">
                <a:solidFill>
                  <a:srgbClr val="003A61"/>
                </a:solidFill>
                <a:latin typeface="Arial"/>
                <a:ea typeface="Arial"/>
                <a:cs typeface="Arial"/>
              </a:defRPr>
            </a:pPr>
            <a:r>
              <a:rPr sz="1200" b="1">
                <a:solidFill>
                  <a:srgbClr val="003A61"/>
                </a:solidFill>
                <a:latin typeface="Arial"/>
                <a:ea typeface="Arial"/>
                <a:cs typeface="Arial"/>
              </a:rPr>
              <a:t>sinh viên</a:t>
            </a:r>
          </a:p>
        </p:txBody>
      </p:sp>
      <p:sp>
        <p:nvSpPr>
          <p:cNvPr id="22" name="Rectangle 21">
            <a:extLst>
              <a:ext uri="{FF2B5EF4-FFF2-40B4-BE49-F238E27FC236}">
                <a16:creationId xmlns:a16="http://schemas.microsoft.com/office/drawing/2014/main" id="{DE070D76-8C2F-4169-8D8A-F41EFED8174A}"/>
              </a:ext>
            </a:extLst>
          </p:cNvPr>
          <p:cNvSpPr>
            <a:spLocks noGrp="1"/>
          </p:cNvSpPr>
          <p:nvPr/>
        </p:nvSpPr>
        <p:spPr>
          <a:xfrm>
            <a:off x="3000375" y="3486150"/>
            <a:ext cx="914400" cy="457200"/>
          </a:xfrm>
          <a:prstGeom prst="rect">
            <a:avLst/>
          </a:prstGeom>
          <a:solidFill>
            <a:srgbClr val="DDECB3"/>
          </a:solidFill>
          <a:ln w="9525">
            <a:solidFill>
              <a:srgbClr val="8DB600"/>
            </a:solidFill>
          </a:ln>
        </p:spPr>
      </p:sp>
      <p:sp>
        <p:nvSpPr>
          <p:cNvPr id="23" name="Rectangle 22">
            <a:extLst>
              <a:ext uri="{FF2B5EF4-FFF2-40B4-BE49-F238E27FC236}">
                <a16:creationId xmlns:a16="http://schemas.microsoft.com/office/drawing/2014/main" id="{314003D1-6703-40E1-BB69-BD1E1E0CCFA6}"/>
              </a:ext>
            </a:extLst>
          </p:cNvPr>
          <p:cNvSpPr>
            <a:spLocks noGrp="1"/>
          </p:cNvSpPr>
          <p:nvPr/>
        </p:nvSpPr>
        <p:spPr>
          <a:xfrm>
            <a:off x="3000375" y="3609975"/>
            <a:ext cx="914400" cy="209550"/>
          </a:xfrm>
          <a:prstGeom prst="rect">
            <a:avLst/>
          </a:prstGeom>
        </p:spPr>
        <p:txBody>
          <a:bodyPr lIns="0" tIns="0" rIns="0" bIns="0"/>
          <a:lstStyle/>
          <a:p>
            <a:pPr algn="ctr">
              <a:defRPr sz="1200" b="1">
                <a:solidFill>
                  <a:srgbClr val="003A61"/>
                </a:solidFill>
                <a:latin typeface="Arial"/>
                <a:ea typeface="Arial"/>
                <a:cs typeface="Arial"/>
              </a:defRPr>
            </a:pPr>
            <a:r>
              <a:rPr sz="1200" b="1">
                <a:solidFill>
                  <a:srgbClr val="003A61"/>
                </a:solidFill>
                <a:latin typeface="Arial"/>
                <a:ea typeface="Arial"/>
                <a:cs typeface="Arial"/>
              </a:rPr>
              <a:t>học</a:t>
            </a:r>
          </a:p>
        </p:txBody>
      </p:sp>
      <p:sp>
        <p:nvSpPr>
          <p:cNvPr id="24" name="Rectangle 23">
            <a:extLst>
              <a:ext uri="{FF2B5EF4-FFF2-40B4-BE49-F238E27FC236}">
                <a16:creationId xmlns:a16="http://schemas.microsoft.com/office/drawing/2014/main" id="{E41CC0ED-4400-41ED-A2F8-AB3606BB90E5}"/>
              </a:ext>
            </a:extLst>
          </p:cNvPr>
          <p:cNvSpPr>
            <a:spLocks noGrp="1"/>
          </p:cNvSpPr>
          <p:nvPr/>
        </p:nvSpPr>
        <p:spPr>
          <a:xfrm>
            <a:off x="4171950" y="3486150"/>
            <a:ext cx="2076450" cy="457200"/>
          </a:xfrm>
          <a:prstGeom prst="rect">
            <a:avLst/>
          </a:prstGeom>
          <a:solidFill>
            <a:srgbClr val="DDECB3"/>
          </a:solidFill>
          <a:ln w="9525">
            <a:solidFill>
              <a:srgbClr val="8DB600"/>
            </a:solidFill>
          </a:ln>
        </p:spPr>
        <p:txBody>
          <a:bodyPr lIns="0" tIns="0" rIns="0" bIns="0"/>
          <a:lstStyle/>
          <a:p>
            <a:r>
              <a:rPr sz="100">
                <a:solidFill>
                  <a:srgbClr val="DDECB3"/>
                </a:solidFill>
                <a:latin typeface="Arial"/>
                <a:ea typeface="Arial"/>
                <a:cs typeface="Arial"/>
              </a:rPr>
              <a:t>.</a:t>
            </a:r>
          </a:p>
        </p:txBody>
      </p:sp>
      <p:sp>
        <p:nvSpPr>
          <p:cNvPr id="25" name="Rectangle 24">
            <a:extLst>
              <a:ext uri="{FF2B5EF4-FFF2-40B4-BE49-F238E27FC236}">
                <a16:creationId xmlns:a16="http://schemas.microsoft.com/office/drawing/2014/main" id="{F2B26EEC-B24C-45D2-AE34-DF1A885F8155}"/>
              </a:ext>
            </a:extLst>
          </p:cNvPr>
          <p:cNvSpPr>
            <a:spLocks noGrp="1"/>
          </p:cNvSpPr>
          <p:nvPr/>
        </p:nvSpPr>
        <p:spPr>
          <a:xfrm>
            <a:off x="4171950" y="3609975"/>
            <a:ext cx="2076450" cy="209550"/>
          </a:xfrm>
          <a:prstGeom prst="rect">
            <a:avLst/>
          </a:prstGeom>
        </p:spPr>
        <p:txBody>
          <a:bodyPr lIns="0" tIns="0" rIns="0" bIns="0"/>
          <a:lstStyle/>
          <a:p>
            <a:pPr algn="ctr">
              <a:defRPr sz="1200" b="1">
                <a:solidFill>
                  <a:srgbClr val="003A61"/>
                </a:solidFill>
                <a:latin typeface="Arial"/>
                <a:ea typeface="Arial"/>
                <a:cs typeface="Arial"/>
              </a:defRPr>
            </a:pPr>
            <a:r>
              <a:rPr sz="1200" b="1">
                <a:solidFill>
                  <a:srgbClr val="003A61"/>
                </a:solidFill>
                <a:latin typeface="Arial"/>
                <a:ea typeface="Arial"/>
                <a:cs typeface="Arial"/>
              </a:rPr>
              <a:t>tiếng Việt</a:t>
            </a:r>
          </a:p>
        </p:txBody>
      </p:sp>
      <p:sp>
        <p:nvSpPr>
          <p:cNvPr id="26" name="Rectangle 25">
            <a:extLst>
              <a:ext uri="{FF2B5EF4-FFF2-40B4-BE49-F238E27FC236}">
                <a16:creationId xmlns:a16="http://schemas.microsoft.com/office/drawing/2014/main" id="{D7D9BF22-9A8A-4D4A-B45C-766CFD63B8B1}"/>
              </a:ext>
            </a:extLst>
          </p:cNvPr>
          <p:cNvSpPr>
            <a:spLocks noGrp="1"/>
          </p:cNvSpPr>
          <p:nvPr/>
        </p:nvSpPr>
        <p:spPr>
          <a:xfrm>
            <a:off x="6715125" y="1562100"/>
            <a:ext cx="1524000" cy="171450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27" name="Rectangle 26">
            <a:extLst>
              <a:ext uri="{FF2B5EF4-FFF2-40B4-BE49-F238E27FC236}">
                <a16:creationId xmlns:a16="http://schemas.microsoft.com/office/drawing/2014/main" id="{1AC8F608-4A6F-4BB3-8555-BC39AF91BF29}"/>
              </a:ext>
            </a:extLst>
          </p:cNvPr>
          <p:cNvSpPr>
            <a:spLocks noGrp="1"/>
          </p:cNvSpPr>
          <p:nvPr/>
        </p:nvSpPr>
        <p:spPr>
          <a:xfrm>
            <a:off x="6829425" y="1657350"/>
            <a:ext cx="1295400" cy="190500"/>
          </a:xfrm>
          <a:prstGeom prst="rect">
            <a:avLst/>
          </a:prstGeom>
        </p:spPr>
        <p:txBody>
          <a:bodyPr lIns="0" tIns="0" rIns="0" bIns="0"/>
          <a:lstStyle/>
          <a:p>
            <a:r>
              <a:rPr sz="900" b="1">
                <a:solidFill>
                  <a:srgbClr val="003A61"/>
                </a:solidFill>
                <a:latin typeface="Arial"/>
                <a:ea typeface="Arial"/>
                <a:cs typeface="Arial"/>
              </a:rPr>
              <a:t>Key point</a:t>
            </a:r>
          </a:p>
        </p:txBody>
      </p:sp>
      <p:sp>
        <p:nvSpPr>
          <p:cNvPr id="28" name="Rectangle 27">
            <a:extLst>
              <a:ext uri="{FF2B5EF4-FFF2-40B4-BE49-F238E27FC236}">
                <a16:creationId xmlns:a16="http://schemas.microsoft.com/office/drawing/2014/main" id="{73E05644-66E0-4CDF-BD88-A7E338499B59}"/>
              </a:ext>
            </a:extLst>
          </p:cNvPr>
          <p:cNvSpPr>
            <a:spLocks noGrp="1"/>
          </p:cNvSpPr>
          <p:nvPr/>
        </p:nvSpPr>
        <p:spPr>
          <a:xfrm>
            <a:off x="6829425" y="1885950"/>
            <a:ext cx="1295400" cy="1314450"/>
          </a:xfrm>
          <a:prstGeom prst="rect">
            <a:avLst/>
          </a:prstGeom>
        </p:spPr>
        <p:txBody>
          <a:bodyPr lIns="0" tIns="0" rIns="0" bIns="0"/>
          <a:lstStyle/>
          <a:p>
            <a:r>
              <a:rPr sz="975">
                <a:solidFill>
                  <a:srgbClr val="263845"/>
                </a:solidFill>
                <a:latin typeface="Arial"/>
                <a:ea typeface="Arial"/>
                <a:cs typeface="Arial"/>
              </a:rPr>
              <a:t>space ≠ lexical word boundary</a:t>
            </a:r>
          </a:p>
          <a:p>
            <a:endParaRPr sz="975">
              <a:solidFill>
                <a:srgbClr val="263845"/>
              </a:solidFill>
              <a:latin typeface="Arial"/>
              <a:ea typeface="Arial"/>
              <a:cs typeface="Arial"/>
            </a:endParaRPr>
          </a:p>
          <a:p>
            <a:r>
              <a:rPr sz="975">
                <a:solidFill>
                  <a:srgbClr val="263845"/>
                </a:solidFill>
                <a:latin typeface="Arial"/>
                <a:ea typeface="Arial"/>
                <a:cs typeface="Arial"/>
              </a:rPr>
              <a:t>This is why Vietnamese word segmentation is non-trivial for NLP and for stimulus selection.</a:t>
            </a:r>
          </a:p>
        </p:txBody>
      </p:sp>
    </p:spTree>
    <p:extLst>
      <p:ext uri="{BB962C8B-B14F-4D97-AF65-F5344CB8AC3E}">
        <p14:creationId xmlns:p14="http://schemas.microsoft.com/office/powerpoint/2010/main" val="182623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2"/>
                                        </p:tgtEl>
                                        <p:attrNameLst>
                                          <p:attrName>style.visibility</p:attrName>
                                        </p:attrNameLst>
                                      </p:cBhvr>
                                      <p:to>
                                        <p:strVal val="visible"/>
                                      </p:to>
                                    </p:set>
                                    <p:animEffect transition="in" filter="fade">
                                      <p:cBhvr>
                                        <p:cTn id="14" dur="1000"/>
                                        <p:tgtEl>
                                          <p:spTgt spid="32"/>
                                        </p:tgtEl>
                                      </p:cBhvr>
                                    </p:animEffect>
                                    <p:anim calcmode="lin" valueType="num">
                                      <p:cBhvr>
                                        <p:cTn id="15" dur="1000" fill="hold"/>
                                        <p:tgtEl>
                                          <p:spTgt spid="32"/>
                                        </p:tgtEl>
                                        <p:attrNameLst>
                                          <p:attrName>ppt_x</p:attrName>
                                        </p:attrNameLst>
                                      </p:cBhvr>
                                      <p:tavLst>
                                        <p:tav tm="0">
                                          <p:val>
                                            <p:strVal val="#ppt_x"/>
                                          </p:val>
                                        </p:tav>
                                        <p:tav tm="100000">
                                          <p:val>
                                            <p:strVal val="#ppt_x"/>
                                          </p:val>
                                        </p:tav>
                                      </p:tavLst>
                                    </p:anim>
                                    <p:anim calcmode="lin" valueType="num">
                                      <p:cBhvr>
                                        <p:cTn id="1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60F3B8C-0925-FC10-0A62-8E3DE2182D81}"/>
              </a:ext>
            </a:extLst>
          </p:cNvPr>
          <p:cNvSpPr>
            <a:spLocks noGrp="1"/>
          </p:cNvSpPr>
          <p:nvPr>
            <p:ph type="ftr" idx="12"/>
          </p:nvPr>
        </p:nvSpPr>
        <p:spPr/>
        <p:txBody>
          <a:bodyPr/>
          <a:lstStyle/>
          <a:p>
            <a:r>
              <a:rPr lang="en-US" dirty="0"/>
              <a:t>05 | RAW DATA COLLECTION</a:t>
            </a:r>
          </a:p>
        </p:txBody>
      </p:sp>
      <p:sp>
        <p:nvSpPr>
          <p:cNvPr id="3" name="Slide Number Placeholder 2">
            <a:extLst>
              <a:ext uri="{FF2B5EF4-FFF2-40B4-BE49-F238E27FC236}">
                <a16:creationId xmlns:a16="http://schemas.microsoft.com/office/drawing/2014/main" id="{ED205D6C-B1D1-6274-CD74-F06F24F4C1AC}"/>
              </a:ext>
            </a:extLst>
          </p:cNvPr>
          <p:cNvSpPr>
            <a:spLocks noGrp="1"/>
          </p:cNvSpPr>
          <p:nvPr>
            <p:ph type="sldNum" idx="13"/>
          </p:nvPr>
        </p:nvSpPr>
        <p:spPr/>
        <p:txBody>
          <a:bodyPr/>
          <a:lstStyle/>
          <a:p>
            <a:fld id="{D6C92596-E737-FF90-EBB5-6AFD01EC4D29}" type="slidenum">
              <a:rPr lang="en-US" smtClean="0"/>
              <a:t>5</a:t>
            </a:fld>
            <a:endParaRPr lang="en-US" dirty="0"/>
          </a:p>
        </p:txBody>
      </p:sp>
      <p:pic>
        <p:nvPicPr>
          <p:cNvPr id="6" name="Picture 5" descr="Ảnh hồ sơ của bạn">
            <a:extLst>
              <a:ext uri="{FF2B5EF4-FFF2-40B4-BE49-F238E27FC236}">
                <a16:creationId xmlns:a16="http://schemas.microsoft.com/office/drawing/2014/main" id="{781E07F9-95E4-3376-9E51-5B6C98B0DDBC}"/>
              </a:ext>
            </a:extLst>
          </p:cNvPr>
          <p:cNvPicPr>
            <a:picLocks noChangeAspect="1"/>
          </p:cNvPicPr>
          <p:nvPr/>
        </p:nvPicPr>
        <p:blipFill>
          <a:blip r:embed="rId2"/>
          <a:srcRect l="6256" t="29990" r="45630" b="10304"/>
          <a:stretch>
            <a:fillRect/>
          </a:stretch>
        </p:blipFill>
        <p:spPr>
          <a:xfrm>
            <a:off x="7376914" y="1139300"/>
            <a:ext cx="1446953" cy="1795550"/>
          </a:xfrm>
          <a:prstGeom prst="rect">
            <a:avLst/>
          </a:prstGeom>
        </p:spPr>
      </p:pic>
      <p:sp>
        <p:nvSpPr>
          <p:cNvPr id="7" name="Arrow: Right 6">
            <a:extLst>
              <a:ext uri="{FF2B5EF4-FFF2-40B4-BE49-F238E27FC236}">
                <a16:creationId xmlns:a16="http://schemas.microsoft.com/office/drawing/2014/main" id="{8E474116-8BCC-A2E4-FF14-CD41748FDC7B}"/>
              </a:ext>
            </a:extLst>
          </p:cNvPr>
          <p:cNvSpPr/>
          <p:nvPr/>
        </p:nvSpPr>
        <p:spPr>
          <a:xfrm>
            <a:off x="2082764" y="2084452"/>
            <a:ext cx="722781" cy="184923"/>
          </a:xfrm>
          <a:prstGeom prst="rightArrow">
            <a:avLst/>
          </a:prstGeom>
          <a:solidFill>
            <a:schemeClr val="bg2">
              <a:lumMod val="60000"/>
              <a:lumOff val="40000"/>
            </a:schemeClr>
          </a:solidFill>
          <a:ln>
            <a:solidFill>
              <a:schemeClr val="bg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BE840F1E-30D3-14A2-8E2F-2AFE1FF847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3928" y="1871352"/>
            <a:ext cx="1212007" cy="331447"/>
          </a:xfrm>
          <a:prstGeom prst="rect">
            <a:avLst/>
          </a:prstGeom>
        </p:spPr>
      </p:pic>
      <p:pic>
        <p:nvPicPr>
          <p:cNvPr id="19" name="Picture 18">
            <a:extLst>
              <a:ext uri="{FF2B5EF4-FFF2-40B4-BE49-F238E27FC236}">
                <a16:creationId xmlns:a16="http://schemas.microsoft.com/office/drawing/2014/main" id="{1A499628-D563-5A31-83CC-63D5067C02AF}"/>
              </a:ext>
            </a:extLst>
          </p:cNvPr>
          <p:cNvPicPr>
            <a:picLocks noChangeAspect="1"/>
          </p:cNvPicPr>
          <p:nvPr/>
        </p:nvPicPr>
        <p:blipFill>
          <a:blip r:embed="rId4">
            <a:extLst>
              <a:ext uri="{28A0092B-C50C-407E-A947-70E740481C1C}">
                <a14:useLocalDpi xmlns:a14="http://schemas.microsoft.com/office/drawing/2010/main" val="0"/>
              </a:ext>
            </a:extLst>
          </a:blip>
          <a:srcRect r="51189"/>
          <a:stretch>
            <a:fillRect/>
          </a:stretch>
        </p:blipFill>
        <p:spPr>
          <a:xfrm>
            <a:off x="97194" y="1376601"/>
            <a:ext cx="1855585" cy="2139531"/>
          </a:xfrm>
          <a:prstGeom prst="rect">
            <a:avLst/>
          </a:prstGeom>
        </p:spPr>
      </p:pic>
      <p:pic>
        <p:nvPicPr>
          <p:cNvPr id="20" name="Picture 19" descr="Tuoi Tre News | The News Gateway to Vietnam">
            <a:extLst>
              <a:ext uri="{FF2B5EF4-FFF2-40B4-BE49-F238E27FC236}">
                <a16:creationId xmlns:a16="http://schemas.microsoft.com/office/drawing/2014/main" id="{ED950D50-3092-49BC-6E87-2A3514E4EC96}"/>
              </a:ext>
            </a:extLst>
          </p:cNvPr>
          <p:cNvPicPr>
            <a:picLocks noChangeAspect="1"/>
          </p:cNvPicPr>
          <p:nvPr/>
        </p:nvPicPr>
        <p:blipFill>
          <a:blip r:embed="rId5"/>
          <a:stretch>
            <a:fillRect/>
          </a:stretch>
        </p:blipFill>
        <p:spPr>
          <a:xfrm>
            <a:off x="2875202" y="881300"/>
            <a:ext cx="801280" cy="797719"/>
          </a:xfrm>
          <a:prstGeom prst="rect">
            <a:avLst/>
          </a:prstGeom>
        </p:spPr>
      </p:pic>
      <p:pic>
        <p:nvPicPr>
          <p:cNvPr id="21" name="Picture 20" descr="BÁO PHÁP LUẬT VIỆT NAM | Hanoi">
            <a:extLst>
              <a:ext uri="{FF2B5EF4-FFF2-40B4-BE49-F238E27FC236}">
                <a16:creationId xmlns:a16="http://schemas.microsoft.com/office/drawing/2014/main" id="{BE80B388-7D0D-759A-06A3-7C2220A7E84C}"/>
              </a:ext>
            </a:extLst>
          </p:cNvPr>
          <p:cNvPicPr>
            <a:picLocks noChangeAspect="1"/>
          </p:cNvPicPr>
          <p:nvPr/>
        </p:nvPicPr>
        <p:blipFill>
          <a:blip r:embed="rId6"/>
          <a:stretch>
            <a:fillRect/>
          </a:stretch>
        </p:blipFill>
        <p:spPr>
          <a:xfrm>
            <a:off x="2875202" y="3166657"/>
            <a:ext cx="1109461" cy="430262"/>
          </a:xfrm>
          <a:prstGeom prst="rect">
            <a:avLst/>
          </a:prstGeom>
        </p:spPr>
      </p:pic>
      <p:pic>
        <p:nvPicPr>
          <p:cNvPr id="22" name="Picture 21" descr="Bóng đá &amp; Đời sống - YouTube">
            <a:extLst>
              <a:ext uri="{FF2B5EF4-FFF2-40B4-BE49-F238E27FC236}">
                <a16:creationId xmlns:a16="http://schemas.microsoft.com/office/drawing/2014/main" id="{B781EABA-7282-6CFB-7B36-372C507A98CC}"/>
              </a:ext>
            </a:extLst>
          </p:cNvPr>
          <p:cNvPicPr>
            <a:picLocks noChangeAspect="1"/>
          </p:cNvPicPr>
          <p:nvPr/>
        </p:nvPicPr>
        <p:blipFill>
          <a:blip r:embed="rId7"/>
          <a:srcRect t="28141" b="25080"/>
          <a:stretch>
            <a:fillRect/>
          </a:stretch>
        </p:blipFill>
        <p:spPr>
          <a:xfrm>
            <a:off x="2792075" y="2361811"/>
            <a:ext cx="1489382" cy="696723"/>
          </a:xfrm>
          <a:prstGeom prst="rect">
            <a:avLst/>
          </a:prstGeom>
        </p:spPr>
      </p:pic>
      <p:sp>
        <p:nvSpPr>
          <p:cNvPr id="23" name="TextBox 22">
            <a:extLst>
              <a:ext uri="{FF2B5EF4-FFF2-40B4-BE49-F238E27FC236}">
                <a16:creationId xmlns:a16="http://schemas.microsoft.com/office/drawing/2014/main" id="{D74FA0BD-9A34-E479-4C09-999A2F4ED0B6}"/>
              </a:ext>
            </a:extLst>
          </p:cNvPr>
          <p:cNvSpPr txBox="1"/>
          <p:nvPr/>
        </p:nvSpPr>
        <p:spPr>
          <a:xfrm>
            <a:off x="365564" y="3687679"/>
            <a:ext cx="1645920" cy="369332"/>
          </a:xfrm>
          <a:prstGeom prst="rect">
            <a:avLst/>
          </a:prstGeom>
          <a:noFill/>
        </p:spPr>
        <p:txBody>
          <a:bodyPr wrap="square" rtlCol="0">
            <a:spAutoFit/>
          </a:bodyPr>
          <a:lstStyle/>
          <a:p>
            <a:r>
              <a:rPr lang="en-US" dirty="0"/>
              <a:t>Open APIs</a:t>
            </a:r>
          </a:p>
        </p:txBody>
      </p:sp>
      <p:sp>
        <p:nvSpPr>
          <p:cNvPr id="25" name="TextBox 24">
            <a:extLst>
              <a:ext uri="{FF2B5EF4-FFF2-40B4-BE49-F238E27FC236}">
                <a16:creationId xmlns:a16="http://schemas.microsoft.com/office/drawing/2014/main" id="{B520A130-FAF1-DB06-892C-86D58D1AF3B5}"/>
              </a:ext>
            </a:extLst>
          </p:cNvPr>
          <p:cNvSpPr txBox="1"/>
          <p:nvPr/>
        </p:nvSpPr>
        <p:spPr>
          <a:xfrm>
            <a:off x="2606971" y="3687679"/>
            <a:ext cx="1645920" cy="369332"/>
          </a:xfrm>
          <a:prstGeom prst="rect">
            <a:avLst/>
          </a:prstGeom>
          <a:noFill/>
        </p:spPr>
        <p:txBody>
          <a:bodyPr wrap="square" rtlCol="0">
            <a:spAutoFit/>
          </a:bodyPr>
          <a:lstStyle/>
          <a:p>
            <a:r>
              <a:rPr lang="en-US" dirty="0"/>
              <a:t>Various topics</a:t>
            </a:r>
          </a:p>
        </p:txBody>
      </p:sp>
      <p:sp>
        <p:nvSpPr>
          <p:cNvPr id="26" name="Arrow: Right 25">
            <a:extLst>
              <a:ext uri="{FF2B5EF4-FFF2-40B4-BE49-F238E27FC236}">
                <a16:creationId xmlns:a16="http://schemas.microsoft.com/office/drawing/2014/main" id="{3E00CBE8-6B40-D9B2-0CD8-95E99BD20EBB}"/>
              </a:ext>
            </a:extLst>
          </p:cNvPr>
          <p:cNvSpPr/>
          <p:nvPr/>
        </p:nvSpPr>
        <p:spPr>
          <a:xfrm>
            <a:off x="4250407" y="2084452"/>
            <a:ext cx="722781" cy="184923"/>
          </a:xfrm>
          <a:prstGeom prst="rightArrow">
            <a:avLst/>
          </a:prstGeom>
          <a:solidFill>
            <a:schemeClr val="bg2">
              <a:lumMod val="60000"/>
              <a:lumOff val="40000"/>
            </a:schemeClr>
          </a:solidFill>
          <a:ln>
            <a:solidFill>
              <a:schemeClr val="bg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Arrow: Right 26">
            <a:extLst>
              <a:ext uri="{FF2B5EF4-FFF2-40B4-BE49-F238E27FC236}">
                <a16:creationId xmlns:a16="http://schemas.microsoft.com/office/drawing/2014/main" id="{C0E7028F-49E4-76CA-AC98-27CEBC408993}"/>
              </a:ext>
            </a:extLst>
          </p:cNvPr>
          <p:cNvSpPr/>
          <p:nvPr/>
        </p:nvSpPr>
        <p:spPr>
          <a:xfrm>
            <a:off x="6421269" y="2084451"/>
            <a:ext cx="722781" cy="184923"/>
          </a:xfrm>
          <a:prstGeom prst="rightArrow">
            <a:avLst/>
          </a:prstGeom>
          <a:solidFill>
            <a:schemeClr val="bg2">
              <a:lumMod val="60000"/>
              <a:lumOff val="40000"/>
            </a:schemeClr>
          </a:solidFill>
          <a:ln>
            <a:solidFill>
              <a:schemeClr val="bg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2B2FCDB-9326-C15C-5C2D-32CFFC829486}"/>
              </a:ext>
            </a:extLst>
          </p:cNvPr>
          <p:cNvSpPr txBox="1"/>
          <p:nvPr/>
        </p:nvSpPr>
        <p:spPr>
          <a:xfrm>
            <a:off x="4973188" y="3679766"/>
            <a:ext cx="1839092" cy="646331"/>
          </a:xfrm>
          <a:prstGeom prst="rect">
            <a:avLst/>
          </a:prstGeom>
          <a:noFill/>
        </p:spPr>
        <p:txBody>
          <a:bodyPr wrap="square" rtlCol="0">
            <a:spAutoFit/>
          </a:bodyPr>
          <a:lstStyle/>
          <a:p>
            <a:r>
              <a:rPr lang="en-US" dirty="0"/>
              <a:t>Cleaning &amp; frequency listing</a:t>
            </a:r>
          </a:p>
        </p:txBody>
      </p:sp>
      <p:pic>
        <p:nvPicPr>
          <p:cNvPr id="32" name="Picture 31">
            <a:extLst>
              <a:ext uri="{FF2B5EF4-FFF2-40B4-BE49-F238E27FC236}">
                <a16:creationId xmlns:a16="http://schemas.microsoft.com/office/drawing/2014/main" id="{C0BA8E74-BD19-6887-F733-655621F1BC3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7194" y="239615"/>
            <a:ext cx="2296993" cy="1038105"/>
          </a:xfrm>
          <a:prstGeom prst="rect">
            <a:avLst/>
          </a:prstGeom>
        </p:spPr>
      </p:pic>
      <p:pic>
        <p:nvPicPr>
          <p:cNvPr id="38" name="Picture 37">
            <a:extLst>
              <a:ext uri="{FF2B5EF4-FFF2-40B4-BE49-F238E27FC236}">
                <a16:creationId xmlns:a16="http://schemas.microsoft.com/office/drawing/2014/main" id="{F2817901-B0F4-6494-24D0-BE98BDFD3F6D}"/>
              </a:ext>
            </a:extLst>
          </p:cNvPr>
          <p:cNvPicPr>
            <a:picLocks noChangeAspect="1"/>
          </p:cNvPicPr>
          <p:nvPr/>
        </p:nvPicPr>
        <p:blipFill>
          <a:blip r:embed="rId9">
            <a:extLst>
              <a:ext uri="{28A0092B-C50C-407E-A947-70E740481C1C}">
                <a14:useLocalDpi xmlns:a14="http://schemas.microsoft.com/office/drawing/2010/main" val="0"/>
              </a:ext>
            </a:extLst>
          </a:blip>
          <a:srcRect l="45862"/>
          <a:stretch>
            <a:fillRect/>
          </a:stretch>
        </p:blipFill>
        <p:spPr>
          <a:xfrm>
            <a:off x="4981204" y="1494787"/>
            <a:ext cx="1385271" cy="1440063"/>
          </a:xfrm>
          <a:prstGeom prst="rect">
            <a:avLst/>
          </a:prstGeom>
        </p:spPr>
      </p:pic>
      <p:sp>
        <p:nvSpPr>
          <p:cNvPr id="39" name="TextBox 38">
            <a:extLst>
              <a:ext uri="{FF2B5EF4-FFF2-40B4-BE49-F238E27FC236}">
                <a16:creationId xmlns:a16="http://schemas.microsoft.com/office/drawing/2014/main" id="{E44AC24A-4CEC-B63E-420B-EA81D44DB12B}"/>
              </a:ext>
            </a:extLst>
          </p:cNvPr>
          <p:cNvSpPr txBox="1"/>
          <p:nvPr/>
        </p:nvSpPr>
        <p:spPr>
          <a:xfrm>
            <a:off x="7304908" y="3818265"/>
            <a:ext cx="1839092" cy="369332"/>
          </a:xfrm>
          <a:prstGeom prst="rect">
            <a:avLst/>
          </a:prstGeom>
          <a:noFill/>
        </p:spPr>
        <p:txBody>
          <a:bodyPr wrap="square" rtlCol="0">
            <a:spAutoFit/>
          </a:bodyPr>
          <a:lstStyle/>
          <a:p>
            <a:r>
              <a:rPr lang="en-US" dirty="0"/>
              <a:t>The Human</a:t>
            </a:r>
          </a:p>
        </p:txBody>
      </p:sp>
      <p:pic>
        <p:nvPicPr>
          <p:cNvPr id="36" name="Picture 35">
            <a:extLst>
              <a:ext uri="{FF2B5EF4-FFF2-40B4-BE49-F238E27FC236}">
                <a16:creationId xmlns:a16="http://schemas.microsoft.com/office/drawing/2014/main" id="{F142DE88-DFF9-7E2B-7E2E-ABA18A9E022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0"/>
            <a:ext cx="9144000" cy="5146235"/>
          </a:xfrm>
          <a:prstGeom prst="rect">
            <a:avLst/>
          </a:prstGeom>
        </p:spPr>
      </p:pic>
    </p:spTree>
    <p:extLst>
      <p:ext uri="{BB962C8B-B14F-4D97-AF65-F5344CB8AC3E}">
        <p14:creationId xmlns:p14="http://schemas.microsoft.com/office/powerpoint/2010/main" val="109442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par>
                                <p:cTn id="28" presetID="10" presetClass="entr" presetSubtype="0"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00"/>
                                        <p:tgtEl>
                                          <p:spTgt spid="2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500"/>
                                        <p:tgtEl>
                                          <p:spTgt spid="2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par>
                                <p:cTn id="45" presetID="10" presetClass="entr" presetSubtype="0" fill="hold" nodeType="with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500"/>
                                        <p:tgtEl>
                                          <p:spTgt spid="3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1000"/>
                                        <p:tgtEl>
                                          <p:spTgt spid="36"/>
                                        </p:tgtEl>
                                      </p:cBhvr>
                                    </p:animEffect>
                                    <p:anim calcmode="lin" valueType="num">
                                      <p:cBhvr>
                                        <p:cTn id="56" dur="1000" fill="hold"/>
                                        <p:tgtEl>
                                          <p:spTgt spid="36"/>
                                        </p:tgtEl>
                                        <p:attrNameLst>
                                          <p:attrName>ppt_x</p:attrName>
                                        </p:attrNameLst>
                                      </p:cBhvr>
                                      <p:tavLst>
                                        <p:tav tm="0">
                                          <p:val>
                                            <p:strVal val="#ppt_x"/>
                                          </p:val>
                                        </p:tav>
                                        <p:tav tm="100000">
                                          <p:val>
                                            <p:strVal val="#ppt_x"/>
                                          </p:val>
                                        </p:tav>
                                      </p:tavLst>
                                    </p:anim>
                                    <p:anim calcmode="lin" valueType="num">
                                      <p:cBhvr>
                                        <p:cTn id="57"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xit" presetSubtype="0" fill="hold" nodeType="clickEffect">
                                  <p:stCondLst>
                                    <p:cond delay="0"/>
                                  </p:stCondLst>
                                  <p:childTnLst>
                                    <p:animEffect transition="out" filter="fade">
                                      <p:cBhvr>
                                        <p:cTn id="61" dur="1000"/>
                                        <p:tgtEl>
                                          <p:spTgt spid="36"/>
                                        </p:tgtEl>
                                      </p:cBhvr>
                                    </p:animEffect>
                                    <p:anim calcmode="lin" valueType="num">
                                      <p:cBhvr>
                                        <p:cTn id="62" dur="1000"/>
                                        <p:tgtEl>
                                          <p:spTgt spid="36"/>
                                        </p:tgtEl>
                                        <p:attrNameLst>
                                          <p:attrName>ppt_x</p:attrName>
                                        </p:attrNameLst>
                                      </p:cBhvr>
                                      <p:tavLst>
                                        <p:tav tm="0">
                                          <p:val>
                                            <p:strVal val="ppt_x"/>
                                          </p:val>
                                        </p:tav>
                                        <p:tav tm="100000">
                                          <p:val>
                                            <p:strVal val="ppt_x"/>
                                          </p:val>
                                        </p:tav>
                                      </p:tavLst>
                                    </p:anim>
                                    <p:anim calcmode="lin" valueType="num">
                                      <p:cBhvr>
                                        <p:cTn id="63" dur="1000"/>
                                        <p:tgtEl>
                                          <p:spTgt spid="36"/>
                                        </p:tgtEl>
                                        <p:attrNameLst>
                                          <p:attrName>ppt_y</p:attrName>
                                        </p:attrNameLst>
                                      </p:cBhvr>
                                      <p:tavLst>
                                        <p:tav tm="0">
                                          <p:val>
                                            <p:strVal val="ppt_y"/>
                                          </p:val>
                                        </p:tav>
                                        <p:tav tm="100000">
                                          <p:val>
                                            <p:strVal val="ppt_y+.1"/>
                                          </p:val>
                                        </p:tav>
                                      </p:tavLst>
                                    </p:anim>
                                    <p:set>
                                      <p:cBhvr>
                                        <p:cTn id="64" dur="1" fill="hold">
                                          <p:stCondLst>
                                            <p:cond delay="999"/>
                                          </p:stCondLst>
                                        </p:cTn>
                                        <p:tgtEl>
                                          <p:spTgt spid="36"/>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39"/>
                                        </p:tgtEl>
                                        <p:attrNameLst>
                                          <p:attrName>style.visibility</p:attrName>
                                        </p:attrNameLst>
                                      </p:cBhvr>
                                      <p:to>
                                        <p:strVal val="visible"/>
                                      </p:to>
                                    </p:set>
                                    <p:animEffect transition="in" filter="fade">
                                      <p:cBhvr>
                                        <p:cTn id="69" dur="500"/>
                                        <p:tgtEl>
                                          <p:spTgt spid="3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childTnLst>
                                </p:cTn>
                              </p:par>
                              <p:par>
                                <p:cTn id="73" presetID="10" presetClass="entr" presetSubtype="0" fill="hold" nodeType="with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fade">
                                      <p:cBhvr>
                                        <p:cTn id="7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3" grpId="0"/>
      <p:bldP spid="25" grpId="0"/>
      <p:bldP spid="26" grpId="0" animBg="1"/>
      <p:bldP spid="27" grpId="0" animBg="1"/>
      <p:bldP spid="28" grpId="0"/>
      <p:bldP spid="3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583E7F2-26CC-4198-97E8-2FA54FC0402F}"/>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BCD00DF5-406A-479C-BD41-13C464916D5B}"/>
              </a:ext>
            </a:extLst>
          </p:cNvPr>
          <p:cNvSpPr>
            <a:spLocks noGrp="1"/>
          </p:cNvSpPr>
          <p:nvPr/>
        </p:nvSpPr>
        <p:spPr>
          <a:xfrm>
            <a:off x="762000" y="333375"/>
            <a:ext cx="5143500" cy="171450"/>
          </a:xfrm>
          <a:prstGeom prst="rect">
            <a:avLst/>
          </a:prstGeom>
        </p:spPr>
        <p:txBody>
          <a:bodyPr lIns="0" tIns="0" rIns="0" bIns="0"/>
          <a:lstStyle/>
          <a:p>
            <a:r>
              <a:rPr lang="en-US" sz="750" b="1">
                <a:solidFill>
                  <a:srgbClr val="63717A"/>
                </a:solidFill>
                <a:latin typeface="Arial"/>
                <a:ea typeface="Arial"/>
                <a:cs typeface="Arial"/>
              </a:rPr>
              <a:t>06 | RESEARCH QUESTION</a:t>
            </a:r>
            <a:endParaRPr sz="750" b="1">
              <a:solidFill>
                <a:srgbClr val="63717A"/>
              </a:solidFill>
              <a:latin typeface="Arial"/>
              <a:ea typeface="Arial"/>
              <a:cs typeface="Arial"/>
            </a:endParaRPr>
          </a:p>
        </p:txBody>
      </p:sp>
      <p:sp>
        <p:nvSpPr>
          <p:cNvPr id="3" name="Rectangle 2">
            <a:extLst>
              <a:ext uri="{FF2B5EF4-FFF2-40B4-BE49-F238E27FC236}">
                <a16:creationId xmlns:a16="http://schemas.microsoft.com/office/drawing/2014/main" id="{AD0D9930-6A8C-4E25-A5F1-B3D6AAACBAD0}"/>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Do frequency group and syllable length predict Vietnamese lexical-decision response times?</a:t>
            </a:r>
          </a:p>
        </p:txBody>
      </p:sp>
      <p:sp>
        <p:nvSpPr>
          <p:cNvPr id="4" name="Rectangle 3">
            <a:extLst>
              <a:ext uri="{FF2B5EF4-FFF2-40B4-BE49-F238E27FC236}">
                <a16:creationId xmlns:a16="http://schemas.microsoft.com/office/drawing/2014/main" id="{046CD898-2DA1-435E-ABB3-6B19C6331B0B}"/>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D52A7635-209C-415C-B509-52307A1D19FE}"/>
              </a:ext>
            </a:extLst>
          </p:cNvPr>
          <p:cNvSpPr>
            <a:spLocks noGrp="1"/>
          </p:cNvSpPr>
          <p:nvPr/>
        </p:nvSpPr>
        <p:spPr>
          <a:xfrm>
            <a:off x="666750" y="1257300"/>
            <a:ext cx="7524750" cy="704850"/>
          </a:xfrm>
          <a:prstGeom prst="rect">
            <a:avLst/>
          </a:prstGeom>
          <a:solidFill>
            <a:srgbClr val="EEF4F8"/>
          </a:solidFill>
          <a:ln w="7620">
            <a:solidFill>
              <a:srgbClr val="003A61"/>
            </a:solidFill>
          </a:ln>
        </p:spPr>
        <p:txBody>
          <a:bodyPr lIns="0" tIns="0" rIns="0" bIns="0"/>
          <a:lstStyle/>
          <a:p>
            <a:r>
              <a:rPr sz="100">
                <a:solidFill>
                  <a:srgbClr val="EEF4F8"/>
                </a:solidFill>
                <a:latin typeface="Arial"/>
                <a:ea typeface="Arial"/>
                <a:cs typeface="Arial"/>
              </a:rPr>
              <a:t>.</a:t>
            </a:r>
          </a:p>
        </p:txBody>
      </p:sp>
      <p:sp>
        <p:nvSpPr>
          <p:cNvPr id="6" name="Rectangle 5">
            <a:extLst>
              <a:ext uri="{FF2B5EF4-FFF2-40B4-BE49-F238E27FC236}">
                <a16:creationId xmlns:a16="http://schemas.microsoft.com/office/drawing/2014/main" id="{22F951A7-2330-4A85-9174-C1BD957FD598}"/>
              </a:ext>
            </a:extLst>
          </p:cNvPr>
          <p:cNvSpPr>
            <a:spLocks noGrp="1"/>
          </p:cNvSpPr>
          <p:nvPr/>
        </p:nvSpPr>
        <p:spPr>
          <a:xfrm>
            <a:off x="914400" y="1438275"/>
            <a:ext cx="7029450" cy="342900"/>
          </a:xfrm>
          <a:prstGeom prst="rect">
            <a:avLst/>
          </a:prstGeom>
        </p:spPr>
        <p:txBody>
          <a:bodyPr lIns="0" tIns="0" rIns="0" bIns="0"/>
          <a:lstStyle/>
          <a:p>
            <a:pPr algn="ctr">
              <a:defRPr sz="1500" b="1">
                <a:solidFill>
                  <a:srgbClr val="003A61"/>
                </a:solidFill>
                <a:latin typeface="Arial"/>
                <a:ea typeface="Arial"/>
                <a:cs typeface="Arial"/>
              </a:defRPr>
            </a:pPr>
            <a:r>
              <a:rPr sz="1500" b="1">
                <a:solidFill>
                  <a:srgbClr val="003A61"/>
                </a:solidFill>
                <a:latin typeface="Arial"/>
                <a:ea typeface="Arial"/>
                <a:cs typeface="Arial"/>
              </a:rPr>
              <a:t>How do corpus frequency group and syllable length affect log reaction time for correct Vietnamese real-word responses?</a:t>
            </a:r>
          </a:p>
        </p:txBody>
      </p:sp>
      <p:sp>
        <p:nvSpPr>
          <p:cNvPr id="7" name="Rectangle 6">
            <a:extLst>
              <a:ext uri="{FF2B5EF4-FFF2-40B4-BE49-F238E27FC236}">
                <a16:creationId xmlns:a16="http://schemas.microsoft.com/office/drawing/2014/main" id="{88D2D75A-51D4-4BF1-A6E5-7B31189CF0F8}"/>
              </a:ext>
            </a:extLst>
          </p:cNvPr>
          <p:cNvSpPr>
            <a:spLocks noGrp="1"/>
          </p:cNvSpPr>
          <p:nvPr/>
        </p:nvSpPr>
        <p:spPr>
          <a:xfrm>
            <a:off x="723900" y="2400300"/>
            <a:ext cx="2190750" cy="120015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8" name="Rectangle 7">
            <a:extLst>
              <a:ext uri="{FF2B5EF4-FFF2-40B4-BE49-F238E27FC236}">
                <a16:creationId xmlns:a16="http://schemas.microsoft.com/office/drawing/2014/main" id="{0DCB64C5-22BA-4E35-AE65-32A84D239603}"/>
              </a:ext>
            </a:extLst>
          </p:cNvPr>
          <p:cNvSpPr>
            <a:spLocks noGrp="1"/>
          </p:cNvSpPr>
          <p:nvPr/>
        </p:nvSpPr>
        <p:spPr>
          <a:xfrm>
            <a:off x="838200" y="2495550"/>
            <a:ext cx="1962150" cy="190500"/>
          </a:xfrm>
          <a:prstGeom prst="rect">
            <a:avLst/>
          </a:prstGeom>
        </p:spPr>
        <p:txBody>
          <a:bodyPr lIns="0" tIns="0" rIns="0" bIns="0"/>
          <a:lstStyle/>
          <a:p>
            <a:r>
              <a:rPr sz="900" b="1">
                <a:solidFill>
                  <a:srgbClr val="003A61"/>
                </a:solidFill>
                <a:latin typeface="Arial"/>
                <a:ea typeface="Arial"/>
                <a:cs typeface="Arial"/>
              </a:rPr>
              <a:t>H1: frequency</a:t>
            </a:r>
          </a:p>
        </p:txBody>
      </p:sp>
      <p:sp>
        <p:nvSpPr>
          <p:cNvPr id="9" name="Rectangle 8">
            <a:extLst>
              <a:ext uri="{FF2B5EF4-FFF2-40B4-BE49-F238E27FC236}">
                <a16:creationId xmlns:a16="http://schemas.microsoft.com/office/drawing/2014/main" id="{B5B38783-4810-4C08-94BE-ABBD9475C7E7}"/>
              </a:ext>
            </a:extLst>
          </p:cNvPr>
          <p:cNvSpPr>
            <a:spLocks noGrp="1"/>
          </p:cNvSpPr>
          <p:nvPr/>
        </p:nvSpPr>
        <p:spPr>
          <a:xfrm>
            <a:off x="838200" y="2724150"/>
            <a:ext cx="1962150" cy="800100"/>
          </a:xfrm>
          <a:prstGeom prst="rect">
            <a:avLst/>
          </a:prstGeom>
        </p:spPr>
        <p:txBody>
          <a:bodyPr lIns="0" tIns="0" rIns="0" bIns="0"/>
          <a:lstStyle/>
          <a:p>
            <a:r>
              <a:rPr sz="975">
                <a:solidFill>
                  <a:srgbClr val="263845"/>
                </a:solidFill>
                <a:latin typeface="Arial"/>
                <a:ea typeface="Arial"/>
                <a:cs typeface="Arial"/>
              </a:rPr>
              <a:t>High-frequency words should be recognized faster than low-frequency words.</a:t>
            </a:r>
          </a:p>
        </p:txBody>
      </p:sp>
      <p:sp>
        <p:nvSpPr>
          <p:cNvPr id="10" name="Rectangle 9">
            <a:extLst>
              <a:ext uri="{FF2B5EF4-FFF2-40B4-BE49-F238E27FC236}">
                <a16:creationId xmlns:a16="http://schemas.microsoft.com/office/drawing/2014/main" id="{ACC72945-90F2-4E5D-AE0C-AE1AA9390169}"/>
              </a:ext>
            </a:extLst>
          </p:cNvPr>
          <p:cNvSpPr>
            <a:spLocks noGrp="1"/>
          </p:cNvSpPr>
          <p:nvPr/>
        </p:nvSpPr>
        <p:spPr>
          <a:xfrm>
            <a:off x="3343275" y="2400300"/>
            <a:ext cx="2190750" cy="120015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11" name="Rectangle 10">
            <a:extLst>
              <a:ext uri="{FF2B5EF4-FFF2-40B4-BE49-F238E27FC236}">
                <a16:creationId xmlns:a16="http://schemas.microsoft.com/office/drawing/2014/main" id="{89F09071-6894-454A-89C6-FA9B9D30AB23}"/>
              </a:ext>
            </a:extLst>
          </p:cNvPr>
          <p:cNvSpPr>
            <a:spLocks noGrp="1"/>
          </p:cNvSpPr>
          <p:nvPr/>
        </p:nvSpPr>
        <p:spPr>
          <a:xfrm>
            <a:off x="3457575" y="2495550"/>
            <a:ext cx="1962150" cy="190500"/>
          </a:xfrm>
          <a:prstGeom prst="rect">
            <a:avLst/>
          </a:prstGeom>
        </p:spPr>
        <p:txBody>
          <a:bodyPr lIns="0" tIns="0" rIns="0" bIns="0"/>
          <a:lstStyle/>
          <a:p>
            <a:r>
              <a:rPr sz="900" b="1">
                <a:solidFill>
                  <a:srgbClr val="003A61"/>
                </a:solidFill>
                <a:latin typeface="Arial"/>
                <a:ea typeface="Arial"/>
                <a:cs typeface="Arial"/>
              </a:rPr>
              <a:t>H2: length</a:t>
            </a:r>
          </a:p>
        </p:txBody>
      </p:sp>
      <p:sp>
        <p:nvSpPr>
          <p:cNvPr id="12" name="Rectangle 11">
            <a:extLst>
              <a:ext uri="{FF2B5EF4-FFF2-40B4-BE49-F238E27FC236}">
                <a16:creationId xmlns:a16="http://schemas.microsoft.com/office/drawing/2014/main" id="{2A577FF2-D048-4EDC-AD26-D6DF2FD50B94}"/>
              </a:ext>
            </a:extLst>
          </p:cNvPr>
          <p:cNvSpPr>
            <a:spLocks noGrp="1"/>
          </p:cNvSpPr>
          <p:nvPr/>
        </p:nvSpPr>
        <p:spPr>
          <a:xfrm>
            <a:off x="3457575" y="2724150"/>
            <a:ext cx="1962150" cy="800100"/>
          </a:xfrm>
          <a:prstGeom prst="rect">
            <a:avLst/>
          </a:prstGeom>
        </p:spPr>
        <p:txBody>
          <a:bodyPr lIns="0" tIns="0" rIns="0" bIns="0"/>
          <a:lstStyle/>
          <a:p>
            <a:r>
              <a:rPr sz="975">
                <a:solidFill>
                  <a:srgbClr val="263845"/>
                </a:solidFill>
                <a:latin typeface="Arial"/>
                <a:ea typeface="Arial"/>
                <a:cs typeface="Arial"/>
              </a:rPr>
              <a:t>Longer syllable length should increase RT because longer words require more visual/lexical processing.</a:t>
            </a:r>
          </a:p>
        </p:txBody>
      </p:sp>
      <p:sp>
        <p:nvSpPr>
          <p:cNvPr id="13" name="Rectangle 12">
            <a:extLst>
              <a:ext uri="{FF2B5EF4-FFF2-40B4-BE49-F238E27FC236}">
                <a16:creationId xmlns:a16="http://schemas.microsoft.com/office/drawing/2014/main" id="{58F71FD9-8A84-45EB-832C-0D0F3B92713E}"/>
              </a:ext>
            </a:extLst>
          </p:cNvPr>
          <p:cNvSpPr>
            <a:spLocks noGrp="1"/>
          </p:cNvSpPr>
          <p:nvPr/>
        </p:nvSpPr>
        <p:spPr>
          <a:xfrm>
            <a:off x="5962650" y="2400300"/>
            <a:ext cx="2190750" cy="12001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14" name="Rectangle 13">
            <a:extLst>
              <a:ext uri="{FF2B5EF4-FFF2-40B4-BE49-F238E27FC236}">
                <a16:creationId xmlns:a16="http://schemas.microsoft.com/office/drawing/2014/main" id="{DC327440-6E5E-4107-8127-E2EE8FDBED0C}"/>
              </a:ext>
            </a:extLst>
          </p:cNvPr>
          <p:cNvSpPr>
            <a:spLocks noGrp="1"/>
          </p:cNvSpPr>
          <p:nvPr/>
        </p:nvSpPr>
        <p:spPr>
          <a:xfrm>
            <a:off x="6076950" y="2495550"/>
            <a:ext cx="1962150" cy="190500"/>
          </a:xfrm>
          <a:prstGeom prst="rect">
            <a:avLst/>
          </a:prstGeom>
        </p:spPr>
        <p:txBody>
          <a:bodyPr lIns="0" tIns="0" rIns="0" bIns="0"/>
          <a:lstStyle/>
          <a:p>
            <a:r>
              <a:rPr sz="900" b="1">
                <a:solidFill>
                  <a:srgbClr val="003A61"/>
                </a:solidFill>
                <a:latin typeface="Arial"/>
                <a:ea typeface="Arial"/>
                <a:cs typeface="Arial"/>
              </a:rPr>
              <a:t>H3: interaction</a:t>
            </a:r>
          </a:p>
        </p:txBody>
      </p:sp>
      <p:sp>
        <p:nvSpPr>
          <p:cNvPr id="15" name="Rectangle 14">
            <a:extLst>
              <a:ext uri="{FF2B5EF4-FFF2-40B4-BE49-F238E27FC236}">
                <a16:creationId xmlns:a16="http://schemas.microsoft.com/office/drawing/2014/main" id="{8A5E4769-269B-4E11-A311-56A69EA812F4}"/>
              </a:ext>
            </a:extLst>
          </p:cNvPr>
          <p:cNvSpPr>
            <a:spLocks noGrp="1"/>
          </p:cNvSpPr>
          <p:nvPr/>
        </p:nvSpPr>
        <p:spPr>
          <a:xfrm>
            <a:off x="6076950" y="2724150"/>
            <a:ext cx="1962150" cy="800100"/>
          </a:xfrm>
          <a:prstGeom prst="rect">
            <a:avLst/>
          </a:prstGeom>
        </p:spPr>
        <p:txBody>
          <a:bodyPr lIns="0" tIns="0" rIns="0" bIns="0"/>
          <a:lstStyle/>
          <a:p>
            <a:r>
              <a:rPr sz="975">
                <a:solidFill>
                  <a:srgbClr val="263845"/>
                </a:solidFill>
                <a:latin typeface="Arial"/>
                <a:ea typeface="Arial"/>
                <a:cs typeface="Arial"/>
              </a:rPr>
              <a:t>The size of the frequency effect may vary across syllable lengths.</a:t>
            </a:r>
          </a:p>
        </p:txBody>
      </p:sp>
      <p:sp>
        <p:nvSpPr>
          <p:cNvPr id="16" name="Rectangle 15">
            <a:extLst>
              <a:ext uri="{FF2B5EF4-FFF2-40B4-BE49-F238E27FC236}">
                <a16:creationId xmlns:a16="http://schemas.microsoft.com/office/drawing/2014/main" id="{3E1C20A6-3119-4DF2-A15C-5B28E485566E}"/>
              </a:ext>
            </a:extLst>
          </p:cNvPr>
          <p:cNvSpPr>
            <a:spLocks noGrp="1"/>
          </p:cNvSpPr>
          <p:nvPr/>
        </p:nvSpPr>
        <p:spPr>
          <a:xfrm>
            <a:off x="762000" y="3952875"/>
            <a:ext cx="7239000" cy="266700"/>
          </a:xfrm>
          <a:prstGeom prst="rect">
            <a:avLst/>
          </a:prstGeom>
        </p:spPr>
        <p:txBody>
          <a:bodyPr lIns="0" tIns="0" rIns="0" bIns="0"/>
          <a:lstStyle/>
          <a:p>
            <a:pPr algn="ctr">
              <a:defRPr sz="1013" b="1">
                <a:solidFill>
                  <a:srgbClr val="003A61"/>
                </a:solidFill>
                <a:latin typeface="Arial"/>
                <a:ea typeface="Arial"/>
                <a:cs typeface="Arial"/>
              </a:defRPr>
            </a:pPr>
            <a:r>
              <a:rPr sz="1013" b="1">
                <a:solidFill>
                  <a:srgbClr val="003A61"/>
                </a:solidFill>
                <a:latin typeface="Arial"/>
                <a:ea typeface="Arial"/>
                <a:cs typeface="Arial"/>
              </a:rPr>
              <a:t>Interpretation rule: interaction evidence will be treated as preliminary unless it is stable across diagnostics and follow-up checks.</a:t>
            </a:r>
          </a:p>
        </p:txBody>
      </p:sp>
    </p:spTree>
    <p:extLst>
      <p:ext uri="{BB962C8B-B14F-4D97-AF65-F5344CB8AC3E}">
        <p14:creationId xmlns:p14="http://schemas.microsoft.com/office/powerpoint/2010/main" val="1826234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421155D6-1120-4D74-AE41-C6DA82402A6E}"/>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970A542F-8746-4775-A971-D8F7C3DF73DA}"/>
              </a:ext>
            </a:extLst>
          </p:cNvPr>
          <p:cNvSpPr>
            <a:spLocks noGrp="1"/>
          </p:cNvSpPr>
          <p:nvPr/>
        </p:nvSpPr>
        <p:spPr>
          <a:xfrm>
            <a:off x="762000" y="333375"/>
            <a:ext cx="5143500" cy="171450"/>
          </a:xfrm>
          <a:prstGeom prst="rect">
            <a:avLst/>
          </a:prstGeom>
        </p:spPr>
        <p:txBody>
          <a:bodyPr lIns="0" tIns="0" rIns="0" bIns="0"/>
          <a:lstStyle/>
          <a:p>
            <a:r>
              <a:rPr lang="en-US" sz="750" b="1">
                <a:solidFill>
                  <a:srgbClr val="63717A"/>
                </a:solidFill>
                <a:latin typeface="Arial"/>
                <a:ea typeface="Arial"/>
                <a:cs typeface="Arial"/>
              </a:rPr>
              <a:t>07 | STIMULUS DATA PIPELINE</a:t>
            </a:r>
            <a:endParaRPr sz="750" b="1">
              <a:solidFill>
                <a:srgbClr val="63717A"/>
              </a:solidFill>
              <a:latin typeface="Arial"/>
              <a:ea typeface="Arial"/>
              <a:cs typeface="Arial"/>
            </a:endParaRPr>
          </a:p>
        </p:txBody>
      </p:sp>
      <p:sp>
        <p:nvSpPr>
          <p:cNvPr id="3" name="Rectangle 2">
            <a:extLst>
              <a:ext uri="{FF2B5EF4-FFF2-40B4-BE49-F238E27FC236}">
                <a16:creationId xmlns:a16="http://schemas.microsoft.com/office/drawing/2014/main" id="{BD800E1D-13F5-43E0-AD16-CD5EC7698BC6}"/>
              </a:ext>
            </a:extLst>
          </p:cNvPr>
          <p:cNvSpPr>
            <a:spLocks noGrp="1"/>
          </p:cNvSpPr>
          <p:nvPr/>
        </p:nvSpPr>
        <p:spPr>
          <a:xfrm>
            <a:off x="476250" y="542925"/>
            <a:ext cx="7429500" cy="514350"/>
          </a:xfrm>
          <a:prstGeom prst="rect">
            <a:avLst/>
          </a:prstGeom>
        </p:spPr>
        <p:txBody>
          <a:bodyPr lIns="0" tIns="0" rIns="0" bIns="0"/>
          <a:lstStyle/>
          <a:p>
            <a:r>
              <a:rPr lang="en-US" sz="2175" b="1">
                <a:solidFill>
                  <a:srgbClr val="003A61"/>
                </a:solidFill>
                <a:latin typeface="Arial"/>
                <a:ea typeface="Arial"/>
                <a:cs typeface="Arial"/>
              </a:rPr>
              <a:t>Corpus text was converted into candidate items, manually reviewed, and grouped for final LDT stimuli.</a:t>
            </a:r>
            <a:endParaRPr sz="2175" b="1">
              <a:solidFill>
                <a:srgbClr val="003A61"/>
              </a:solidFill>
              <a:latin typeface="Arial"/>
              <a:ea typeface="Arial"/>
              <a:cs typeface="Arial"/>
            </a:endParaRPr>
          </a:p>
        </p:txBody>
      </p:sp>
      <p:sp>
        <p:nvSpPr>
          <p:cNvPr id="4" name="Rectangle 3">
            <a:extLst>
              <a:ext uri="{FF2B5EF4-FFF2-40B4-BE49-F238E27FC236}">
                <a16:creationId xmlns:a16="http://schemas.microsoft.com/office/drawing/2014/main" id="{3E53F58C-01D1-42F7-AAD4-5F394B2A5B78}"/>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3AB32F4C-ED6A-4253-85E4-B582A54FFBA2}"/>
              </a:ext>
            </a:extLst>
          </p:cNvPr>
          <p:cNvSpPr>
            <a:spLocks noGrp="1"/>
          </p:cNvSpPr>
          <p:nvPr/>
        </p:nvSpPr>
        <p:spPr>
          <a:xfrm>
            <a:off x="438150" y="1257300"/>
            <a:ext cx="1285875" cy="7810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6" name="Rectangle 5">
            <a:extLst>
              <a:ext uri="{FF2B5EF4-FFF2-40B4-BE49-F238E27FC236}">
                <a16:creationId xmlns:a16="http://schemas.microsoft.com/office/drawing/2014/main" id="{B765D3D8-0961-46DD-ACAD-99530D8D9DB8}"/>
              </a:ext>
            </a:extLst>
          </p:cNvPr>
          <p:cNvSpPr>
            <a:spLocks noGrp="1"/>
          </p:cNvSpPr>
          <p:nvPr/>
        </p:nvSpPr>
        <p:spPr>
          <a:xfrm>
            <a:off x="552450" y="1352550"/>
            <a:ext cx="1057275" cy="190500"/>
          </a:xfrm>
          <a:prstGeom prst="rect">
            <a:avLst/>
          </a:prstGeom>
        </p:spPr>
        <p:txBody>
          <a:bodyPr lIns="0" tIns="0" rIns="0" bIns="0"/>
          <a:lstStyle/>
          <a:p>
            <a:r>
              <a:rPr sz="788" b="1">
                <a:solidFill>
                  <a:srgbClr val="003A61"/>
                </a:solidFill>
                <a:latin typeface="Arial"/>
                <a:ea typeface="Arial"/>
                <a:cs typeface="Arial"/>
              </a:rPr>
              <a:t>Corpus text</a:t>
            </a:r>
          </a:p>
        </p:txBody>
      </p:sp>
      <p:sp>
        <p:nvSpPr>
          <p:cNvPr id="7" name="Rectangle 6">
            <a:extLst>
              <a:ext uri="{FF2B5EF4-FFF2-40B4-BE49-F238E27FC236}">
                <a16:creationId xmlns:a16="http://schemas.microsoft.com/office/drawing/2014/main" id="{B5A9A48C-F3A2-4A2B-A3DC-9D787588F109}"/>
              </a:ext>
            </a:extLst>
          </p:cNvPr>
          <p:cNvSpPr>
            <a:spLocks noGrp="1"/>
          </p:cNvSpPr>
          <p:nvPr/>
        </p:nvSpPr>
        <p:spPr>
          <a:xfrm>
            <a:off x="552450" y="1581150"/>
            <a:ext cx="1057275" cy="381000"/>
          </a:xfrm>
          <a:prstGeom prst="rect">
            <a:avLst/>
          </a:prstGeom>
        </p:spPr>
        <p:txBody>
          <a:bodyPr lIns="0" tIns="0" rIns="0" bIns="0"/>
          <a:lstStyle/>
          <a:p>
            <a:r>
              <a:rPr sz="705">
                <a:solidFill>
                  <a:srgbClr val="263845"/>
                </a:solidFill>
                <a:latin typeface="Arial"/>
                <a:ea typeface="Arial"/>
                <a:cs typeface="Arial"/>
              </a:rPr>
              <a:t>Vietnamese Corpus Data.zip</a:t>
            </a:r>
          </a:p>
        </p:txBody>
      </p:sp>
      <p:sp>
        <p:nvSpPr>
          <p:cNvPr id="8" name="Rectangle 7">
            <a:extLst>
              <a:ext uri="{FF2B5EF4-FFF2-40B4-BE49-F238E27FC236}">
                <a16:creationId xmlns:a16="http://schemas.microsoft.com/office/drawing/2014/main" id="{37E1B7CA-C54A-4839-B4C5-A0FD0B0445D2}"/>
              </a:ext>
            </a:extLst>
          </p:cNvPr>
          <p:cNvSpPr>
            <a:spLocks noGrp="1"/>
          </p:cNvSpPr>
          <p:nvPr/>
        </p:nvSpPr>
        <p:spPr>
          <a:xfrm>
            <a:off x="1743075" y="1524000"/>
            <a:ext cx="228600" cy="171450"/>
          </a:xfrm>
          <a:prstGeom prst="rect">
            <a:avLst/>
          </a:prstGeom>
        </p:spPr>
        <p:txBody>
          <a:bodyPr lIns="0" tIns="0" rIns="0" bIns="0"/>
          <a:lstStyle/>
          <a:p>
            <a:pPr algn="ctr">
              <a:defRPr sz="1050" b="1">
                <a:solidFill>
                  <a:srgbClr val="8DB600"/>
                </a:solidFill>
                <a:latin typeface="Arial"/>
                <a:ea typeface="Arial"/>
                <a:cs typeface="Arial"/>
              </a:defRPr>
            </a:pPr>
            <a:r>
              <a:rPr sz="1050" b="1">
                <a:solidFill>
                  <a:srgbClr val="8DB600"/>
                </a:solidFill>
                <a:latin typeface="Arial"/>
                <a:ea typeface="Arial"/>
                <a:cs typeface="Arial"/>
              </a:rPr>
              <a:t>-&gt;</a:t>
            </a:r>
          </a:p>
        </p:txBody>
      </p:sp>
      <p:sp>
        <p:nvSpPr>
          <p:cNvPr id="9" name="Rectangle 8">
            <a:extLst>
              <a:ext uri="{FF2B5EF4-FFF2-40B4-BE49-F238E27FC236}">
                <a16:creationId xmlns:a16="http://schemas.microsoft.com/office/drawing/2014/main" id="{C862AC72-F0E5-4567-B81C-AF6FE4E696CC}"/>
              </a:ext>
            </a:extLst>
          </p:cNvPr>
          <p:cNvSpPr>
            <a:spLocks noGrp="1"/>
          </p:cNvSpPr>
          <p:nvPr/>
        </p:nvSpPr>
        <p:spPr>
          <a:xfrm>
            <a:off x="2038350" y="1257300"/>
            <a:ext cx="1285875" cy="7810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10" name="Rectangle 9">
            <a:extLst>
              <a:ext uri="{FF2B5EF4-FFF2-40B4-BE49-F238E27FC236}">
                <a16:creationId xmlns:a16="http://schemas.microsoft.com/office/drawing/2014/main" id="{A89E7B87-3068-4E32-8DB0-F103F3FE47E1}"/>
              </a:ext>
            </a:extLst>
          </p:cNvPr>
          <p:cNvSpPr>
            <a:spLocks noGrp="1"/>
          </p:cNvSpPr>
          <p:nvPr/>
        </p:nvSpPr>
        <p:spPr>
          <a:xfrm>
            <a:off x="2152650" y="1352550"/>
            <a:ext cx="1057275" cy="190500"/>
          </a:xfrm>
          <a:prstGeom prst="rect">
            <a:avLst/>
          </a:prstGeom>
        </p:spPr>
        <p:txBody>
          <a:bodyPr lIns="0" tIns="0" rIns="0" bIns="0"/>
          <a:lstStyle/>
          <a:p>
            <a:r>
              <a:rPr sz="788" b="1">
                <a:solidFill>
                  <a:srgbClr val="003A61"/>
                </a:solidFill>
                <a:latin typeface="Arial"/>
                <a:ea typeface="Arial"/>
                <a:cs typeface="Arial"/>
              </a:rPr>
              <a:t>Frequency tables</a:t>
            </a:r>
          </a:p>
        </p:txBody>
      </p:sp>
      <p:sp>
        <p:nvSpPr>
          <p:cNvPr id="11" name="Rectangle 10">
            <a:extLst>
              <a:ext uri="{FF2B5EF4-FFF2-40B4-BE49-F238E27FC236}">
                <a16:creationId xmlns:a16="http://schemas.microsoft.com/office/drawing/2014/main" id="{85BBF603-B70F-4816-978E-DE1A86779EAD}"/>
              </a:ext>
            </a:extLst>
          </p:cNvPr>
          <p:cNvSpPr>
            <a:spLocks noGrp="1"/>
          </p:cNvSpPr>
          <p:nvPr/>
        </p:nvSpPr>
        <p:spPr>
          <a:xfrm>
            <a:off x="2152650" y="1581150"/>
            <a:ext cx="1057275" cy="381000"/>
          </a:xfrm>
          <a:prstGeom prst="rect">
            <a:avLst/>
          </a:prstGeom>
        </p:spPr>
        <p:txBody>
          <a:bodyPr lIns="0" tIns="0" rIns="0" bIns="0"/>
          <a:lstStyle/>
          <a:p>
            <a:r>
              <a:rPr sz="705">
                <a:solidFill>
                  <a:srgbClr val="263845"/>
                </a:solidFill>
                <a:latin typeface="Arial"/>
                <a:ea typeface="Arial"/>
                <a:cs typeface="Arial"/>
              </a:rPr>
              <a:t>1-4 syllable n-grams</a:t>
            </a:r>
          </a:p>
        </p:txBody>
      </p:sp>
      <p:sp>
        <p:nvSpPr>
          <p:cNvPr id="12" name="Rectangle 11">
            <a:extLst>
              <a:ext uri="{FF2B5EF4-FFF2-40B4-BE49-F238E27FC236}">
                <a16:creationId xmlns:a16="http://schemas.microsoft.com/office/drawing/2014/main" id="{9E58F12A-F68B-44ED-A7E6-7969958B072B}"/>
              </a:ext>
            </a:extLst>
          </p:cNvPr>
          <p:cNvSpPr>
            <a:spLocks noGrp="1"/>
          </p:cNvSpPr>
          <p:nvPr/>
        </p:nvSpPr>
        <p:spPr>
          <a:xfrm>
            <a:off x="3343275" y="1524000"/>
            <a:ext cx="228600" cy="171450"/>
          </a:xfrm>
          <a:prstGeom prst="rect">
            <a:avLst/>
          </a:prstGeom>
        </p:spPr>
        <p:txBody>
          <a:bodyPr lIns="0" tIns="0" rIns="0" bIns="0"/>
          <a:lstStyle/>
          <a:p>
            <a:pPr algn="ctr">
              <a:defRPr sz="1050" b="1">
                <a:solidFill>
                  <a:srgbClr val="8DB600"/>
                </a:solidFill>
                <a:latin typeface="Arial"/>
                <a:ea typeface="Arial"/>
                <a:cs typeface="Arial"/>
              </a:defRPr>
            </a:pPr>
            <a:r>
              <a:rPr sz="1050" b="1">
                <a:solidFill>
                  <a:srgbClr val="8DB600"/>
                </a:solidFill>
                <a:latin typeface="Arial"/>
                <a:ea typeface="Arial"/>
                <a:cs typeface="Arial"/>
              </a:rPr>
              <a:t>-&gt;</a:t>
            </a:r>
          </a:p>
        </p:txBody>
      </p:sp>
      <p:sp>
        <p:nvSpPr>
          <p:cNvPr id="13" name="Rectangle 12">
            <a:extLst>
              <a:ext uri="{FF2B5EF4-FFF2-40B4-BE49-F238E27FC236}">
                <a16:creationId xmlns:a16="http://schemas.microsoft.com/office/drawing/2014/main" id="{21C985FD-4147-43CF-83DD-E82845D71744}"/>
              </a:ext>
            </a:extLst>
          </p:cNvPr>
          <p:cNvSpPr>
            <a:spLocks noGrp="1"/>
          </p:cNvSpPr>
          <p:nvPr/>
        </p:nvSpPr>
        <p:spPr>
          <a:xfrm>
            <a:off x="3638550" y="1257300"/>
            <a:ext cx="1285875" cy="7810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14" name="Rectangle 13">
            <a:extLst>
              <a:ext uri="{FF2B5EF4-FFF2-40B4-BE49-F238E27FC236}">
                <a16:creationId xmlns:a16="http://schemas.microsoft.com/office/drawing/2014/main" id="{BA1DF628-8185-46EF-B4B4-C152C3786DB2}"/>
              </a:ext>
            </a:extLst>
          </p:cNvPr>
          <p:cNvSpPr>
            <a:spLocks noGrp="1"/>
          </p:cNvSpPr>
          <p:nvPr/>
        </p:nvSpPr>
        <p:spPr>
          <a:xfrm>
            <a:off x="3752850" y="1352550"/>
            <a:ext cx="1057275" cy="190500"/>
          </a:xfrm>
          <a:prstGeom prst="rect">
            <a:avLst/>
          </a:prstGeom>
        </p:spPr>
        <p:txBody>
          <a:bodyPr lIns="0" tIns="0" rIns="0" bIns="0"/>
          <a:lstStyle/>
          <a:p>
            <a:r>
              <a:rPr sz="788" b="1">
                <a:solidFill>
                  <a:srgbClr val="003A61"/>
                </a:solidFill>
                <a:latin typeface="Arial"/>
                <a:ea typeface="Arial"/>
                <a:cs typeface="Arial"/>
              </a:rPr>
              <a:t>Candidate pool</a:t>
            </a:r>
          </a:p>
        </p:txBody>
      </p:sp>
      <p:sp>
        <p:nvSpPr>
          <p:cNvPr id="15" name="Rectangle 14">
            <a:extLst>
              <a:ext uri="{FF2B5EF4-FFF2-40B4-BE49-F238E27FC236}">
                <a16:creationId xmlns:a16="http://schemas.microsoft.com/office/drawing/2014/main" id="{3B680C93-B657-47B8-BD01-7BF7AC17F467}"/>
              </a:ext>
            </a:extLst>
          </p:cNvPr>
          <p:cNvSpPr>
            <a:spLocks noGrp="1"/>
          </p:cNvSpPr>
          <p:nvPr/>
        </p:nvSpPr>
        <p:spPr>
          <a:xfrm>
            <a:off x="3752850" y="1581150"/>
            <a:ext cx="1057275" cy="381000"/>
          </a:xfrm>
          <a:prstGeom prst="rect">
            <a:avLst/>
          </a:prstGeom>
        </p:spPr>
        <p:txBody>
          <a:bodyPr lIns="0" tIns="0" rIns="0" bIns="0"/>
          <a:lstStyle/>
          <a:p>
            <a:r>
              <a:rPr lang="en-US" sz="705">
                <a:solidFill>
                  <a:srgbClr val="263845"/>
                </a:solidFill>
                <a:latin typeface="Arial"/>
                <a:ea typeface="Arial"/>
                <a:cs typeface="Arial"/>
              </a:rPr>
              <a:t>log_frequency + syllable length variables</a:t>
            </a:r>
            <a:endParaRPr sz="705">
              <a:solidFill>
                <a:srgbClr val="263845"/>
              </a:solidFill>
              <a:latin typeface="Arial"/>
              <a:ea typeface="Arial"/>
              <a:cs typeface="Arial"/>
            </a:endParaRPr>
          </a:p>
        </p:txBody>
      </p:sp>
      <p:sp>
        <p:nvSpPr>
          <p:cNvPr id="16" name="Rectangle 15">
            <a:extLst>
              <a:ext uri="{FF2B5EF4-FFF2-40B4-BE49-F238E27FC236}">
                <a16:creationId xmlns:a16="http://schemas.microsoft.com/office/drawing/2014/main" id="{D72F836F-EEC5-4E11-A4B0-332F4868088A}"/>
              </a:ext>
            </a:extLst>
          </p:cNvPr>
          <p:cNvSpPr>
            <a:spLocks noGrp="1"/>
          </p:cNvSpPr>
          <p:nvPr/>
        </p:nvSpPr>
        <p:spPr>
          <a:xfrm>
            <a:off x="4943475" y="1524000"/>
            <a:ext cx="228600" cy="171450"/>
          </a:xfrm>
          <a:prstGeom prst="rect">
            <a:avLst/>
          </a:prstGeom>
        </p:spPr>
        <p:txBody>
          <a:bodyPr lIns="0" tIns="0" rIns="0" bIns="0"/>
          <a:lstStyle/>
          <a:p>
            <a:pPr algn="ctr">
              <a:defRPr sz="1050" b="1">
                <a:solidFill>
                  <a:srgbClr val="8DB600"/>
                </a:solidFill>
                <a:latin typeface="Arial"/>
                <a:ea typeface="Arial"/>
                <a:cs typeface="Arial"/>
              </a:defRPr>
            </a:pPr>
            <a:r>
              <a:rPr sz="1050" b="1">
                <a:solidFill>
                  <a:srgbClr val="8DB600"/>
                </a:solidFill>
                <a:latin typeface="Arial"/>
                <a:ea typeface="Arial"/>
                <a:cs typeface="Arial"/>
              </a:rPr>
              <a:t>-&gt;</a:t>
            </a:r>
          </a:p>
        </p:txBody>
      </p:sp>
      <p:sp>
        <p:nvSpPr>
          <p:cNvPr id="17" name="Rectangle 16">
            <a:extLst>
              <a:ext uri="{FF2B5EF4-FFF2-40B4-BE49-F238E27FC236}">
                <a16:creationId xmlns:a16="http://schemas.microsoft.com/office/drawing/2014/main" id="{1CFF8D56-D056-45DF-85B2-E95D02CA2846}"/>
              </a:ext>
            </a:extLst>
          </p:cNvPr>
          <p:cNvSpPr>
            <a:spLocks noGrp="1"/>
          </p:cNvSpPr>
          <p:nvPr/>
        </p:nvSpPr>
        <p:spPr>
          <a:xfrm>
            <a:off x="5238750" y="1257300"/>
            <a:ext cx="1285875" cy="7810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18" name="Rectangle 17">
            <a:extLst>
              <a:ext uri="{FF2B5EF4-FFF2-40B4-BE49-F238E27FC236}">
                <a16:creationId xmlns:a16="http://schemas.microsoft.com/office/drawing/2014/main" id="{8C954C34-5C57-4605-B377-F2166C0A5F0D}"/>
              </a:ext>
            </a:extLst>
          </p:cNvPr>
          <p:cNvSpPr>
            <a:spLocks noGrp="1"/>
          </p:cNvSpPr>
          <p:nvPr/>
        </p:nvSpPr>
        <p:spPr>
          <a:xfrm>
            <a:off x="5353050" y="1352550"/>
            <a:ext cx="1057275" cy="190500"/>
          </a:xfrm>
          <a:prstGeom prst="rect">
            <a:avLst/>
          </a:prstGeom>
        </p:spPr>
        <p:txBody>
          <a:bodyPr lIns="0" tIns="0" rIns="0" bIns="0"/>
          <a:lstStyle/>
          <a:p>
            <a:r>
              <a:rPr lang="en-US" sz="788" b="1">
                <a:solidFill>
                  <a:srgbClr val="003A61"/>
                </a:solidFill>
                <a:latin typeface="Arial"/>
                <a:ea typeface="Arial"/>
                <a:cs typeface="Arial"/>
              </a:rPr>
              <a:t>Manual lexical review</a:t>
            </a:r>
            <a:endParaRPr sz="788" b="1">
              <a:solidFill>
                <a:srgbClr val="003A61"/>
              </a:solidFill>
              <a:latin typeface="Arial"/>
              <a:ea typeface="Arial"/>
              <a:cs typeface="Arial"/>
            </a:endParaRPr>
          </a:p>
        </p:txBody>
      </p:sp>
      <p:sp>
        <p:nvSpPr>
          <p:cNvPr id="19" name="Rectangle 18">
            <a:extLst>
              <a:ext uri="{FF2B5EF4-FFF2-40B4-BE49-F238E27FC236}">
                <a16:creationId xmlns:a16="http://schemas.microsoft.com/office/drawing/2014/main" id="{621EF37F-45AE-4ED1-8063-1BB01F178CA1}"/>
              </a:ext>
            </a:extLst>
          </p:cNvPr>
          <p:cNvSpPr>
            <a:spLocks noGrp="1"/>
          </p:cNvSpPr>
          <p:nvPr/>
        </p:nvSpPr>
        <p:spPr>
          <a:xfrm>
            <a:off x="5353050" y="1581150"/>
            <a:ext cx="1057275" cy="381000"/>
          </a:xfrm>
          <a:prstGeom prst="rect">
            <a:avLst/>
          </a:prstGeom>
        </p:spPr>
        <p:txBody>
          <a:bodyPr lIns="0" tIns="0" rIns="0" bIns="0"/>
          <a:lstStyle/>
          <a:p>
            <a:r>
              <a:rPr lang="en-US" sz="705">
                <a:solidFill>
                  <a:srgbClr val="263845"/>
                </a:solidFill>
                <a:latin typeface="Arial"/>
                <a:ea typeface="Arial"/>
                <a:cs typeface="Arial"/>
              </a:rPr>
              <a:t>candidate items checked before final stimuli</a:t>
            </a:r>
            <a:endParaRPr sz="705">
              <a:solidFill>
                <a:srgbClr val="263845"/>
              </a:solidFill>
              <a:latin typeface="Arial"/>
              <a:ea typeface="Arial"/>
              <a:cs typeface="Arial"/>
            </a:endParaRPr>
          </a:p>
        </p:txBody>
      </p:sp>
      <p:sp>
        <p:nvSpPr>
          <p:cNvPr id="20" name="Rectangle 19">
            <a:extLst>
              <a:ext uri="{FF2B5EF4-FFF2-40B4-BE49-F238E27FC236}">
                <a16:creationId xmlns:a16="http://schemas.microsoft.com/office/drawing/2014/main" id="{2AF489D8-ABE6-4E5B-AA7C-1A6D7D31D97A}"/>
              </a:ext>
            </a:extLst>
          </p:cNvPr>
          <p:cNvSpPr>
            <a:spLocks noGrp="1"/>
          </p:cNvSpPr>
          <p:nvPr/>
        </p:nvSpPr>
        <p:spPr>
          <a:xfrm>
            <a:off x="6543675" y="1524000"/>
            <a:ext cx="228600" cy="171450"/>
          </a:xfrm>
          <a:prstGeom prst="rect">
            <a:avLst/>
          </a:prstGeom>
        </p:spPr>
        <p:txBody>
          <a:bodyPr lIns="0" tIns="0" rIns="0" bIns="0"/>
          <a:lstStyle/>
          <a:p>
            <a:pPr algn="ctr">
              <a:defRPr sz="1050" b="1">
                <a:solidFill>
                  <a:srgbClr val="8DB600"/>
                </a:solidFill>
                <a:latin typeface="Arial"/>
                <a:ea typeface="Arial"/>
                <a:cs typeface="Arial"/>
              </a:defRPr>
            </a:pPr>
            <a:r>
              <a:rPr sz="1050" b="1">
                <a:solidFill>
                  <a:srgbClr val="8DB600"/>
                </a:solidFill>
                <a:latin typeface="Arial"/>
                <a:ea typeface="Arial"/>
                <a:cs typeface="Arial"/>
              </a:rPr>
              <a:t>-&gt;</a:t>
            </a:r>
          </a:p>
        </p:txBody>
      </p:sp>
      <p:sp>
        <p:nvSpPr>
          <p:cNvPr id="21" name="Rectangle 20">
            <a:extLst>
              <a:ext uri="{FF2B5EF4-FFF2-40B4-BE49-F238E27FC236}">
                <a16:creationId xmlns:a16="http://schemas.microsoft.com/office/drawing/2014/main" id="{4E5BAA27-DDAA-43DD-BCB2-890E49A4D75C}"/>
              </a:ext>
            </a:extLst>
          </p:cNvPr>
          <p:cNvSpPr>
            <a:spLocks noGrp="1"/>
          </p:cNvSpPr>
          <p:nvPr/>
        </p:nvSpPr>
        <p:spPr>
          <a:xfrm>
            <a:off x="6838950" y="1257300"/>
            <a:ext cx="1285875" cy="7810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22" name="Rectangle 21">
            <a:extLst>
              <a:ext uri="{FF2B5EF4-FFF2-40B4-BE49-F238E27FC236}">
                <a16:creationId xmlns:a16="http://schemas.microsoft.com/office/drawing/2014/main" id="{4E775CBE-51B7-4726-BA45-2F7D345F9F0F}"/>
              </a:ext>
            </a:extLst>
          </p:cNvPr>
          <p:cNvSpPr>
            <a:spLocks noGrp="1"/>
          </p:cNvSpPr>
          <p:nvPr/>
        </p:nvSpPr>
        <p:spPr>
          <a:xfrm>
            <a:off x="6953250" y="1352550"/>
            <a:ext cx="1057275" cy="190500"/>
          </a:xfrm>
          <a:prstGeom prst="rect">
            <a:avLst/>
          </a:prstGeom>
        </p:spPr>
        <p:txBody>
          <a:bodyPr lIns="0" tIns="0" rIns="0" bIns="0"/>
          <a:lstStyle/>
          <a:p>
            <a:r>
              <a:rPr sz="788" b="1">
                <a:solidFill>
                  <a:srgbClr val="003A61"/>
                </a:solidFill>
                <a:latin typeface="Arial"/>
                <a:ea typeface="Arial"/>
                <a:cs typeface="Arial"/>
              </a:rPr>
              <a:t>Final stimuli</a:t>
            </a:r>
          </a:p>
        </p:txBody>
      </p:sp>
      <p:sp>
        <p:nvSpPr>
          <p:cNvPr id="23" name="Rectangle 22">
            <a:extLst>
              <a:ext uri="{FF2B5EF4-FFF2-40B4-BE49-F238E27FC236}">
                <a16:creationId xmlns:a16="http://schemas.microsoft.com/office/drawing/2014/main" id="{3CA914E9-9B49-46B5-A593-93EEBC17F05E}"/>
              </a:ext>
            </a:extLst>
          </p:cNvPr>
          <p:cNvSpPr>
            <a:spLocks noGrp="1"/>
          </p:cNvSpPr>
          <p:nvPr/>
        </p:nvSpPr>
        <p:spPr>
          <a:xfrm>
            <a:off x="6953250" y="1581150"/>
            <a:ext cx="1057275" cy="381000"/>
          </a:xfrm>
          <a:prstGeom prst="rect">
            <a:avLst/>
          </a:prstGeom>
        </p:spPr>
        <p:txBody>
          <a:bodyPr lIns="0" tIns="0" rIns="0" bIns="0"/>
          <a:lstStyle/>
          <a:p>
            <a:r>
              <a:rPr sz="705">
                <a:solidFill>
                  <a:srgbClr val="263845"/>
                </a:solidFill>
                <a:latin typeface="Arial"/>
                <a:ea typeface="Arial"/>
                <a:cs typeface="Arial"/>
              </a:rPr>
              <a:t>72 real words + 48 pseudowords</a:t>
            </a:r>
          </a:p>
        </p:txBody>
      </p:sp>
      <p:sp>
        <p:nvSpPr>
          <p:cNvPr id="24" name="Rectangle 23">
            <a:extLst>
              <a:ext uri="{FF2B5EF4-FFF2-40B4-BE49-F238E27FC236}">
                <a16:creationId xmlns:a16="http://schemas.microsoft.com/office/drawing/2014/main" id="{E1B87A2D-F359-4300-9FBB-C53295E72CE6}"/>
              </a:ext>
            </a:extLst>
          </p:cNvPr>
          <p:cNvSpPr>
            <a:spLocks noGrp="1"/>
          </p:cNvSpPr>
          <p:nvPr/>
        </p:nvSpPr>
        <p:spPr>
          <a:xfrm>
            <a:off x="552450" y="2305050"/>
            <a:ext cx="2714625" cy="12001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25" name="Rectangle 24">
            <a:extLst>
              <a:ext uri="{FF2B5EF4-FFF2-40B4-BE49-F238E27FC236}">
                <a16:creationId xmlns:a16="http://schemas.microsoft.com/office/drawing/2014/main" id="{9423A699-9D2F-46C2-B3BB-1D745C11D185}"/>
              </a:ext>
            </a:extLst>
          </p:cNvPr>
          <p:cNvSpPr>
            <a:spLocks noGrp="1"/>
          </p:cNvSpPr>
          <p:nvPr/>
        </p:nvSpPr>
        <p:spPr>
          <a:xfrm>
            <a:off x="666750" y="2400300"/>
            <a:ext cx="2486025" cy="190500"/>
          </a:xfrm>
          <a:prstGeom prst="rect">
            <a:avLst/>
          </a:prstGeom>
        </p:spPr>
        <p:txBody>
          <a:bodyPr lIns="0" tIns="0" rIns="0" bIns="0"/>
          <a:lstStyle/>
          <a:p>
            <a:r>
              <a:rPr sz="825" b="1">
                <a:solidFill>
                  <a:srgbClr val="003A61"/>
                </a:solidFill>
                <a:latin typeface="Arial"/>
                <a:ea typeface="Arial"/>
                <a:cs typeface="Arial"/>
              </a:rPr>
              <a:t>Dataset artifacts</a:t>
            </a:r>
          </a:p>
        </p:txBody>
      </p:sp>
      <p:sp>
        <p:nvSpPr>
          <p:cNvPr id="26" name="Rectangle 25">
            <a:extLst>
              <a:ext uri="{FF2B5EF4-FFF2-40B4-BE49-F238E27FC236}">
                <a16:creationId xmlns:a16="http://schemas.microsoft.com/office/drawing/2014/main" id="{4A8B3D98-B314-4A5C-8AEE-E77833C0D24C}"/>
              </a:ext>
            </a:extLst>
          </p:cNvPr>
          <p:cNvSpPr>
            <a:spLocks noGrp="1"/>
          </p:cNvSpPr>
          <p:nvPr/>
        </p:nvSpPr>
        <p:spPr>
          <a:xfrm>
            <a:off x="666750" y="2628900"/>
            <a:ext cx="2486025" cy="800100"/>
          </a:xfrm>
          <a:prstGeom prst="rect">
            <a:avLst/>
          </a:prstGeom>
        </p:spPr>
        <p:txBody>
          <a:bodyPr lIns="0" tIns="0" rIns="0" bIns="0"/>
          <a:lstStyle/>
          <a:p>
            <a:r>
              <a:rPr sz="780">
                <a:solidFill>
                  <a:srgbClr val="263845"/>
                </a:solidFill>
                <a:latin typeface="Arial"/>
                <a:ea typeface="Arial"/>
                <a:cs typeface="Arial"/>
              </a:rPr>
              <a:t>data/processed/*grams_frequency.csv</a:t>
            </a:r>
          </a:p>
          <a:p>
            <a:r>
              <a:rPr sz="780">
                <a:solidFill>
                  <a:srgbClr val="263845"/>
                </a:solidFill>
                <a:latin typeface="Arial"/>
                <a:ea typeface="Arial"/>
                <a:cs typeface="Arial"/>
              </a:rPr>
              <a:t>candidate_shortlist_by_length.csv</a:t>
            </a:r>
          </a:p>
          <a:p>
            <a:r>
              <a:rPr sz="780">
                <a:solidFill>
                  <a:srgbClr val="263845"/>
                </a:solidFill>
                <a:latin typeface="Arial"/>
                <a:ea typeface="Arial"/>
                <a:cs typeface="Arial"/>
              </a:rPr>
              <a:t>manual_selection_sheet.csv</a:t>
            </a:r>
          </a:p>
          <a:p>
            <a:r>
              <a:rPr sz="780">
                <a:solidFill>
                  <a:srgbClr val="263845"/>
                </a:solidFill>
                <a:latin typeface="Arial"/>
                <a:ea typeface="Arial"/>
                <a:cs typeface="Arial"/>
              </a:rPr>
              <a:t>final_ldt_stimuli_3x4_v1.csv</a:t>
            </a:r>
          </a:p>
        </p:txBody>
      </p:sp>
      <p:sp>
        <p:nvSpPr>
          <p:cNvPr id="27" name="Rectangle 26">
            <a:extLst>
              <a:ext uri="{FF2B5EF4-FFF2-40B4-BE49-F238E27FC236}">
                <a16:creationId xmlns:a16="http://schemas.microsoft.com/office/drawing/2014/main" id="{4EB53C0E-D255-4926-B912-67CCF64E5428}"/>
              </a:ext>
            </a:extLst>
          </p:cNvPr>
          <p:cNvSpPr>
            <a:spLocks noGrp="1"/>
          </p:cNvSpPr>
          <p:nvPr/>
        </p:nvSpPr>
        <p:spPr>
          <a:xfrm>
            <a:off x="552450" y="3676650"/>
            <a:ext cx="2714625" cy="6286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28" name="Rectangle 27">
            <a:extLst>
              <a:ext uri="{FF2B5EF4-FFF2-40B4-BE49-F238E27FC236}">
                <a16:creationId xmlns:a16="http://schemas.microsoft.com/office/drawing/2014/main" id="{BB88D226-636D-4423-970C-5B23EC02447F}"/>
              </a:ext>
            </a:extLst>
          </p:cNvPr>
          <p:cNvSpPr>
            <a:spLocks noGrp="1"/>
          </p:cNvSpPr>
          <p:nvPr/>
        </p:nvSpPr>
        <p:spPr>
          <a:xfrm>
            <a:off x="666750" y="3771900"/>
            <a:ext cx="2486025" cy="190500"/>
          </a:xfrm>
          <a:prstGeom prst="rect">
            <a:avLst/>
          </a:prstGeom>
        </p:spPr>
        <p:txBody>
          <a:bodyPr lIns="0" tIns="0" rIns="0" bIns="0"/>
          <a:lstStyle/>
          <a:p>
            <a:r>
              <a:rPr sz="795" b="1">
                <a:solidFill>
                  <a:srgbClr val="003A61"/>
                </a:solidFill>
                <a:latin typeface="Arial"/>
                <a:ea typeface="Arial"/>
                <a:cs typeface="Arial"/>
              </a:rPr>
              <a:t>Key caution</a:t>
            </a:r>
          </a:p>
        </p:txBody>
      </p:sp>
      <p:sp>
        <p:nvSpPr>
          <p:cNvPr id="29" name="Rectangle 28">
            <a:extLst>
              <a:ext uri="{FF2B5EF4-FFF2-40B4-BE49-F238E27FC236}">
                <a16:creationId xmlns:a16="http://schemas.microsoft.com/office/drawing/2014/main" id="{C313FAE1-F373-4F53-994E-E6AD7CEFE052}"/>
              </a:ext>
            </a:extLst>
          </p:cNvPr>
          <p:cNvSpPr>
            <a:spLocks noGrp="1"/>
          </p:cNvSpPr>
          <p:nvPr/>
        </p:nvSpPr>
        <p:spPr>
          <a:xfrm>
            <a:off x="666750" y="4000500"/>
            <a:ext cx="2486025" cy="76200"/>
          </a:xfrm>
          <a:prstGeom prst="rect">
            <a:avLst/>
          </a:prstGeom>
        </p:spPr>
        <p:txBody>
          <a:bodyPr lIns="0" tIns="0" rIns="0" bIns="0"/>
          <a:lstStyle/>
          <a:p>
            <a:r>
              <a:rPr lang="en-US" sz="705">
                <a:solidFill>
                  <a:srgbClr val="263845"/>
                </a:solidFill>
                <a:latin typeface="Arial"/>
                <a:ea typeface="Arial"/>
                <a:cs typeface="Arial"/>
              </a:rPr>
              <a:t>N-grams are candidate items, not automatically final lexical words.</a:t>
            </a:r>
            <a:endParaRPr sz="705">
              <a:solidFill>
                <a:srgbClr val="263845"/>
              </a:solidFill>
              <a:latin typeface="Arial"/>
              <a:ea typeface="Arial"/>
              <a:cs typeface="Arial"/>
            </a:endParaRPr>
          </a:p>
        </p:txBody>
      </p:sp>
      <p:sp>
        <p:nvSpPr>
          <p:cNvPr id="30" name="Rectangle 29">
            <a:extLst>
              <a:ext uri="{FF2B5EF4-FFF2-40B4-BE49-F238E27FC236}">
                <a16:creationId xmlns:a16="http://schemas.microsoft.com/office/drawing/2014/main" id="{482CB0E8-B41B-427B-8F0A-FF24E38B2E66}"/>
              </a:ext>
            </a:extLst>
          </p:cNvPr>
          <p:cNvSpPr>
            <a:spLocks noGrp="1"/>
          </p:cNvSpPr>
          <p:nvPr/>
        </p:nvSpPr>
        <p:spPr>
          <a:xfrm>
            <a:off x="3638550" y="2305050"/>
            <a:ext cx="4476750" cy="1638300"/>
          </a:xfrm>
          <a:prstGeom prst="rect">
            <a:avLst/>
          </a:prstGeom>
          <a:solidFill>
            <a:srgbClr val="172B36"/>
          </a:solidFill>
          <a:ln w="7620">
            <a:solidFill>
              <a:srgbClr val="003A61"/>
            </a:solidFill>
          </a:ln>
        </p:spPr>
        <p:txBody>
          <a:bodyPr lIns="0" tIns="0" rIns="0" bIns="0"/>
          <a:lstStyle/>
          <a:p>
            <a:r>
              <a:rPr sz="100">
                <a:solidFill>
                  <a:srgbClr val="172B36"/>
                </a:solidFill>
                <a:latin typeface="Arial"/>
                <a:ea typeface="Arial"/>
                <a:cs typeface="Arial"/>
              </a:rPr>
              <a:t>.</a:t>
            </a:r>
          </a:p>
        </p:txBody>
      </p:sp>
      <p:sp>
        <p:nvSpPr>
          <p:cNvPr id="31" name="Rectangle 30">
            <a:extLst>
              <a:ext uri="{FF2B5EF4-FFF2-40B4-BE49-F238E27FC236}">
                <a16:creationId xmlns:a16="http://schemas.microsoft.com/office/drawing/2014/main" id="{C3B38047-0D15-4F60-89ED-89DADAE10C81}"/>
              </a:ext>
            </a:extLst>
          </p:cNvPr>
          <p:cNvSpPr>
            <a:spLocks noGrp="1"/>
          </p:cNvSpPr>
          <p:nvPr/>
        </p:nvSpPr>
        <p:spPr>
          <a:xfrm>
            <a:off x="3810000" y="2438400"/>
            <a:ext cx="4095750" cy="152400"/>
          </a:xfrm>
          <a:prstGeom prst="rect">
            <a:avLst/>
          </a:prstGeom>
        </p:spPr>
        <p:txBody>
          <a:bodyPr lIns="0" tIns="0" rIns="0" bIns="0"/>
          <a:lstStyle/>
          <a:p>
            <a:r>
              <a:rPr sz="750" b="1">
                <a:solidFill>
                  <a:srgbClr val="DDECB3"/>
                </a:solidFill>
                <a:latin typeface="Arial"/>
                <a:ea typeface="Arial"/>
                <a:cs typeface="Arial"/>
              </a:rPr>
              <a:t>Python / pandas sketch for stimulus preparation</a:t>
            </a:r>
          </a:p>
        </p:txBody>
      </p:sp>
      <p:sp>
        <p:nvSpPr>
          <p:cNvPr id="32" name="Rectangle 31">
            <a:extLst>
              <a:ext uri="{FF2B5EF4-FFF2-40B4-BE49-F238E27FC236}">
                <a16:creationId xmlns:a16="http://schemas.microsoft.com/office/drawing/2014/main" id="{D90C785D-8418-49FD-A886-96828EC08950}"/>
              </a:ext>
            </a:extLst>
          </p:cNvPr>
          <p:cNvSpPr>
            <a:spLocks noGrp="1"/>
          </p:cNvSpPr>
          <p:nvPr/>
        </p:nvSpPr>
        <p:spPr>
          <a:xfrm>
            <a:off x="3810000" y="2657475"/>
            <a:ext cx="4095750" cy="1143000"/>
          </a:xfrm>
          <a:prstGeom prst="rect">
            <a:avLst/>
          </a:prstGeom>
        </p:spPr>
        <p:txBody>
          <a:bodyPr lIns="0" tIns="0" rIns="0" bIns="0"/>
          <a:lstStyle/>
          <a:p>
            <a:r>
              <a:rPr sz="615" dirty="0">
                <a:solidFill>
                  <a:srgbClr val="FFFFFF"/>
                </a:solidFill>
                <a:latin typeface="Arial"/>
                <a:ea typeface="Arial"/>
                <a:cs typeface="Arial"/>
              </a:rPr>
              <a:t>files = ["unigrams", "bigrams", "trigrams", "</a:t>
            </a:r>
            <a:r>
              <a:rPr sz="615" dirty="0" err="1">
                <a:solidFill>
                  <a:srgbClr val="FFFFFF"/>
                </a:solidFill>
                <a:latin typeface="Arial"/>
                <a:ea typeface="Arial"/>
                <a:cs typeface="Arial"/>
              </a:rPr>
              <a:t>fourgrams</a:t>
            </a:r>
            <a:r>
              <a:rPr sz="615" dirty="0">
                <a:solidFill>
                  <a:srgbClr val="FFFFFF"/>
                </a:solidFill>
                <a:latin typeface="Arial"/>
                <a:ea typeface="Arial"/>
                <a:cs typeface="Arial"/>
              </a:rPr>
              <a:t>"]</a:t>
            </a:r>
          </a:p>
          <a:p>
            <a:r>
              <a:rPr sz="615" dirty="0" err="1">
                <a:solidFill>
                  <a:srgbClr val="FFFFFF"/>
                </a:solidFill>
                <a:latin typeface="Arial"/>
                <a:ea typeface="Arial"/>
                <a:cs typeface="Arial"/>
              </a:rPr>
              <a:t>freq</a:t>
            </a:r>
            <a:r>
              <a:rPr sz="615" dirty="0">
                <a:solidFill>
                  <a:srgbClr val="FFFFFF"/>
                </a:solidFill>
                <a:latin typeface="Arial"/>
                <a:ea typeface="Arial"/>
                <a:cs typeface="Arial"/>
              </a:rPr>
              <a:t> = </a:t>
            </a:r>
            <a:r>
              <a:rPr sz="615" dirty="0" err="1">
                <a:solidFill>
                  <a:srgbClr val="FFFFFF"/>
                </a:solidFill>
                <a:latin typeface="Arial"/>
                <a:ea typeface="Arial"/>
                <a:cs typeface="Arial"/>
              </a:rPr>
              <a:t>pd.concat</a:t>
            </a:r>
            <a:r>
              <a:rPr sz="615" dirty="0">
                <a:solidFill>
                  <a:srgbClr val="FFFFFF"/>
                </a:solidFill>
                <a:latin typeface="Arial"/>
                <a:ea typeface="Arial"/>
                <a:cs typeface="Arial"/>
              </a:rPr>
              <a:t>(</a:t>
            </a:r>
            <a:r>
              <a:rPr sz="615" dirty="0" err="1">
                <a:solidFill>
                  <a:srgbClr val="FFFFFF"/>
                </a:solidFill>
                <a:latin typeface="Arial"/>
                <a:ea typeface="Arial"/>
                <a:cs typeface="Arial"/>
              </a:rPr>
              <a:t>pd.read_csv</a:t>
            </a:r>
            <a:r>
              <a:rPr sz="615" dirty="0">
                <a:solidFill>
                  <a:srgbClr val="FFFFFF"/>
                </a:solidFill>
                <a:latin typeface="Arial"/>
                <a:ea typeface="Arial"/>
                <a:cs typeface="Arial"/>
              </a:rPr>
              <a:t>(f) for f in files)</a:t>
            </a:r>
          </a:p>
          <a:p>
            <a:endParaRPr sz="615" dirty="0">
              <a:solidFill>
                <a:srgbClr val="FFFFFF"/>
              </a:solidFill>
              <a:latin typeface="Arial"/>
              <a:ea typeface="Arial"/>
              <a:cs typeface="Arial"/>
            </a:endParaRPr>
          </a:p>
          <a:p>
            <a:r>
              <a:rPr sz="615" dirty="0">
                <a:solidFill>
                  <a:srgbClr val="FFFFFF"/>
                </a:solidFill>
                <a:latin typeface="Arial"/>
                <a:ea typeface="Arial"/>
                <a:cs typeface="Arial"/>
              </a:rPr>
              <a:t>items = (</a:t>
            </a:r>
            <a:r>
              <a:rPr sz="615" dirty="0" err="1">
                <a:solidFill>
                  <a:srgbClr val="FFFFFF"/>
                </a:solidFill>
                <a:latin typeface="Arial"/>
                <a:ea typeface="Arial"/>
                <a:cs typeface="Arial"/>
              </a:rPr>
              <a:t>freq</a:t>
            </a:r>
            <a:endParaRPr sz="615" dirty="0">
              <a:solidFill>
                <a:srgbClr val="FFFFFF"/>
              </a:solidFill>
              <a:latin typeface="Arial"/>
              <a:ea typeface="Arial"/>
              <a:cs typeface="Arial"/>
            </a:endParaRPr>
          </a:p>
          <a:p>
            <a:r>
              <a:rPr sz="615" dirty="0">
                <a:solidFill>
                  <a:srgbClr val="FFFFFF"/>
                </a:solidFill>
                <a:latin typeface="Arial"/>
                <a:ea typeface="Arial"/>
                <a:cs typeface="Arial"/>
              </a:rPr>
              <a:t>  .assign(</a:t>
            </a:r>
          </a:p>
          <a:p>
            <a:r>
              <a:rPr sz="615" dirty="0">
                <a:solidFill>
                  <a:srgbClr val="FFFFFF"/>
                </a:solidFill>
                <a:latin typeface="Arial"/>
                <a:ea typeface="Arial"/>
                <a:cs typeface="Arial"/>
              </a:rPr>
              <a:t>    </a:t>
            </a:r>
            <a:r>
              <a:rPr sz="615" dirty="0" err="1">
                <a:solidFill>
                  <a:srgbClr val="FFFFFF"/>
                </a:solidFill>
                <a:latin typeface="Arial"/>
                <a:ea typeface="Arial"/>
                <a:cs typeface="Arial"/>
              </a:rPr>
              <a:t>syllable_length</a:t>
            </a:r>
            <a:r>
              <a:rPr sz="615" dirty="0">
                <a:solidFill>
                  <a:srgbClr val="FFFFFF"/>
                </a:solidFill>
                <a:latin typeface="Arial"/>
                <a:ea typeface="Arial"/>
                <a:cs typeface="Arial"/>
              </a:rPr>
              <a:t>=lambda d: </a:t>
            </a:r>
            <a:r>
              <a:rPr sz="615" dirty="0" err="1">
                <a:solidFill>
                  <a:srgbClr val="FFFFFF"/>
                </a:solidFill>
                <a:latin typeface="Arial"/>
                <a:ea typeface="Arial"/>
                <a:cs typeface="Arial"/>
              </a:rPr>
              <a:t>d.lexical_item.str.split</a:t>
            </a:r>
            <a:r>
              <a:rPr sz="615" dirty="0">
                <a:solidFill>
                  <a:srgbClr val="FFFFFF"/>
                </a:solidFill>
                <a:latin typeface="Arial"/>
                <a:ea typeface="Arial"/>
                <a:cs typeface="Arial"/>
              </a:rPr>
              <a:t>().</a:t>
            </a:r>
            <a:r>
              <a:rPr sz="615" dirty="0" err="1">
                <a:solidFill>
                  <a:srgbClr val="FFFFFF"/>
                </a:solidFill>
                <a:latin typeface="Arial"/>
                <a:ea typeface="Arial"/>
                <a:cs typeface="Arial"/>
              </a:rPr>
              <a:t>str.len</a:t>
            </a:r>
            <a:r>
              <a:rPr sz="615" dirty="0">
                <a:solidFill>
                  <a:srgbClr val="FFFFFF"/>
                </a:solidFill>
                <a:latin typeface="Arial"/>
                <a:ea typeface="Arial"/>
                <a:cs typeface="Arial"/>
              </a:rPr>
              <a:t>(),</a:t>
            </a:r>
          </a:p>
          <a:p>
            <a:r>
              <a:rPr sz="615" dirty="0">
                <a:solidFill>
                  <a:srgbClr val="FFFFFF"/>
                </a:solidFill>
                <a:latin typeface="Arial"/>
                <a:ea typeface="Arial"/>
                <a:cs typeface="Arial"/>
              </a:rPr>
              <a:t>    </a:t>
            </a:r>
            <a:r>
              <a:rPr sz="615" dirty="0" err="1">
                <a:solidFill>
                  <a:srgbClr val="FFFFFF"/>
                </a:solidFill>
                <a:latin typeface="Arial"/>
                <a:ea typeface="Arial"/>
                <a:cs typeface="Arial"/>
              </a:rPr>
              <a:t>log_frequency</a:t>
            </a:r>
            <a:r>
              <a:rPr sz="615" dirty="0">
                <a:solidFill>
                  <a:srgbClr val="FFFFFF"/>
                </a:solidFill>
                <a:latin typeface="Arial"/>
                <a:ea typeface="Arial"/>
                <a:cs typeface="Arial"/>
              </a:rPr>
              <a:t>=lambda d: np.log(</a:t>
            </a:r>
            <a:r>
              <a:rPr sz="615" dirty="0" err="1">
                <a:solidFill>
                  <a:srgbClr val="FFFFFF"/>
                </a:solidFill>
                <a:latin typeface="Arial"/>
                <a:ea typeface="Arial"/>
                <a:cs typeface="Arial"/>
              </a:rPr>
              <a:t>d.frequency</a:t>
            </a:r>
            <a:r>
              <a:rPr sz="615" dirty="0">
                <a:solidFill>
                  <a:srgbClr val="FFFFFF"/>
                </a:solidFill>
                <a:latin typeface="Arial"/>
                <a:ea typeface="Arial"/>
                <a:cs typeface="Arial"/>
              </a:rPr>
              <a:t>))</a:t>
            </a:r>
          </a:p>
          <a:p>
            <a:r>
              <a:rPr sz="615" dirty="0">
                <a:solidFill>
                  <a:srgbClr val="FFFFFF"/>
                </a:solidFill>
                <a:latin typeface="Arial"/>
                <a:ea typeface="Arial"/>
                <a:cs typeface="Arial"/>
              </a:rPr>
              <a:t>  .query("1 &lt;= </a:t>
            </a:r>
            <a:r>
              <a:rPr sz="615" dirty="0" err="1">
                <a:solidFill>
                  <a:srgbClr val="FFFFFF"/>
                </a:solidFill>
                <a:latin typeface="Arial"/>
                <a:ea typeface="Arial"/>
                <a:cs typeface="Arial"/>
              </a:rPr>
              <a:t>syllable_length</a:t>
            </a:r>
            <a:r>
              <a:rPr sz="615" dirty="0">
                <a:solidFill>
                  <a:srgbClr val="FFFFFF"/>
                </a:solidFill>
                <a:latin typeface="Arial"/>
                <a:ea typeface="Arial"/>
                <a:cs typeface="Arial"/>
              </a:rPr>
              <a:t> &lt;= 4")</a:t>
            </a:r>
          </a:p>
          <a:p>
            <a:r>
              <a:rPr sz="615" dirty="0">
                <a:solidFill>
                  <a:srgbClr val="FFFFFF"/>
                </a:solidFill>
                <a:latin typeface="Arial"/>
                <a:ea typeface="Arial"/>
                <a:cs typeface="Arial"/>
              </a:rPr>
              <a:t>  .</a:t>
            </a:r>
            <a:r>
              <a:rPr sz="615" dirty="0" err="1">
                <a:solidFill>
                  <a:srgbClr val="FFFFFF"/>
                </a:solidFill>
                <a:latin typeface="Arial"/>
                <a:ea typeface="Arial"/>
                <a:cs typeface="Arial"/>
              </a:rPr>
              <a:t>drop_duplicates</a:t>
            </a:r>
            <a:r>
              <a:rPr sz="615" dirty="0">
                <a:solidFill>
                  <a:srgbClr val="FFFFFF"/>
                </a:solidFill>
                <a:latin typeface="Arial"/>
                <a:ea typeface="Arial"/>
                <a:cs typeface="Arial"/>
              </a:rPr>
              <a:t>("</a:t>
            </a:r>
            <a:r>
              <a:rPr sz="615" dirty="0" err="1">
                <a:solidFill>
                  <a:srgbClr val="FFFFFF"/>
                </a:solidFill>
                <a:latin typeface="Arial"/>
                <a:ea typeface="Arial"/>
                <a:cs typeface="Arial"/>
              </a:rPr>
              <a:t>lexical_item</a:t>
            </a:r>
            <a:r>
              <a:rPr sz="615" dirty="0">
                <a:solidFill>
                  <a:srgbClr val="FFFFFF"/>
                </a:solidFill>
                <a:latin typeface="Arial"/>
                <a:ea typeface="Arial"/>
                <a:cs typeface="Arial"/>
              </a:rPr>
              <a:t>"))</a:t>
            </a:r>
          </a:p>
          <a:p>
            <a:endParaRPr sz="615" dirty="0">
              <a:solidFill>
                <a:srgbClr val="FFFFFF"/>
              </a:solidFill>
              <a:latin typeface="Arial"/>
              <a:ea typeface="Arial"/>
              <a:cs typeface="Arial"/>
            </a:endParaRPr>
          </a:p>
          <a:p>
            <a:r>
              <a:rPr sz="615" dirty="0" err="1">
                <a:solidFill>
                  <a:srgbClr val="FFFFFF"/>
                </a:solidFill>
                <a:latin typeface="Arial"/>
                <a:ea typeface="Arial"/>
                <a:cs typeface="Arial"/>
              </a:rPr>
              <a:t>review_sheet</a:t>
            </a:r>
            <a:r>
              <a:rPr sz="615" dirty="0">
                <a:solidFill>
                  <a:srgbClr val="FFFFFF"/>
                </a:solidFill>
                <a:latin typeface="Arial"/>
                <a:ea typeface="Arial"/>
                <a:cs typeface="Arial"/>
              </a:rPr>
              <a:t> = </a:t>
            </a:r>
            <a:r>
              <a:rPr sz="615" dirty="0" err="1">
                <a:solidFill>
                  <a:srgbClr val="FFFFFF"/>
                </a:solidFill>
                <a:latin typeface="Arial"/>
                <a:ea typeface="Arial"/>
                <a:cs typeface="Arial"/>
              </a:rPr>
              <a:t>items.sort_values</a:t>
            </a:r>
            <a:r>
              <a:rPr sz="615" dirty="0">
                <a:solidFill>
                  <a:srgbClr val="FFFFFF"/>
                </a:solidFill>
                <a:latin typeface="Arial"/>
                <a:ea typeface="Arial"/>
                <a:cs typeface="Arial"/>
              </a:rPr>
              <a:t>(["</a:t>
            </a:r>
            <a:r>
              <a:rPr sz="615" dirty="0" err="1">
                <a:solidFill>
                  <a:srgbClr val="FFFFFF"/>
                </a:solidFill>
                <a:latin typeface="Arial"/>
                <a:ea typeface="Arial"/>
                <a:cs typeface="Arial"/>
              </a:rPr>
              <a:t>syllable_length</a:t>
            </a:r>
            <a:r>
              <a:rPr sz="615" dirty="0">
                <a:solidFill>
                  <a:srgbClr val="FFFFFF"/>
                </a:solidFill>
                <a:latin typeface="Arial"/>
                <a:ea typeface="Arial"/>
                <a:cs typeface="Arial"/>
              </a:rPr>
              <a:t>", "</a:t>
            </a:r>
            <a:r>
              <a:rPr sz="615" dirty="0" err="1">
                <a:solidFill>
                  <a:srgbClr val="FFFFFF"/>
                </a:solidFill>
                <a:latin typeface="Arial"/>
                <a:ea typeface="Arial"/>
                <a:cs typeface="Arial"/>
              </a:rPr>
              <a:t>log_frequency</a:t>
            </a:r>
            <a:r>
              <a:rPr sz="615" dirty="0">
                <a:solidFill>
                  <a:srgbClr val="FFFFFF"/>
                </a:solidFill>
                <a:latin typeface="Arial"/>
                <a:ea typeface="Arial"/>
                <a:cs typeface="Arial"/>
              </a:rPr>
              <a:t>"])</a:t>
            </a:r>
          </a:p>
        </p:txBody>
      </p:sp>
      <p:sp>
        <p:nvSpPr>
          <p:cNvPr id="33" name="Rectangle 32">
            <a:extLst>
              <a:ext uri="{FF2B5EF4-FFF2-40B4-BE49-F238E27FC236}">
                <a16:creationId xmlns:a16="http://schemas.microsoft.com/office/drawing/2014/main" id="{84F1098C-685F-48AF-907E-39F242A2AC92}"/>
              </a:ext>
            </a:extLst>
          </p:cNvPr>
          <p:cNvSpPr>
            <a:spLocks noGrp="1"/>
          </p:cNvSpPr>
          <p:nvPr/>
        </p:nvSpPr>
        <p:spPr>
          <a:xfrm>
            <a:off x="3638550" y="4076699"/>
            <a:ext cx="4476750" cy="349827"/>
          </a:xfrm>
          <a:prstGeom prst="rect">
            <a:avLst/>
          </a:prstGeom>
          <a:solidFill>
            <a:srgbClr val="DDECB3"/>
          </a:solidFill>
          <a:ln w="9525">
            <a:solidFill>
              <a:srgbClr val="8DB600"/>
            </a:solidFill>
          </a:ln>
        </p:spPr>
        <p:txBody>
          <a:bodyPr lIns="0" tIns="0" rIns="0" bIns="0"/>
          <a:lstStyle/>
          <a:p>
            <a:r>
              <a:rPr sz="100">
                <a:solidFill>
                  <a:srgbClr val="DDECB3"/>
                </a:solidFill>
                <a:latin typeface="Arial"/>
                <a:ea typeface="Arial"/>
                <a:cs typeface="Arial"/>
              </a:rPr>
              <a:t>.</a:t>
            </a:r>
          </a:p>
        </p:txBody>
      </p:sp>
      <p:sp>
        <p:nvSpPr>
          <p:cNvPr id="34" name="Rectangle 33">
            <a:extLst>
              <a:ext uri="{FF2B5EF4-FFF2-40B4-BE49-F238E27FC236}">
                <a16:creationId xmlns:a16="http://schemas.microsoft.com/office/drawing/2014/main" id="{EAB4D424-9589-4E70-BF2D-24D625C60760}"/>
              </a:ext>
            </a:extLst>
          </p:cNvPr>
          <p:cNvSpPr>
            <a:spLocks noGrp="1"/>
          </p:cNvSpPr>
          <p:nvPr/>
        </p:nvSpPr>
        <p:spPr>
          <a:xfrm>
            <a:off x="3790950" y="4152900"/>
            <a:ext cx="4191000" cy="133350"/>
          </a:xfrm>
          <a:prstGeom prst="rect">
            <a:avLst/>
          </a:prstGeom>
        </p:spPr>
        <p:txBody>
          <a:bodyPr lIns="0" tIns="0" rIns="0" bIns="0"/>
          <a:lstStyle/>
          <a:p>
            <a:pPr algn="ctr">
              <a:defRPr sz="825" b="1">
                <a:solidFill>
                  <a:srgbClr val="003A61"/>
                </a:solidFill>
                <a:latin typeface="Arial"/>
                <a:ea typeface="Arial"/>
                <a:cs typeface="Arial"/>
              </a:defRPr>
            </a:pPr>
            <a:r>
              <a:rPr lang="en-US" sz="825" b="1" dirty="0">
                <a:solidFill>
                  <a:srgbClr val="003A61"/>
                </a:solidFill>
                <a:latin typeface="Arial"/>
                <a:ea typeface="Arial"/>
                <a:cs typeface="Arial"/>
              </a:rPr>
              <a:t>Traceable dataset: corpus frequency -&gt; filtered candidates -&gt; manual lexical review -&gt; final stimuli.</a:t>
            </a:r>
            <a:endParaRPr sz="825" b="1" dirty="0">
              <a:solidFill>
                <a:srgbClr val="003A61"/>
              </a:solidFill>
              <a:latin typeface="Arial"/>
              <a:ea typeface="Arial"/>
              <a:cs typeface="Arial"/>
            </a:endParaRPr>
          </a:p>
        </p:txBody>
      </p:sp>
    </p:spTree>
    <p:extLst>
      <p:ext uri="{BB962C8B-B14F-4D97-AF65-F5344CB8AC3E}">
        <p14:creationId xmlns:p14="http://schemas.microsoft.com/office/powerpoint/2010/main" val="1826234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8B4685A9-EDAF-4499-9417-282BD99B1673}"/>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5E08B45E-65ED-42FD-B1CE-5A1FD3511713}"/>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08 | EXPERIMENTAL DESIGN</a:t>
            </a:r>
          </a:p>
        </p:txBody>
      </p:sp>
      <p:sp>
        <p:nvSpPr>
          <p:cNvPr id="3" name="Rectangle 2">
            <a:extLst>
              <a:ext uri="{FF2B5EF4-FFF2-40B4-BE49-F238E27FC236}">
                <a16:creationId xmlns:a16="http://schemas.microsoft.com/office/drawing/2014/main" id="{62DA70CA-B53B-41AB-A525-E5666100EFCE}"/>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real-word design is balanced: 3 frequency groups x 4 syllable lengths, within participant.</a:t>
            </a:r>
          </a:p>
        </p:txBody>
      </p:sp>
      <p:sp>
        <p:nvSpPr>
          <p:cNvPr id="4" name="Rectangle 3">
            <a:extLst>
              <a:ext uri="{FF2B5EF4-FFF2-40B4-BE49-F238E27FC236}">
                <a16:creationId xmlns:a16="http://schemas.microsoft.com/office/drawing/2014/main" id="{D4E028C3-E85D-4002-A296-4687D688907E}"/>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190C89EF-BB65-4B47-AAD9-B7F8A631FA77}"/>
              </a:ext>
            </a:extLst>
          </p:cNvPr>
          <p:cNvSpPr>
            <a:spLocks noGrp="1"/>
          </p:cNvSpPr>
          <p:nvPr/>
        </p:nvSpPr>
        <p:spPr>
          <a:xfrm>
            <a:off x="781050" y="1381125"/>
            <a:ext cx="1000125" cy="457200"/>
          </a:xfrm>
          <a:prstGeom prst="rect">
            <a:avLst/>
          </a:prstGeom>
          <a:solidFill>
            <a:srgbClr val="003A61"/>
          </a:solidFill>
          <a:ln w="7620">
            <a:solidFill>
              <a:srgbClr val="003A61"/>
            </a:solidFill>
          </a:ln>
        </p:spPr>
      </p:sp>
      <p:sp>
        <p:nvSpPr>
          <p:cNvPr id="6" name="Rectangle 5">
            <a:extLst>
              <a:ext uri="{FF2B5EF4-FFF2-40B4-BE49-F238E27FC236}">
                <a16:creationId xmlns:a16="http://schemas.microsoft.com/office/drawing/2014/main" id="{F4EED3DA-32D5-473D-BACE-801D765AEF31}"/>
              </a:ext>
            </a:extLst>
          </p:cNvPr>
          <p:cNvSpPr>
            <a:spLocks noGrp="1"/>
          </p:cNvSpPr>
          <p:nvPr/>
        </p:nvSpPr>
        <p:spPr>
          <a:xfrm>
            <a:off x="838200" y="1438275"/>
            <a:ext cx="885825" cy="381000"/>
          </a:xfrm>
          <a:prstGeom prst="rect">
            <a:avLst/>
          </a:prstGeom>
        </p:spPr>
        <p:txBody>
          <a:bodyPr lIns="0" tIns="0" rIns="0" bIns="0"/>
          <a:lstStyle/>
          <a:p>
            <a:pPr algn="l">
              <a:defRPr sz="713" b="1">
                <a:solidFill>
                  <a:srgbClr val="FFFFFF"/>
                </a:solidFill>
                <a:latin typeface="Arial"/>
                <a:ea typeface="Arial"/>
                <a:cs typeface="Arial"/>
              </a:defRPr>
            </a:pPr>
            <a:r>
              <a:rPr sz="713" b="1">
                <a:solidFill>
                  <a:srgbClr val="FFFFFF"/>
                </a:solidFill>
                <a:latin typeface="Arial"/>
                <a:ea typeface="Arial"/>
                <a:cs typeface="Arial"/>
              </a:rPr>
              <a:t>Frequency</a:t>
            </a:r>
          </a:p>
        </p:txBody>
      </p:sp>
      <p:sp>
        <p:nvSpPr>
          <p:cNvPr id="7" name="Rectangle 6">
            <a:extLst>
              <a:ext uri="{FF2B5EF4-FFF2-40B4-BE49-F238E27FC236}">
                <a16:creationId xmlns:a16="http://schemas.microsoft.com/office/drawing/2014/main" id="{FC3BF552-11FF-4221-ABD6-BFAD04524C19}"/>
              </a:ext>
            </a:extLst>
          </p:cNvPr>
          <p:cNvSpPr>
            <a:spLocks noGrp="1"/>
          </p:cNvSpPr>
          <p:nvPr/>
        </p:nvSpPr>
        <p:spPr>
          <a:xfrm>
            <a:off x="1781175" y="1381125"/>
            <a:ext cx="1143000" cy="457200"/>
          </a:xfrm>
          <a:prstGeom prst="rect">
            <a:avLst/>
          </a:prstGeom>
          <a:solidFill>
            <a:srgbClr val="003A61"/>
          </a:solidFill>
          <a:ln w="7620">
            <a:solidFill>
              <a:srgbClr val="003A61"/>
            </a:solidFill>
          </a:ln>
        </p:spPr>
      </p:sp>
      <p:sp>
        <p:nvSpPr>
          <p:cNvPr id="8" name="Rectangle 7">
            <a:extLst>
              <a:ext uri="{FF2B5EF4-FFF2-40B4-BE49-F238E27FC236}">
                <a16:creationId xmlns:a16="http://schemas.microsoft.com/office/drawing/2014/main" id="{E5E05FE3-D451-4331-9D28-3742AAD859EC}"/>
              </a:ext>
            </a:extLst>
          </p:cNvPr>
          <p:cNvSpPr>
            <a:spLocks noGrp="1"/>
          </p:cNvSpPr>
          <p:nvPr/>
        </p:nvSpPr>
        <p:spPr>
          <a:xfrm>
            <a:off x="1838325" y="1438275"/>
            <a:ext cx="1028700" cy="3810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1 syll.</a:t>
            </a:r>
          </a:p>
        </p:txBody>
      </p:sp>
      <p:sp>
        <p:nvSpPr>
          <p:cNvPr id="9" name="Rectangle 8">
            <a:extLst>
              <a:ext uri="{FF2B5EF4-FFF2-40B4-BE49-F238E27FC236}">
                <a16:creationId xmlns:a16="http://schemas.microsoft.com/office/drawing/2014/main" id="{A5AACE70-D2B8-44F8-A165-64E0D009FE69}"/>
              </a:ext>
            </a:extLst>
          </p:cNvPr>
          <p:cNvSpPr>
            <a:spLocks noGrp="1"/>
          </p:cNvSpPr>
          <p:nvPr/>
        </p:nvSpPr>
        <p:spPr>
          <a:xfrm>
            <a:off x="2924175" y="1381125"/>
            <a:ext cx="1143000" cy="457200"/>
          </a:xfrm>
          <a:prstGeom prst="rect">
            <a:avLst/>
          </a:prstGeom>
          <a:solidFill>
            <a:srgbClr val="003A61"/>
          </a:solidFill>
          <a:ln w="7620">
            <a:solidFill>
              <a:srgbClr val="003A61"/>
            </a:solidFill>
          </a:ln>
        </p:spPr>
      </p:sp>
      <p:sp>
        <p:nvSpPr>
          <p:cNvPr id="10" name="Rectangle 9">
            <a:extLst>
              <a:ext uri="{FF2B5EF4-FFF2-40B4-BE49-F238E27FC236}">
                <a16:creationId xmlns:a16="http://schemas.microsoft.com/office/drawing/2014/main" id="{A60559F0-8A13-4477-9694-284E55B99F4C}"/>
              </a:ext>
            </a:extLst>
          </p:cNvPr>
          <p:cNvSpPr>
            <a:spLocks noGrp="1"/>
          </p:cNvSpPr>
          <p:nvPr/>
        </p:nvSpPr>
        <p:spPr>
          <a:xfrm>
            <a:off x="2981325" y="1438275"/>
            <a:ext cx="1028700" cy="3810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2 syll.</a:t>
            </a:r>
          </a:p>
        </p:txBody>
      </p:sp>
      <p:sp>
        <p:nvSpPr>
          <p:cNvPr id="11" name="Rectangle 10">
            <a:extLst>
              <a:ext uri="{FF2B5EF4-FFF2-40B4-BE49-F238E27FC236}">
                <a16:creationId xmlns:a16="http://schemas.microsoft.com/office/drawing/2014/main" id="{1DD41B6C-04D4-4D0F-BB6A-3A4ED2484984}"/>
              </a:ext>
            </a:extLst>
          </p:cNvPr>
          <p:cNvSpPr>
            <a:spLocks noGrp="1"/>
          </p:cNvSpPr>
          <p:nvPr/>
        </p:nvSpPr>
        <p:spPr>
          <a:xfrm>
            <a:off x="4067175" y="1381125"/>
            <a:ext cx="1143000" cy="457200"/>
          </a:xfrm>
          <a:prstGeom prst="rect">
            <a:avLst/>
          </a:prstGeom>
          <a:solidFill>
            <a:srgbClr val="003A61"/>
          </a:solidFill>
          <a:ln w="7620">
            <a:solidFill>
              <a:srgbClr val="003A61"/>
            </a:solidFill>
          </a:ln>
        </p:spPr>
      </p:sp>
      <p:sp>
        <p:nvSpPr>
          <p:cNvPr id="12" name="Rectangle 11">
            <a:extLst>
              <a:ext uri="{FF2B5EF4-FFF2-40B4-BE49-F238E27FC236}">
                <a16:creationId xmlns:a16="http://schemas.microsoft.com/office/drawing/2014/main" id="{1D3F379B-4185-4520-944A-9B5241554CAE}"/>
              </a:ext>
            </a:extLst>
          </p:cNvPr>
          <p:cNvSpPr>
            <a:spLocks noGrp="1"/>
          </p:cNvSpPr>
          <p:nvPr/>
        </p:nvSpPr>
        <p:spPr>
          <a:xfrm>
            <a:off x="4124325" y="1438275"/>
            <a:ext cx="1028700" cy="3810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3 syll.</a:t>
            </a:r>
          </a:p>
        </p:txBody>
      </p:sp>
      <p:sp>
        <p:nvSpPr>
          <p:cNvPr id="13" name="Rectangle 12">
            <a:extLst>
              <a:ext uri="{FF2B5EF4-FFF2-40B4-BE49-F238E27FC236}">
                <a16:creationId xmlns:a16="http://schemas.microsoft.com/office/drawing/2014/main" id="{50C002A9-669B-44CC-AFC4-30A59637D069}"/>
              </a:ext>
            </a:extLst>
          </p:cNvPr>
          <p:cNvSpPr>
            <a:spLocks noGrp="1"/>
          </p:cNvSpPr>
          <p:nvPr/>
        </p:nvSpPr>
        <p:spPr>
          <a:xfrm>
            <a:off x="5210175" y="1381125"/>
            <a:ext cx="1143000" cy="457200"/>
          </a:xfrm>
          <a:prstGeom prst="rect">
            <a:avLst/>
          </a:prstGeom>
          <a:solidFill>
            <a:srgbClr val="003A61"/>
          </a:solidFill>
          <a:ln w="7620">
            <a:solidFill>
              <a:srgbClr val="003A61"/>
            </a:solidFill>
          </a:ln>
        </p:spPr>
      </p:sp>
      <p:sp>
        <p:nvSpPr>
          <p:cNvPr id="14" name="Rectangle 13">
            <a:extLst>
              <a:ext uri="{FF2B5EF4-FFF2-40B4-BE49-F238E27FC236}">
                <a16:creationId xmlns:a16="http://schemas.microsoft.com/office/drawing/2014/main" id="{6E1AE17E-475E-457B-8ACF-EFC4D6E2170A}"/>
              </a:ext>
            </a:extLst>
          </p:cNvPr>
          <p:cNvSpPr>
            <a:spLocks noGrp="1"/>
          </p:cNvSpPr>
          <p:nvPr/>
        </p:nvSpPr>
        <p:spPr>
          <a:xfrm>
            <a:off x="5267325" y="1438275"/>
            <a:ext cx="1028700" cy="3810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4 syll.</a:t>
            </a:r>
          </a:p>
        </p:txBody>
      </p:sp>
      <p:sp>
        <p:nvSpPr>
          <p:cNvPr id="15" name="Rectangle 14">
            <a:extLst>
              <a:ext uri="{FF2B5EF4-FFF2-40B4-BE49-F238E27FC236}">
                <a16:creationId xmlns:a16="http://schemas.microsoft.com/office/drawing/2014/main" id="{5692267A-130F-469C-AAEE-87CA9F8D9C2D}"/>
              </a:ext>
            </a:extLst>
          </p:cNvPr>
          <p:cNvSpPr>
            <a:spLocks noGrp="1"/>
          </p:cNvSpPr>
          <p:nvPr/>
        </p:nvSpPr>
        <p:spPr>
          <a:xfrm>
            <a:off x="781050" y="1838325"/>
            <a:ext cx="1000125" cy="457200"/>
          </a:xfrm>
          <a:prstGeom prst="rect">
            <a:avLst/>
          </a:prstGeom>
          <a:solidFill>
            <a:srgbClr val="FFFFFF"/>
          </a:solidFill>
          <a:ln w="7620">
            <a:solidFill>
              <a:srgbClr val="DDECB3"/>
            </a:solidFill>
          </a:ln>
        </p:spPr>
      </p:sp>
      <p:sp>
        <p:nvSpPr>
          <p:cNvPr id="16" name="Rectangle 15">
            <a:extLst>
              <a:ext uri="{FF2B5EF4-FFF2-40B4-BE49-F238E27FC236}">
                <a16:creationId xmlns:a16="http://schemas.microsoft.com/office/drawing/2014/main" id="{AC81E004-D6DD-46DA-A497-9F70387F8339}"/>
              </a:ext>
            </a:extLst>
          </p:cNvPr>
          <p:cNvSpPr>
            <a:spLocks noGrp="1"/>
          </p:cNvSpPr>
          <p:nvPr/>
        </p:nvSpPr>
        <p:spPr>
          <a:xfrm>
            <a:off x="838200" y="1895475"/>
            <a:ext cx="885825" cy="38100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low</a:t>
            </a:r>
          </a:p>
        </p:txBody>
      </p:sp>
      <p:sp>
        <p:nvSpPr>
          <p:cNvPr id="17" name="Rectangle 16">
            <a:extLst>
              <a:ext uri="{FF2B5EF4-FFF2-40B4-BE49-F238E27FC236}">
                <a16:creationId xmlns:a16="http://schemas.microsoft.com/office/drawing/2014/main" id="{64B268F9-649A-42E5-9E8A-DAAC45340BF0}"/>
              </a:ext>
            </a:extLst>
          </p:cNvPr>
          <p:cNvSpPr>
            <a:spLocks noGrp="1"/>
          </p:cNvSpPr>
          <p:nvPr/>
        </p:nvSpPr>
        <p:spPr>
          <a:xfrm>
            <a:off x="1781175" y="1838325"/>
            <a:ext cx="1143000" cy="457200"/>
          </a:xfrm>
          <a:prstGeom prst="rect">
            <a:avLst/>
          </a:prstGeom>
          <a:solidFill>
            <a:srgbClr val="FFFFFF"/>
          </a:solidFill>
          <a:ln w="7620">
            <a:solidFill>
              <a:srgbClr val="DDECB3"/>
            </a:solidFill>
          </a:ln>
        </p:spPr>
      </p:sp>
      <p:sp>
        <p:nvSpPr>
          <p:cNvPr id="18" name="Rectangle 17">
            <a:extLst>
              <a:ext uri="{FF2B5EF4-FFF2-40B4-BE49-F238E27FC236}">
                <a16:creationId xmlns:a16="http://schemas.microsoft.com/office/drawing/2014/main" id="{35481FDC-BCEB-4D3E-87DF-C4E9FF902080}"/>
              </a:ext>
            </a:extLst>
          </p:cNvPr>
          <p:cNvSpPr>
            <a:spLocks noGrp="1"/>
          </p:cNvSpPr>
          <p:nvPr/>
        </p:nvSpPr>
        <p:spPr>
          <a:xfrm>
            <a:off x="1838325" y="18954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19" name="Rectangle 18">
            <a:extLst>
              <a:ext uri="{FF2B5EF4-FFF2-40B4-BE49-F238E27FC236}">
                <a16:creationId xmlns:a16="http://schemas.microsoft.com/office/drawing/2014/main" id="{7D9CD236-F8DA-477D-9665-4AC124CBE02A}"/>
              </a:ext>
            </a:extLst>
          </p:cNvPr>
          <p:cNvSpPr>
            <a:spLocks noGrp="1"/>
          </p:cNvSpPr>
          <p:nvPr/>
        </p:nvSpPr>
        <p:spPr>
          <a:xfrm>
            <a:off x="2924175" y="1838325"/>
            <a:ext cx="1143000" cy="457200"/>
          </a:xfrm>
          <a:prstGeom prst="rect">
            <a:avLst/>
          </a:prstGeom>
          <a:solidFill>
            <a:srgbClr val="FFFFFF"/>
          </a:solidFill>
          <a:ln w="7620">
            <a:solidFill>
              <a:srgbClr val="DDECB3"/>
            </a:solidFill>
          </a:ln>
        </p:spPr>
      </p:sp>
      <p:sp>
        <p:nvSpPr>
          <p:cNvPr id="20" name="Rectangle 19">
            <a:extLst>
              <a:ext uri="{FF2B5EF4-FFF2-40B4-BE49-F238E27FC236}">
                <a16:creationId xmlns:a16="http://schemas.microsoft.com/office/drawing/2014/main" id="{DD1B36AE-C77A-4ACF-A3D6-E47A915311F9}"/>
              </a:ext>
            </a:extLst>
          </p:cNvPr>
          <p:cNvSpPr>
            <a:spLocks noGrp="1"/>
          </p:cNvSpPr>
          <p:nvPr/>
        </p:nvSpPr>
        <p:spPr>
          <a:xfrm>
            <a:off x="2981325" y="18954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21" name="Rectangle 20">
            <a:extLst>
              <a:ext uri="{FF2B5EF4-FFF2-40B4-BE49-F238E27FC236}">
                <a16:creationId xmlns:a16="http://schemas.microsoft.com/office/drawing/2014/main" id="{07D2874A-08B2-4D2C-975E-BB9BFD5A803A}"/>
              </a:ext>
            </a:extLst>
          </p:cNvPr>
          <p:cNvSpPr>
            <a:spLocks noGrp="1"/>
          </p:cNvSpPr>
          <p:nvPr/>
        </p:nvSpPr>
        <p:spPr>
          <a:xfrm>
            <a:off x="4067175" y="1838325"/>
            <a:ext cx="1143000" cy="457200"/>
          </a:xfrm>
          <a:prstGeom prst="rect">
            <a:avLst/>
          </a:prstGeom>
          <a:solidFill>
            <a:srgbClr val="FFFFFF"/>
          </a:solidFill>
          <a:ln w="7620">
            <a:solidFill>
              <a:srgbClr val="DDECB3"/>
            </a:solidFill>
          </a:ln>
        </p:spPr>
      </p:sp>
      <p:sp>
        <p:nvSpPr>
          <p:cNvPr id="22" name="Rectangle 21">
            <a:extLst>
              <a:ext uri="{FF2B5EF4-FFF2-40B4-BE49-F238E27FC236}">
                <a16:creationId xmlns:a16="http://schemas.microsoft.com/office/drawing/2014/main" id="{AA946E61-7412-4BAA-AF0F-DC3A2C618DE6}"/>
              </a:ext>
            </a:extLst>
          </p:cNvPr>
          <p:cNvSpPr>
            <a:spLocks noGrp="1"/>
          </p:cNvSpPr>
          <p:nvPr/>
        </p:nvSpPr>
        <p:spPr>
          <a:xfrm>
            <a:off x="4124325" y="18954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23" name="Rectangle 22">
            <a:extLst>
              <a:ext uri="{FF2B5EF4-FFF2-40B4-BE49-F238E27FC236}">
                <a16:creationId xmlns:a16="http://schemas.microsoft.com/office/drawing/2014/main" id="{FE122345-B6B9-4EF6-AE73-1B63447887D9}"/>
              </a:ext>
            </a:extLst>
          </p:cNvPr>
          <p:cNvSpPr>
            <a:spLocks noGrp="1"/>
          </p:cNvSpPr>
          <p:nvPr/>
        </p:nvSpPr>
        <p:spPr>
          <a:xfrm>
            <a:off x="5210175" y="1838325"/>
            <a:ext cx="1143000" cy="457200"/>
          </a:xfrm>
          <a:prstGeom prst="rect">
            <a:avLst/>
          </a:prstGeom>
          <a:solidFill>
            <a:srgbClr val="FFFFFF"/>
          </a:solidFill>
          <a:ln w="7620">
            <a:solidFill>
              <a:srgbClr val="DDECB3"/>
            </a:solidFill>
          </a:ln>
        </p:spPr>
      </p:sp>
      <p:sp>
        <p:nvSpPr>
          <p:cNvPr id="24" name="Rectangle 23">
            <a:extLst>
              <a:ext uri="{FF2B5EF4-FFF2-40B4-BE49-F238E27FC236}">
                <a16:creationId xmlns:a16="http://schemas.microsoft.com/office/drawing/2014/main" id="{EA4E5012-AA92-40D7-AE75-F65370886C46}"/>
              </a:ext>
            </a:extLst>
          </p:cNvPr>
          <p:cNvSpPr>
            <a:spLocks noGrp="1"/>
          </p:cNvSpPr>
          <p:nvPr/>
        </p:nvSpPr>
        <p:spPr>
          <a:xfrm>
            <a:off x="5267325" y="18954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25" name="Rectangle 24">
            <a:extLst>
              <a:ext uri="{FF2B5EF4-FFF2-40B4-BE49-F238E27FC236}">
                <a16:creationId xmlns:a16="http://schemas.microsoft.com/office/drawing/2014/main" id="{8182A7E9-E5DC-4469-9777-36ABFBC426F6}"/>
              </a:ext>
            </a:extLst>
          </p:cNvPr>
          <p:cNvSpPr>
            <a:spLocks noGrp="1"/>
          </p:cNvSpPr>
          <p:nvPr/>
        </p:nvSpPr>
        <p:spPr>
          <a:xfrm>
            <a:off x="781050" y="2295525"/>
            <a:ext cx="1000125" cy="457200"/>
          </a:xfrm>
          <a:prstGeom prst="rect">
            <a:avLst/>
          </a:prstGeom>
          <a:solidFill>
            <a:srgbClr val="FFFFFF"/>
          </a:solidFill>
          <a:ln w="7620">
            <a:solidFill>
              <a:srgbClr val="DDECB3"/>
            </a:solidFill>
          </a:ln>
        </p:spPr>
      </p:sp>
      <p:sp>
        <p:nvSpPr>
          <p:cNvPr id="26" name="Rectangle 25">
            <a:extLst>
              <a:ext uri="{FF2B5EF4-FFF2-40B4-BE49-F238E27FC236}">
                <a16:creationId xmlns:a16="http://schemas.microsoft.com/office/drawing/2014/main" id="{EB0F784E-855C-4F4E-BD00-45629441C9F7}"/>
              </a:ext>
            </a:extLst>
          </p:cNvPr>
          <p:cNvSpPr>
            <a:spLocks noGrp="1"/>
          </p:cNvSpPr>
          <p:nvPr/>
        </p:nvSpPr>
        <p:spPr>
          <a:xfrm>
            <a:off x="838200" y="2352675"/>
            <a:ext cx="885825" cy="38100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mid</a:t>
            </a:r>
          </a:p>
        </p:txBody>
      </p:sp>
      <p:sp>
        <p:nvSpPr>
          <p:cNvPr id="27" name="Rectangle 26">
            <a:extLst>
              <a:ext uri="{FF2B5EF4-FFF2-40B4-BE49-F238E27FC236}">
                <a16:creationId xmlns:a16="http://schemas.microsoft.com/office/drawing/2014/main" id="{AAA908B7-D18C-4C3B-9906-98118C32CB97}"/>
              </a:ext>
            </a:extLst>
          </p:cNvPr>
          <p:cNvSpPr>
            <a:spLocks noGrp="1"/>
          </p:cNvSpPr>
          <p:nvPr/>
        </p:nvSpPr>
        <p:spPr>
          <a:xfrm>
            <a:off x="1781175" y="2295525"/>
            <a:ext cx="1143000" cy="457200"/>
          </a:xfrm>
          <a:prstGeom prst="rect">
            <a:avLst/>
          </a:prstGeom>
          <a:solidFill>
            <a:srgbClr val="FFFFFF"/>
          </a:solidFill>
          <a:ln w="7620">
            <a:solidFill>
              <a:srgbClr val="DDECB3"/>
            </a:solidFill>
          </a:ln>
        </p:spPr>
      </p:sp>
      <p:sp>
        <p:nvSpPr>
          <p:cNvPr id="28" name="Rectangle 27">
            <a:extLst>
              <a:ext uri="{FF2B5EF4-FFF2-40B4-BE49-F238E27FC236}">
                <a16:creationId xmlns:a16="http://schemas.microsoft.com/office/drawing/2014/main" id="{9D4DACFD-AAC0-4018-868B-F63F6D956049}"/>
              </a:ext>
            </a:extLst>
          </p:cNvPr>
          <p:cNvSpPr>
            <a:spLocks noGrp="1"/>
          </p:cNvSpPr>
          <p:nvPr/>
        </p:nvSpPr>
        <p:spPr>
          <a:xfrm>
            <a:off x="1838325" y="23526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29" name="Rectangle 28">
            <a:extLst>
              <a:ext uri="{FF2B5EF4-FFF2-40B4-BE49-F238E27FC236}">
                <a16:creationId xmlns:a16="http://schemas.microsoft.com/office/drawing/2014/main" id="{440CC6F5-AE76-49DE-A055-11E9A491234C}"/>
              </a:ext>
            </a:extLst>
          </p:cNvPr>
          <p:cNvSpPr>
            <a:spLocks noGrp="1"/>
          </p:cNvSpPr>
          <p:nvPr/>
        </p:nvSpPr>
        <p:spPr>
          <a:xfrm>
            <a:off x="2924175" y="2295525"/>
            <a:ext cx="1143000" cy="457200"/>
          </a:xfrm>
          <a:prstGeom prst="rect">
            <a:avLst/>
          </a:prstGeom>
          <a:solidFill>
            <a:srgbClr val="FFFFFF"/>
          </a:solidFill>
          <a:ln w="7620">
            <a:solidFill>
              <a:srgbClr val="DDECB3"/>
            </a:solidFill>
          </a:ln>
        </p:spPr>
      </p:sp>
      <p:sp>
        <p:nvSpPr>
          <p:cNvPr id="30" name="Rectangle 29">
            <a:extLst>
              <a:ext uri="{FF2B5EF4-FFF2-40B4-BE49-F238E27FC236}">
                <a16:creationId xmlns:a16="http://schemas.microsoft.com/office/drawing/2014/main" id="{D0332BD4-F2B2-4934-88C1-AAE2877D6BC1}"/>
              </a:ext>
            </a:extLst>
          </p:cNvPr>
          <p:cNvSpPr>
            <a:spLocks noGrp="1"/>
          </p:cNvSpPr>
          <p:nvPr/>
        </p:nvSpPr>
        <p:spPr>
          <a:xfrm>
            <a:off x="2981325" y="23526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31" name="Rectangle 30">
            <a:extLst>
              <a:ext uri="{FF2B5EF4-FFF2-40B4-BE49-F238E27FC236}">
                <a16:creationId xmlns:a16="http://schemas.microsoft.com/office/drawing/2014/main" id="{C063585A-C656-41EF-818A-1555002E899F}"/>
              </a:ext>
            </a:extLst>
          </p:cNvPr>
          <p:cNvSpPr>
            <a:spLocks noGrp="1"/>
          </p:cNvSpPr>
          <p:nvPr/>
        </p:nvSpPr>
        <p:spPr>
          <a:xfrm>
            <a:off x="4067175" y="2295525"/>
            <a:ext cx="1143000" cy="457200"/>
          </a:xfrm>
          <a:prstGeom prst="rect">
            <a:avLst/>
          </a:prstGeom>
          <a:solidFill>
            <a:srgbClr val="FFFFFF"/>
          </a:solidFill>
          <a:ln w="7620">
            <a:solidFill>
              <a:srgbClr val="DDECB3"/>
            </a:solidFill>
          </a:ln>
        </p:spPr>
      </p:sp>
      <p:sp>
        <p:nvSpPr>
          <p:cNvPr id="32" name="Rectangle 31">
            <a:extLst>
              <a:ext uri="{FF2B5EF4-FFF2-40B4-BE49-F238E27FC236}">
                <a16:creationId xmlns:a16="http://schemas.microsoft.com/office/drawing/2014/main" id="{D5D8CF2F-54D6-4C54-9FCB-AB7A97D999C7}"/>
              </a:ext>
            </a:extLst>
          </p:cNvPr>
          <p:cNvSpPr>
            <a:spLocks noGrp="1"/>
          </p:cNvSpPr>
          <p:nvPr/>
        </p:nvSpPr>
        <p:spPr>
          <a:xfrm>
            <a:off x="4124325" y="23526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33" name="Rectangle 32">
            <a:extLst>
              <a:ext uri="{FF2B5EF4-FFF2-40B4-BE49-F238E27FC236}">
                <a16:creationId xmlns:a16="http://schemas.microsoft.com/office/drawing/2014/main" id="{6DA06143-9D93-45BF-88CB-600B0E4A515C}"/>
              </a:ext>
            </a:extLst>
          </p:cNvPr>
          <p:cNvSpPr>
            <a:spLocks noGrp="1"/>
          </p:cNvSpPr>
          <p:nvPr/>
        </p:nvSpPr>
        <p:spPr>
          <a:xfrm>
            <a:off x="5210175" y="2295525"/>
            <a:ext cx="1143000" cy="457200"/>
          </a:xfrm>
          <a:prstGeom prst="rect">
            <a:avLst/>
          </a:prstGeom>
          <a:solidFill>
            <a:srgbClr val="FFFFFF"/>
          </a:solidFill>
          <a:ln w="7620">
            <a:solidFill>
              <a:srgbClr val="DDECB3"/>
            </a:solidFill>
          </a:ln>
        </p:spPr>
      </p:sp>
      <p:sp>
        <p:nvSpPr>
          <p:cNvPr id="34" name="Rectangle 33">
            <a:extLst>
              <a:ext uri="{FF2B5EF4-FFF2-40B4-BE49-F238E27FC236}">
                <a16:creationId xmlns:a16="http://schemas.microsoft.com/office/drawing/2014/main" id="{C36314C6-E92C-4D7C-9F76-C594A63B1611}"/>
              </a:ext>
            </a:extLst>
          </p:cNvPr>
          <p:cNvSpPr>
            <a:spLocks noGrp="1"/>
          </p:cNvSpPr>
          <p:nvPr/>
        </p:nvSpPr>
        <p:spPr>
          <a:xfrm>
            <a:off x="5267325" y="23526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35" name="Rectangle 34">
            <a:extLst>
              <a:ext uri="{FF2B5EF4-FFF2-40B4-BE49-F238E27FC236}">
                <a16:creationId xmlns:a16="http://schemas.microsoft.com/office/drawing/2014/main" id="{A055D762-6BF5-4488-8A33-9A136954CB8E}"/>
              </a:ext>
            </a:extLst>
          </p:cNvPr>
          <p:cNvSpPr>
            <a:spLocks noGrp="1"/>
          </p:cNvSpPr>
          <p:nvPr/>
        </p:nvSpPr>
        <p:spPr>
          <a:xfrm>
            <a:off x="781050" y="2752725"/>
            <a:ext cx="1000125" cy="457200"/>
          </a:xfrm>
          <a:prstGeom prst="rect">
            <a:avLst/>
          </a:prstGeom>
          <a:solidFill>
            <a:srgbClr val="FFFFFF"/>
          </a:solidFill>
          <a:ln w="7620">
            <a:solidFill>
              <a:srgbClr val="DDECB3"/>
            </a:solidFill>
          </a:ln>
        </p:spPr>
      </p:sp>
      <p:sp>
        <p:nvSpPr>
          <p:cNvPr id="36" name="Rectangle 35">
            <a:extLst>
              <a:ext uri="{FF2B5EF4-FFF2-40B4-BE49-F238E27FC236}">
                <a16:creationId xmlns:a16="http://schemas.microsoft.com/office/drawing/2014/main" id="{7C15470C-1F2D-4FBA-A68B-A44EBFE60236}"/>
              </a:ext>
            </a:extLst>
          </p:cNvPr>
          <p:cNvSpPr>
            <a:spLocks noGrp="1"/>
          </p:cNvSpPr>
          <p:nvPr/>
        </p:nvSpPr>
        <p:spPr>
          <a:xfrm>
            <a:off x="838200" y="2809875"/>
            <a:ext cx="885825" cy="38100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high</a:t>
            </a:r>
          </a:p>
        </p:txBody>
      </p:sp>
      <p:sp>
        <p:nvSpPr>
          <p:cNvPr id="37" name="Rectangle 36">
            <a:extLst>
              <a:ext uri="{FF2B5EF4-FFF2-40B4-BE49-F238E27FC236}">
                <a16:creationId xmlns:a16="http://schemas.microsoft.com/office/drawing/2014/main" id="{36AE8CC3-4941-4234-9F7D-74ABA6C9C257}"/>
              </a:ext>
            </a:extLst>
          </p:cNvPr>
          <p:cNvSpPr>
            <a:spLocks noGrp="1"/>
          </p:cNvSpPr>
          <p:nvPr/>
        </p:nvSpPr>
        <p:spPr>
          <a:xfrm>
            <a:off x="1781175" y="2752725"/>
            <a:ext cx="1143000" cy="457200"/>
          </a:xfrm>
          <a:prstGeom prst="rect">
            <a:avLst/>
          </a:prstGeom>
          <a:solidFill>
            <a:srgbClr val="FFFFFF"/>
          </a:solidFill>
          <a:ln w="7620">
            <a:solidFill>
              <a:srgbClr val="DDECB3"/>
            </a:solidFill>
          </a:ln>
        </p:spPr>
      </p:sp>
      <p:sp>
        <p:nvSpPr>
          <p:cNvPr id="38" name="Rectangle 37">
            <a:extLst>
              <a:ext uri="{FF2B5EF4-FFF2-40B4-BE49-F238E27FC236}">
                <a16:creationId xmlns:a16="http://schemas.microsoft.com/office/drawing/2014/main" id="{A04A7A0F-9B0E-4868-BF65-D2DFD16DA222}"/>
              </a:ext>
            </a:extLst>
          </p:cNvPr>
          <p:cNvSpPr>
            <a:spLocks noGrp="1"/>
          </p:cNvSpPr>
          <p:nvPr/>
        </p:nvSpPr>
        <p:spPr>
          <a:xfrm>
            <a:off x="1838325" y="28098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39" name="Rectangle 38">
            <a:extLst>
              <a:ext uri="{FF2B5EF4-FFF2-40B4-BE49-F238E27FC236}">
                <a16:creationId xmlns:a16="http://schemas.microsoft.com/office/drawing/2014/main" id="{693ACF0C-7DFA-4CBE-8F76-670D25FB105E}"/>
              </a:ext>
            </a:extLst>
          </p:cNvPr>
          <p:cNvSpPr>
            <a:spLocks noGrp="1"/>
          </p:cNvSpPr>
          <p:nvPr/>
        </p:nvSpPr>
        <p:spPr>
          <a:xfrm>
            <a:off x="2924175" y="2752725"/>
            <a:ext cx="1143000" cy="457200"/>
          </a:xfrm>
          <a:prstGeom prst="rect">
            <a:avLst/>
          </a:prstGeom>
          <a:solidFill>
            <a:srgbClr val="FFFFFF"/>
          </a:solidFill>
          <a:ln w="7620">
            <a:solidFill>
              <a:srgbClr val="DDECB3"/>
            </a:solidFill>
          </a:ln>
        </p:spPr>
      </p:sp>
      <p:sp>
        <p:nvSpPr>
          <p:cNvPr id="40" name="Rectangle 39">
            <a:extLst>
              <a:ext uri="{FF2B5EF4-FFF2-40B4-BE49-F238E27FC236}">
                <a16:creationId xmlns:a16="http://schemas.microsoft.com/office/drawing/2014/main" id="{3E2CA01E-5F27-422D-B88F-3191E85E2EED}"/>
              </a:ext>
            </a:extLst>
          </p:cNvPr>
          <p:cNvSpPr>
            <a:spLocks noGrp="1"/>
          </p:cNvSpPr>
          <p:nvPr/>
        </p:nvSpPr>
        <p:spPr>
          <a:xfrm>
            <a:off x="2981325" y="28098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41" name="Rectangle 40">
            <a:extLst>
              <a:ext uri="{FF2B5EF4-FFF2-40B4-BE49-F238E27FC236}">
                <a16:creationId xmlns:a16="http://schemas.microsoft.com/office/drawing/2014/main" id="{52364E3F-0972-44AC-BA98-F61911CB6992}"/>
              </a:ext>
            </a:extLst>
          </p:cNvPr>
          <p:cNvSpPr>
            <a:spLocks noGrp="1"/>
          </p:cNvSpPr>
          <p:nvPr/>
        </p:nvSpPr>
        <p:spPr>
          <a:xfrm>
            <a:off x="4067175" y="2752725"/>
            <a:ext cx="1143000" cy="457200"/>
          </a:xfrm>
          <a:prstGeom prst="rect">
            <a:avLst/>
          </a:prstGeom>
          <a:solidFill>
            <a:srgbClr val="FFFFFF"/>
          </a:solidFill>
          <a:ln w="7620">
            <a:solidFill>
              <a:srgbClr val="DDECB3"/>
            </a:solidFill>
          </a:ln>
        </p:spPr>
      </p:sp>
      <p:sp>
        <p:nvSpPr>
          <p:cNvPr id="42" name="Rectangle 41">
            <a:extLst>
              <a:ext uri="{FF2B5EF4-FFF2-40B4-BE49-F238E27FC236}">
                <a16:creationId xmlns:a16="http://schemas.microsoft.com/office/drawing/2014/main" id="{33C1C80E-AEBF-4C9B-878D-7109F2A07D3E}"/>
              </a:ext>
            </a:extLst>
          </p:cNvPr>
          <p:cNvSpPr>
            <a:spLocks noGrp="1"/>
          </p:cNvSpPr>
          <p:nvPr/>
        </p:nvSpPr>
        <p:spPr>
          <a:xfrm>
            <a:off x="4124325" y="28098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43" name="Rectangle 42">
            <a:extLst>
              <a:ext uri="{FF2B5EF4-FFF2-40B4-BE49-F238E27FC236}">
                <a16:creationId xmlns:a16="http://schemas.microsoft.com/office/drawing/2014/main" id="{5A2682FD-0D96-497A-992E-8CF4E539F66C}"/>
              </a:ext>
            </a:extLst>
          </p:cNvPr>
          <p:cNvSpPr>
            <a:spLocks noGrp="1"/>
          </p:cNvSpPr>
          <p:nvPr/>
        </p:nvSpPr>
        <p:spPr>
          <a:xfrm>
            <a:off x="5210175" y="2752725"/>
            <a:ext cx="1143000" cy="457200"/>
          </a:xfrm>
          <a:prstGeom prst="rect">
            <a:avLst/>
          </a:prstGeom>
          <a:solidFill>
            <a:srgbClr val="FFFFFF"/>
          </a:solidFill>
          <a:ln w="7620">
            <a:solidFill>
              <a:srgbClr val="DDECB3"/>
            </a:solidFill>
          </a:ln>
        </p:spPr>
      </p:sp>
      <p:sp>
        <p:nvSpPr>
          <p:cNvPr id="44" name="Rectangle 43">
            <a:extLst>
              <a:ext uri="{FF2B5EF4-FFF2-40B4-BE49-F238E27FC236}">
                <a16:creationId xmlns:a16="http://schemas.microsoft.com/office/drawing/2014/main" id="{746061E7-32A4-404A-B842-6BF975E190C4}"/>
              </a:ext>
            </a:extLst>
          </p:cNvPr>
          <p:cNvSpPr>
            <a:spLocks noGrp="1"/>
          </p:cNvSpPr>
          <p:nvPr/>
        </p:nvSpPr>
        <p:spPr>
          <a:xfrm>
            <a:off x="5267325" y="2809875"/>
            <a:ext cx="1028700" cy="3810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6</a:t>
            </a:r>
          </a:p>
        </p:txBody>
      </p:sp>
      <p:sp>
        <p:nvSpPr>
          <p:cNvPr id="45" name="Rectangle 44">
            <a:extLst>
              <a:ext uri="{FF2B5EF4-FFF2-40B4-BE49-F238E27FC236}">
                <a16:creationId xmlns:a16="http://schemas.microsoft.com/office/drawing/2014/main" id="{5F4D4787-6C81-4E02-A99A-3E64D3B8246E}"/>
              </a:ext>
            </a:extLst>
          </p:cNvPr>
          <p:cNvSpPr>
            <a:spLocks noGrp="1"/>
          </p:cNvSpPr>
          <p:nvPr/>
        </p:nvSpPr>
        <p:spPr>
          <a:xfrm>
            <a:off x="1905000" y="3400425"/>
            <a:ext cx="3429000" cy="152400"/>
          </a:xfrm>
          <a:prstGeom prst="rect">
            <a:avLst/>
          </a:prstGeom>
        </p:spPr>
        <p:txBody>
          <a:bodyPr lIns="0" tIns="0" rIns="0" bIns="0"/>
          <a:lstStyle/>
          <a:p>
            <a:r>
              <a:rPr sz="750">
                <a:solidFill>
                  <a:srgbClr val="63717A"/>
                </a:solidFill>
                <a:latin typeface="Arial"/>
                <a:ea typeface="Arial"/>
                <a:cs typeface="Arial"/>
              </a:rPr>
              <a:t>cell value = number of real-word items</a:t>
            </a:r>
          </a:p>
        </p:txBody>
      </p:sp>
      <p:sp>
        <p:nvSpPr>
          <p:cNvPr id="46" name="Rectangle 45">
            <a:extLst>
              <a:ext uri="{FF2B5EF4-FFF2-40B4-BE49-F238E27FC236}">
                <a16:creationId xmlns:a16="http://schemas.microsoft.com/office/drawing/2014/main" id="{170C7CD7-5FD4-43E7-A3F2-90B09DA37ACD}"/>
              </a:ext>
            </a:extLst>
          </p:cNvPr>
          <p:cNvSpPr>
            <a:spLocks noGrp="1"/>
          </p:cNvSpPr>
          <p:nvPr/>
        </p:nvSpPr>
        <p:spPr>
          <a:xfrm>
            <a:off x="6429375" y="1352550"/>
            <a:ext cx="1428750" cy="685800"/>
          </a:xfrm>
          <a:prstGeom prst="rect">
            <a:avLst/>
          </a:prstGeom>
          <a:solidFill>
            <a:srgbClr val="DDECB3"/>
          </a:solidFill>
          <a:ln w="7620">
            <a:solidFill>
              <a:srgbClr val="003A61"/>
            </a:solidFill>
          </a:ln>
        </p:spPr>
        <p:txBody>
          <a:bodyPr lIns="0" tIns="0" rIns="0" bIns="0"/>
          <a:lstStyle/>
          <a:p>
            <a:r>
              <a:rPr sz="100">
                <a:solidFill>
                  <a:srgbClr val="DDECB3"/>
                </a:solidFill>
                <a:latin typeface="Arial"/>
                <a:ea typeface="Arial"/>
                <a:cs typeface="Arial"/>
              </a:rPr>
              <a:t>.</a:t>
            </a:r>
          </a:p>
        </p:txBody>
      </p:sp>
      <p:sp>
        <p:nvSpPr>
          <p:cNvPr id="47" name="Rectangle 46">
            <a:extLst>
              <a:ext uri="{FF2B5EF4-FFF2-40B4-BE49-F238E27FC236}">
                <a16:creationId xmlns:a16="http://schemas.microsoft.com/office/drawing/2014/main" id="{3522A9BA-9922-494C-A137-42900644BD92}"/>
              </a:ext>
            </a:extLst>
          </p:cNvPr>
          <p:cNvSpPr>
            <a:spLocks noGrp="1"/>
          </p:cNvSpPr>
          <p:nvPr/>
        </p:nvSpPr>
        <p:spPr>
          <a:xfrm>
            <a:off x="6524625" y="1447800"/>
            <a:ext cx="1238250"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72</a:t>
            </a:r>
          </a:p>
        </p:txBody>
      </p:sp>
      <p:sp>
        <p:nvSpPr>
          <p:cNvPr id="48" name="Rectangle 47">
            <a:extLst>
              <a:ext uri="{FF2B5EF4-FFF2-40B4-BE49-F238E27FC236}">
                <a16:creationId xmlns:a16="http://schemas.microsoft.com/office/drawing/2014/main" id="{E2F333D9-C32F-4FB6-B318-137E62AD3828}"/>
              </a:ext>
            </a:extLst>
          </p:cNvPr>
          <p:cNvSpPr>
            <a:spLocks noGrp="1"/>
          </p:cNvSpPr>
          <p:nvPr/>
        </p:nvSpPr>
        <p:spPr>
          <a:xfrm>
            <a:off x="6524625" y="1714500"/>
            <a:ext cx="1238250"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real words</a:t>
            </a:r>
          </a:p>
        </p:txBody>
      </p:sp>
      <p:sp>
        <p:nvSpPr>
          <p:cNvPr id="49" name="Rectangle 48">
            <a:extLst>
              <a:ext uri="{FF2B5EF4-FFF2-40B4-BE49-F238E27FC236}">
                <a16:creationId xmlns:a16="http://schemas.microsoft.com/office/drawing/2014/main" id="{2A9489E8-9900-4833-A648-F3FB8DD703BB}"/>
              </a:ext>
            </a:extLst>
          </p:cNvPr>
          <p:cNvSpPr>
            <a:spLocks noGrp="1"/>
          </p:cNvSpPr>
          <p:nvPr/>
        </p:nvSpPr>
        <p:spPr>
          <a:xfrm>
            <a:off x="6524625" y="1885950"/>
            <a:ext cx="1238250"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6 per real-word cell</a:t>
            </a:r>
          </a:p>
        </p:txBody>
      </p:sp>
      <p:sp>
        <p:nvSpPr>
          <p:cNvPr id="50" name="Rectangle 49">
            <a:extLst>
              <a:ext uri="{FF2B5EF4-FFF2-40B4-BE49-F238E27FC236}">
                <a16:creationId xmlns:a16="http://schemas.microsoft.com/office/drawing/2014/main" id="{14CFFDDB-EAE8-46B1-9B94-820219A0E9A8}"/>
              </a:ext>
            </a:extLst>
          </p:cNvPr>
          <p:cNvSpPr>
            <a:spLocks noGrp="1"/>
          </p:cNvSpPr>
          <p:nvPr/>
        </p:nvSpPr>
        <p:spPr>
          <a:xfrm>
            <a:off x="6429375" y="2190750"/>
            <a:ext cx="1428750" cy="685800"/>
          </a:xfrm>
          <a:prstGeom prst="rect">
            <a:avLst/>
          </a:prstGeom>
          <a:solidFill>
            <a:srgbClr val="EEF4F8"/>
          </a:solidFill>
          <a:ln w="7620">
            <a:solidFill>
              <a:srgbClr val="003A61"/>
            </a:solidFill>
          </a:ln>
        </p:spPr>
        <p:txBody>
          <a:bodyPr lIns="0" tIns="0" rIns="0" bIns="0"/>
          <a:lstStyle/>
          <a:p>
            <a:r>
              <a:rPr sz="100">
                <a:solidFill>
                  <a:srgbClr val="EEF4F8"/>
                </a:solidFill>
                <a:latin typeface="Arial"/>
                <a:ea typeface="Arial"/>
                <a:cs typeface="Arial"/>
              </a:rPr>
              <a:t>.</a:t>
            </a:r>
          </a:p>
        </p:txBody>
      </p:sp>
      <p:sp>
        <p:nvSpPr>
          <p:cNvPr id="51" name="Rectangle 50">
            <a:extLst>
              <a:ext uri="{FF2B5EF4-FFF2-40B4-BE49-F238E27FC236}">
                <a16:creationId xmlns:a16="http://schemas.microsoft.com/office/drawing/2014/main" id="{A267521B-A006-4E18-84EE-6E31B405CD80}"/>
              </a:ext>
            </a:extLst>
          </p:cNvPr>
          <p:cNvSpPr>
            <a:spLocks noGrp="1"/>
          </p:cNvSpPr>
          <p:nvPr/>
        </p:nvSpPr>
        <p:spPr>
          <a:xfrm>
            <a:off x="6524625" y="2286000"/>
            <a:ext cx="1238250"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48</a:t>
            </a:r>
          </a:p>
        </p:txBody>
      </p:sp>
      <p:sp>
        <p:nvSpPr>
          <p:cNvPr id="52" name="Rectangle 51">
            <a:extLst>
              <a:ext uri="{FF2B5EF4-FFF2-40B4-BE49-F238E27FC236}">
                <a16:creationId xmlns:a16="http://schemas.microsoft.com/office/drawing/2014/main" id="{7BA4A3EA-4BD5-450F-B28C-924EA6D5EF92}"/>
              </a:ext>
            </a:extLst>
          </p:cNvPr>
          <p:cNvSpPr>
            <a:spLocks noGrp="1"/>
          </p:cNvSpPr>
          <p:nvPr/>
        </p:nvSpPr>
        <p:spPr>
          <a:xfrm>
            <a:off x="6524625" y="2552700"/>
            <a:ext cx="1238250"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pseudowords</a:t>
            </a:r>
          </a:p>
        </p:txBody>
      </p:sp>
      <p:sp>
        <p:nvSpPr>
          <p:cNvPr id="53" name="Rectangle 52">
            <a:extLst>
              <a:ext uri="{FF2B5EF4-FFF2-40B4-BE49-F238E27FC236}">
                <a16:creationId xmlns:a16="http://schemas.microsoft.com/office/drawing/2014/main" id="{735277F5-BEF7-4A6C-8628-8FC23C0556B5}"/>
              </a:ext>
            </a:extLst>
          </p:cNvPr>
          <p:cNvSpPr>
            <a:spLocks noGrp="1"/>
          </p:cNvSpPr>
          <p:nvPr/>
        </p:nvSpPr>
        <p:spPr>
          <a:xfrm>
            <a:off x="6524625" y="2724150"/>
            <a:ext cx="1238250"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12 per length</a:t>
            </a:r>
          </a:p>
        </p:txBody>
      </p:sp>
      <p:sp>
        <p:nvSpPr>
          <p:cNvPr id="54" name="Rectangle 53">
            <a:extLst>
              <a:ext uri="{FF2B5EF4-FFF2-40B4-BE49-F238E27FC236}">
                <a16:creationId xmlns:a16="http://schemas.microsoft.com/office/drawing/2014/main" id="{E04FD3B8-0552-49BB-907A-12F7BE13E547}"/>
              </a:ext>
            </a:extLst>
          </p:cNvPr>
          <p:cNvSpPr>
            <a:spLocks noGrp="1"/>
          </p:cNvSpPr>
          <p:nvPr/>
        </p:nvSpPr>
        <p:spPr>
          <a:xfrm>
            <a:off x="6429375" y="3028950"/>
            <a:ext cx="1428750" cy="685800"/>
          </a:xfrm>
          <a:prstGeom prst="rect">
            <a:avLst/>
          </a:prstGeom>
          <a:solidFill>
            <a:srgbClr val="F3F6F8"/>
          </a:solidFill>
          <a:ln w="7620">
            <a:solidFill>
              <a:srgbClr val="003A61"/>
            </a:solidFill>
          </a:ln>
        </p:spPr>
        <p:txBody>
          <a:bodyPr lIns="0" tIns="0" rIns="0" bIns="0"/>
          <a:lstStyle/>
          <a:p>
            <a:r>
              <a:rPr sz="100">
                <a:solidFill>
                  <a:srgbClr val="F3F6F8"/>
                </a:solidFill>
                <a:latin typeface="Arial"/>
                <a:ea typeface="Arial"/>
                <a:cs typeface="Arial"/>
              </a:rPr>
              <a:t>.</a:t>
            </a:r>
          </a:p>
        </p:txBody>
      </p:sp>
      <p:sp>
        <p:nvSpPr>
          <p:cNvPr id="55" name="Rectangle 54">
            <a:extLst>
              <a:ext uri="{FF2B5EF4-FFF2-40B4-BE49-F238E27FC236}">
                <a16:creationId xmlns:a16="http://schemas.microsoft.com/office/drawing/2014/main" id="{FB21FCFA-3ED1-4F48-8EDB-F5ADFE159E14}"/>
              </a:ext>
            </a:extLst>
          </p:cNvPr>
          <p:cNvSpPr>
            <a:spLocks noGrp="1"/>
          </p:cNvSpPr>
          <p:nvPr/>
        </p:nvSpPr>
        <p:spPr>
          <a:xfrm>
            <a:off x="6524625" y="3124200"/>
            <a:ext cx="1238250"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120</a:t>
            </a:r>
          </a:p>
        </p:txBody>
      </p:sp>
      <p:sp>
        <p:nvSpPr>
          <p:cNvPr id="56" name="Rectangle 55">
            <a:extLst>
              <a:ext uri="{FF2B5EF4-FFF2-40B4-BE49-F238E27FC236}">
                <a16:creationId xmlns:a16="http://schemas.microsoft.com/office/drawing/2014/main" id="{A967177D-4AC9-4896-A52B-19019DCEDD89}"/>
              </a:ext>
            </a:extLst>
          </p:cNvPr>
          <p:cNvSpPr>
            <a:spLocks noGrp="1"/>
          </p:cNvSpPr>
          <p:nvPr/>
        </p:nvSpPr>
        <p:spPr>
          <a:xfrm>
            <a:off x="6524625" y="3390900"/>
            <a:ext cx="1238250"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main trials</a:t>
            </a:r>
          </a:p>
        </p:txBody>
      </p:sp>
      <p:sp>
        <p:nvSpPr>
          <p:cNvPr id="57" name="Rectangle 56">
            <a:extLst>
              <a:ext uri="{FF2B5EF4-FFF2-40B4-BE49-F238E27FC236}">
                <a16:creationId xmlns:a16="http://schemas.microsoft.com/office/drawing/2014/main" id="{60BCA276-2A20-413E-98B1-EBB2CCC2A94D}"/>
              </a:ext>
            </a:extLst>
          </p:cNvPr>
          <p:cNvSpPr>
            <a:spLocks noGrp="1"/>
          </p:cNvSpPr>
          <p:nvPr/>
        </p:nvSpPr>
        <p:spPr>
          <a:xfrm>
            <a:off x="6524625" y="3562350"/>
            <a:ext cx="1238250"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per participant</a:t>
            </a:r>
          </a:p>
        </p:txBody>
      </p:sp>
      <p:sp>
        <p:nvSpPr>
          <p:cNvPr id="58" name="Rectangle 57">
            <a:extLst>
              <a:ext uri="{FF2B5EF4-FFF2-40B4-BE49-F238E27FC236}">
                <a16:creationId xmlns:a16="http://schemas.microsoft.com/office/drawing/2014/main" id="{99D6852A-CD87-42DD-BB8D-182E2A5384B4}"/>
              </a:ext>
            </a:extLst>
          </p:cNvPr>
          <p:cNvSpPr>
            <a:spLocks noGrp="1"/>
          </p:cNvSpPr>
          <p:nvPr/>
        </p:nvSpPr>
        <p:spPr>
          <a:xfrm>
            <a:off x="952500" y="3867150"/>
            <a:ext cx="4762500" cy="228600"/>
          </a:xfrm>
          <a:prstGeom prst="rect">
            <a:avLst/>
          </a:prstGeom>
        </p:spPr>
        <p:txBody>
          <a:bodyPr lIns="0" tIns="0" rIns="0" bIns="0"/>
          <a:lstStyle/>
          <a:p>
            <a:r>
              <a:rPr sz="1125" b="1">
                <a:solidFill>
                  <a:srgbClr val="003A61"/>
                </a:solidFill>
                <a:latin typeface="Arial"/>
                <a:ea typeface="Arial"/>
                <a:cs typeface="Arial"/>
              </a:rPr>
              <a:t>All participants see all main trials in randomized order.</a:t>
            </a:r>
          </a:p>
        </p:txBody>
      </p:sp>
    </p:spTree>
    <p:extLst>
      <p:ext uri="{BB962C8B-B14F-4D97-AF65-F5344CB8AC3E}">
        <p14:creationId xmlns:p14="http://schemas.microsoft.com/office/powerpoint/2010/main" val="1826234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57">
            <a:extLst>
              <a:ext uri="{FF2B5EF4-FFF2-40B4-BE49-F238E27FC236}">
                <a16:creationId xmlns:a16="http://schemas.microsoft.com/office/drawing/2014/main" id="{EE2C9E8A-0F7D-494D-986A-72213C9C2770}"/>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CED22DD1-F32E-43FC-824E-448828EA0E7E}"/>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09 | STIMULI</a:t>
            </a:r>
          </a:p>
        </p:txBody>
      </p:sp>
      <p:sp>
        <p:nvSpPr>
          <p:cNvPr id="3" name="Rectangle 2">
            <a:extLst>
              <a:ext uri="{FF2B5EF4-FFF2-40B4-BE49-F238E27FC236}">
                <a16:creationId xmlns:a16="http://schemas.microsoft.com/office/drawing/2014/main" id="{F6F1139F-D22D-4E03-B4F5-39BF4D9823A6}"/>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Pseudowords keep the task genuinely lexical: participants must distinguish words from nonwords.</a:t>
            </a:r>
          </a:p>
        </p:txBody>
      </p:sp>
      <p:sp>
        <p:nvSpPr>
          <p:cNvPr id="4" name="Rectangle 3">
            <a:extLst>
              <a:ext uri="{FF2B5EF4-FFF2-40B4-BE49-F238E27FC236}">
                <a16:creationId xmlns:a16="http://schemas.microsoft.com/office/drawing/2014/main" id="{788C3661-99BE-4149-9C45-EE482C486269}"/>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C3CE59F0-2D44-44C7-BAB9-FF97F117A8DA}"/>
              </a:ext>
            </a:extLst>
          </p:cNvPr>
          <p:cNvSpPr>
            <a:spLocks noGrp="1"/>
          </p:cNvSpPr>
          <p:nvPr/>
        </p:nvSpPr>
        <p:spPr>
          <a:xfrm>
            <a:off x="552450" y="1285875"/>
            <a:ext cx="1428750" cy="361950"/>
          </a:xfrm>
          <a:prstGeom prst="rect">
            <a:avLst/>
          </a:prstGeom>
          <a:solidFill>
            <a:srgbClr val="003A61"/>
          </a:solidFill>
          <a:ln w="7620">
            <a:solidFill>
              <a:srgbClr val="003A61"/>
            </a:solidFill>
          </a:ln>
        </p:spPr>
      </p:sp>
      <p:sp>
        <p:nvSpPr>
          <p:cNvPr id="6" name="Rectangle 5">
            <a:extLst>
              <a:ext uri="{FF2B5EF4-FFF2-40B4-BE49-F238E27FC236}">
                <a16:creationId xmlns:a16="http://schemas.microsoft.com/office/drawing/2014/main" id="{8DA030C8-D9B4-49E3-A53F-2AE405679D90}"/>
              </a:ext>
            </a:extLst>
          </p:cNvPr>
          <p:cNvSpPr>
            <a:spLocks noGrp="1"/>
          </p:cNvSpPr>
          <p:nvPr/>
        </p:nvSpPr>
        <p:spPr>
          <a:xfrm>
            <a:off x="609600" y="1343025"/>
            <a:ext cx="1314450" cy="285750"/>
          </a:xfrm>
          <a:prstGeom prst="rect">
            <a:avLst/>
          </a:prstGeom>
        </p:spPr>
        <p:txBody>
          <a:bodyPr lIns="0" tIns="0" rIns="0" bIns="0"/>
          <a:lstStyle/>
          <a:p>
            <a:pPr algn="l">
              <a:defRPr sz="713" b="1">
                <a:solidFill>
                  <a:srgbClr val="FFFFFF"/>
                </a:solidFill>
                <a:latin typeface="Arial"/>
                <a:ea typeface="Arial"/>
                <a:cs typeface="Arial"/>
              </a:defRPr>
            </a:pPr>
            <a:r>
              <a:rPr sz="713" b="1">
                <a:solidFill>
                  <a:srgbClr val="FFFFFF"/>
                </a:solidFill>
                <a:latin typeface="Arial"/>
                <a:ea typeface="Arial"/>
                <a:cs typeface="Arial"/>
              </a:rPr>
              <a:t>Type</a:t>
            </a:r>
          </a:p>
        </p:txBody>
      </p:sp>
      <p:sp>
        <p:nvSpPr>
          <p:cNvPr id="7" name="Rectangle 6">
            <a:extLst>
              <a:ext uri="{FF2B5EF4-FFF2-40B4-BE49-F238E27FC236}">
                <a16:creationId xmlns:a16="http://schemas.microsoft.com/office/drawing/2014/main" id="{4EBD38D3-6395-45C6-9EA8-0CA1CB5B962F}"/>
              </a:ext>
            </a:extLst>
          </p:cNvPr>
          <p:cNvSpPr>
            <a:spLocks noGrp="1"/>
          </p:cNvSpPr>
          <p:nvPr/>
        </p:nvSpPr>
        <p:spPr>
          <a:xfrm>
            <a:off x="1981200" y="1285875"/>
            <a:ext cx="1123950" cy="361950"/>
          </a:xfrm>
          <a:prstGeom prst="rect">
            <a:avLst/>
          </a:prstGeom>
          <a:solidFill>
            <a:srgbClr val="003A61"/>
          </a:solidFill>
          <a:ln w="7620">
            <a:solidFill>
              <a:srgbClr val="003A61"/>
            </a:solidFill>
          </a:ln>
        </p:spPr>
      </p:sp>
      <p:sp>
        <p:nvSpPr>
          <p:cNvPr id="8" name="Rectangle 7">
            <a:extLst>
              <a:ext uri="{FF2B5EF4-FFF2-40B4-BE49-F238E27FC236}">
                <a16:creationId xmlns:a16="http://schemas.microsoft.com/office/drawing/2014/main" id="{228FA9F6-0533-4468-8786-1C8AD59D8E43}"/>
              </a:ext>
            </a:extLst>
          </p:cNvPr>
          <p:cNvSpPr>
            <a:spLocks noGrp="1"/>
          </p:cNvSpPr>
          <p:nvPr/>
        </p:nvSpPr>
        <p:spPr>
          <a:xfrm>
            <a:off x="2038350" y="1343025"/>
            <a:ext cx="1009650" cy="28575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Length 1</a:t>
            </a:r>
          </a:p>
        </p:txBody>
      </p:sp>
      <p:sp>
        <p:nvSpPr>
          <p:cNvPr id="9" name="Rectangle 8">
            <a:extLst>
              <a:ext uri="{FF2B5EF4-FFF2-40B4-BE49-F238E27FC236}">
                <a16:creationId xmlns:a16="http://schemas.microsoft.com/office/drawing/2014/main" id="{9D08C4C6-8404-419E-8474-225A9F447EE8}"/>
              </a:ext>
            </a:extLst>
          </p:cNvPr>
          <p:cNvSpPr>
            <a:spLocks noGrp="1"/>
          </p:cNvSpPr>
          <p:nvPr/>
        </p:nvSpPr>
        <p:spPr>
          <a:xfrm>
            <a:off x="3105150" y="1285875"/>
            <a:ext cx="1123950" cy="361950"/>
          </a:xfrm>
          <a:prstGeom prst="rect">
            <a:avLst/>
          </a:prstGeom>
          <a:solidFill>
            <a:srgbClr val="003A61"/>
          </a:solidFill>
          <a:ln w="7620">
            <a:solidFill>
              <a:srgbClr val="003A61"/>
            </a:solidFill>
          </a:ln>
        </p:spPr>
      </p:sp>
      <p:sp>
        <p:nvSpPr>
          <p:cNvPr id="10" name="Rectangle 9">
            <a:extLst>
              <a:ext uri="{FF2B5EF4-FFF2-40B4-BE49-F238E27FC236}">
                <a16:creationId xmlns:a16="http://schemas.microsoft.com/office/drawing/2014/main" id="{072FEC45-FB78-4E7C-B3A7-16383B683475}"/>
              </a:ext>
            </a:extLst>
          </p:cNvPr>
          <p:cNvSpPr>
            <a:spLocks noGrp="1"/>
          </p:cNvSpPr>
          <p:nvPr/>
        </p:nvSpPr>
        <p:spPr>
          <a:xfrm>
            <a:off x="3162300" y="1343025"/>
            <a:ext cx="1009650" cy="28575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Length 2</a:t>
            </a:r>
          </a:p>
        </p:txBody>
      </p:sp>
      <p:sp>
        <p:nvSpPr>
          <p:cNvPr id="11" name="Rectangle 10">
            <a:extLst>
              <a:ext uri="{FF2B5EF4-FFF2-40B4-BE49-F238E27FC236}">
                <a16:creationId xmlns:a16="http://schemas.microsoft.com/office/drawing/2014/main" id="{89971F92-0258-48D1-AC62-07A14CCEEE4D}"/>
              </a:ext>
            </a:extLst>
          </p:cNvPr>
          <p:cNvSpPr>
            <a:spLocks noGrp="1"/>
          </p:cNvSpPr>
          <p:nvPr/>
        </p:nvSpPr>
        <p:spPr>
          <a:xfrm>
            <a:off x="4229100" y="1285875"/>
            <a:ext cx="1123950" cy="361950"/>
          </a:xfrm>
          <a:prstGeom prst="rect">
            <a:avLst/>
          </a:prstGeom>
          <a:solidFill>
            <a:srgbClr val="003A61"/>
          </a:solidFill>
          <a:ln w="7620">
            <a:solidFill>
              <a:srgbClr val="003A61"/>
            </a:solidFill>
          </a:ln>
        </p:spPr>
      </p:sp>
      <p:sp>
        <p:nvSpPr>
          <p:cNvPr id="12" name="Rectangle 11">
            <a:extLst>
              <a:ext uri="{FF2B5EF4-FFF2-40B4-BE49-F238E27FC236}">
                <a16:creationId xmlns:a16="http://schemas.microsoft.com/office/drawing/2014/main" id="{7BF787B7-EE63-4286-B32F-837587576AFE}"/>
              </a:ext>
            </a:extLst>
          </p:cNvPr>
          <p:cNvSpPr>
            <a:spLocks noGrp="1"/>
          </p:cNvSpPr>
          <p:nvPr/>
        </p:nvSpPr>
        <p:spPr>
          <a:xfrm>
            <a:off x="4286250" y="1343025"/>
            <a:ext cx="1009650" cy="28575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Length 3</a:t>
            </a:r>
          </a:p>
        </p:txBody>
      </p:sp>
      <p:sp>
        <p:nvSpPr>
          <p:cNvPr id="13" name="Rectangle 12">
            <a:extLst>
              <a:ext uri="{FF2B5EF4-FFF2-40B4-BE49-F238E27FC236}">
                <a16:creationId xmlns:a16="http://schemas.microsoft.com/office/drawing/2014/main" id="{9451C277-C4D6-43C7-9C1B-2272B56D32AE}"/>
              </a:ext>
            </a:extLst>
          </p:cNvPr>
          <p:cNvSpPr>
            <a:spLocks noGrp="1"/>
          </p:cNvSpPr>
          <p:nvPr/>
        </p:nvSpPr>
        <p:spPr>
          <a:xfrm>
            <a:off x="5353050" y="1285875"/>
            <a:ext cx="1123950" cy="361950"/>
          </a:xfrm>
          <a:prstGeom prst="rect">
            <a:avLst/>
          </a:prstGeom>
          <a:solidFill>
            <a:srgbClr val="003A61"/>
          </a:solidFill>
          <a:ln w="7620">
            <a:solidFill>
              <a:srgbClr val="003A61"/>
            </a:solidFill>
          </a:ln>
        </p:spPr>
      </p:sp>
      <p:sp>
        <p:nvSpPr>
          <p:cNvPr id="14" name="Rectangle 13">
            <a:extLst>
              <a:ext uri="{FF2B5EF4-FFF2-40B4-BE49-F238E27FC236}">
                <a16:creationId xmlns:a16="http://schemas.microsoft.com/office/drawing/2014/main" id="{EBF983F0-5550-428F-B4B7-116E9DA3FBA9}"/>
              </a:ext>
            </a:extLst>
          </p:cNvPr>
          <p:cNvSpPr>
            <a:spLocks noGrp="1"/>
          </p:cNvSpPr>
          <p:nvPr/>
        </p:nvSpPr>
        <p:spPr>
          <a:xfrm>
            <a:off x="5410200" y="1343025"/>
            <a:ext cx="1009650" cy="28575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Length 4</a:t>
            </a:r>
          </a:p>
        </p:txBody>
      </p:sp>
      <p:sp>
        <p:nvSpPr>
          <p:cNvPr id="15" name="Rectangle 14">
            <a:extLst>
              <a:ext uri="{FF2B5EF4-FFF2-40B4-BE49-F238E27FC236}">
                <a16:creationId xmlns:a16="http://schemas.microsoft.com/office/drawing/2014/main" id="{B0414EE5-C942-497A-B472-BB535F2F2553}"/>
              </a:ext>
            </a:extLst>
          </p:cNvPr>
          <p:cNvSpPr>
            <a:spLocks noGrp="1"/>
          </p:cNvSpPr>
          <p:nvPr/>
        </p:nvSpPr>
        <p:spPr>
          <a:xfrm>
            <a:off x="552450" y="1647825"/>
            <a:ext cx="1428750" cy="361950"/>
          </a:xfrm>
          <a:prstGeom prst="rect">
            <a:avLst/>
          </a:prstGeom>
          <a:solidFill>
            <a:srgbClr val="FFFFFF"/>
          </a:solidFill>
          <a:ln w="7620">
            <a:solidFill>
              <a:srgbClr val="DDECB3"/>
            </a:solidFill>
          </a:ln>
        </p:spPr>
      </p:sp>
      <p:sp>
        <p:nvSpPr>
          <p:cNvPr id="16" name="Rectangle 15">
            <a:extLst>
              <a:ext uri="{FF2B5EF4-FFF2-40B4-BE49-F238E27FC236}">
                <a16:creationId xmlns:a16="http://schemas.microsoft.com/office/drawing/2014/main" id="{88B1AD53-8528-4569-AD0F-FE6FDF2F0D9B}"/>
              </a:ext>
            </a:extLst>
          </p:cNvPr>
          <p:cNvSpPr>
            <a:spLocks noGrp="1"/>
          </p:cNvSpPr>
          <p:nvPr/>
        </p:nvSpPr>
        <p:spPr>
          <a:xfrm>
            <a:off x="609600" y="1704975"/>
            <a:ext cx="1314450" cy="28575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real words</a:t>
            </a:r>
          </a:p>
        </p:txBody>
      </p:sp>
      <p:sp>
        <p:nvSpPr>
          <p:cNvPr id="17" name="Rectangle 16">
            <a:extLst>
              <a:ext uri="{FF2B5EF4-FFF2-40B4-BE49-F238E27FC236}">
                <a16:creationId xmlns:a16="http://schemas.microsoft.com/office/drawing/2014/main" id="{961A8A2B-4CAF-4344-8E4E-7A8FB97213D2}"/>
              </a:ext>
            </a:extLst>
          </p:cNvPr>
          <p:cNvSpPr>
            <a:spLocks noGrp="1"/>
          </p:cNvSpPr>
          <p:nvPr/>
        </p:nvSpPr>
        <p:spPr>
          <a:xfrm>
            <a:off x="1981200" y="1647825"/>
            <a:ext cx="1123950" cy="361950"/>
          </a:xfrm>
          <a:prstGeom prst="rect">
            <a:avLst/>
          </a:prstGeom>
          <a:solidFill>
            <a:srgbClr val="FFFFFF"/>
          </a:solidFill>
          <a:ln w="7620">
            <a:solidFill>
              <a:srgbClr val="DDECB3"/>
            </a:solidFill>
          </a:ln>
        </p:spPr>
      </p:sp>
      <p:sp>
        <p:nvSpPr>
          <p:cNvPr id="18" name="Rectangle 17">
            <a:extLst>
              <a:ext uri="{FF2B5EF4-FFF2-40B4-BE49-F238E27FC236}">
                <a16:creationId xmlns:a16="http://schemas.microsoft.com/office/drawing/2014/main" id="{D4B9FE88-DF28-4284-A2FB-E265BE183A26}"/>
              </a:ext>
            </a:extLst>
          </p:cNvPr>
          <p:cNvSpPr>
            <a:spLocks noGrp="1"/>
          </p:cNvSpPr>
          <p:nvPr/>
        </p:nvSpPr>
        <p:spPr>
          <a:xfrm>
            <a:off x="2038350" y="170497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18</a:t>
            </a:r>
          </a:p>
        </p:txBody>
      </p:sp>
      <p:sp>
        <p:nvSpPr>
          <p:cNvPr id="19" name="Rectangle 18">
            <a:extLst>
              <a:ext uri="{FF2B5EF4-FFF2-40B4-BE49-F238E27FC236}">
                <a16:creationId xmlns:a16="http://schemas.microsoft.com/office/drawing/2014/main" id="{4FBC64F6-776A-4830-B88C-0BA56912338D}"/>
              </a:ext>
            </a:extLst>
          </p:cNvPr>
          <p:cNvSpPr>
            <a:spLocks noGrp="1"/>
          </p:cNvSpPr>
          <p:nvPr/>
        </p:nvSpPr>
        <p:spPr>
          <a:xfrm>
            <a:off x="3105150" y="1647825"/>
            <a:ext cx="1123950" cy="361950"/>
          </a:xfrm>
          <a:prstGeom prst="rect">
            <a:avLst/>
          </a:prstGeom>
          <a:solidFill>
            <a:srgbClr val="FFFFFF"/>
          </a:solidFill>
          <a:ln w="7620">
            <a:solidFill>
              <a:srgbClr val="DDECB3"/>
            </a:solidFill>
          </a:ln>
        </p:spPr>
      </p:sp>
      <p:sp>
        <p:nvSpPr>
          <p:cNvPr id="20" name="Rectangle 19">
            <a:extLst>
              <a:ext uri="{FF2B5EF4-FFF2-40B4-BE49-F238E27FC236}">
                <a16:creationId xmlns:a16="http://schemas.microsoft.com/office/drawing/2014/main" id="{C1EF572A-78B2-484F-811F-ECF2BFD0090B}"/>
              </a:ext>
            </a:extLst>
          </p:cNvPr>
          <p:cNvSpPr>
            <a:spLocks noGrp="1"/>
          </p:cNvSpPr>
          <p:nvPr/>
        </p:nvSpPr>
        <p:spPr>
          <a:xfrm>
            <a:off x="3162300" y="170497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18</a:t>
            </a:r>
          </a:p>
        </p:txBody>
      </p:sp>
      <p:sp>
        <p:nvSpPr>
          <p:cNvPr id="21" name="Rectangle 20">
            <a:extLst>
              <a:ext uri="{FF2B5EF4-FFF2-40B4-BE49-F238E27FC236}">
                <a16:creationId xmlns:a16="http://schemas.microsoft.com/office/drawing/2014/main" id="{BAE7E019-2515-4785-9297-BF8D6BB41975}"/>
              </a:ext>
            </a:extLst>
          </p:cNvPr>
          <p:cNvSpPr>
            <a:spLocks noGrp="1"/>
          </p:cNvSpPr>
          <p:nvPr/>
        </p:nvSpPr>
        <p:spPr>
          <a:xfrm>
            <a:off x="4229100" y="1647825"/>
            <a:ext cx="1123950" cy="361950"/>
          </a:xfrm>
          <a:prstGeom prst="rect">
            <a:avLst/>
          </a:prstGeom>
          <a:solidFill>
            <a:srgbClr val="FFFFFF"/>
          </a:solidFill>
          <a:ln w="7620">
            <a:solidFill>
              <a:srgbClr val="DDECB3"/>
            </a:solidFill>
          </a:ln>
        </p:spPr>
      </p:sp>
      <p:sp>
        <p:nvSpPr>
          <p:cNvPr id="22" name="Rectangle 21">
            <a:extLst>
              <a:ext uri="{FF2B5EF4-FFF2-40B4-BE49-F238E27FC236}">
                <a16:creationId xmlns:a16="http://schemas.microsoft.com/office/drawing/2014/main" id="{270123F8-B4EB-4718-A1BA-7C67A25790E9}"/>
              </a:ext>
            </a:extLst>
          </p:cNvPr>
          <p:cNvSpPr>
            <a:spLocks noGrp="1"/>
          </p:cNvSpPr>
          <p:nvPr/>
        </p:nvSpPr>
        <p:spPr>
          <a:xfrm>
            <a:off x="4286250" y="170497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18</a:t>
            </a:r>
          </a:p>
        </p:txBody>
      </p:sp>
      <p:sp>
        <p:nvSpPr>
          <p:cNvPr id="23" name="Rectangle 22">
            <a:extLst>
              <a:ext uri="{FF2B5EF4-FFF2-40B4-BE49-F238E27FC236}">
                <a16:creationId xmlns:a16="http://schemas.microsoft.com/office/drawing/2014/main" id="{DA320EC9-BADF-49B7-8B10-78245327B8F0}"/>
              </a:ext>
            </a:extLst>
          </p:cNvPr>
          <p:cNvSpPr>
            <a:spLocks noGrp="1"/>
          </p:cNvSpPr>
          <p:nvPr/>
        </p:nvSpPr>
        <p:spPr>
          <a:xfrm>
            <a:off x="5353050" y="1647825"/>
            <a:ext cx="1123950" cy="361950"/>
          </a:xfrm>
          <a:prstGeom prst="rect">
            <a:avLst/>
          </a:prstGeom>
          <a:solidFill>
            <a:srgbClr val="FFFFFF"/>
          </a:solidFill>
          <a:ln w="7620">
            <a:solidFill>
              <a:srgbClr val="DDECB3"/>
            </a:solidFill>
          </a:ln>
        </p:spPr>
      </p:sp>
      <p:sp>
        <p:nvSpPr>
          <p:cNvPr id="24" name="Rectangle 23">
            <a:extLst>
              <a:ext uri="{FF2B5EF4-FFF2-40B4-BE49-F238E27FC236}">
                <a16:creationId xmlns:a16="http://schemas.microsoft.com/office/drawing/2014/main" id="{799DB8DA-48E8-4B46-AC8A-78E734F06250}"/>
              </a:ext>
            </a:extLst>
          </p:cNvPr>
          <p:cNvSpPr>
            <a:spLocks noGrp="1"/>
          </p:cNvSpPr>
          <p:nvPr/>
        </p:nvSpPr>
        <p:spPr>
          <a:xfrm>
            <a:off x="5410200" y="170497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18</a:t>
            </a:r>
          </a:p>
        </p:txBody>
      </p:sp>
      <p:sp>
        <p:nvSpPr>
          <p:cNvPr id="25" name="Rectangle 24">
            <a:extLst>
              <a:ext uri="{FF2B5EF4-FFF2-40B4-BE49-F238E27FC236}">
                <a16:creationId xmlns:a16="http://schemas.microsoft.com/office/drawing/2014/main" id="{79A12464-1490-4182-A628-78B9E866D971}"/>
              </a:ext>
            </a:extLst>
          </p:cNvPr>
          <p:cNvSpPr>
            <a:spLocks noGrp="1"/>
          </p:cNvSpPr>
          <p:nvPr/>
        </p:nvSpPr>
        <p:spPr>
          <a:xfrm>
            <a:off x="552450" y="2009775"/>
            <a:ext cx="1428750" cy="361950"/>
          </a:xfrm>
          <a:prstGeom prst="rect">
            <a:avLst/>
          </a:prstGeom>
          <a:solidFill>
            <a:srgbClr val="FFFFFF"/>
          </a:solidFill>
          <a:ln w="7620">
            <a:solidFill>
              <a:srgbClr val="DDECB3"/>
            </a:solidFill>
          </a:ln>
        </p:spPr>
      </p:sp>
      <p:sp>
        <p:nvSpPr>
          <p:cNvPr id="26" name="Rectangle 25">
            <a:extLst>
              <a:ext uri="{FF2B5EF4-FFF2-40B4-BE49-F238E27FC236}">
                <a16:creationId xmlns:a16="http://schemas.microsoft.com/office/drawing/2014/main" id="{C43CDA3D-50A3-4959-8F07-33818EEA5906}"/>
              </a:ext>
            </a:extLst>
          </p:cNvPr>
          <p:cNvSpPr>
            <a:spLocks noGrp="1"/>
          </p:cNvSpPr>
          <p:nvPr/>
        </p:nvSpPr>
        <p:spPr>
          <a:xfrm>
            <a:off x="609600" y="2066925"/>
            <a:ext cx="1314450" cy="28575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pseudowords</a:t>
            </a:r>
          </a:p>
        </p:txBody>
      </p:sp>
      <p:sp>
        <p:nvSpPr>
          <p:cNvPr id="27" name="Rectangle 26">
            <a:extLst>
              <a:ext uri="{FF2B5EF4-FFF2-40B4-BE49-F238E27FC236}">
                <a16:creationId xmlns:a16="http://schemas.microsoft.com/office/drawing/2014/main" id="{C1A51350-EF55-4628-BDE7-F35DC1802034}"/>
              </a:ext>
            </a:extLst>
          </p:cNvPr>
          <p:cNvSpPr>
            <a:spLocks noGrp="1"/>
          </p:cNvSpPr>
          <p:nvPr/>
        </p:nvSpPr>
        <p:spPr>
          <a:xfrm>
            <a:off x="1981200" y="2009775"/>
            <a:ext cx="1123950" cy="361950"/>
          </a:xfrm>
          <a:prstGeom prst="rect">
            <a:avLst/>
          </a:prstGeom>
          <a:solidFill>
            <a:srgbClr val="FFFFFF"/>
          </a:solidFill>
          <a:ln w="7620">
            <a:solidFill>
              <a:srgbClr val="DDECB3"/>
            </a:solidFill>
          </a:ln>
        </p:spPr>
      </p:sp>
      <p:sp>
        <p:nvSpPr>
          <p:cNvPr id="28" name="Rectangle 27">
            <a:extLst>
              <a:ext uri="{FF2B5EF4-FFF2-40B4-BE49-F238E27FC236}">
                <a16:creationId xmlns:a16="http://schemas.microsoft.com/office/drawing/2014/main" id="{F9022BF5-99C0-4A00-9296-CD7E9F69BFB1}"/>
              </a:ext>
            </a:extLst>
          </p:cNvPr>
          <p:cNvSpPr>
            <a:spLocks noGrp="1"/>
          </p:cNvSpPr>
          <p:nvPr/>
        </p:nvSpPr>
        <p:spPr>
          <a:xfrm>
            <a:off x="2038350" y="206692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12</a:t>
            </a:r>
          </a:p>
        </p:txBody>
      </p:sp>
      <p:sp>
        <p:nvSpPr>
          <p:cNvPr id="29" name="Rectangle 28">
            <a:extLst>
              <a:ext uri="{FF2B5EF4-FFF2-40B4-BE49-F238E27FC236}">
                <a16:creationId xmlns:a16="http://schemas.microsoft.com/office/drawing/2014/main" id="{7332B3C9-9C2C-472B-B0F6-78C56A74BB1D}"/>
              </a:ext>
            </a:extLst>
          </p:cNvPr>
          <p:cNvSpPr>
            <a:spLocks noGrp="1"/>
          </p:cNvSpPr>
          <p:nvPr/>
        </p:nvSpPr>
        <p:spPr>
          <a:xfrm>
            <a:off x="3105150" y="2009775"/>
            <a:ext cx="1123950" cy="361950"/>
          </a:xfrm>
          <a:prstGeom prst="rect">
            <a:avLst/>
          </a:prstGeom>
          <a:solidFill>
            <a:srgbClr val="FFFFFF"/>
          </a:solidFill>
          <a:ln w="7620">
            <a:solidFill>
              <a:srgbClr val="DDECB3"/>
            </a:solidFill>
          </a:ln>
        </p:spPr>
      </p:sp>
      <p:sp>
        <p:nvSpPr>
          <p:cNvPr id="30" name="Rectangle 29">
            <a:extLst>
              <a:ext uri="{FF2B5EF4-FFF2-40B4-BE49-F238E27FC236}">
                <a16:creationId xmlns:a16="http://schemas.microsoft.com/office/drawing/2014/main" id="{FC6EBEB1-545B-4BF2-A7C3-1C9D8A5D34C5}"/>
              </a:ext>
            </a:extLst>
          </p:cNvPr>
          <p:cNvSpPr>
            <a:spLocks noGrp="1"/>
          </p:cNvSpPr>
          <p:nvPr/>
        </p:nvSpPr>
        <p:spPr>
          <a:xfrm>
            <a:off x="3162300" y="206692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12</a:t>
            </a:r>
          </a:p>
        </p:txBody>
      </p:sp>
      <p:sp>
        <p:nvSpPr>
          <p:cNvPr id="31" name="Rectangle 30">
            <a:extLst>
              <a:ext uri="{FF2B5EF4-FFF2-40B4-BE49-F238E27FC236}">
                <a16:creationId xmlns:a16="http://schemas.microsoft.com/office/drawing/2014/main" id="{0C2DD45F-DD6D-4BEB-84CF-C96395DF7E81}"/>
              </a:ext>
            </a:extLst>
          </p:cNvPr>
          <p:cNvSpPr>
            <a:spLocks noGrp="1"/>
          </p:cNvSpPr>
          <p:nvPr/>
        </p:nvSpPr>
        <p:spPr>
          <a:xfrm>
            <a:off x="4229100" y="2009775"/>
            <a:ext cx="1123950" cy="361950"/>
          </a:xfrm>
          <a:prstGeom prst="rect">
            <a:avLst/>
          </a:prstGeom>
          <a:solidFill>
            <a:srgbClr val="FFFFFF"/>
          </a:solidFill>
          <a:ln w="7620">
            <a:solidFill>
              <a:srgbClr val="DDECB3"/>
            </a:solidFill>
          </a:ln>
        </p:spPr>
      </p:sp>
      <p:sp>
        <p:nvSpPr>
          <p:cNvPr id="32" name="Rectangle 31">
            <a:extLst>
              <a:ext uri="{FF2B5EF4-FFF2-40B4-BE49-F238E27FC236}">
                <a16:creationId xmlns:a16="http://schemas.microsoft.com/office/drawing/2014/main" id="{F7FC7241-6144-4211-A2A2-1B0A147B76BC}"/>
              </a:ext>
            </a:extLst>
          </p:cNvPr>
          <p:cNvSpPr>
            <a:spLocks noGrp="1"/>
          </p:cNvSpPr>
          <p:nvPr/>
        </p:nvSpPr>
        <p:spPr>
          <a:xfrm>
            <a:off x="4286250" y="206692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12</a:t>
            </a:r>
          </a:p>
        </p:txBody>
      </p:sp>
      <p:sp>
        <p:nvSpPr>
          <p:cNvPr id="33" name="Rectangle 32">
            <a:extLst>
              <a:ext uri="{FF2B5EF4-FFF2-40B4-BE49-F238E27FC236}">
                <a16:creationId xmlns:a16="http://schemas.microsoft.com/office/drawing/2014/main" id="{BDD3AE55-771B-43DC-B2EE-1AD92F749E4A}"/>
              </a:ext>
            </a:extLst>
          </p:cNvPr>
          <p:cNvSpPr>
            <a:spLocks noGrp="1"/>
          </p:cNvSpPr>
          <p:nvPr/>
        </p:nvSpPr>
        <p:spPr>
          <a:xfrm>
            <a:off x="5353050" y="2009775"/>
            <a:ext cx="1123950" cy="361950"/>
          </a:xfrm>
          <a:prstGeom prst="rect">
            <a:avLst/>
          </a:prstGeom>
          <a:solidFill>
            <a:srgbClr val="FFFFFF"/>
          </a:solidFill>
          <a:ln w="7620">
            <a:solidFill>
              <a:srgbClr val="DDECB3"/>
            </a:solidFill>
          </a:ln>
        </p:spPr>
      </p:sp>
      <p:sp>
        <p:nvSpPr>
          <p:cNvPr id="34" name="Rectangle 33">
            <a:extLst>
              <a:ext uri="{FF2B5EF4-FFF2-40B4-BE49-F238E27FC236}">
                <a16:creationId xmlns:a16="http://schemas.microsoft.com/office/drawing/2014/main" id="{B3EA825E-04AD-4592-B43F-E8032B9B3162}"/>
              </a:ext>
            </a:extLst>
          </p:cNvPr>
          <p:cNvSpPr>
            <a:spLocks noGrp="1"/>
          </p:cNvSpPr>
          <p:nvPr/>
        </p:nvSpPr>
        <p:spPr>
          <a:xfrm>
            <a:off x="5410200" y="206692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12</a:t>
            </a:r>
          </a:p>
        </p:txBody>
      </p:sp>
      <p:sp>
        <p:nvSpPr>
          <p:cNvPr id="35" name="Rectangle 34">
            <a:extLst>
              <a:ext uri="{FF2B5EF4-FFF2-40B4-BE49-F238E27FC236}">
                <a16:creationId xmlns:a16="http://schemas.microsoft.com/office/drawing/2014/main" id="{E769D6B8-0F10-4DDF-BA27-DB71C59577B7}"/>
              </a:ext>
            </a:extLst>
          </p:cNvPr>
          <p:cNvSpPr>
            <a:spLocks noGrp="1"/>
          </p:cNvSpPr>
          <p:nvPr/>
        </p:nvSpPr>
        <p:spPr>
          <a:xfrm>
            <a:off x="552450" y="2371725"/>
            <a:ext cx="1428750" cy="361950"/>
          </a:xfrm>
          <a:prstGeom prst="rect">
            <a:avLst/>
          </a:prstGeom>
          <a:solidFill>
            <a:srgbClr val="FFFFFF"/>
          </a:solidFill>
          <a:ln w="7620">
            <a:solidFill>
              <a:srgbClr val="DDECB3"/>
            </a:solidFill>
          </a:ln>
        </p:spPr>
      </p:sp>
      <p:sp>
        <p:nvSpPr>
          <p:cNvPr id="36" name="Rectangle 35">
            <a:extLst>
              <a:ext uri="{FF2B5EF4-FFF2-40B4-BE49-F238E27FC236}">
                <a16:creationId xmlns:a16="http://schemas.microsoft.com/office/drawing/2014/main" id="{D8264024-3E3C-4082-859A-167E97ADCC24}"/>
              </a:ext>
            </a:extLst>
          </p:cNvPr>
          <p:cNvSpPr>
            <a:spLocks noGrp="1"/>
          </p:cNvSpPr>
          <p:nvPr/>
        </p:nvSpPr>
        <p:spPr>
          <a:xfrm>
            <a:off x="609600" y="2428875"/>
            <a:ext cx="1314450" cy="28575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total</a:t>
            </a:r>
          </a:p>
        </p:txBody>
      </p:sp>
      <p:sp>
        <p:nvSpPr>
          <p:cNvPr id="37" name="Rectangle 36">
            <a:extLst>
              <a:ext uri="{FF2B5EF4-FFF2-40B4-BE49-F238E27FC236}">
                <a16:creationId xmlns:a16="http://schemas.microsoft.com/office/drawing/2014/main" id="{A627AC1C-599C-4A6B-827C-C80F80B32292}"/>
              </a:ext>
            </a:extLst>
          </p:cNvPr>
          <p:cNvSpPr>
            <a:spLocks noGrp="1"/>
          </p:cNvSpPr>
          <p:nvPr/>
        </p:nvSpPr>
        <p:spPr>
          <a:xfrm>
            <a:off x="1981200" y="2371725"/>
            <a:ext cx="1123950" cy="361950"/>
          </a:xfrm>
          <a:prstGeom prst="rect">
            <a:avLst/>
          </a:prstGeom>
          <a:solidFill>
            <a:srgbClr val="FFFFFF"/>
          </a:solidFill>
          <a:ln w="7620">
            <a:solidFill>
              <a:srgbClr val="DDECB3"/>
            </a:solidFill>
          </a:ln>
        </p:spPr>
      </p:sp>
      <p:sp>
        <p:nvSpPr>
          <p:cNvPr id="38" name="Rectangle 37">
            <a:extLst>
              <a:ext uri="{FF2B5EF4-FFF2-40B4-BE49-F238E27FC236}">
                <a16:creationId xmlns:a16="http://schemas.microsoft.com/office/drawing/2014/main" id="{6502A3F6-26F2-45B0-B073-37B9B368FDB6}"/>
              </a:ext>
            </a:extLst>
          </p:cNvPr>
          <p:cNvSpPr>
            <a:spLocks noGrp="1"/>
          </p:cNvSpPr>
          <p:nvPr/>
        </p:nvSpPr>
        <p:spPr>
          <a:xfrm>
            <a:off x="2038350" y="242887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30</a:t>
            </a:r>
          </a:p>
        </p:txBody>
      </p:sp>
      <p:sp>
        <p:nvSpPr>
          <p:cNvPr id="39" name="Rectangle 38">
            <a:extLst>
              <a:ext uri="{FF2B5EF4-FFF2-40B4-BE49-F238E27FC236}">
                <a16:creationId xmlns:a16="http://schemas.microsoft.com/office/drawing/2014/main" id="{3AA4C249-06CD-433B-8B83-A0342574CB7E}"/>
              </a:ext>
            </a:extLst>
          </p:cNvPr>
          <p:cNvSpPr>
            <a:spLocks noGrp="1"/>
          </p:cNvSpPr>
          <p:nvPr/>
        </p:nvSpPr>
        <p:spPr>
          <a:xfrm>
            <a:off x="3105150" y="2371725"/>
            <a:ext cx="1123950" cy="361950"/>
          </a:xfrm>
          <a:prstGeom prst="rect">
            <a:avLst/>
          </a:prstGeom>
          <a:solidFill>
            <a:srgbClr val="FFFFFF"/>
          </a:solidFill>
          <a:ln w="7620">
            <a:solidFill>
              <a:srgbClr val="DDECB3"/>
            </a:solidFill>
          </a:ln>
        </p:spPr>
      </p:sp>
      <p:sp>
        <p:nvSpPr>
          <p:cNvPr id="40" name="Rectangle 39">
            <a:extLst>
              <a:ext uri="{FF2B5EF4-FFF2-40B4-BE49-F238E27FC236}">
                <a16:creationId xmlns:a16="http://schemas.microsoft.com/office/drawing/2014/main" id="{68657458-233A-4B26-A204-0BBD33CE40CA}"/>
              </a:ext>
            </a:extLst>
          </p:cNvPr>
          <p:cNvSpPr>
            <a:spLocks noGrp="1"/>
          </p:cNvSpPr>
          <p:nvPr/>
        </p:nvSpPr>
        <p:spPr>
          <a:xfrm>
            <a:off x="3162300" y="242887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30</a:t>
            </a:r>
          </a:p>
        </p:txBody>
      </p:sp>
      <p:sp>
        <p:nvSpPr>
          <p:cNvPr id="41" name="Rectangle 40">
            <a:extLst>
              <a:ext uri="{FF2B5EF4-FFF2-40B4-BE49-F238E27FC236}">
                <a16:creationId xmlns:a16="http://schemas.microsoft.com/office/drawing/2014/main" id="{74E93CFC-F71C-404F-BB5E-3C3E583FAC5A}"/>
              </a:ext>
            </a:extLst>
          </p:cNvPr>
          <p:cNvSpPr>
            <a:spLocks noGrp="1"/>
          </p:cNvSpPr>
          <p:nvPr/>
        </p:nvSpPr>
        <p:spPr>
          <a:xfrm>
            <a:off x="4229100" y="2371725"/>
            <a:ext cx="1123950" cy="361950"/>
          </a:xfrm>
          <a:prstGeom prst="rect">
            <a:avLst/>
          </a:prstGeom>
          <a:solidFill>
            <a:srgbClr val="FFFFFF"/>
          </a:solidFill>
          <a:ln w="7620">
            <a:solidFill>
              <a:srgbClr val="DDECB3"/>
            </a:solidFill>
          </a:ln>
        </p:spPr>
      </p:sp>
      <p:sp>
        <p:nvSpPr>
          <p:cNvPr id="42" name="Rectangle 41">
            <a:extLst>
              <a:ext uri="{FF2B5EF4-FFF2-40B4-BE49-F238E27FC236}">
                <a16:creationId xmlns:a16="http://schemas.microsoft.com/office/drawing/2014/main" id="{F3B364D3-4A31-4FCA-9821-A50C938F37E6}"/>
              </a:ext>
            </a:extLst>
          </p:cNvPr>
          <p:cNvSpPr>
            <a:spLocks noGrp="1"/>
          </p:cNvSpPr>
          <p:nvPr/>
        </p:nvSpPr>
        <p:spPr>
          <a:xfrm>
            <a:off x="4286250" y="242887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30</a:t>
            </a:r>
          </a:p>
        </p:txBody>
      </p:sp>
      <p:sp>
        <p:nvSpPr>
          <p:cNvPr id="43" name="Rectangle 42">
            <a:extLst>
              <a:ext uri="{FF2B5EF4-FFF2-40B4-BE49-F238E27FC236}">
                <a16:creationId xmlns:a16="http://schemas.microsoft.com/office/drawing/2014/main" id="{41FDF234-0C30-4D6B-B702-49DC8CEC0D8F}"/>
              </a:ext>
            </a:extLst>
          </p:cNvPr>
          <p:cNvSpPr>
            <a:spLocks noGrp="1"/>
          </p:cNvSpPr>
          <p:nvPr/>
        </p:nvSpPr>
        <p:spPr>
          <a:xfrm>
            <a:off x="5353050" y="2371725"/>
            <a:ext cx="1123950" cy="361950"/>
          </a:xfrm>
          <a:prstGeom prst="rect">
            <a:avLst/>
          </a:prstGeom>
          <a:solidFill>
            <a:srgbClr val="FFFFFF"/>
          </a:solidFill>
          <a:ln w="7620">
            <a:solidFill>
              <a:srgbClr val="DDECB3"/>
            </a:solidFill>
          </a:ln>
        </p:spPr>
      </p:sp>
      <p:sp>
        <p:nvSpPr>
          <p:cNvPr id="44" name="Rectangle 43">
            <a:extLst>
              <a:ext uri="{FF2B5EF4-FFF2-40B4-BE49-F238E27FC236}">
                <a16:creationId xmlns:a16="http://schemas.microsoft.com/office/drawing/2014/main" id="{434AFF17-4191-4B98-8D73-B8A22CC57B54}"/>
              </a:ext>
            </a:extLst>
          </p:cNvPr>
          <p:cNvSpPr>
            <a:spLocks noGrp="1"/>
          </p:cNvSpPr>
          <p:nvPr/>
        </p:nvSpPr>
        <p:spPr>
          <a:xfrm>
            <a:off x="5410200" y="2428875"/>
            <a:ext cx="1009650" cy="2857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30</a:t>
            </a:r>
          </a:p>
        </p:txBody>
      </p:sp>
      <p:sp>
        <p:nvSpPr>
          <p:cNvPr id="45" name="Rectangle 44">
            <a:extLst>
              <a:ext uri="{FF2B5EF4-FFF2-40B4-BE49-F238E27FC236}">
                <a16:creationId xmlns:a16="http://schemas.microsoft.com/office/drawing/2014/main" id="{51CE7134-85A6-41DE-9E49-FB0ED9BA3278}"/>
              </a:ext>
            </a:extLst>
          </p:cNvPr>
          <p:cNvSpPr>
            <a:spLocks noGrp="1"/>
          </p:cNvSpPr>
          <p:nvPr/>
        </p:nvSpPr>
        <p:spPr>
          <a:xfrm>
            <a:off x="6903027" y="1311333"/>
            <a:ext cx="2095500" cy="1143000"/>
          </a:xfrm>
          <a:prstGeom prst="rect">
            <a:avLst/>
          </a:prstGeom>
          <a:solidFill>
            <a:srgbClr val="DDECB3"/>
          </a:solidFill>
        </p:spPr>
        <p:txBody>
          <a:bodyPr lIns="0" tIns="0" rIns="0" bIns="0"/>
          <a:lstStyle/>
          <a:p>
            <a:r>
              <a:rPr sz="100" dirty="0">
                <a:solidFill>
                  <a:srgbClr val="DDECB3"/>
                </a:solidFill>
                <a:latin typeface="Arial"/>
                <a:ea typeface="Arial"/>
                <a:cs typeface="Arial"/>
              </a:rPr>
              <a:t>.</a:t>
            </a:r>
          </a:p>
        </p:txBody>
      </p:sp>
      <p:sp>
        <p:nvSpPr>
          <p:cNvPr id="46" name="Rectangle 45">
            <a:extLst>
              <a:ext uri="{FF2B5EF4-FFF2-40B4-BE49-F238E27FC236}">
                <a16:creationId xmlns:a16="http://schemas.microsoft.com/office/drawing/2014/main" id="{9D9DE889-B342-4CE8-BA73-73A14B90A8E5}"/>
              </a:ext>
            </a:extLst>
          </p:cNvPr>
          <p:cNvSpPr>
            <a:spLocks noGrp="1"/>
          </p:cNvSpPr>
          <p:nvPr/>
        </p:nvSpPr>
        <p:spPr>
          <a:xfrm>
            <a:off x="7017327" y="1406583"/>
            <a:ext cx="1866900" cy="190500"/>
          </a:xfrm>
          <a:prstGeom prst="rect">
            <a:avLst/>
          </a:prstGeom>
        </p:spPr>
        <p:txBody>
          <a:bodyPr lIns="0" tIns="0" rIns="0" bIns="0"/>
          <a:lstStyle/>
          <a:p>
            <a:r>
              <a:rPr sz="900" b="1" dirty="0">
                <a:solidFill>
                  <a:srgbClr val="003A61"/>
                </a:solidFill>
                <a:latin typeface="Arial"/>
                <a:ea typeface="Arial"/>
                <a:cs typeface="Arial"/>
              </a:rPr>
              <a:t>Example real words</a:t>
            </a:r>
          </a:p>
        </p:txBody>
      </p:sp>
      <p:sp>
        <p:nvSpPr>
          <p:cNvPr id="47" name="Rectangle 46">
            <a:extLst>
              <a:ext uri="{FF2B5EF4-FFF2-40B4-BE49-F238E27FC236}">
                <a16:creationId xmlns:a16="http://schemas.microsoft.com/office/drawing/2014/main" id="{90B0FC02-A354-4B3F-9CE5-4037CFDF5BCD}"/>
              </a:ext>
            </a:extLst>
          </p:cNvPr>
          <p:cNvSpPr>
            <a:spLocks noGrp="1"/>
          </p:cNvSpPr>
          <p:nvPr/>
        </p:nvSpPr>
        <p:spPr>
          <a:xfrm>
            <a:off x="7017327" y="1635183"/>
            <a:ext cx="1866900" cy="742950"/>
          </a:xfrm>
          <a:prstGeom prst="rect">
            <a:avLst/>
          </a:prstGeom>
        </p:spPr>
        <p:txBody>
          <a:bodyPr lIns="0" tIns="0" rIns="0" bIns="0"/>
          <a:lstStyle/>
          <a:p>
            <a:r>
              <a:rPr sz="1050" dirty="0" err="1">
                <a:solidFill>
                  <a:srgbClr val="263845"/>
                </a:solidFill>
                <a:latin typeface="Arial"/>
                <a:ea typeface="Arial"/>
                <a:cs typeface="Arial"/>
              </a:rPr>
              <a:t>núi</a:t>
            </a:r>
            <a:endParaRPr sz="1050" dirty="0">
              <a:solidFill>
                <a:srgbClr val="263845"/>
              </a:solidFill>
              <a:latin typeface="Arial"/>
              <a:ea typeface="Arial"/>
              <a:cs typeface="Arial"/>
            </a:endParaRPr>
          </a:p>
          <a:p>
            <a:r>
              <a:rPr sz="1050" dirty="0" err="1">
                <a:solidFill>
                  <a:srgbClr val="263845"/>
                </a:solidFill>
                <a:latin typeface="Arial"/>
                <a:ea typeface="Arial"/>
                <a:cs typeface="Arial"/>
              </a:rPr>
              <a:t>loại</a:t>
            </a:r>
            <a:r>
              <a:rPr sz="1050" dirty="0">
                <a:solidFill>
                  <a:srgbClr val="263845"/>
                </a:solidFill>
                <a:latin typeface="Arial"/>
                <a:ea typeface="Arial"/>
                <a:cs typeface="Arial"/>
              </a:rPr>
              <a:t> </a:t>
            </a:r>
            <a:r>
              <a:rPr sz="1050" dirty="0" err="1">
                <a:solidFill>
                  <a:srgbClr val="263845"/>
                </a:solidFill>
                <a:latin typeface="Arial"/>
                <a:ea typeface="Arial"/>
                <a:cs typeface="Arial"/>
              </a:rPr>
              <a:t>sản</a:t>
            </a:r>
            <a:r>
              <a:rPr sz="1050" dirty="0">
                <a:solidFill>
                  <a:srgbClr val="263845"/>
                </a:solidFill>
                <a:latin typeface="Arial"/>
                <a:ea typeface="Arial"/>
                <a:cs typeface="Arial"/>
              </a:rPr>
              <a:t> </a:t>
            </a:r>
            <a:r>
              <a:rPr sz="1050" dirty="0" err="1">
                <a:solidFill>
                  <a:srgbClr val="263845"/>
                </a:solidFill>
                <a:latin typeface="Arial"/>
                <a:ea typeface="Arial"/>
                <a:cs typeface="Arial"/>
              </a:rPr>
              <a:t>phẩm</a:t>
            </a:r>
            <a:endParaRPr sz="1050" dirty="0">
              <a:solidFill>
                <a:srgbClr val="263845"/>
              </a:solidFill>
              <a:latin typeface="Arial"/>
              <a:ea typeface="Arial"/>
              <a:cs typeface="Arial"/>
            </a:endParaRPr>
          </a:p>
          <a:p>
            <a:r>
              <a:rPr sz="1050" dirty="0" err="1">
                <a:solidFill>
                  <a:srgbClr val="263845"/>
                </a:solidFill>
                <a:latin typeface="Arial"/>
                <a:ea typeface="Arial"/>
                <a:cs typeface="Arial"/>
              </a:rPr>
              <a:t>điện</a:t>
            </a:r>
            <a:r>
              <a:rPr sz="1050" dirty="0">
                <a:solidFill>
                  <a:srgbClr val="263845"/>
                </a:solidFill>
                <a:latin typeface="Arial"/>
                <a:ea typeface="Arial"/>
                <a:cs typeface="Arial"/>
              </a:rPr>
              <a:t> </a:t>
            </a:r>
            <a:r>
              <a:rPr sz="1050" dirty="0" err="1">
                <a:solidFill>
                  <a:srgbClr val="263845"/>
                </a:solidFill>
                <a:latin typeface="Arial"/>
                <a:ea typeface="Arial"/>
                <a:cs typeface="Arial"/>
              </a:rPr>
              <a:t>thoại</a:t>
            </a:r>
            <a:r>
              <a:rPr sz="1050" dirty="0">
                <a:solidFill>
                  <a:srgbClr val="263845"/>
                </a:solidFill>
                <a:latin typeface="Arial"/>
                <a:ea typeface="Arial"/>
                <a:cs typeface="Arial"/>
              </a:rPr>
              <a:t> di </a:t>
            </a:r>
            <a:r>
              <a:rPr sz="1050" dirty="0" err="1">
                <a:solidFill>
                  <a:srgbClr val="263845"/>
                </a:solidFill>
                <a:latin typeface="Arial"/>
                <a:ea typeface="Arial"/>
                <a:cs typeface="Arial"/>
              </a:rPr>
              <a:t>động</a:t>
            </a:r>
            <a:endParaRPr sz="1050" dirty="0">
              <a:solidFill>
                <a:srgbClr val="263845"/>
              </a:solidFill>
              <a:latin typeface="Arial"/>
              <a:ea typeface="Arial"/>
              <a:cs typeface="Arial"/>
            </a:endParaRPr>
          </a:p>
        </p:txBody>
      </p:sp>
      <p:sp>
        <p:nvSpPr>
          <p:cNvPr id="48" name="Rectangle 47">
            <a:extLst>
              <a:ext uri="{FF2B5EF4-FFF2-40B4-BE49-F238E27FC236}">
                <a16:creationId xmlns:a16="http://schemas.microsoft.com/office/drawing/2014/main" id="{27B965FB-C2F2-46F2-BA12-4A0E695B8491}"/>
              </a:ext>
            </a:extLst>
          </p:cNvPr>
          <p:cNvSpPr>
            <a:spLocks noGrp="1"/>
          </p:cNvSpPr>
          <p:nvPr/>
        </p:nvSpPr>
        <p:spPr>
          <a:xfrm>
            <a:off x="6903027" y="2627168"/>
            <a:ext cx="2095500" cy="11620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49" name="Rectangle 48">
            <a:extLst>
              <a:ext uri="{FF2B5EF4-FFF2-40B4-BE49-F238E27FC236}">
                <a16:creationId xmlns:a16="http://schemas.microsoft.com/office/drawing/2014/main" id="{81F92F0D-FDF7-41E2-9F86-5FE8E575F473}"/>
              </a:ext>
            </a:extLst>
          </p:cNvPr>
          <p:cNvSpPr>
            <a:spLocks noGrp="1"/>
          </p:cNvSpPr>
          <p:nvPr/>
        </p:nvSpPr>
        <p:spPr>
          <a:xfrm>
            <a:off x="7017327" y="2722418"/>
            <a:ext cx="1866900" cy="190500"/>
          </a:xfrm>
          <a:prstGeom prst="rect">
            <a:avLst/>
          </a:prstGeom>
        </p:spPr>
        <p:txBody>
          <a:bodyPr lIns="0" tIns="0" rIns="0" bIns="0"/>
          <a:lstStyle/>
          <a:p>
            <a:r>
              <a:rPr sz="900" b="1">
                <a:solidFill>
                  <a:srgbClr val="003A61"/>
                </a:solidFill>
                <a:latin typeface="Arial"/>
                <a:ea typeface="Arial"/>
                <a:cs typeface="Arial"/>
              </a:rPr>
              <a:t>Example pseudowords</a:t>
            </a:r>
          </a:p>
        </p:txBody>
      </p:sp>
      <p:sp>
        <p:nvSpPr>
          <p:cNvPr id="50" name="Rectangle 49">
            <a:extLst>
              <a:ext uri="{FF2B5EF4-FFF2-40B4-BE49-F238E27FC236}">
                <a16:creationId xmlns:a16="http://schemas.microsoft.com/office/drawing/2014/main" id="{8A38B85D-C65F-4645-85EB-B99E1BA04591}"/>
              </a:ext>
            </a:extLst>
          </p:cNvPr>
          <p:cNvSpPr>
            <a:spLocks noGrp="1"/>
          </p:cNvSpPr>
          <p:nvPr/>
        </p:nvSpPr>
        <p:spPr>
          <a:xfrm>
            <a:off x="7017327" y="2951018"/>
            <a:ext cx="1866900" cy="762000"/>
          </a:xfrm>
          <a:prstGeom prst="rect">
            <a:avLst/>
          </a:prstGeom>
        </p:spPr>
        <p:txBody>
          <a:bodyPr lIns="0" tIns="0" rIns="0" bIns="0"/>
          <a:lstStyle/>
          <a:p>
            <a:r>
              <a:rPr sz="915">
                <a:solidFill>
                  <a:srgbClr val="263845"/>
                </a:solidFill>
                <a:latin typeface="Arial"/>
                <a:ea typeface="Arial"/>
                <a:cs typeface="Arial"/>
              </a:rPr>
              <a:t>bệc viện ← bệnh viện</a:t>
            </a:r>
          </a:p>
          <a:p>
            <a:r>
              <a:rPr sz="915">
                <a:solidFill>
                  <a:srgbClr val="263845"/>
                </a:solidFill>
                <a:latin typeface="Arial"/>
                <a:ea typeface="Arial"/>
                <a:cs typeface="Arial"/>
              </a:rPr>
              <a:t>mối quan hế ← mối quan hệ</a:t>
            </a:r>
          </a:p>
          <a:p>
            <a:r>
              <a:rPr sz="915">
                <a:solidFill>
                  <a:srgbClr val="263845"/>
                </a:solidFill>
                <a:latin typeface="Arial"/>
                <a:ea typeface="Arial"/>
                <a:cs typeface="Arial"/>
              </a:rPr>
              <a:t>trính độ học vấn ← trình độ học vấn</a:t>
            </a:r>
          </a:p>
        </p:txBody>
      </p:sp>
      <p:sp>
        <p:nvSpPr>
          <p:cNvPr id="51" name="Rectangle 50">
            <a:extLst>
              <a:ext uri="{FF2B5EF4-FFF2-40B4-BE49-F238E27FC236}">
                <a16:creationId xmlns:a16="http://schemas.microsoft.com/office/drawing/2014/main" id="{6BF19CD6-8C65-48FC-8C16-087D8140B5E3}"/>
              </a:ext>
            </a:extLst>
          </p:cNvPr>
          <p:cNvSpPr>
            <a:spLocks noGrp="1"/>
          </p:cNvSpPr>
          <p:nvPr/>
        </p:nvSpPr>
        <p:spPr>
          <a:xfrm>
            <a:off x="723900" y="3238500"/>
            <a:ext cx="4572000" cy="400050"/>
          </a:xfrm>
          <a:prstGeom prst="rect">
            <a:avLst/>
          </a:prstGeom>
        </p:spPr>
        <p:txBody>
          <a:bodyPr lIns="0" tIns="0" rIns="0" bIns="0"/>
          <a:lstStyle/>
          <a:p>
            <a:r>
              <a:rPr sz="1125" b="1">
                <a:solidFill>
                  <a:srgbClr val="003A61"/>
                </a:solidFill>
                <a:latin typeface="Arial"/>
                <a:ea typeface="Arial"/>
                <a:cs typeface="Arial"/>
              </a:rPr>
              <a:t>Pseudoword construction changes a syllable while keeping the item Vietnamese-like enough for the task.</a:t>
            </a:r>
          </a:p>
        </p:txBody>
      </p:sp>
      <p:sp>
        <p:nvSpPr>
          <p:cNvPr id="52" name="Rectangle 51">
            <a:extLst>
              <a:ext uri="{FF2B5EF4-FFF2-40B4-BE49-F238E27FC236}">
                <a16:creationId xmlns:a16="http://schemas.microsoft.com/office/drawing/2014/main" id="{C6061BC0-CBA2-4832-AF20-AA99E92606D0}"/>
              </a:ext>
            </a:extLst>
          </p:cNvPr>
          <p:cNvSpPr>
            <a:spLocks noGrp="1"/>
          </p:cNvSpPr>
          <p:nvPr/>
        </p:nvSpPr>
        <p:spPr>
          <a:xfrm>
            <a:off x="876300" y="3905250"/>
            <a:ext cx="57150" cy="57150"/>
          </a:xfrm>
          <a:prstGeom prst="rect">
            <a:avLst/>
          </a:prstGeom>
          <a:solidFill>
            <a:srgbClr val="8DB600"/>
          </a:solidFill>
        </p:spPr>
      </p:sp>
      <p:sp>
        <p:nvSpPr>
          <p:cNvPr id="53" name="Rectangle 52">
            <a:extLst>
              <a:ext uri="{FF2B5EF4-FFF2-40B4-BE49-F238E27FC236}">
                <a16:creationId xmlns:a16="http://schemas.microsoft.com/office/drawing/2014/main" id="{41CD6CE9-FD2D-49A6-9473-71474D01A8E8}"/>
              </a:ext>
            </a:extLst>
          </p:cNvPr>
          <p:cNvSpPr>
            <a:spLocks noGrp="1"/>
          </p:cNvSpPr>
          <p:nvPr/>
        </p:nvSpPr>
        <p:spPr>
          <a:xfrm>
            <a:off x="1028700" y="3848100"/>
            <a:ext cx="3276600" cy="266700"/>
          </a:xfrm>
          <a:prstGeom prst="rect">
            <a:avLst/>
          </a:prstGeom>
        </p:spPr>
        <p:txBody>
          <a:bodyPr lIns="0" tIns="0" rIns="0" bIns="0"/>
          <a:lstStyle/>
          <a:p>
            <a:r>
              <a:rPr sz="938">
                <a:solidFill>
                  <a:srgbClr val="263845"/>
                </a:solidFill>
                <a:latin typeface="Arial"/>
                <a:ea typeface="Arial"/>
                <a:cs typeface="Arial"/>
              </a:rPr>
              <a:t>tone changes</a:t>
            </a:r>
          </a:p>
        </p:txBody>
      </p:sp>
      <p:sp>
        <p:nvSpPr>
          <p:cNvPr id="54" name="Rectangle 53">
            <a:extLst>
              <a:ext uri="{FF2B5EF4-FFF2-40B4-BE49-F238E27FC236}">
                <a16:creationId xmlns:a16="http://schemas.microsoft.com/office/drawing/2014/main" id="{37AF7A0C-E109-4321-A5C3-914CA1A5986E}"/>
              </a:ext>
            </a:extLst>
          </p:cNvPr>
          <p:cNvSpPr>
            <a:spLocks noGrp="1"/>
          </p:cNvSpPr>
          <p:nvPr/>
        </p:nvSpPr>
        <p:spPr>
          <a:xfrm>
            <a:off x="876300" y="4133850"/>
            <a:ext cx="57150" cy="57150"/>
          </a:xfrm>
          <a:prstGeom prst="rect">
            <a:avLst/>
          </a:prstGeom>
          <a:solidFill>
            <a:srgbClr val="8DB600"/>
          </a:solidFill>
        </p:spPr>
      </p:sp>
      <p:sp>
        <p:nvSpPr>
          <p:cNvPr id="55" name="Rectangle 54">
            <a:extLst>
              <a:ext uri="{FF2B5EF4-FFF2-40B4-BE49-F238E27FC236}">
                <a16:creationId xmlns:a16="http://schemas.microsoft.com/office/drawing/2014/main" id="{796473E0-1C9A-452D-A81A-997EF5464C52}"/>
              </a:ext>
            </a:extLst>
          </p:cNvPr>
          <p:cNvSpPr>
            <a:spLocks noGrp="1"/>
          </p:cNvSpPr>
          <p:nvPr/>
        </p:nvSpPr>
        <p:spPr>
          <a:xfrm>
            <a:off x="1028700" y="4076700"/>
            <a:ext cx="3276600" cy="266700"/>
          </a:xfrm>
          <a:prstGeom prst="rect">
            <a:avLst/>
          </a:prstGeom>
        </p:spPr>
        <p:txBody>
          <a:bodyPr lIns="0" tIns="0" rIns="0" bIns="0"/>
          <a:lstStyle/>
          <a:p>
            <a:r>
              <a:rPr sz="938">
                <a:solidFill>
                  <a:srgbClr val="263845"/>
                </a:solidFill>
                <a:latin typeface="Arial"/>
                <a:ea typeface="Arial"/>
                <a:cs typeface="Arial"/>
              </a:rPr>
              <a:t>vowel changes</a:t>
            </a:r>
          </a:p>
        </p:txBody>
      </p:sp>
      <p:sp>
        <p:nvSpPr>
          <p:cNvPr id="56" name="Rectangle 55">
            <a:extLst>
              <a:ext uri="{FF2B5EF4-FFF2-40B4-BE49-F238E27FC236}">
                <a16:creationId xmlns:a16="http://schemas.microsoft.com/office/drawing/2014/main" id="{CD4121AF-4A78-401D-9DA4-4C0B71CC0A6E}"/>
              </a:ext>
            </a:extLst>
          </p:cNvPr>
          <p:cNvSpPr>
            <a:spLocks noGrp="1"/>
          </p:cNvSpPr>
          <p:nvPr/>
        </p:nvSpPr>
        <p:spPr>
          <a:xfrm>
            <a:off x="876300" y="4362450"/>
            <a:ext cx="57150" cy="57150"/>
          </a:xfrm>
          <a:prstGeom prst="rect">
            <a:avLst/>
          </a:prstGeom>
          <a:solidFill>
            <a:srgbClr val="8DB600"/>
          </a:solidFill>
        </p:spPr>
      </p:sp>
      <p:sp>
        <p:nvSpPr>
          <p:cNvPr id="57" name="Rectangle 56">
            <a:extLst>
              <a:ext uri="{FF2B5EF4-FFF2-40B4-BE49-F238E27FC236}">
                <a16:creationId xmlns:a16="http://schemas.microsoft.com/office/drawing/2014/main" id="{F2FCB52D-1BD9-4442-A609-991D08175F49}"/>
              </a:ext>
            </a:extLst>
          </p:cNvPr>
          <p:cNvSpPr>
            <a:spLocks noGrp="1"/>
          </p:cNvSpPr>
          <p:nvPr/>
        </p:nvSpPr>
        <p:spPr>
          <a:xfrm>
            <a:off x="1028700" y="4305300"/>
            <a:ext cx="3276600" cy="266700"/>
          </a:xfrm>
          <a:prstGeom prst="rect">
            <a:avLst/>
          </a:prstGeom>
        </p:spPr>
        <p:txBody>
          <a:bodyPr lIns="0" tIns="0" rIns="0" bIns="0"/>
          <a:lstStyle/>
          <a:p>
            <a:r>
              <a:rPr sz="938">
                <a:solidFill>
                  <a:srgbClr val="263845"/>
                </a:solidFill>
                <a:latin typeface="Arial"/>
                <a:ea typeface="Arial"/>
                <a:cs typeface="Arial"/>
              </a:rPr>
              <a:t>final-consonant changes</a:t>
            </a:r>
          </a:p>
        </p:txBody>
      </p:sp>
      <p:pic>
        <p:nvPicPr>
          <p:cNvPr id="60" name="Picture 59">
            <a:extLst>
              <a:ext uri="{FF2B5EF4-FFF2-40B4-BE49-F238E27FC236}">
                <a16:creationId xmlns:a16="http://schemas.microsoft.com/office/drawing/2014/main" id="{12726BEB-4989-AF49-CB15-D95AD370FB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6132" y="1230110"/>
            <a:ext cx="2897868" cy="2566988"/>
          </a:xfrm>
          <a:prstGeom prst="rect">
            <a:avLst/>
          </a:prstGeom>
        </p:spPr>
      </p:pic>
    </p:spTree>
    <p:extLst>
      <p:ext uri="{BB962C8B-B14F-4D97-AF65-F5344CB8AC3E}">
        <p14:creationId xmlns:p14="http://schemas.microsoft.com/office/powerpoint/2010/main" val="182623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1000"/>
                                        <p:tgtEl>
                                          <p:spTgt spid="60"/>
                                        </p:tgtEl>
                                      </p:cBhvr>
                                    </p:animEffect>
                                    <p:anim calcmode="lin" valueType="num">
                                      <p:cBhvr>
                                        <p:cTn id="8" dur="1000" fill="hold"/>
                                        <p:tgtEl>
                                          <p:spTgt spid="60"/>
                                        </p:tgtEl>
                                        <p:attrNameLst>
                                          <p:attrName>ppt_x</p:attrName>
                                        </p:attrNameLst>
                                      </p:cBhvr>
                                      <p:tavLst>
                                        <p:tav tm="0">
                                          <p:val>
                                            <p:strVal val="#ppt_x"/>
                                          </p:val>
                                        </p:tav>
                                        <p:tav tm="100000">
                                          <p:val>
                                            <p:strVal val="#ppt_x"/>
                                          </p:val>
                                        </p:tav>
                                      </p:tavLst>
                                    </p:anim>
                                    <p:anim calcmode="lin" valueType="num">
                                      <p:cBhvr>
                                        <p:cTn id="9"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02BF9027-0EA8-42DE-AD6E-B95A4B156FBF}"/>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337E18FA-53B7-4864-8303-743FCA2E0D90}"/>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10 | TASK PROCEDURE</a:t>
            </a:r>
          </a:p>
        </p:txBody>
      </p:sp>
      <p:sp>
        <p:nvSpPr>
          <p:cNvPr id="3" name="Rectangle 2">
            <a:extLst>
              <a:ext uri="{FF2B5EF4-FFF2-40B4-BE49-F238E27FC236}">
                <a16:creationId xmlns:a16="http://schemas.microsoft.com/office/drawing/2014/main" id="{F4B9E048-B9B4-49D4-AC52-A81CBD105691}"/>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procedure is short, randomized, and keyboard-based to keep lexical decisions clean.</a:t>
            </a:r>
          </a:p>
        </p:txBody>
      </p:sp>
      <p:sp>
        <p:nvSpPr>
          <p:cNvPr id="4" name="Rectangle 3">
            <a:extLst>
              <a:ext uri="{FF2B5EF4-FFF2-40B4-BE49-F238E27FC236}">
                <a16:creationId xmlns:a16="http://schemas.microsoft.com/office/drawing/2014/main" id="{2A6BE596-9E69-465A-817D-FBF59F8118AA}"/>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4B24FBD5-0803-423F-BA69-BBE07ECE1C05}"/>
              </a:ext>
            </a:extLst>
          </p:cNvPr>
          <p:cNvSpPr>
            <a:spLocks noGrp="1"/>
          </p:cNvSpPr>
          <p:nvPr/>
        </p:nvSpPr>
        <p:spPr>
          <a:xfrm>
            <a:off x="523875" y="1619250"/>
            <a:ext cx="1285875" cy="933450"/>
          </a:xfrm>
          <a:prstGeom prst="rect">
            <a:avLst/>
          </a:prstGeom>
          <a:solidFill>
            <a:srgbClr val="EEF4F8"/>
          </a:solidFill>
          <a:ln w="7620">
            <a:solidFill>
              <a:srgbClr val="003A61"/>
            </a:solidFill>
          </a:ln>
        </p:spPr>
        <p:txBody>
          <a:bodyPr lIns="0" tIns="0" rIns="0" bIns="0"/>
          <a:lstStyle/>
          <a:p>
            <a:r>
              <a:rPr sz="1400">
                <a:solidFill>
                  <a:srgbClr val="EEF4F8"/>
                </a:solidFill>
                <a:latin typeface="Arial"/>
                <a:ea typeface="Arial"/>
                <a:cs typeface="Arial"/>
              </a:rPr>
              <a:t>.</a:t>
            </a:r>
          </a:p>
        </p:txBody>
      </p:sp>
      <p:sp>
        <p:nvSpPr>
          <p:cNvPr id="6" name="Rectangle 5">
            <a:extLst>
              <a:ext uri="{FF2B5EF4-FFF2-40B4-BE49-F238E27FC236}">
                <a16:creationId xmlns:a16="http://schemas.microsoft.com/office/drawing/2014/main" id="{BF94CC84-C1C9-4AA7-B89B-9C894D5AE9F5}"/>
              </a:ext>
            </a:extLst>
          </p:cNvPr>
          <p:cNvSpPr>
            <a:spLocks noGrp="1"/>
          </p:cNvSpPr>
          <p:nvPr/>
        </p:nvSpPr>
        <p:spPr>
          <a:xfrm>
            <a:off x="609600" y="1704975"/>
            <a:ext cx="1114425" cy="171450"/>
          </a:xfrm>
          <a:prstGeom prst="rect">
            <a:avLst/>
          </a:prstGeom>
        </p:spPr>
        <p:txBody>
          <a:bodyPr lIns="0" tIns="0" rIns="0" bIns="0"/>
          <a:lstStyle/>
          <a:p>
            <a:pPr algn="ctr">
              <a:defRPr sz="825" b="1">
                <a:solidFill>
                  <a:srgbClr val="003A61"/>
                </a:solidFill>
                <a:latin typeface="Arial"/>
                <a:ea typeface="Arial"/>
                <a:cs typeface="Arial"/>
              </a:defRPr>
            </a:pPr>
            <a:r>
              <a:rPr sz="1400" b="1">
                <a:solidFill>
                  <a:srgbClr val="003A61"/>
                </a:solidFill>
                <a:latin typeface="Arial"/>
                <a:ea typeface="Arial"/>
                <a:cs typeface="Arial"/>
              </a:rPr>
              <a:t>Instructions</a:t>
            </a:r>
          </a:p>
        </p:txBody>
      </p:sp>
      <p:sp>
        <p:nvSpPr>
          <p:cNvPr id="7" name="Rectangle 6">
            <a:extLst>
              <a:ext uri="{FF2B5EF4-FFF2-40B4-BE49-F238E27FC236}">
                <a16:creationId xmlns:a16="http://schemas.microsoft.com/office/drawing/2014/main" id="{B104D0B0-7E5B-4DD7-87F6-C736B7534225}"/>
              </a:ext>
            </a:extLst>
          </p:cNvPr>
          <p:cNvSpPr>
            <a:spLocks noGrp="1"/>
          </p:cNvSpPr>
          <p:nvPr/>
        </p:nvSpPr>
        <p:spPr>
          <a:xfrm>
            <a:off x="609600" y="1914525"/>
            <a:ext cx="1114425" cy="571500"/>
          </a:xfrm>
          <a:prstGeom prst="rect">
            <a:avLst/>
          </a:prstGeom>
        </p:spPr>
        <p:txBody>
          <a:bodyPr lIns="0" tIns="0" rIns="0" bIns="0"/>
          <a:lstStyle/>
          <a:p>
            <a:pPr algn="ctr">
              <a:defRPr sz="713">
                <a:solidFill>
                  <a:srgbClr val="263845"/>
                </a:solidFill>
                <a:latin typeface="Arial"/>
                <a:ea typeface="Arial"/>
                <a:cs typeface="Arial"/>
              </a:defRPr>
            </a:pPr>
            <a:r>
              <a:rPr sz="1400">
                <a:solidFill>
                  <a:srgbClr val="263845"/>
                </a:solidFill>
                <a:latin typeface="Arial"/>
                <a:ea typeface="Arial"/>
                <a:cs typeface="Arial"/>
              </a:rPr>
              <a:t>F = word</a:t>
            </a:r>
          </a:p>
          <a:p>
            <a:pPr algn="ctr">
              <a:defRPr sz="713">
                <a:solidFill>
                  <a:srgbClr val="263845"/>
                </a:solidFill>
                <a:latin typeface="Arial"/>
                <a:ea typeface="Arial"/>
                <a:cs typeface="Arial"/>
              </a:defRPr>
            </a:pPr>
            <a:r>
              <a:rPr sz="1400">
                <a:solidFill>
                  <a:srgbClr val="263845"/>
                </a:solidFill>
                <a:latin typeface="Arial"/>
                <a:ea typeface="Arial"/>
                <a:cs typeface="Arial"/>
              </a:rPr>
              <a:t>J = nonword</a:t>
            </a:r>
          </a:p>
        </p:txBody>
      </p:sp>
      <p:sp>
        <p:nvSpPr>
          <p:cNvPr id="8" name="Rectangle 7">
            <a:extLst>
              <a:ext uri="{FF2B5EF4-FFF2-40B4-BE49-F238E27FC236}">
                <a16:creationId xmlns:a16="http://schemas.microsoft.com/office/drawing/2014/main" id="{A76792F9-6D01-45D7-A9B0-5F5A1072A0CA}"/>
              </a:ext>
            </a:extLst>
          </p:cNvPr>
          <p:cNvSpPr>
            <a:spLocks noGrp="1"/>
          </p:cNvSpPr>
          <p:nvPr/>
        </p:nvSpPr>
        <p:spPr>
          <a:xfrm>
            <a:off x="1838325" y="19526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400" b="1">
                <a:solidFill>
                  <a:srgbClr val="8DB600"/>
                </a:solidFill>
                <a:latin typeface="Arial"/>
                <a:ea typeface="Arial"/>
                <a:cs typeface="Arial"/>
              </a:rPr>
              <a:t>→</a:t>
            </a:r>
          </a:p>
        </p:txBody>
      </p:sp>
      <p:sp>
        <p:nvSpPr>
          <p:cNvPr id="9" name="Rectangle 8">
            <a:extLst>
              <a:ext uri="{FF2B5EF4-FFF2-40B4-BE49-F238E27FC236}">
                <a16:creationId xmlns:a16="http://schemas.microsoft.com/office/drawing/2014/main" id="{A4F71976-6DE4-488A-B50B-87FB51218DAC}"/>
              </a:ext>
            </a:extLst>
          </p:cNvPr>
          <p:cNvSpPr>
            <a:spLocks noGrp="1"/>
          </p:cNvSpPr>
          <p:nvPr/>
        </p:nvSpPr>
        <p:spPr>
          <a:xfrm>
            <a:off x="2143125" y="1619250"/>
            <a:ext cx="1285875" cy="933450"/>
          </a:xfrm>
          <a:prstGeom prst="rect">
            <a:avLst/>
          </a:prstGeom>
          <a:solidFill>
            <a:srgbClr val="EEF4F8"/>
          </a:solidFill>
          <a:ln w="7620">
            <a:solidFill>
              <a:srgbClr val="003A61"/>
            </a:solidFill>
          </a:ln>
        </p:spPr>
        <p:txBody>
          <a:bodyPr lIns="0" tIns="0" rIns="0" bIns="0"/>
          <a:lstStyle/>
          <a:p>
            <a:r>
              <a:rPr sz="1400">
                <a:solidFill>
                  <a:srgbClr val="EEF4F8"/>
                </a:solidFill>
                <a:latin typeface="Arial"/>
                <a:ea typeface="Arial"/>
                <a:cs typeface="Arial"/>
              </a:rPr>
              <a:t>.</a:t>
            </a:r>
          </a:p>
        </p:txBody>
      </p:sp>
      <p:sp>
        <p:nvSpPr>
          <p:cNvPr id="10" name="Rectangle 9">
            <a:extLst>
              <a:ext uri="{FF2B5EF4-FFF2-40B4-BE49-F238E27FC236}">
                <a16:creationId xmlns:a16="http://schemas.microsoft.com/office/drawing/2014/main" id="{08ACACDC-1F9C-4041-9457-364C3DFC34AF}"/>
              </a:ext>
            </a:extLst>
          </p:cNvPr>
          <p:cNvSpPr>
            <a:spLocks noGrp="1"/>
          </p:cNvSpPr>
          <p:nvPr/>
        </p:nvSpPr>
        <p:spPr>
          <a:xfrm>
            <a:off x="2228850" y="1704975"/>
            <a:ext cx="1114425" cy="171450"/>
          </a:xfrm>
          <a:prstGeom prst="rect">
            <a:avLst/>
          </a:prstGeom>
        </p:spPr>
        <p:txBody>
          <a:bodyPr lIns="0" tIns="0" rIns="0" bIns="0"/>
          <a:lstStyle/>
          <a:p>
            <a:pPr algn="ctr">
              <a:defRPr sz="825" b="1">
                <a:solidFill>
                  <a:srgbClr val="003A61"/>
                </a:solidFill>
                <a:latin typeface="Arial"/>
                <a:ea typeface="Arial"/>
                <a:cs typeface="Arial"/>
              </a:defRPr>
            </a:pPr>
            <a:r>
              <a:rPr sz="1400" b="1">
                <a:solidFill>
                  <a:srgbClr val="003A61"/>
                </a:solidFill>
                <a:latin typeface="Arial"/>
                <a:ea typeface="Arial"/>
                <a:cs typeface="Arial"/>
              </a:rPr>
              <a:t>Practice</a:t>
            </a:r>
          </a:p>
        </p:txBody>
      </p:sp>
      <p:sp>
        <p:nvSpPr>
          <p:cNvPr id="11" name="Rectangle 10">
            <a:extLst>
              <a:ext uri="{FF2B5EF4-FFF2-40B4-BE49-F238E27FC236}">
                <a16:creationId xmlns:a16="http://schemas.microsoft.com/office/drawing/2014/main" id="{2D169F13-14E6-4ABD-AFBE-7695A10094D7}"/>
              </a:ext>
            </a:extLst>
          </p:cNvPr>
          <p:cNvSpPr>
            <a:spLocks noGrp="1"/>
          </p:cNvSpPr>
          <p:nvPr/>
        </p:nvSpPr>
        <p:spPr>
          <a:xfrm>
            <a:off x="2228850" y="1914525"/>
            <a:ext cx="1114425" cy="571500"/>
          </a:xfrm>
          <a:prstGeom prst="rect">
            <a:avLst/>
          </a:prstGeom>
        </p:spPr>
        <p:txBody>
          <a:bodyPr lIns="0" tIns="0" rIns="0" bIns="0"/>
          <a:lstStyle/>
          <a:p>
            <a:pPr algn="ctr">
              <a:defRPr sz="713">
                <a:solidFill>
                  <a:srgbClr val="263845"/>
                </a:solidFill>
                <a:latin typeface="Arial"/>
                <a:ea typeface="Arial"/>
                <a:cs typeface="Arial"/>
              </a:defRPr>
            </a:pPr>
            <a:r>
              <a:rPr sz="1400">
                <a:solidFill>
                  <a:srgbClr val="263845"/>
                </a:solidFill>
                <a:latin typeface="Arial"/>
                <a:ea typeface="Arial"/>
                <a:cs typeface="Arial"/>
              </a:rPr>
              <a:t>4 trials</a:t>
            </a:r>
          </a:p>
          <a:p>
            <a:pPr algn="ctr">
              <a:defRPr sz="713">
                <a:solidFill>
                  <a:srgbClr val="263845"/>
                </a:solidFill>
                <a:latin typeface="Arial"/>
                <a:ea typeface="Arial"/>
                <a:cs typeface="Arial"/>
              </a:defRPr>
            </a:pPr>
            <a:r>
              <a:rPr sz="1400">
                <a:solidFill>
                  <a:srgbClr val="263845"/>
                </a:solidFill>
                <a:latin typeface="Arial"/>
                <a:ea typeface="Arial"/>
                <a:cs typeface="Arial"/>
              </a:rPr>
              <a:t>with feedback</a:t>
            </a:r>
          </a:p>
        </p:txBody>
      </p:sp>
      <p:sp>
        <p:nvSpPr>
          <p:cNvPr id="12" name="Rectangle 11">
            <a:extLst>
              <a:ext uri="{FF2B5EF4-FFF2-40B4-BE49-F238E27FC236}">
                <a16:creationId xmlns:a16="http://schemas.microsoft.com/office/drawing/2014/main" id="{022F5A63-1600-4F46-9434-AF6907A67605}"/>
              </a:ext>
            </a:extLst>
          </p:cNvPr>
          <p:cNvSpPr>
            <a:spLocks noGrp="1"/>
          </p:cNvSpPr>
          <p:nvPr/>
        </p:nvSpPr>
        <p:spPr>
          <a:xfrm>
            <a:off x="3457575" y="19526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400" b="1">
                <a:solidFill>
                  <a:srgbClr val="8DB600"/>
                </a:solidFill>
                <a:latin typeface="Arial"/>
                <a:ea typeface="Arial"/>
                <a:cs typeface="Arial"/>
              </a:rPr>
              <a:t>→</a:t>
            </a:r>
          </a:p>
        </p:txBody>
      </p:sp>
      <p:sp>
        <p:nvSpPr>
          <p:cNvPr id="13" name="Rectangle 12">
            <a:extLst>
              <a:ext uri="{FF2B5EF4-FFF2-40B4-BE49-F238E27FC236}">
                <a16:creationId xmlns:a16="http://schemas.microsoft.com/office/drawing/2014/main" id="{D834E8E5-782C-43A2-B22C-CE328CAF601D}"/>
              </a:ext>
            </a:extLst>
          </p:cNvPr>
          <p:cNvSpPr>
            <a:spLocks noGrp="1"/>
          </p:cNvSpPr>
          <p:nvPr/>
        </p:nvSpPr>
        <p:spPr>
          <a:xfrm>
            <a:off x="3762375" y="1619250"/>
            <a:ext cx="1285875" cy="933450"/>
          </a:xfrm>
          <a:prstGeom prst="rect">
            <a:avLst/>
          </a:prstGeom>
          <a:solidFill>
            <a:srgbClr val="DDECB3"/>
          </a:solidFill>
          <a:ln w="7620">
            <a:solidFill>
              <a:srgbClr val="003A61"/>
            </a:solidFill>
          </a:ln>
        </p:spPr>
        <p:txBody>
          <a:bodyPr lIns="0" tIns="0" rIns="0" bIns="0"/>
          <a:lstStyle/>
          <a:p>
            <a:r>
              <a:rPr sz="1400">
                <a:solidFill>
                  <a:srgbClr val="DDECB3"/>
                </a:solidFill>
                <a:latin typeface="Arial"/>
                <a:ea typeface="Arial"/>
                <a:cs typeface="Arial"/>
              </a:rPr>
              <a:t>.</a:t>
            </a:r>
          </a:p>
        </p:txBody>
      </p:sp>
      <p:sp>
        <p:nvSpPr>
          <p:cNvPr id="14" name="Rectangle 13">
            <a:extLst>
              <a:ext uri="{FF2B5EF4-FFF2-40B4-BE49-F238E27FC236}">
                <a16:creationId xmlns:a16="http://schemas.microsoft.com/office/drawing/2014/main" id="{A9A02CAE-C80C-4A22-8F7E-C5CEE486CAAC}"/>
              </a:ext>
            </a:extLst>
          </p:cNvPr>
          <p:cNvSpPr>
            <a:spLocks noGrp="1"/>
          </p:cNvSpPr>
          <p:nvPr/>
        </p:nvSpPr>
        <p:spPr>
          <a:xfrm>
            <a:off x="3848100" y="1704975"/>
            <a:ext cx="1114425" cy="171450"/>
          </a:xfrm>
          <a:prstGeom prst="rect">
            <a:avLst/>
          </a:prstGeom>
        </p:spPr>
        <p:txBody>
          <a:bodyPr lIns="0" tIns="0" rIns="0" bIns="0"/>
          <a:lstStyle/>
          <a:p>
            <a:pPr algn="ctr">
              <a:defRPr sz="825" b="1">
                <a:solidFill>
                  <a:srgbClr val="003A61"/>
                </a:solidFill>
                <a:latin typeface="Arial"/>
                <a:ea typeface="Arial"/>
                <a:cs typeface="Arial"/>
              </a:defRPr>
            </a:pPr>
            <a:r>
              <a:rPr sz="1400" b="1">
                <a:solidFill>
                  <a:srgbClr val="003A61"/>
                </a:solidFill>
                <a:latin typeface="Arial"/>
                <a:ea typeface="Arial"/>
                <a:cs typeface="Arial"/>
              </a:rPr>
              <a:t>Main task</a:t>
            </a:r>
          </a:p>
        </p:txBody>
      </p:sp>
      <p:sp>
        <p:nvSpPr>
          <p:cNvPr id="15" name="Rectangle 14">
            <a:extLst>
              <a:ext uri="{FF2B5EF4-FFF2-40B4-BE49-F238E27FC236}">
                <a16:creationId xmlns:a16="http://schemas.microsoft.com/office/drawing/2014/main" id="{3A77852B-D5A6-4F18-AF5C-20937B384768}"/>
              </a:ext>
            </a:extLst>
          </p:cNvPr>
          <p:cNvSpPr>
            <a:spLocks noGrp="1"/>
          </p:cNvSpPr>
          <p:nvPr/>
        </p:nvSpPr>
        <p:spPr>
          <a:xfrm>
            <a:off x="3848100" y="1914525"/>
            <a:ext cx="1114425" cy="571500"/>
          </a:xfrm>
          <a:prstGeom prst="rect">
            <a:avLst/>
          </a:prstGeom>
        </p:spPr>
        <p:txBody>
          <a:bodyPr lIns="0" tIns="0" rIns="0" bIns="0"/>
          <a:lstStyle/>
          <a:p>
            <a:pPr algn="ctr">
              <a:defRPr sz="713">
                <a:solidFill>
                  <a:srgbClr val="263845"/>
                </a:solidFill>
                <a:latin typeface="Arial"/>
                <a:ea typeface="Arial"/>
                <a:cs typeface="Arial"/>
              </a:defRPr>
            </a:pPr>
            <a:r>
              <a:rPr sz="1400">
                <a:solidFill>
                  <a:srgbClr val="263845"/>
                </a:solidFill>
                <a:latin typeface="Arial"/>
                <a:ea typeface="Arial"/>
                <a:cs typeface="Arial"/>
              </a:rPr>
              <a:t>120 trials</a:t>
            </a:r>
          </a:p>
          <a:p>
            <a:pPr algn="ctr">
              <a:defRPr sz="713">
                <a:solidFill>
                  <a:srgbClr val="263845"/>
                </a:solidFill>
                <a:latin typeface="Arial"/>
                <a:ea typeface="Arial"/>
                <a:cs typeface="Arial"/>
              </a:defRPr>
            </a:pPr>
            <a:r>
              <a:rPr sz="1400">
                <a:solidFill>
                  <a:srgbClr val="263845"/>
                </a:solidFill>
                <a:latin typeface="Arial"/>
                <a:ea typeface="Arial"/>
                <a:cs typeface="Arial"/>
              </a:rPr>
              <a:t>randomized</a:t>
            </a:r>
          </a:p>
        </p:txBody>
      </p:sp>
      <p:sp>
        <p:nvSpPr>
          <p:cNvPr id="16" name="Rectangle 15">
            <a:extLst>
              <a:ext uri="{FF2B5EF4-FFF2-40B4-BE49-F238E27FC236}">
                <a16:creationId xmlns:a16="http://schemas.microsoft.com/office/drawing/2014/main" id="{BD98CB0A-1BBD-4E10-B1A6-317B3C6BBA03}"/>
              </a:ext>
            </a:extLst>
          </p:cNvPr>
          <p:cNvSpPr>
            <a:spLocks noGrp="1"/>
          </p:cNvSpPr>
          <p:nvPr/>
        </p:nvSpPr>
        <p:spPr>
          <a:xfrm>
            <a:off x="5076825" y="19526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400" b="1">
                <a:solidFill>
                  <a:srgbClr val="8DB600"/>
                </a:solidFill>
                <a:latin typeface="Arial"/>
                <a:ea typeface="Arial"/>
                <a:cs typeface="Arial"/>
              </a:rPr>
              <a:t>→</a:t>
            </a:r>
          </a:p>
        </p:txBody>
      </p:sp>
      <p:sp>
        <p:nvSpPr>
          <p:cNvPr id="17" name="Rectangle 16">
            <a:extLst>
              <a:ext uri="{FF2B5EF4-FFF2-40B4-BE49-F238E27FC236}">
                <a16:creationId xmlns:a16="http://schemas.microsoft.com/office/drawing/2014/main" id="{377E199B-6614-41B1-8D79-3B982C47304B}"/>
              </a:ext>
            </a:extLst>
          </p:cNvPr>
          <p:cNvSpPr>
            <a:spLocks noGrp="1"/>
          </p:cNvSpPr>
          <p:nvPr/>
        </p:nvSpPr>
        <p:spPr>
          <a:xfrm>
            <a:off x="5381625" y="1619250"/>
            <a:ext cx="1285875" cy="933450"/>
          </a:xfrm>
          <a:prstGeom prst="rect">
            <a:avLst/>
          </a:prstGeom>
          <a:solidFill>
            <a:srgbClr val="EEF4F8"/>
          </a:solidFill>
          <a:ln w="7620">
            <a:solidFill>
              <a:srgbClr val="003A61"/>
            </a:solidFill>
          </a:ln>
        </p:spPr>
        <p:txBody>
          <a:bodyPr lIns="0" tIns="0" rIns="0" bIns="0"/>
          <a:lstStyle/>
          <a:p>
            <a:r>
              <a:rPr sz="1400">
                <a:solidFill>
                  <a:srgbClr val="EEF4F8"/>
                </a:solidFill>
                <a:latin typeface="Arial"/>
                <a:ea typeface="Arial"/>
                <a:cs typeface="Arial"/>
              </a:rPr>
              <a:t>.</a:t>
            </a:r>
          </a:p>
        </p:txBody>
      </p:sp>
      <p:sp>
        <p:nvSpPr>
          <p:cNvPr id="18" name="Rectangle 17">
            <a:extLst>
              <a:ext uri="{FF2B5EF4-FFF2-40B4-BE49-F238E27FC236}">
                <a16:creationId xmlns:a16="http://schemas.microsoft.com/office/drawing/2014/main" id="{9C62EA6E-B9D5-4957-92A2-FB56832A5E2A}"/>
              </a:ext>
            </a:extLst>
          </p:cNvPr>
          <p:cNvSpPr>
            <a:spLocks noGrp="1"/>
          </p:cNvSpPr>
          <p:nvPr/>
        </p:nvSpPr>
        <p:spPr>
          <a:xfrm>
            <a:off x="5467350" y="1704975"/>
            <a:ext cx="1114425" cy="171450"/>
          </a:xfrm>
          <a:prstGeom prst="rect">
            <a:avLst/>
          </a:prstGeom>
        </p:spPr>
        <p:txBody>
          <a:bodyPr lIns="0" tIns="0" rIns="0" bIns="0"/>
          <a:lstStyle/>
          <a:p>
            <a:pPr algn="ctr">
              <a:defRPr sz="825" b="1">
                <a:solidFill>
                  <a:srgbClr val="003A61"/>
                </a:solidFill>
                <a:latin typeface="Arial"/>
                <a:ea typeface="Arial"/>
                <a:cs typeface="Arial"/>
              </a:defRPr>
            </a:pPr>
            <a:r>
              <a:rPr sz="1400" b="1">
                <a:solidFill>
                  <a:srgbClr val="003A61"/>
                </a:solidFill>
                <a:latin typeface="Arial"/>
                <a:ea typeface="Arial"/>
                <a:cs typeface="Arial"/>
              </a:rPr>
              <a:t>Response</a:t>
            </a:r>
          </a:p>
        </p:txBody>
      </p:sp>
      <p:sp>
        <p:nvSpPr>
          <p:cNvPr id="19" name="Rectangle 18">
            <a:extLst>
              <a:ext uri="{FF2B5EF4-FFF2-40B4-BE49-F238E27FC236}">
                <a16:creationId xmlns:a16="http://schemas.microsoft.com/office/drawing/2014/main" id="{A7017FBF-3B52-4550-BA56-D4F1A0414764}"/>
              </a:ext>
            </a:extLst>
          </p:cNvPr>
          <p:cNvSpPr>
            <a:spLocks noGrp="1"/>
          </p:cNvSpPr>
          <p:nvPr/>
        </p:nvSpPr>
        <p:spPr>
          <a:xfrm>
            <a:off x="5467350" y="1914525"/>
            <a:ext cx="1114425" cy="571500"/>
          </a:xfrm>
          <a:prstGeom prst="rect">
            <a:avLst/>
          </a:prstGeom>
        </p:spPr>
        <p:txBody>
          <a:bodyPr lIns="0" tIns="0" rIns="0" bIns="0"/>
          <a:lstStyle/>
          <a:p>
            <a:pPr algn="ctr">
              <a:defRPr sz="713">
                <a:solidFill>
                  <a:srgbClr val="263845"/>
                </a:solidFill>
                <a:latin typeface="Arial"/>
                <a:ea typeface="Arial"/>
                <a:cs typeface="Arial"/>
              </a:defRPr>
            </a:pPr>
            <a:r>
              <a:rPr sz="1400">
                <a:solidFill>
                  <a:srgbClr val="263845"/>
                </a:solidFill>
                <a:latin typeface="Arial"/>
                <a:ea typeface="Arial"/>
                <a:cs typeface="Arial"/>
              </a:rPr>
              <a:t>keyboard RT</a:t>
            </a:r>
          </a:p>
          <a:p>
            <a:pPr algn="ctr">
              <a:defRPr sz="713">
                <a:solidFill>
                  <a:srgbClr val="263845"/>
                </a:solidFill>
                <a:latin typeface="Arial"/>
                <a:ea typeface="Arial"/>
                <a:cs typeface="Arial"/>
              </a:defRPr>
            </a:pPr>
            <a:r>
              <a:rPr sz="1400">
                <a:solidFill>
                  <a:srgbClr val="263845"/>
                </a:solidFill>
                <a:latin typeface="Arial"/>
                <a:ea typeface="Arial"/>
                <a:cs typeface="Arial"/>
              </a:rPr>
              <a:t>accuracy</a:t>
            </a:r>
          </a:p>
        </p:txBody>
      </p:sp>
      <p:sp>
        <p:nvSpPr>
          <p:cNvPr id="20" name="Rectangle 19">
            <a:extLst>
              <a:ext uri="{FF2B5EF4-FFF2-40B4-BE49-F238E27FC236}">
                <a16:creationId xmlns:a16="http://schemas.microsoft.com/office/drawing/2014/main" id="{E35C1DA0-12C5-48CF-87B6-9DB2C7249409}"/>
              </a:ext>
            </a:extLst>
          </p:cNvPr>
          <p:cNvSpPr>
            <a:spLocks noGrp="1"/>
          </p:cNvSpPr>
          <p:nvPr/>
        </p:nvSpPr>
        <p:spPr>
          <a:xfrm>
            <a:off x="6696075" y="19526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400" b="1">
                <a:solidFill>
                  <a:srgbClr val="8DB600"/>
                </a:solidFill>
                <a:latin typeface="Arial"/>
                <a:ea typeface="Arial"/>
                <a:cs typeface="Arial"/>
              </a:rPr>
              <a:t>→</a:t>
            </a:r>
          </a:p>
        </p:txBody>
      </p:sp>
      <p:sp>
        <p:nvSpPr>
          <p:cNvPr id="21" name="Rectangle 20">
            <a:extLst>
              <a:ext uri="{FF2B5EF4-FFF2-40B4-BE49-F238E27FC236}">
                <a16:creationId xmlns:a16="http://schemas.microsoft.com/office/drawing/2014/main" id="{08B71D38-EF81-49E0-995B-76D5761CEA2B}"/>
              </a:ext>
            </a:extLst>
          </p:cNvPr>
          <p:cNvSpPr>
            <a:spLocks noGrp="1"/>
          </p:cNvSpPr>
          <p:nvPr/>
        </p:nvSpPr>
        <p:spPr>
          <a:xfrm>
            <a:off x="7000875" y="1619250"/>
            <a:ext cx="1285875" cy="933450"/>
          </a:xfrm>
          <a:prstGeom prst="rect">
            <a:avLst/>
          </a:prstGeom>
          <a:solidFill>
            <a:srgbClr val="EEF4F8"/>
          </a:solidFill>
          <a:ln w="7620">
            <a:solidFill>
              <a:srgbClr val="003A61"/>
            </a:solidFill>
          </a:ln>
        </p:spPr>
        <p:txBody>
          <a:bodyPr lIns="0" tIns="0" rIns="0" bIns="0"/>
          <a:lstStyle/>
          <a:p>
            <a:r>
              <a:rPr sz="1400">
                <a:solidFill>
                  <a:srgbClr val="EEF4F8"/>
                </a:solidFill>
                <a:latin typeface="Arial"/>
                <a:ea typeface="Arial"/>
                <a:cs typeface="Arial"/>
              </a:rPr>
              <a:t>.</a:t>
            </a:r>
          </a:p>
        </p:txBody>
      </p:sp>
      <p:sp>
        <p:nvSpPr>
          <p:cNvPr id="22" name="Rectangle 21">
            <a:extLst>
              <a:ext uri="{FF2B5EF4-FFF2-40B4-BE49-F238E27FC236}">
                <a16:creationId xmlns:a16="http://schemas.microsoft.com/office/drawing/2014/main" id="{268EAD10-68BA-4F00-BA2D-A4AB8E22EB09}"/>
              </a:ext>
            </a:extLst>
          </p:cNvPr>
          <p:cNvSpPr>
            <a:spLocks noGrp="1"/>
          </p:cNvSpPr>
          <p:nvPr/>
        </p:nvSpPr>
        <p:spPr>
          <a:xfrm>
            <a:off x="7086600" y="1704975"/>
            <a:ext cx="1114425" cy="171450"/>
          </a:xfrm>
          <a:prstGeom prst="rect">
            <a:avLst/>
          </a:prstGeom>
        </p:spPr>
        <p:txBody>
          <a:bodyPr lIns="0" tIns="0" rIns="0" bIns="0"/>
          <a:lstStyle/>
          <a:p>
            <a:pPr algn="ctr">
              <a:defRPr sz="825" b="1">
                <a:solidFill>
                  <a:srgbClr val="003A61"/>
                </a:solidFill>
                <a:latin typeface="Arial"/>
                <a:ea typeface="Arial"/>
                <a:cs typeface="Arial"/>
              </a:defRPr>
            </a:pPr>
            <a:r>
              <a:rPr sz="1400" b="1">
                <a:solidFill>
                  <a:srgbClr val="003A61"/>
                </a:solidFill>
                <a:latin typeface="Arial"/>
                <a:ea typeface="Arial"/>
                <a:cs typeface="Arial"/>
              </a:rPr>
              <a:t>Export</a:t>
            </a:r>
          </a:p>
        </p:txBody>
      </p:sp>
      <p:sp>
        <p:nvSpPr>
          <p:cNvPr id="23" name="Rectangle 22">
            <a:extLst>
              <a:ext uri="{FF2B5EF4-FFF2-40B4-BE49-F238E27FC236}">
                <a16:creationId xmlns:a16="http://schemas.microsoft.com/office/drawing/2014/main" id="{2F419267-AB36-42A2-A5CD-23B2ED1F8CFA}"/>
              </a:ext>
            </a:extLst>
          </p:cNvPr>
          <p:cNvSpPr>
            <a:spLocks noGrp="1"/>
          </p:cNvSpPr>
          <p:nvPr/>
        </p:nvSpPr>
        <p:spPr>
          <a:xfrm>
            <a:off x="7086600" y="1914525"/>
            <a:ext cx="1114425" cy="571500"/>
          </a:xfrm>
          <a:prstGeom prst="rect">
            <a:avLst/>
          </a:prstGeom>
        </p:spPr>
        <p:txBody>
          <a:bodyPr lIns="0" tIns="0" rIns="0" bIns="0"/>
          <a:lstStyle/>
          <a:p>
            <a:pPr algn="ctr">
              <a:defRPr sz="713">
                <a:solidFill>
                  <a:srgbClr val="263845"/>
                </a:solidFill>
                <a:latin typeface="Arial"/>
                <a:ea typeface="Arial"/>
                <a:cs typeface="Arial"/>
              </a:defRPr>
            </a:pPr>
            <a:r>
              <a:rPr sz="1400">
                <a:solidFill>
                  <a:srgbClr val="263845"/>
                </a:solidFill>
                <a:latin typeface="Arial"/>
                <a:ea typeface="Arial"/>
                <a:cs typeface="Arial"/>
              </a:rPr>
              <a:t>CSV files</a:t>
            </a:r>
          </a:p>
          <a:p>
            <a:pPr algn="ctr">
              <a:defRPr sz="713">
                <a:solidFill>
                  <a:srgbClr val="263845"/>
                </a:solidFill>
                <a:latin typeface="Arial"/>
                <a:ea typeface="Arial"/>
                <a:cs typeface="Arial"/>
              </a:defRPr>
            </a:pPr>
            <a:r>
              <a:rPr sz="1400">
                <a:solidFill>
                  <a:srgbClr val="263845"/>
                </a:solidFill>
                <a:latin typeface="Arial"/>
                <a:ea typeface="Arial"/>
                <a:cs typeface="Arial"/>
              </a:rPr>
              <a:t>per participant</a:t>
            </a:r>
          </a:p>
        </p:txBody>
      </p:sp>
      <p:sp>
        <p:nvSpPr>
          <p:cNvPr id="24" name="Rectangle 23">
            <a:extLst>
              <a:ext uri="{FF2B5EF4-FFF2-40B4-BE49-F238E27FC236}">
                <a16:creationId xmlns:a16="http://schemas.microsoft.com/office/drawing/2014/main" id="{247DFFC1-AEF4-4E10-9BB7-1B1A65A802C4}"/>
              </a:ext>
            </a:extLst>
          </p:cNvPr>
          <p:cNvSpPr>
            <a:spLocks noGrp="1"/>
          </p:cNvSpPr>
          <p:nvPr/>
        </p:nvSpPr>
        <p:spPr>
          <a:xfrm>
            <a:off x="876300" y="3105150"/>
            <a:ext cx="3714750" cy="266700"/>
          </a:xfrm>
          <a:prstGeom prst="rect">
            <a:avLst/>
          </a:prstGeom>
        </p:spPr>
        <p:txBody>
          <a:bodyPr lIns="0" tIns="0" rIns="0" bIns="0"/>
          <a:lstStyle/>
          <a:p>
            <a:r>
              <a:rPr sz="1275" b="1">
                <a:solidFill>
                  <a:srgbClr val="003A61"/>
                </a:solidFill>
                <a:latin typeface="Arial"/>
                <a:ea typeface="Arial"/>
                <a:cs typeface="Arial"/>
              </a:rPr>
              <a:t>Main-trial order is randomized for each participant.</a:t>
            </a:r>
          </a:p>
        </p:txBody>
      </p:sp>
      <p:sp>
        <p:nvSpPr>
          <p:cNvPr id="25" name="Rectangle 24">
            <a:extLst>
              <a:ext uri="{FF2B5EF4-FFF2-40B4-BE49-F238E27FC236}">
                <a16:creationId xmlns:a16="http://schemas.microsoft.com/office/drawing/2014/main" id="{4893F490-4A94-4C71-8DBC-30EC27844472}"/>
              </a:ext>
            </a:extLst>
          </p:cNvPr>
          <p:cNvSpPr>
            <a:spLocks noGrp="1"/>
          </p:cNvSpPr>
          <p:nvPr/>
        </p:nvSpPr>
        <p:spPr>
          <a:xfrm>
            <a:off x="5143500" y="2971800"/>
            <a:ext cx="2590800" cy="81915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26" name="Rectangle 25">
            <a:extLst>
              <a:ext uri="{FF2B5EF4-FFF2-40B4-BE49-F238E27FC236}">
                <a16:creationId xmlns:a16="http://schemas.microsoft.com/office/drawing/2014/main" id="{2DCAA03E-7896-4C10-A322-CFE7E8263733}"/>
              </a:ext>
            </a:extLst>
          </p:cNvPr>
          <p:cNvSpPr>
            <a:spLocks noGrp="1"/>
          </p:cNvSpPr>
          <p:nvPr/>
        </p:nvSpPr>
        <p:spPr>
          <a:xfrm>
            <a:off x="5257800" y="3067050"/>
            <a:ext cx="2362200" cy="190500"/>
          </a:xfrm>
          <a:prstGeom prst="rect">
            <a:avLst/>
          </a:prstGeom>
        </p:spPr>
        <p:txBody>
          <a:bodyPr lIns="0" tIns="0" rIns="0" bIns="0"/>
          <a:lstStyle/>
          <a:p>
            <a:r>
              <a:rPr sz="900" b="1">
                <a:solidFill>
                  <a:srgbClr val="003A61"/>
                </a:solidFill>
                <a:latin typeface="Arial"/>
                <a:ea typeface="Arial"/>
                <a:cs typeface="Arial"/>
              </a:rPr>
              <a:t>Response mapping</a:t>
            </a:r>
          </a:p>
        </p:txBody>
      </p:sp>
      <p:sp>
        <p:nvSpPr>
          <p:cNvPr id="27" name="Rectangle 26">
            <a:extLst>
              <a:ext uri="{FF2B5EF4-FFF2-40B4-BE49-F238E27FC236}">
                <a16:creationId xmlns:a16="http://schemas.microsoft.com/office/drawing/2014/main" id="{09D90FC7-3C13-443F-BD55-24FF619ED8C9}"/>
              </a:ext>
            </a:extLst>
          </p:cNvPr>
          <p:cNvSpPr>
            <a:spLocks noGrp="1"/>
          </p:cNvSpPr>
          <p:nvPr/>
        </p:nvSpPr>
        <p:spPr>
          <a:xfrm>
            <a:off x="5257800" y="3295650"/>
            <a:ext cx="2362200" cy="419100"/>
          </a:xfrm>
          <a:prstGeom prst="rect">
            <a:avLst/>
          </a:prstGeom>
        </p:spPr>
        <p:txBody>
          <a:bodyPr lIns="0" tIns="0" rIns="0" bIns="0"/>
          <a:lstStyle/>
          <a:p>
            <a:r>
              <a:rPr sz="1200">
                <a:solidFill>
                  <a:srgbClr val="263845"/>
                </a:solidFill>
                <a:latin typeface="Arial"/>
                <a:ea typeface="Arial"/>
                <a:cs typeface="Arial"/>
              </a:rPr>
              <a:t>F key: word</a:t>
            </a:r>
          </a:p>
          <a:p>
            <a:r>
              <a:rPr sz="1200">
                <a:solidFill>
                  <a:srgbClr val="263845"/>
                </a:solidFill>
                <a:latin typeface="Arial"/>
                <a:ea typeface="Arial"/>
                <a:cs typeface="Arial"/>
              </a:rPr>
              <a:t>J key: nonword</a:t>
            </a:r>
          </a:p>
        </p:txBody>
      </p:sp>
    </p:spTree>
    <p:extLst>
      <p:ext uri="{BB962C8B-B14F-4D97-AF65-F5344CB8AC3E}">
        <p14:creationId xmlns:p14="http://schemas.microsoft.com/office/powerpoint/2010/main" val="1826234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AC7E576-15D8-4873-AF7B-42F78B04D486}"/>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6192C8FE-9972-4E9B-A893-CD9C4C0D380A}"/>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11 | BIAS CONTROLS</a:t>
            </a:r>
          </a:p>
        </p:txBody>
      </p:sp>
      <p:sp>
        <p:nvSpPr>
          <p:cNvPr id="3" name="Rectangle 2">
            <a:extLst>
              <a:ext uri="{FF2B5EF4-FFF2-40B4-BE49-F238E27FC236}">
                <a16:creationId xmlns:a16="http://schemas.microsoft.com/office/drawing/2014/main" id="{3E88FCB7-7C60-4C2B-A729-8A0EEF1420ED}"/>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design reduces common task artifacts and monitors the ones it cannot remove.</a:t>
            </a:r>
          </a:p>
        </p:txBody>
      </p:sp>
      <p:sp>
        <p:nvSpPr>
          <p:cNvPr id="4" name="Rectangle 3">
            <a:extLst>
              <a:ext uri="{FF2B5EF4-FFF2-40B4-BE49-F238E27FC236}">
                <a16:creationId xmlns:a16="http://schemas.microsoft.com/office/drawing/2014/main" id="{BC0D909F-B3F6-4B7D-84FF-9693163CF604}"/>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0B717C1B-9C8E-4024-A895-7F41A7DA7642}"/>
              </a:ext>
            </a:extLst>
          </p:cNvPr>
          <p:cNvSpPr>
            <a:spLocks noGrp="1"/>
          </p:cNvSpPr>
          <p:nvPr/>
        </p:nvSpPr>
        <p:spPr>
          <a:xfrm>
            <a:off x="590550" y="1285875"/>
            <a:ext cx="1809750" cy="533400"/>
          </a:xfrm>
          <a:prstGeom prst="rect">
            <a:avLst/>
          </a:prstGeom>
          <a:solidFill>
            <a:srgbClr val="003A61"/>
          </a:solidFill>
          <a:ln w="7620">
            <a:solidFill>
              <a:srgbClr val="003A61"/>
            </a:solidFill>
          </a:ln>
        </p:spPr>
        <p:txBody>
          <a:bodyPr lIns="0" tIns="0" rIns="0" bIns="0"/>
          <a:lstStyle/>
          <a:p>
            <a:r>
              <a:rPr sz="1400">
                <a:solidFill>
                  <a:srgbClr val="003A61"/>
                </a:solidFill>
                <a:latin typeface="Arial"/>
                <a:ea typeface="Arial"/>
                <a:cs typeface="Arial"/>
              </a:rPr>
              <a:t>.</a:t>
            </a:r>
          </a:p>
        </p:txBody>
      </p:sp>
      <p:sp>
        <p:nvSpPr>
          <p:cNvPr id="6" name="Rectangle 5">
            <a:extLst>
              <a:ext uri="{FF2B5EF4-FFF2-40B4-BE49-F238E27FC236}">
                <a16:creationId xmlns:a16="http://schemas.microsoft.com/office/drawing/2014/main" id="{DB5B9964-F9A4-43DA-970D-D5E068A11EC3}"/>
              </a:ext>
            </a:extLst>
          </p:cNvPr>
          <p:cNvSpPr>
            <a:spLocks noGrp="1"/>
          </p:cNvSpPr>
          <p:nvPr/>
        </p:nvSpPr>
        <p:spPr>
          <a:xfrm>
            <a:off x="647700" y="1343025"/>
            <a:ext cx="1695450" cy="457200"/>
          </a:xfrm>
          <a:prstGeom prst="rect">
            <a:avLst/>
          </a:prstGeom>
        </p:spPr>
        <p:txBody>
          <a:bodyPr lIns="0" tIns="0" rIns="0" bIns="0"/>
          <a:lstStyle/>
          <a:p>
            <a:pPr algn="l">
              <a:defRPr sz="713" b="1">
                <a:solidFill>
                  <a:srgbClr val="FFFFFF"/>
                </a:solidFill>
                <a:latin typeface="Arial"/>
                <a:ea typeface="Arial"/>
                <a:cs typeface="Arial"/>
              </a:defRPr>
            </a:pPr>
            <a:r>
              <a:rPr sz="1400" b="1">
                <a:solidFill>
                  <a:srgbClr val="FFFFFF"/>
                </a:solidFill>
                <a:latin typeface="Arial"/>
                <a:ea typeface="Arial"/>
                <a:cs typeface="Arial"/>
              </a:rPr>
              <a:t>Potential issue</a:t>
            </a:r>
          </a:p>
        </p:txBody>
      </p:sp>
      <p:sp>
        <p:nvSpPr>
          <p:cNvPr id="7" name="Rectangle 6">
            <a:extLst>
              <a:ext uri="{FF2B5EF4-FFF2-40B4-BE49-F238E27FC236}">
                <a16:creationId xmlns:a16="http://schemas.microsoft.com/office/drawing/2014/main" id="{0F818427-E4E9-4B63-9AD7-EE7F7654177B}"/>
              </a:ext>
            </a:extLst>
          </p:cNvPr>
          <p:cNvSpPr>
            <a:spLocks noGrp="1"/>
          </p:cNvSpPr>
          <p:nvPr/>
        </p:nvSpPr>
        <p:spPr>
          <a:xfrm>
            <a:off x="2400300" y="1285875"/>
            <a:ext cx="5905500" cy="533400"/>
          </a:xfrm>
          <a:prstGeom prst="rect">
            <a:avLst/>
          </a:prstGeom>
          <a:solidFill>
            <a:srgbClr val="003A61"/>
          </a:solidFill>
          <a:ln w="7620">
            <a:solidFill>
              <a:srgbClr val="003A61"/>
            </a:solidFill>
          </a:ln>
        </p:spPr>
        <p:txBody>
          <a:bodyPr lIns="0" tIns="0" rIns="0" bIns="0"/>
          <a:lstStyle/>
          <a:p>
            <a:r>
              <a:rPr sz="1400">
                <a:solidFill>
                  <a:srgbClr val="003A61"/>
                </a:solidFill>
                <a:latin typeface="Arial"/>
                <a:ea typeface="Arial"/>
                <a:cs typeface="Arial"/>
              </a:rPr>
              <a:t>.</a:t>
            </a:r>
          </a:p>
        </p:txBody>
      </p:sp>
      <p:sp>
        <p:nvSpPr>
          <p:cNvPr id="8" name="Rectangle 7">
            <a:extLst>
              <a:ext uri="{FF2B5EF4-FFF2-40B4-BE49-F238E27FC236}">
                <a16:creationId xmlns:a16="http://schemas.microsoft.com/office/drawing/2014/main" id="{F6566BB4-6045-406B-8DBE-99ED1CC247B4}"/>
              </a:ext>
            </a:extLst>
          </p:cNvPr>
          <p:cNvSpPr>
            <a:spLocks noGrp="1"/>
          </p:cNvSpPr>
          <p:nvPr/>
        </p:nvSpPr>
        <p:spPr>
          <a:xfrm>
            <a:off x="2457450" y="1343025"/>
            <a:ext cx="5791200" cy="457200"/>
          </a:xfrm>
          <a:prstGeom prst="rect">
            <a:avLst/>
          </a:prstGeom>
        </p:spPr>
        <p:txBody>
          <a:bodyPr lIns="0" tIns="0" rIns="0" bIns="0"/>
          <a:lstStyle/>
          <a:p>
            <a:pPr algn="ctr">
              <a:defRPr sz="713" b="1">
                <a:solidFill>
                  <a:srgbClr val="FFFFFF"/>
                </a:solidFill>
                <a:latin typeface="Arial"/>
                <a:ea typeface="Arial"/>
                <a:cs typeface="Arial"/>
              </a:defRPr>
            </a:pPr>
            <a:r>
              <a:rPr sz="1400" b="1">
                <a:solidFill>
                  <a:srgbClr val="FFFFFF"/>
                </a:solidFill>
                <a:latin typeface="Arial"/>
                <a:ea typeface="Arial"/>
                <a:cs typeface="Arial"/>
              </a:rPr>
              <a:t>Control / monitoring</a:t>
            </a:r>
          </a:p>
        </p:txBody>
      </p:sp>
      <p:sp>
        <p:nvSpPr>
          <p:cNvPr id="9" name="Rectangle 8">
            <a:extLst>
              <a:ext uri="{FF2B5EF4-FFF2-40B4-BE49-F238E27FC236}">
                <a16:creationId xmlns:a16="http://schemas.microsoft.com/office/drawing/2014/main" id="{5F9EDA27-1DD2-4190-A5E9-97BC89A2A26B}"/>
              </a:ext>
            </a:extLst>
          </p:cNvPr>
          <p:cNvSpPr>
            <a:spLocks noGrp="1"/>
          </p:cNvSpPr>
          <p:nvPr/>
        </p:nvSpPr>
        <p:spPr>
          <a:xfrm>
            <a:off x="590550" y="1819275"/>
            <a:ext cx="1809750" cy="533400"/>
          </a:xfrm>
          <a:prstGeom prst="rect">
            <a:avLst/>
          </a:prstGeom>
          <a:solidFill>
            <a:srgbClr val="FFFFFF"/>
          </a:solidFill>
          <a:ln w="7620">
            <a:solidFill>
              <a:srgbClr val="DDECB3"/>
            </a:solidFill>
          </a:ln>
        </p:spPr>
        <p:txBody>
          <a:bodyPr lIns="0" tIns="0" rIns="0" bIns="0"/>
          <a:lstStyle/>
          <a:p>
            <a:r>
              <a:rPr sz="1400">
                <a:solidFill>
                  <a:srgbClr val="FFFFFF"/>
                </a:solidFill>
                <a:latin typeface="Arial"/>
                <a:ea typeface="Arial"/>
                <a:cs typeface="Arial"/>
              </a:rPr>
              <a:t>.</a:t>
            </a:r>
          </a:p>
        </p:txBody>
      </p:sp>
      <p:sp>
        <p:nvSpPr>
          <p:cNvPr id="10" name="Rectangle 9">
            <a:extLst>
              <a:ext uri="{FF2B5EF4-FFF2-40B4-BE49-F238E27FC236}">
                <a16:creationId xmlns:a16="http://schemas.microsoft.com/office/drawing/2014/main" id="{C375D48C-1991-41EC-A514-35827AF6A800}"/>
              </a:ext>
            </a:extLst>
          </p:cNvPr>
          <p:cNvSpPr>
            <a:spLocks noGrp="1"/>
          </p:cNvSpPr>
          <p:nvPr/>
        </p:nvSpPr>
        <p:spPr>
          <a:xfrm>
            <a:off x="647700" y="1876425"/>
            <a:ext cx="1695450" cy="457200"/>
          </a:xfrm>
          <a:prstGeom prst="rect">
            <a:avLst/>
          </a:prstGeom>
        </p:spPr>
        <p:txBody>
          <a:bodyPr lIns="0" tIns="0" rIns="0" bIns="0"/>
          <a:lstStyle/>
          <a:p>
            <a:pPr algn="l">
              <a:defRPr sz="690" b="1">
                <a:solidFill>
                  <a:srgbClr val="263845"/>
                </a:solidFill>
                <a:latin typeface="Arial"/>
                <a:ea typeface="Arial"/>
                <a:cs typeface="Arial"/>
              </a:defRPr>
            </a:pPr>
            <a:r>
              <a:rPr sz="1400" b="1">
                <a:solidFill>
                  <a:srgbClr val="263845"/>
                </a:solidFill>
                <a:latin typeface="Arial"/>
                <a:ea typeface="Arial"/>
                <a:cs typeface="Arial"/>
              </a:rPr>
              <a:t>Practice / learning</a:t>
            </a:r>
          </a:p>
        </p:txBody>
      </p:sp>
      <p:sp>
        <p:nvSpPr>
          <p:cNvPr id="11" name="Rectangle 10">
            <a:extLst>
              <a:ext uri="{FF2B5EF4-FFF2-40B4-BE49-F238E27FC236}">
                <a16:creationId xmlns:a16="http://schemas.microsoft.com/office/drawing/2014/main" id="{7227A0BA-3219-478A-B796-9AB07F4FA54D}"/>
              </a:ext>
            </a:extLst>
          </p:cNvPr>
          <p:cNvSpPr>
            <a:spLocks noGrp="1"/>
          </p:cNvSpPr>
          <p:nvPr/>
        </p:nvSpPr>
        <p:spPr>
          <a:xfrm>
            <a:off x="2400300" y="1819275"/>
            <a:ext cx="5905500" cy="533400"/>
          </a:xfrm>
          <a:prstGeom prst="rect">
            <a:avLst/>
          </a:prstGeom>
          <a:solidFill>
            <a:srgbClr val="FFFFFF"/>
          </a:solidFill>
          <a:ln w="7620">
            <a:solidFill>
              <a:srgbClr val="DDECB3"/>
            </a:solidFill>
          </a:ln>
        </p:spPr>
        <p:txBody>
          <a:bodyPr lIns="0" tIns="0" rIns="0" bIns="0"/>
          <a:lstStyle/>
          <a:p>
            <a:r>
              <a:rPr sz="1400">
                <a:solidFill>
                  <a:srgbClr val="FFFFFF"/>
                </a:solidFill>
                <a:latin typeface="Arial"/>
                <a:ea typeface="Arial"/>
                <a:cs typeface="Arial"/>
              </a:rPr>
              <a:t>.</a:t>
            </a:r>
          </a:p>
        </p:txBody>
      </p:sp>
      <p:sp>
        <p:nvSpPr>
          <p:cNvPr id="12" name="Rectangle 11">
            <a:extLst>
              <a:ext uri="{FF2B5EF4-FFF2-40B4-BE49-F238E27FC236}">
                <a16:creationId xmlns:a16="http://schemas.microsoft.com/office/drawing/2014/main" id="{1AF4F6E8-8248-4A0E-93A7-415C05901EE9}"/>
              </a:ext>
            </a:extLst>
          </p:cNvPr>
          <p:cNvSpPr>
            <a:spLocks noGrp="1"/>
          </p:cNvSpPr>
          <p:nvPr/>
        </p:nvSpPr>
        <p:spPr>
          <a:xfrm>
            <a:off x="2457450" y="1876425"/>
            <a:ext cx="5791200" cy="457200"/>
          </a:xfrm>
          <a:prstGeom prst="rect">
            <a:avLst/>
          </a:prstGeom>
        </p:spPr>
        <p:txBody>
          <a:bodyPr lIns="0" tIns="0" rIns="0" bIns="0"/>
          <a:lstStyle/>
          <a:p>
            <a:pPr algn="ctr">
              <a:defRPr sz="690" b="0">
                <a:solidFill>
                  <a:srgbClr val="263845"/>
                </a:solidFill>
                <a:latin typeface="Arial"/>
                <a:ea typeface="Arial"/>
                <a:cs typeface="Arial"/>
              </a:defRPr>
            </a:pPr>
            <a:r>
              <a:rPr sz="1400" b="0">
                <a:solidFill>
                  <a:srgbClr val="263845"/>
                </a:solidFill>
                <a:latin typeface="Arial"/>
                <a:ea typeface="Arial"/>
                <a:cs typeface="Arial"/>
              </a:rPr>
              <a:t>Practice trials before the main task; randomized main trials.</a:t>
            </a:r>
          </a:p>
        </p:txBody>
      </p:sp>
      <p:sp>
        <p:nvSpPr>
          <p:cNvPr id="13" name="Rectangle 12">
            <a:extLst>
              <a:ext uri="{FF2B5EF4-FFF2-40B4-BE49-F238E27FC236}">
                <a16:creationId xmlns:a16="http://schemas.microsoft.com/office/drawing/2014/main" id="{10357C7B-5B2B-4759-9227-F556F05C5F46}"/>
              </a:ext>
            </a:extLst>
          </p:cNvPr>
          <p:cNvSpPr>
            <a:spLocks noGrp="1"/>
          </p:cNvSpPr>
          <p:nvPr/>
        </p:nvSpPr>
        <p:spPr>
          <a:xfrm>
            <a:off x="590550" y="2352675"/>
            <a:ext cx="1809750" cy="533400"/>
          </a:xfrm>
          <a:prstGeom prst="rect">
            <a:avLst/>
          </a:prstGeom>
          <a:solidFill>
            <a:srgbClr val="FFFFFF"/>
          </a:solidFill>
          <a:ln w="7620">
            <a:solidFill>
              <a:srgbClr val="DDECB3"/>
            </a:solidFill>
          </a:ln>
        </p:spPr>
        <p:txBody>
          <a:bodyPr lIns="0" tIns="0" rIns="0" bIns="0"/>
          <a:lstStyle/>
          <a:p>
            <a:r>
              <a:rPr sz="1400">
                <a:solidFill>
                  <a:srgbClr val="FFFFFF"/>
                </a:solidFill>
                <a:latin typeface="Arial"/>
                <a:ea typeface="Arial"/>
                <a:cs typeface="Arial"/>
              </a:rPr>
              <a:t>.</a:t>
            </a:r>
          </a:p>
        </p:txBody>
      </p:sp>
      <p:sp>
        <p:nvSpPr>
          <p:cNvPr id="14" name="Rectangle 13">
            <a:extLst>
              <a:ext uri="{FF2B5EF4-FFF2-40B4-BE49-F238E27FC236}">
                <a16:creationId xmlns:a16="http://schemas.microsoft.com/office/drawing/2014/main" id="{6B59AABC-07D4-49C8-ABFF-4F4A77A7B622}"/>
              </a:ext>
            </a:extLst>
          </p:cNvPr>
          <p:cNvSpPr>
            <a:spLocks noGrp="1"/>
          </p:cNvSpPr>
          <p:nvPr/>
        </p:nvSpPr>
        <p:spPr>
          <a:xfrm>
            <a:off x="647700" y="2409825"/>
            <a:ext cx="1695450" cy="457200"/>
          </a:xfrm>
          <a:prstGeom prst="rect">
            <a:avLst/>
          </a:prstGeom>
        </p:spPr>
        <p:txBody>
          <a:bodyPr lIns="0" tIns="0" rIns="0" bIns="0"/>
          <a:lstStyle/>
          <a:p>
            <a:pPr algn="l">
              <a:defRPr sz="690" b="1">
                <a:solidFill>
                  <a:srgbClr val="263845"/>
                </a:solidFill>
                <a:latin typeface="Arial"/>
                <a:ea typeface="Arial"/>
                <a:cs typeface="Arial"/>
              </a:defRPr>
            </a:pPr>
            <a:r>
              <a:rPr sz="1400" b="1">
                <a:solidFill>
                  <a:srgbClr val="263845"/>
                </a:solidFill>
                <a:latin typeface="Arial"/>
                <a:ea typeface="Arial"/>
                <a:cs typeface="Arial"/>
              </a:rPr>
              <a:t>Response bias</a:t>
            </a:r>
          </a:p>
        </p:txBody>
      </p:sp>
      <p:sp>
        <p:nvSpPr>
          <p:cNvPr id="15" name="Rectangle 14">
            <a:extLst>
              <a:ext uri="{FF2B5EF4-FFF2-40B4-BE49-F238E27FC236}">
                <a16:creationId xmlns:a16="http://schemas.microsoft.com/office/drawing/2014/main" id="{C88CDA29-7056-472E-A07B-2E887360BECC}"/>
              </a:ext>
            </a:extLst>
          </p:cNvPr>
          <p:cNvSpPr>
            <a:spLocks noGrp="1"/>
          </p:cNvSpPr>
          <p:nvPr/>
        </p:nvSpPr>
        <p:spPr>
          <a:xfrm>
            <a:off x="2400300" y="2352675"/>
            <a:ext cx="5905500" cy="533400"/>
          </a:xfrm>
          <a:prstGeom prst="rect">
            <a:avLst/>
          </a:prstGeom>
          <a:solidFill>
            <a:srgbClr val="FFFFFF"/>
          </a:solidFill>
          <a:ln w="7620">
            <a:solidFill>
              <a:srgbClr val="DDECB3"/>
            </a:solidFill>
          </a:ln>
        </p:spPr>
        <p:txBody>
          <a:bodyPr lIns="0" tIns="0" rIns="0" bIns="0"/>
          <a:lstStyle/>
          <a:p>
            <a:r>
              <a:rPr sz="1400">
                <a:solidFill>
                  <a:srgbClr val="FFFFFF"/>
                </a:solidFill>
                <a:latin typeface="Arial"/>
                <a:ea typeface="Arial"/>
                <a:cs typeface="Arial"/>
              </a:rPr>
              <a:t>.</a:t>
            </a:r>
          </a:p>
        </p:txBody>
      </p:sp>
      <p:sp>
        <p:nvSpPr>
          <p:cNvPr id="16" name="Rectangle 15">
            <a:extLst>
              <a:ext uri="{FF2B5EF4-FFF2-40B4-BE49-F238E27FC236}">
                <a16:creationId xmlns:a16="http://schemas.microsoft.com/office/drawing/2014/main" id="{B6B45ACB-6C86-4B0E-A2F5-1D7811CE366B}"/>
              </a:ext>
            </a:extLst>
          </p:cNvPr>
          <p:cNvSpPr>
            <a:spLocks noGrp="1"/>
          </p:cNvSpPr>
          <p:nvPr/>
        </p:nvSpPr>
        <p:spPr>
          <a:xfrm>
            <a:off x="2457450" y="2409825"/>
            <a:ext cx="5791200" cy="457200"/>
          </a:xfrm>
          <a:prstGeom prst="rect">
            <a:avLst/>
          </a:prstGeom>
        </p:spPr>
        <p:txBody>
          <a:bodyPr lIns="0" tIns="0" rIns="0" bIns="0"/>
          <a:lstStyle/>
          <a:p>
            <a:pPr algn="ctr">
              <a:defRPr sz="690" b="0">
                <a:solidFill>
                  <a:srgbClr val="263845"/>
                </a:solidFill>
                <a:latin typeface="Arial"/>
                <a:ea typeface="Arial"/>
                <a:cs typeface="Arial"/>
              </a:defRPr>
            </a:pPr>
            <a:r>
              <a:rPr sz="1400" b="0">
                <a:solidFill>
                  <a:srgbClr val="263845"/>
                </a:solidFill>
                <a:latin typeface="Arial"/>
                <a:ea typeface="Arial"/>
                <a:cs typeface="Arial"/>
              </a:rPr>
              <a:t>Pseudowords require word/nonword discrimination; QC checks one-key overuse.</a:t>
            </a:r>
          </a:p>
        </p:txBody>
      </p:sp>
      <p:sp>
        <p:nvSpPr>
          <p:cNvPr id="17" name="Rectangle 16">
            <a:extLst>
              <a:ext uri="{FF2B5EF4-FFF2-40B4-BE49-F238E27FC236}">
                <a16:creationId xmlns:a16="http://schemas.microsoft.com/office/drawing/2014/main" id="{72267995-C842-4152-B78E-F5ED8BA86FCB}"/>
              </a:ext>
            </a:extLst>
          </p:cNvPr>
          <p:cNvSpPr>
            <a:spLocks noGrp="1"/>
          </p:cNvSpPr>
          <p:nvPr/>
        </p:nvSpPr>
        <p:spPr>
          <a:xfrm>
            <a:off x="590550" y="2886075"/>
            <a:ext cx="1809750" cy="533400"/>
          </a:xfrm>
          <a:prstGeom prst="rect">
            <a:avLst/>
          </a:prstGeom>
          <a:solidFill>
            <a:srgbClr val="FFFFFF"/>
          </a:solidFill>
          <a:ln w="7620">
            <a:solidFill>
              <a:srgbClr val="DDECB3"/>
            </a:solidFill>
          </a:ln>
        </p:spPr>
        <p:txBody>
          <a:bodyPr lIns="0" tIns="0" rIns="0" bIns="0"/>
          <a:lstStyle/>
          <a:p>
            <a:r>
              <a:rPr sz="1400">
                <a:solidFill>
                  <a:srgbClr val="FFFFFF"/>
                </a:solidFill>
                <a:latin typeface="Arial"/>
                <a:ea typeface="Arial"/>
                <a:cs typeface="Arial"/>
              </a:rPr>
              <a:t>.</a:t>
            </a:r>
          </a:p>
        </p:txBody>
      </p:sp>
      <p:sp>
        <p:nvSpPr>
          <p:cNvPr id="18" name="Rectangle 17">
            <a:extLst>
              <a:ext uri="{FF2B5EF4-FFF2-40B4-BE49-F238E27FC236}">
                <a16:creationId xmlns:a16="http://schemas.microsoft.com/office/drawing/2014/main" id="{E7764401-587D-432B-A9C2-60356DF67E18}"/>
              </a:ext>
            </a:extLst>
          </p:cNvPr>
          <p:cNvSpPr>
            <a:spLocks noGrp="1"/>
          </p:cNvSpPr>
          <p:nvPr/>
        </p:nvSpPr>
        <p:spPr>
          <a:xfrm>
            <a:off x="647700" y="2943225"/>
            <a:ext cx="1695450" cy="457200"/>
          </a:xfrm>
          <a:prstGeom prst="rect">
            <a:avLst/>
          </a:prstGeom>
        </p:spPr>
        <p:txBody>
          <a:bodyPr lIns="0" tIns="0" rIns="0" bIns="0"/>
          <a:lstStyle/>
          <a:p>
            <a:pPr algn="l">
              <a:defRPr sz="690" b="1">
                <a:solidFill>
                  <a:srgbClr val="263845"/>
                </a:solidFill>
                <a:latin typeface="Arial"/>
                <a:ea typeface="Arial"/>
                <a:cs typeface="Arial"/>
              </a:defRPr>
            </a:pPr>
            <a:r>
              <a:rPr sz="1400" b="1">
                <a:solidFill>
                  <a:srgbClr val="263845"/>
                </a:solidFill>
                <a:latin typeface="Arial"/>
                <a:ea typeface="Arial"/>
                <a:cs typeface="Arial"/>
              </a:rPr>
              <a:t>Key / side bias</a:t>
            </a:r>
          </a:p>
        </p:txBody>
      </p:sp>
      <p:sp>
        <p:nvSpPr>
          <p:cNvPr id="19" name="Rectangle 18">
            <a:extLst>
              <a:ext uri="{FF2B5EF4-FFF2-40B4-BE49-F238E27FC236}">
                <a16:creationId xmlns:a16="http://schemas.microsoft.com/office/drawing/2014/main" id="{071B4994-9F1D-45B0-80D4-8F6A834274F0}"/>
              </a:ext>
            </a:extLst>
          </p:cNvPr>
          <p:cNvSpPr>
            <a:spLocks noGrp="1"/>
          </p:cNvSpPr>
          <p:nvPr/>
        </p:nvSpPr>
        <p:spPr>
          <a:xfrm>
            <a:off x="2400300" y="2886075"/>
            <a:ext cx="5905500" cy="533400"/>
          </a:xfrm>
          <a:prstGeom prst="rect">
            <a:avLst/>
          </a:prstGeom>
          <a:solidFill>
            <a:srgbClr val="FFFFFF"/>
          </a:solidFill>
          <a:ln w="7620">
            <a:solidFill>
              <a:srgbClr val="DDECB3"/>
            </a:solidFill>
          </a:ln>
        </p:spPr>
        <p:txBody>
          <a:bodyPr lIns="0" tIns="0" rIns="0" bIns="0"/>
          <a:lstStyle/>
          <a:p>
            <a:r>
              <a:rPr sz="1400">
                <a:solidFill>
                  <a:srgbClr val="FFFFFF"/>
                </a:solidFill>
                <a:latin typeface="Arial"/>
                <a:ea typeface="Arial"/>
                <a:cs typeface="Arial"/>
              </a:rPr>
              <a:t>.</a:t>
            </a:r>
          </a:p>
        </p:txBody>
      </p:sp>
      <p:sp>
        <p:nvSpPr>
          <p:cNvPr id="20" name="Rectangle 19">
            <a:extLst>
              <a:ext uri="{FF2B5EF4-FFF2-40B4-BE49-F238E27FC236}">
                <a16:creationId xmlns:a16="http://schemas.microsoft.com/office/drawing/2014/main" id="{F2EB92EF-DFEE-407C-83BA-3FB147756C55}"/>
              </a:ext>
            </a:extLst>
          </p:cNvPr>
          <p:cNvSpPr>
            <a:spLocks noGrp="1"/>
          </p:cNvSpPr>
          <p:nvPr/>
        </p:nvSpPr>
        <p:spPr>
          <a:xfrm>
            <a:off x="2457450" y="2943225"/>
            <a:ext cx="5791200" cy="457200"/>
          </a:xfrm>
          <a:prstGeom prst="rect">
            <a:avLst/>
          </a:prstGeom>
        </p:spPr>
        <p:txBody>
          <a:bodyPr lIns="0" tIns="0" rIns="0" bIns="0"/>
          <a:lstStyle/>
          <a:p>
            <a:pPr algn="ctr">
              <a:defRPr sz="690" b="0">
                <a:solidFill>
                  <a:srgbClr val="263845"/>
                </a:solidFill>
                <a:latin typeface="Arial"/>
                <a:ea typeface="Arial"/>
                <a:cs typeface="Arial"/>
              </a:defRPr>
            </a:pPr>
            <a:r>
              <a:rPr sz="1400" b="0">
                <a:solidFill>
                  <a:srgbClr val="263845"/>
                </a:solidFill>
                <a:latin typeface="Arial"/>
                <a:ea typeface="Arial"/>
                <a:cs typeface="Arial"/>
              </a:rPr>
              <a:t>F/J supports balanced keyboard responding, but does not fully eliminate side bias.</a:t>
            </a:r>
          </a:p>
        </p:txBody>
      </p:sp>
      <p:sp>
        <p:nvSpPr>
          <p:cNvPr id="21" name="Rectangle 20">
            <a:extLst>
              <a:ext uri="{FF2B5EF4-FFF2-40B4-BE49-F238E27FC236}">
                <a16:creationId xmlns:a16="http://schemas.microsoft.com/office/drawing/2014/main" id="{E9F1AEBB-3806-4A9A-B247-A858F738CC67}"/>
              </a:ext>
            </a:extLst>
          </p:cNvPr>
          <p:cNvSpPr>
            <a:spLocks noGrp="1"/>
          </p:cNvSpPr>
          <p:nvPr/>
        </p:nvSpPr>
        <p:spPr>
          <a:xfrm>
            <a:off x="590550" y="3419475"/>
            <a:ext cx="1809750" cy="533400"/>
          </a:xfrm>
          <a:prstGeom prst="rect">
            <a:avLst/>
          </a:prstGeom>
          <a:solidFill>
            <a:srgbClr val="FFFFFF"/>
          </a:solidFill>
          <a:ln w="7620">
            <a:solidFill>
              <a:srgbClr val="DDECB3"/>
            </a:solidFill>
          </a:ln>
        </p:spPr>
        <p:txBody>
          <a:bodyPr lIns="0" tIns="0" rIns="0" bIns="0"/>
          <a:lstStyle/>
          <a:p>
            <a:r>
              <a:rPr sz="1400">
                <a:solidFill>
                  <a:srgbClr val="FFFFFF"/>
                </a:solidFill>
                <a:latin typeface="Arial"/>
                <a:ea typeface="Arial"/>
                <a:cs typeface="Arial"/>
              </a:rPr>
              <a:t>.</a:t>
            </a:r>
          </a:p>
        </p:txBody>
      </p:sp>
      <p:sp>
        <p:nvSpPr>
          <p:cNvPr id="22" name="Rectangle 21">
            <a:extLst>
              <a:ext uri="{FF2B5EF4-FFF2-40B4-BE49-F238E27FC236}">
                <a16:creationId xmlns:a16="http://schemas.microsoft.com/office/drawing/2014/main" id="{53334B3C-7F03-466F-90FD-B270B2F6F989}"/>
              </a:ext>
            </a:extLst>
          </p:cNvPr>
          <p:cNvSpPr>
            <a:spLocks noGrp="1"/>
          </p:cNvSpPr>
          <p:nvPr/>
        </p:nvSpPr>
        <p:spPr>
          <a:xfrm>
            <a:off x="647700" y="3476625"/>
            <a:ext cx="1695450" cy="457200"/>
          </a:xfrm>
          <a:prstGeom prst="rect">
            <a:avLst/>
          </a:prstGeom>
        </p:spPr>
        <p:txBody>
          <a:bodyPr lIns="0" tIns="0" rIns="0" bIns="0"/>
          <a:lstStyle/>
          <a:p>
            <a:pPr algn="l">
              <a:defRPr sz="690" b="1">
                <a:solidFill>
                  <a:srgbClr val="263845"/>
                </a:solidFill>
                <a:latin typeface="Arial"/>
                <a:ea typeface="Arial"/>
                <a:cs typeface="Arial"/>
              </a:defRPr>
            </a:pPr>
            <a:r>
              <a:rPr sz="1400" b="1">
                <a:solidFill>
                  <a:srgbClr val="263845"/>
                </a:solidFill>
                <a:latin typeface="Arial"/>
                <a:ea typeface="Arial"/>
                <a:cs typeface="Arial"/>
              </a:rPr>
              <a:t>Fatigue / automatic pressing</a:t>
            </a:r>
          </a:p>
        </p:txBody>
      </p:sp>
      <p:sp>
        <p:nvSpPr>
          <p:cNvPr id="23" name="Rectangle 22">
            <a:extLst>
              <a:ext uri="{FF2B5EF4-FFF2-40B4-BE49-F238E27FC236}">
                <a16:creationId xmlns:a16="http://schemas.microsoft.com/office/drawing/2014/main" id="{5B05025B-CBCF-4066-B5EF-5AB5DBECDE1B}"/>
              </a:ext>
            </a:extLst>
          </p:cNvPr>
          <p:cNvSpPr>
            <a:spLocks noGrp="1"/>
          </p:cNvSpPr>
          <p:nvPr/>
        </p:nvSpPr>
        <p:spPr>
          <a:xfrm>
            <a:off x="2400300" y="3419475"/>
            <a:ext cx="5905500" cy="533400"/>
          </a:xfrm>
          <a:prstGeom prst="rect">
            <a:avLst/>
          </a:prstGeom>
          <a:solidFill>
            <a:srgbClr val="FFFFFF"/>
          </a:solidFill>
          <a:ln w="7620">
            <a:solidFill>
              <a:srgbClr val="DDECB3"/>
            </a:solidFill>
          </a:ln>
        </p:spPr>
        <p:txBody>
          <a:bodyPr lIns="0" tIns="0" rIns="0" bIns="0"/>
          <a:lstStyle/>
          <a:p>
            <a:r>
              <a:rPr sz="1400">
                <a:solidFill>
                  <a:srgbClr val="FFFFFF"/>
                </a:solidFill>
                <a:latin typeface="Arial"/>
                <a:ea typeface="Arial"/>
                <a:cs typeface="Arial"/>
              </a:rPr>
              <a:t>.</a:t>
            </a:r>
          </a:p>
        </p:txBody>
      </p:sp>
      <p:sp>
        <p:nvSpPr>
          <p:cNvPr id="24" name="Rectangle 23">
            <a:extLst>
              <a:ext uri="{FF2B5EF4-FFF2-40B4-BE49-F238E27FC236}">
                <a16:creationId xmlns:a16="http://schemas.microsoft.com/office/drawing/2014/main" id="{733AC06C-7B43-444F-A7D1-7F72714C1EF3}"/>
              </a:ext>
            </a:extLst>
          </p:cNvPr>
          <p:cNvSpPr>
            <a:spLocks noGrp="1"/>
          </p:cNvSpPr>
          <p:nvPr/>
        </p:nvSpPr>
        <p:spPr>
          <a:xfrm>
            <a:off x="2457450" y="3476625"/>
            <a:ext cx="5791200" cy="457200"/>
          </a:xfrm>
          <a:prstGeom prst="rect">
            <a:avLst/>
          </a:prstGeom>
        </p:spPr>
        <p:txBody>
          <a:bodyPr lIns="0" tIns="0" rIns="0" bIns="0"/>
          <a:lstStyle/>
          <a:p>
            <a:pPr algn="ctr">
              <a:defRPr sz="690" b="0">
                <a:solidFill>
                  <a:srgbClr val="263845"/>
                </a:solidFill>
                <a:latin typeface="Arial"/>
                <a:ea typeface="Arial"/>
                <a:cs typeface="Arial"/>
              </a:defRPr>
            </a:pPr>
            <a:r>
              <a:rPr sz="1400" b="0">
                <a:solidFill>
                  <a:srgbClr val="263845"/>
                </a:solidFill>
                <a:latin typeface="Arial"/>
                <a:ea typeface="Arial"/>
                <a:cs typeface="Arial"/>
              </a:rPr>
              <a:t>Monitor accuracy, missing RTs, unusually fast RTs, and one-key patterns.</a:t>
            </a:r>
          </a:p>
        </p:txBody>
      </p:sp>
      <p:sp>
        <p:nvSpPr>
          <p:cNvPr id="25" name="Rectangle 24">
            <a:extLst>
              <a:ext uri="{FF2B5EF4-FFF2-40B4-BE49-F238E27FC236}">
                <a16:creationId xmlns:a16="http://schemas.microsoft.com/office/drawing/2014/main" id="{5B5865DF-6710-440F-945A-45121A4A341D}"/>
              </a:ext>
            </a:extLst>
          </p:cNvPr>
          <p:cNvSpPr>
            <a:spLocks noGrp="1"/>
          </p:cNvSpPr>
          <p:nvPr/>
        </p:nvSpPr>
        <p:spPr>
          <a:xfrm>
            <a:off x="762000" y="4171950"/>
            <a:ext cx="7286625" cy="266700"/>
          </a:xfrm>
          <a:prstGeom prst="rect">
            <a:avLst/>
          </a:prstGeom>
        </p:spPr>
        <p:txBody>
          <a:bodyPr lIns="0" tIns="0" rIns="0" bIns="0"/>
          <a:lstStyle/>
          <a:p>
            <a:pPr algn="ctr">
              <a:defRPr sz="1013" b="1">
                <a:solidFill>
                  <a:srgbClr val="003A61"/>
                </a:solidFill>
                <a:latin typeface="Arial"/>
                <a:ea typeface="Arial"/>
                <a:cs typeface="Arial"/>
              </a:defRPr>
            </a:pPr>
            <a:r>
              <a:rPr sz="1013" b="1">
                <a:solidFill>
                  <a:srgbClr val="003A61"/>
                </a:solidFill>
                <a:latin typeface="Arial"/>
                <a:ea typeface="Arial"/>
                <a:cs typeface="Arial"/>
              </a:rPr>
              <a:t>Important wording: F/J helps reduce motor-response delay and makes responses more balanced; it does not completely remove bias.</a:t>
            </a:r>
          </a:p>
        </p:txBody>
      </p:sp>
    </p:spTree>
    <p:extLst>
      <p:ext uri="{BB962C8B-B14F-4D97-AF65-F5344CB8AC3E}">
        <p14:creationId xmlns:p14="http://schemas.microsoft.com/office/powerpoint/2010/main" val="1826234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A61AA-1EA4-43D5-8687-4E65A7608AD7}"/>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A6E75D01-1542-4A7E-A0CF-7CE83D5CCB50}"/>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12 | EXPERIMENT DEMO</a:t>
            </a:r>
          </a:p>
        </p:txBody>
      </p:sp>
      <p:sp>
        <p:nvSpPr>
          <p:cNvPr id="3" name="Rectangle 2">
            <a:extLst>
              <a:ext uri="{FF2B5EF4-FFF2-40B4-BE49-F238E27FC236}">
                <a16:creationId xmlns:a16="http://schemas.microsoft.com/office/drawing/2014/main" id="{DA76937D-604E-40DA-B15F-A4794914CFFA}"/>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A short PsychoPy video can show the task more clearly than more procedure text.</a:t>
            </a:r>
          </a:p>
        </p:txBody>
      </p:sp>
      <p:sp>
        <p:nvSpPr>
          <p:cNvPr id="4" name="Rectangle 3">
            <a:extLst>
              <a:ext uri="{FF2B5EF4-FFF2-40B4-BE49-F238E27FC236}">
                <a16:creationId xmlns:a16="http://schemas.microsoft.com/office/drawing/2014/main" id="{522BAACD-D119-4039-A2D6-D23B07662AD0}"/>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pic>
        <p:nvPicPr>
          <p:cNvPr id="12" name="Demo">
            <a:hlinkClick r:id="" action="ppaction://media"/>
            <a:extLst>
              <a:ext uri="{FF2B5EF4-FFF2-40B4-BE49-F238E27FC236}">
                <a16:creationId xmlns:a16="http://schemas.microsoft.com/office/drawing/2014/main" id="{8E13ED4D-3EE3-E76B-2222-305C9D9A5B8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638135" y="1286221"/>
            <a:ext cx="5867730" cy="3115194"/>
          </a:xfrm>
          <a:prstGeom prst="rect">
            <a:avLst/>
          </a:prstGeom>
        </p:spPr>
      </p:pic>
    </p:spTree>
    <p:extLst>
      <p:ext uri="{BB962C8B-B14F-4D97-AF65-F5344CB8AC3E}">
        <p14:creationId xmlns:p14="http://schemas.microsoft.com/office/powerpoint/2010/main" val="381085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8633"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1CC8CAE-9439-4F49-B4BB-B6434C9511B2}"/>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1B186069-98C9-46E9-ACC3-DDC2E1AE63E0}"/>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13 | METHODOLOGY PIPELINE</a:t>
            </a:r>
          </a:p>
        </p:txBody>
      </p:sp>
      <p:sp>
        <p:nvSpPr>
          <p:cNvPr id="3" name="Rectangle 2">
            <a:extLst>
              <a:ext uri="{FF2B5EF4-FFF2-40B4-BE49-F238E27FC236}">
                <a16:creationId xmlns:a16="http://schemas.microsoft.com/office/drawing/2014/main" id="{45C97F32-CE1E-4E42-88E0-67AF6F4C9EEF}"/>
              </a:ext>
            </a:extLst>
          </p:cNvPr>
          <p:cNvSpPr>
            <a:spLocks noGrp="1"/>
          </p:cNvSpPr>
          <p:nvPr/>
        </p:nvSpPr>
        <p:spPr>
          <a:xfrm>
            <a:off x="476250" y="542925"/>
            <a:ext cx="7429500" cy="514350"/>
          </a:xfrm>
          <a:prstGeom prst="rect">
            <a:avLst/>
          </a:prstGeom>
        </p:spPr>
        <p:txBody>
          <a:bodyPr lIns="0" tIns="0" rIns="0" bIns="0"/>
          <a:lstStyle/>
          <a:p>
            <a:r>
              <a:rPr lang="en-US" sz="2175" b="1">
                <a:solidFill>
                  <a:srgbClr val="003A61"/>
                </a:solidFill>
                <a:latin typeface="Arial"/>
                <a:ea typeface="Arial"/>
                <a:cs typeface="Arial"/>
              </a:rPr>
              <a:t>The big workflow runs from experiment implementation to cleaned data and R Markdown modeling.</a:t>
            </a:r>
            <a:endParaRPr sz="2175" b="1">
              <a:solidFill>
                <a:srgbClr val="003A61"/>
              </a:solidFill>
              <a:latin typeface="Arial"/>
              <a:ea typeface="Arial"/>
              <a:cs typeface="Arial"/>
            </a:endParaRPr>
          </a:p>
        </p:txBody>
      </p:sp>
      <p:sp>
        <p:nvSpPr>
          <p:cNvPr id="4" name="Rectangle 3">
            <a:extLst>
              <a:ext uri="{FF2B5EF4-FFF2-40B4-BE49-F238E27FC236}">
                <a16:creationId xmlns:a16="http://schemas.microsoft.com/office/drawing/2014/main" id="{09B2A8D1-1DE9-4A75-97B7-51F46E7680C6}"/>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3040DFDF-0B2E-41EF-B95D-AA82AFBA5C46}"/>
              </a:ext>
            </a:extLst>
          </p:cNvPr>
          <p:cNvSpPr>
            <a:spLocks noGrp="1"/>
          </p:cNvSpPr>
          <p:nvPr/>
        </p:nvSpPr>
        <p:spPr>
          <a:xfrm>
            <a:off x="1238250" y="1447800"/>
            <a:ext cx="1066800" cy="876300"/>
          </a:xfrm>
          <a:prstGeom prst="rect">
            <a:avLst/>
          </a:prstGeom>
          <a:solidFill>
            <a:srgbClr val="FFFFFF"/>
          </a:solidFill>
          <a:ln w="9525">
            <a:solidFill>
              <a:srgbClr val="DDECB3"/>
            </a:solidFill>
          </a:ln>
        </p:spPr>
        <p:txBody>
          <a:bodyPr lIns="0" tIns="0" rIns="0" bIns="0"/>
          <a:lstStyle/>
          <a:p>
            <a:r>
              <a:rPr sz="100">
                <a:solidFill>
                  <a:srgbClr val="FFFFFF"/>
                </a:solidFill>
                <a:latin typeface="Arial"/>
                <a:ea typeface="Arial"/>
                <a:cs typeface="Arial"/>
              </a:rPr>
              <a:t>.</a:t>
            </a:r>
          </a:p>
        </p:txBody>
      </p:sp>
      <p:pic>
        <p:nvPicPr>
          <p:cNvPr id="44" name="Picture 43"/>
          <p:cNvPicPr>
            <a:picLocks noChangeAspect="1"/>
          </p:cNvPicPr>
          <p:nvPr/>
        </p:nvPicPr>
        <p:blipFill>
          <a:blip r:embed="rId3"/>
          <a:stretch/>
        </p:blipFill>
        <p:spPr>
          <a:xfrm>
            <a:off x="1447800" y="1657174"/>
            <a:ext cx="647700" cy="209903"/>
          </a:xfrm>
          <a:prstGeom prst="rect">
            <a:avLst/>
          </a:prstGeom>
        </p:spPr>
      </p:pic>
      <p:sp>
        <p:nvSpPr>
          <p:cNvPr id="7" name="Rectangle 6">
            <a:extLst>
              <a:ext uri="{FF2B5EF4-FFF2-40B4-BE49-F238E27FC236}">
                <a16:creationId xmlns:a16="http://schemas.microsoft.com/office/drawing/2014/main" id="{1DA1268E-AD09-4D7F-AF5C-408266BD615A}"/>
              </a:ext>
            </a:extLst>
          </p:cNvPr>
          <p:cNvSpPr>
            <a:spLocks noGrp="1"/>
          </p:cNvSpPr>
          <p:nvPr/>
        </p:nvSpPr>
        <p:spPr>
          <a:xfrm>
            <a:off x="1333500" y="2047875"/>
            <a:ext cx="876300" cy="171450"/>
          </a:xfrm>
          <a:prstGeom prst="rect">
            <a:avLst/>
          </a:prstGeom>
        </p:spPr>
        <p:txBody>
          <a:bodyPr lIns="0" tIns="0" rIns="0" bIns="0"/>
          <a:lstStyle/>
          <a:p>
            <a:pPr algn="ctr">
              <a:defRPr sz="750" b="1">
                <a:solidFill>
                  <a:srgbClr val="003A61"/>
                </a:solidFill>
                <a:latin typeface="Arial"/>
                <a:ea typeface="Arial"/>
                <a:cs typeface="Arial"/>
              </a:defRPr>
            </a:pPr>
            <a:r>
              <a:rPr sz="750" b="1">
                <a:solidFill>
                  <a:srgbClr val="003A61"/>
                </a:solidFill>
                <a:latin typeface="Arial"/>
                <a:ea typeface="Arial"/>
                <a:cs typeface="Arial"/>
              </a:rPr>
              <a:t>PsychoPy</a:t>
            </a:r>
          </a:p>
        </p:txBody>
      </p:sp>
      <p:sp>
        <p:nvSpPr>
          <p:cNvPr id="8" name="Rectangle 7">
            <a:extLst>
              <a:ext uri="{FF2B5EF4-FFF2-40B4-BE49-F238E27FC236}">
                <a16:creationId xmlns:a16="http://schemas.microsoft.com/office/drawing/2014/main" id="{85C35DA5-9EDD-473B-8F08-D42D6C0F5528}"/>
              </a:ext>
            </a:extLst>
          </p:cNvPr>
          <p:cNvSpPr>
            <a:spLocks noGrp="1"/>
          </p:cNvSpPr>
          <p:nvPr/>
        </p:nvSpPr>
        <p:spPr>
          <a:xfrm>
            <a:off x="2333625" y="17621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dirty="0">
                <a:solidFill>
                  <a:srgbClr val="8DB600"/>
                </a:solidFill>
                <a:latin typeface="Arial"/>
                <a:ea typeface="Arial"/>
                <a:cs typeface="Arial"/>
              </a:rPr>
              <a:t>→</a:t>
            </a:r>
          </a:p>
        </p:txBody>
      </p:sp>
      <p:sp>
        <p:nvSpPr>
          <p:cNvPr id="9" name="Rectangle 8">
            <a:extLst>
              <a:ext uri="{FF2B5EF4-FFF2-40B4-BE49-F238E27FC236}">
                <a16:creationId xmlns:a16="http://schemas.microsoft.com/office/drawing/2014/main" id="{8A6A35FB-675E-45C5-B3D9-E0E7050C041E}"/>
              </a:ext>
            </a:extLst>
          </p:cNvPr>
          <p:cNvSpPr>
            <a:spLocks noGrp="1"/>
          </p:cNvSpPr>
          <p:nvPr/>
        </p:nvSpPr>
        <p:spPr>
          <a:xfrm>
            <a:off x="2638425" y="1447800"/>
            <a:ext cx="1066800" cy="876300"/>
          </a:xfrm>
          <a:prstGeom prst="rect">
            <a:avLst/>
          </a:prstGeom>
          <a:solidFill>
            <a:srgbClr val="FFFFFF"/>
          </a:solidFill>
          <a:ln w="9525">
            <a:solidFill>
              <a:srgbClr val="DDECB3"/>
            </a:solidFill>
          </a:ln>
        </p:spPr>
        <p:txBody>
          <a:bodyPr lIns="0" tIns="0" rIns="0" bIns="0"/>
          <a:lstStyle/>
          <a:p>
            <a:r>
              <a:rPr sz="100">
                <a:solidFill>
                  <a:srgbClr val="FFFFFF"/>
                </a:solidFill>
                <a:latin typeface="Arial"/>
                <a:ea typeface="Arial"/>
                <a:cs typeface="Arial"/>
              </a:rPr>
              <a:t>.</a:t>
            </a:r>
          </a:p>
        </p:txBody>
      </p:sp>
      <p:pic>
        <p:nvPicPr>
          <p:cNvPr id="48" name="Picture 47"/>
          <p:cNvPicPr>
            <a:picLocks noChangeAspect="1"/>
          </p:cNvPicPr>
          <p:nvPr/>
        </p:nvPicPr>
        <p:blipFill>
          <a:blip r:embed="rId4"/>
          <a:stretch/>
        </p:blipFill>
        <p:spPr>
          <a:xfrm>
            <a:off x="2879077" y="1562100"/>
            <a:ext cx="585496" cy="400050"/>
          </a:xfrm>
          <a:prstGeom prst="rect">
            <a:avLst/>
          </a:prstGeom>
        </p:spPr>
      </p:pic>
      <p:sp>
        <p:nvSpPr>
          <p:cNvPr id="11" name="Rectangle 10">
            <a:extLst>
              <a:ext uri="{FF2B5EF4-FFF2-40B4-BE49-F238E27FC236}">
                <a16:creationId xmlns:a16="http://schemas.microsoft.com/office/drawing/2014/main" id="{1DC8E331-59C8-4EF1-A30E-E39EFB96F17A}"/>
              </a:ext>
            </a:extLst>
          </p:cNvPr>
          <p:cNvSpPr>
            <a:spLocks noGrp="1"/>
          </p:cNvSpPr>
          <p:nvPr/>
        </p:nvSpPr>
        <p:spPr>
          <a:xfrm>
            <a:off x="2733675" y="2047875"/>
            <a:ext cx="876300" cy="171450"/>
          </a:xfrm>
          <a:prstGeom prst="rect">
            <a:avLst/>
          </a:prstGeom>
        </p:spPr>
        <p:txBody>
          <a:bodyPr lIns="0" tIns="0" rIns="0" bIns="0"/>
          <a:lstStyle/>
          <a:p>
            <a:pPr algn="ctr">
              <a:defRPr sz="750" b="1">
                <a:solidFill>
                  <a:srgbClr val="003A61"/>
                </a:solidFill>
                <a:latin typeface="Arial"/>
                <a:ea typeface="Arial"/>
                <a:cs typeface="Arial"/>
              </a:defRPr>
            </a:pPr>
            <a:r>
              <a:rPr sz="750" b="1">
                <a:solidFill>
                  <a:srgbClr val="003A61"/>
                </a:solidFill>
                <a:latin typeface="Arial"/>
                <a:ea typeface="Arial"/>
                <a:cs typeface="Arial"/>
              </a:rPr>
              <a:t>Pavlovia</a:t>
            </a:r>
          </a:p>
        </p:txBody>
      </p:sp>
      <p:sp>
        <p:nvSpPr>
          <p:cNvPr id="12" name="Rectangle 11">
            <a:extLst>
              <a:ext uri="{FF2B5EF4-FFF2-40B4-BE49-F238E27FC236}">
                <a16:creationId xmlns:a16="http://schemas.microsoft.com/office/drawing/2014/main" id="{4674D869-D767-4E7D-813D-B1368E550E1C}"/>
              </a:ext>
            </a:extLst>
          </p:cNvPr>
          <p:cNvSpPr>
            <a:spLocks noGrp="1"/>
          </p:cNvSpPr>
          <p:nvPr/>
        </p:nvSpPr>
        <p:spPr>
          <a:xfrm>
            <a:off x="3733800" y="17621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13" name="Rectangle 12">
            <a:extLst>
              <a:ext uri="{FF2B5EF4-FFF2-40B4-BE49-F238E27FC236}">
                <a16:creationId xmlns:a16="http://schemas.microsoft.com/office/drawing/2014/main" id="{9842E20E-B193-4F9A-8EAF-F66439CBAEE5}"/>
              </a:ext>
            </a:extLst>
          </p:cNvPr>
          <p:cNvSpPr>
            <a:spLocks noGrp="1"/>
          </p:cNvSpPr>
          <p:nvPr/>
        </p:nvSpPr>
        <p:spPr>
          <a:xfrm>
            <a:off x="4038600" y="1447800"/>
            <a:ext cx="1066800" cy="876300"/>
          </a:xfrm>
          <a:prstGeom prst="rect">
            <a:avLst/>
          </a:prstGeom>
          <a:solidFill>
            <a:srgbClr val="FFFFFF"/>
          </a:solidFill>
          <a:ln w="9525">
            <a:solidFill>
              <a:srgbClr val="DDECB3"/>
            </a:solidFill>
          </a:ln>
        </p:spPr>
        <p:txBody>
          <a:bodyPr lIns="0" tIns="0" rIns="0" bIns="0"/>
          <a:lstStyle/>
          <a:p>
            <a:r>
              <a:rPr sz="100">
                <a:solidFill>
                  <a:srgbClr val="FFFFFF"/>
                </a:solidFill>
                <a:latin typeface="Arial"/>
                <a:ea typeface="Arial"/>
                <a:cs typeface="Arial"/>
              </a:rPr>
              <a:t>.</a:t>
            </a:r>
          </a:p>
        </p:txBody>
      </p:sp>
      <p:pic>
        <p:nvPicPr>
          <p:cNvPr id="52" name="Picture 51"/>
          <p:cNvPicPr>
            <a:picLocks noChangeAspect="1"/>
          </p:cNvPicPr>
          <p:nvPr/>
        </p:nvPicPr>
        <p:blipFill>
          <a:blip r:embed="rId5"/>
          <a:stretch/>
        </p:blipFill>
        <p:spPr>
          <a:xfrm>
            <a:off x="4371975" y="1562100"/>
            <a:ext cx="400050" cy="400050"/>
          </a:xfrm>
          <a:prstGeom prst="rect">
            <a:avLst/>
          </a:prstGeom>
        </p:spPr>
      </p:pic>
      <p:sp>
        <p:nvSpPr>
          <p:cNvPr id="15" name="Rectangle 14">
            <a:extLst>
              <a:ext uri="{FF2B5EF4-FFF2-40B4-BE49-F238E27FC236}">
                <a16:creationId xmlns:a16="http://schemas.microsoft.com/office/drawing/2014/main" id="{C95C7DB2-87F1-445F-91A1-3B99DAD6C5F5}"/>
              </a:ext>
            </a:extLst>
          </p:cNvPr>
          <p:cNvSpPr>
            <a:spLocks noGrp="1"/>
          </p:cNvSpPr>
          <p:nvPr/>
        </p:nvSpPr>
        <p:spPr>
          <a:xfrm>
            <a:off x="4133850" y="2047875"/>
            <a:ext cx="876300" cy="171450"/>
          </a:xfrm>
          <a:prstGeom prst="rect">
            <a:avLst/>
          </a:prstGeom>
        </p:spPr>
        <p:txBody>
          <a:bodyPr lIns="0" tIns="0" rIns="0" bIns="0"/>
          <a:lstStyle/>
          <a:p>
            <a:pPr algn="ctr">
              <a:defRPr sz="750" b="1">
                <a:solidFill>
                  <a:srgbClr val="003A61"/>
                </a:solidFill>
                <a:latin typeface="Arial"/>
                <a:ea typeface="Arial"/>
                <a:cs typeface="Arial"/>
              </a:defRPr>
            </a:pPr>
            <a:r>
              <a:rPr sz="750" b="1">
                <a:solidFill>
                  <a:srgbClr val="003A61"/>
                </a:solidFill>
                <a:latin typeface="Arial"/>
                <a:ea typeface="Arial"/>
                <a:cs typeface="Arial"/>
              </a:rPr>
              <a:t>Python</a:t>
            </a:r>
          </a:p>
        </p:txBody>
      </p:sp>
      <p:sp>
        <p:nvSpPr>
          <p:cNvPr id="16" name="Rectangle 15">
            <a:extLst>
              <a:ext uri="{FF2B5EF4-FFF2-40B4-BE49-F238E27FC236}">
                <a16:creationId xmlns:a16="http://schemas.microsoft.com/office/drawing/2014/main" id="{81C1E200-3685-49A9-BD52-60EAAA6261E4}"/>
              </a:ext>
            </a:extLst>
          </p:cNvPr>
          <p:cNvSpPr>
            <a:spLocks noGrp="1"/>
          </p:cNvSpPr>
          <p:nvPr/>
        </p:nvSpPr>
        <p:spPr>
          <a:xfrm>
            <a:off x="5133975" y="17621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17" name="Rectangle 16">
            <a:extLst>
              <a:ext uri="{FF2B5EF4-FFF2-40B4-BE49-F238E27FC236}">
                <a16:creationId xmlns:a16="http://schemas.microsoft.com/office/drawing/2014/main" id="{52F005FB-B8D4-4852-8856-6BBA09FBF094}"/>
              </a:ext>
            </a:extLst>
          </p:cNvPr>
          <p:cNvSpPr>
            <a:spLocks noGrp="1"/>
          </p:cNvSpPr>
          <p:nvPr/>
        </p:nvSpPr>
        <p:spPr>
          <a:xfrm>
            <a:off x="5438775" y="1447800"/>
            <a:ext cx="1066800" cy="876300"/>
          </a:xfrm>
          <a:prstGeom prst="rect">
            <a:avLst/>
          </a:prstGeom>
          <a:solidFill>
            <a:srgbClr val="FFFFFF"/>
          </a:solidFill>
          <a:ln w="9525">
            <a:solidFill>
              <a:srgbClr val="DDECB3"/>
            </a:solidFill>
          </a:ln>
        </p:spPr>
        <p:txBody>
          <a:bodyPr lIns="0" tIns="0" rIns="0" bIns="0"/>
          <a:lstStyle/>
          <a:p>
            <a:r>
              <a:rPr sz="100">
                <a:solidFill>
                  <a:srgbClr val="FFFFFF"/>
                </a:solidFill>
                <a:latin typeface="Arial"/>
                <a:ea typeface="Arial"/>
                <a:cs typeface="Arial"/>
              </a:rPr>
              <a:t>.</a:t>
            </a:r>
          </a:p>
        </p:txBody>
      </p:sp>
      <p:pic>
        <p:nvPicPr>
          <p:cNvPr id="56" name="Picture 55"/>
          <p:cNvPicPr>
            <a:picLocks noChangeAspect="1"/>
          </p:cNvPicPr>
          <p:nvPr/>
        </p:nvPicPr>
        <p:blipFill>
          <a:blip r:embed="rId6"/>
          <a:stretch/>
        </p:blipFill>
        <p:spPr>
          <a:xfrm>
            <a:off x="5648325" y="1630934"/>
            <a:ext cx="647700" cy="262383"/>
          </a:xfrm>
          <a:prstGeom prst="rect">
            <a:avLst/>
          </a:prstGeom>
        </p:spPr>
      </p:pic>
      <p:sp>
        <p:nvSpPr>
          <p:cNvPr id="19" name="Rectangle 18">
            <a:extLst>
              <a:ext uri="{FF2B5EF4-FFF2-40B4-BE49-F238E27FC236}">
                <a16:creationId xmlns:a16="http://schemas.microsoft.com/office/drawing/2014/main" id="{6DFB6497-18F3-481F-A991-914BBDD36933}"/>
              </a:ext>
            </a:extLst>
          </p:cNvPr>
          <p:cNvSpPr>
            <a:spLocks noGrp="1"/>
          </p:cNvSpPr>
          <p:nvPr/>
        </p:nvSpPr>
        <p:spPr>
          <a:xfrm>
            <a:off x="5534025" y="2047875"/>
            <a:ext cx="876300" cy="171450"/>
          </a:xfrm>
          <a:prstGeom prst="rect">
            <a:avLst/>
          </a:prstGeom>
        </p:spPr>
        <p:txBody>
          <a:bodyPr lIns="0" tIns="0" rIns="0" bIns="0"/>
          <a:lstStyle/>
          <a:p>
            <a:pPr algn="ctr">
              <a:defRPr sz="750" b="1">
                <a:solidFill>
                  <a:srgbClr val="003A61"/>
                </a:solidFill>
                <a:latin typeface="Arial"/>
                <a:ea typeface="Arial"/>
                <a:cs typeface="Arial"/>
              </a:defRPr>
            </a:pPr>
            <a:r>
              <a:rPr sz="750" b="1">
                <a:solidFill>
                  <a:srgbClr val="003A61"/>
                </a:solidFill>
                <a:latin typeface="Arial"/>
                <a:ea typeface="Arial"/>
                <a:cs typeface="Arial"/>
              </a:rPr>
              <a:t>pandas</a:t>
            </a:r>
          </a:p>
        </p:txBody>
      </p:sp>
      <p:sp>
        <p:nvSpPr>
          <p:cNvPr id="20" name="Rectangle 19">
            <a:extLst>
              <a:ext uri="{FF2B5EF4-FFF2-40B4-BE49-F238E27FC236}">
                <a16:creationId xmlns:a16="http://schemas.microsoft.com/office/drawing/2014/main" id="{6EB5FF7F-E651-4E6C-805B-61E70AED6A5B}"/>
              </a:ext>
            </a:extLst>
          </p:cNvPr>
          <p:cNvSpPr>
            <a:spLocks noGrp="1"/>
          </p:cNvSpPr>
          <p:nvPr/>
        </p:nvSpPr>
        <p:spPr>
          <a:xfrm>
            <a:off x="6534150" y="1762125"/>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21" name="Rectangle 20">
            <a:extLst>
              <a:ext uri="{FF2B5EF4-FFF2-40B4-BE49-F238E27FC236}">
                <a16:creationId xmlns:a16="http://schemas.microsoft.com/office/drawing/2014/main" id="{7CD9CD00-8A47-48B0-8A9C-BC7F811AD6B1}"/>
              </a:ext>
            </a:extLst>
          </p:cNvPr>
          <p:cNvSpPr>
            <a:spLocks noGrp="1"/>
          </p:cNvSpPr>
          <p:nvPr/>
        </p:nvSpPr>
        <p:spPr>
          <a:xfrm>
            <a:off x="6838950" y="1447800"/>
            <a:ext cx="1066800" cy="876300"/>
          </a:xfrm>
          <a:prstGeom prst="rect">
            <a:avLst/>
          </a:prstGeom>
          <a:solidFill>
            <a:srgbClr val="FFFFFF"/>
          </a:solidFill>
          <a:ln w="9525">
            <a:solidFill>
              <a:srgbClr val="DDECB3"/>
            </a:solidFill>
          </a:ln>
        </p:spPr>
        <p:txBody>
          <a:bodyPr lIns="0" tIns="0" rIns="0" bIns="0"/>
          <a:lstStyle/>
          <a:p>
            <a:r>
              <a:rPr sz="100">
                <a:solidFill>
                  <a:srgbClr val="FFFFFF"/>
                </a:solidFill>
                <a:latin typeface="Arial"/>
                <a:ea typeface="Arial"/>
                <a:cs typeface="Arial"/>
              </a:rPr>
              <a:t>.</a:t>
            </a:r>
          </a:p>
        </p:txBody>
      </p:sp>
      <p:pic>
        <p:nvPicPr>
          <p:cNvPr id="60" name="Picture 59"/>
          <p:cNvPicPr>
            <a:picLocks noChangeAspect="1"/>
          </p:cNvPicPr>
          <p:nvPr/>
        </p:nvPicPr>
        <p:blipFill>
          <a:blip r:embed="rId7"/>
          <a:stretch/>
        </p:blipFill>
        <p:spPr>
          <a:xfrm>
            <a:off x="7114207" y="1562100"/>
            <a:ext cx="516286" cy="400050"/>
          </a:xfrm>
          <a:prstGeom prst="rect">
            <a:avLst/>
          </a:prstGeom>
        </p:spPr>
      </p:pic>
      <p:sp>
        <p:nvSpPr>
          <p:cNvPr id="23" name="Rectangle 22">
            <a:extLst>
              <a:ext uri="{FF2B5EF4-FFF2-40B4-BE49-F238E27FC236}">
                <a16:creationId xmlns:a16="http://schemas.microsoft.com/office/drawing/2014/main" id="{80640C99-5C78-4C18-BF37-CE74D4B6270D}"/>
              </a:ext>
            </a:extLst>
          </p:cNvPr>
          <p:cNvSpPr>
            <a:spLocks noGrp="1"/>
          </p:cNvSpPr>
          <p:nvPr/>
        </p:nvSpPr>
        <p:spPr>
          <a:xfrm>
            <a:off x="6934200" y="2047875"/>
            <a:ext cx="876300" cy="171450"/>
          </a:xfrm>
          <a:prstGeom prst="rect">
            <a:avLst/>
          </a:prstGeom>
        </p:spPr>
        <p:txBody>
          <a:bodyPr lIns="0" tIns="0" rIns="0" bIns="0"/>
          <a:lstStyle/>
          <a:p>
            <a:pPr algn="ctr">
              <a:defRPr sz="750" b="1">
                <a:solidFill>
                  <a:srgbClr val="003A61"/>
                </a:solidFill>
                <a:latin typeface="Arial"/>
                <a:ea typeface="Arial"/>
                <a:cs typeface="Arial"/>
              </a:defRPr>
            </a:pPr>
            <a:r>
              <a:rPr sz="750" b="1">
                <a:solidFill>
                  <a:srgbClr val="003A61"/>
                </a:solidFill>
                <a:latin typeface="Arial"/>
                <a:ea typeface="Arial"/>
                <a:cs typeface="Arial"/>
              </a:rPr>
              <a:t>R</a:t>
            </a:r>
          </a:p>
        </p:txBody>
      </p:sp>
      <p:sp>
        <p:nvSpPr>
          <p:cNvPr id="24" name="Rectangle 23">
            <a:extLst>
              <a:ext uri="{FF2B5EF4-FFF2-40B4-BE49-F238E27FC236}">
                <a16:creationId xmlns:a16="http://schemas.microsoft.com/office/drawing/2014/main" id="{253FEB92-9EAC-4AF9-A705-AA8B3F58EECA}"/>
              </a:ext>
            </a:extLst>
          </p:cNvPr>
          <p:cNvSpPr>
            <a:spLocks noGrp="1"/>
          </p:cNvSpPr>
          <p:nvPr/>
        </p:nvSpPr>
        <p:spPr>
          <a:xfrm>
            <a:off x="1244138" y="2941067"/>
            <a:ext cx="1285875" cy="666750"/>
          </a:xfrm>
          <a:prstGeom prst="rect">
            <a:avLst/>
          </a:prstGeom>
          <a:solidFill>
            <a:srgbClr val="EEF4F8"/>
          </a:solidFill>
          <a:ln w="7620">
            <a:solidFill>
              <a:srgbClr val="003A61"/>
            </a:solidFill>
          </a:ln>
        </p:spPr>
      </p:sp>
      <p:sp>
        <p:nvSpPr>
          <p:cNvPr id="25" name="Rectangle 24">
            <a:extLst>
              <a:ext uri="{FF2B5EF4-FFF2-40B4-BE49-F238E27FC236}">
                <a16:creationId xmlns:a16="http://schemas.microsoft.com/office/drawing/2014/main" id="{0931619B-8552-4157-89EE-F42820E43760}"/>
              </a:ext>
            </a:extLst>
          </p:cNvPr>
          <p:cNvSpPr>
            <a:spLocks noGrp="1"/>
          </p:cNvSpPr>
          <p:nvPr/>
        </p:nvSpPr>
        <p:spPr>
          <a:xfrm>
            <a:off x="1329863" y="3026792"/>
            <a:ext cx="1114425" cy="171450"/>
          </a:xfrm>
          <a:prstGeom prst="rect">
            <a:avLst/>
          </a:prstGeom>
        </p:spPr>
        <p:txBody>
          <a:bodyPr lIns="0" tIns="0" rIns="0" bIns="0"/>
          <a:lstStyle/>
          <a:p>
            <a:pPr algn="ctr">
              <a:defRPr sz="825" b="1">
                <a:solidFill>
                  <a:srgbClr val="003A61"/>
                </a:solidFill>
                <a:latin typeface="Arial"/>
                <a:ea typeface="Arial"/>
                <a:cs typeface="Arial"/>
              </a:defRPr>
            </a:pPr>
            <a:r>
              <a:rPr sz="825" b="1">
                <a:solidFill>
                  <a:srgbClr val="003A61"/>
                </a:solidFill>
                <a:latin typeface="Arial"/>
                <a:ea typeface="Arial"/>
                <a:cs typeface="Arial"/>
              </a:rPr>
              <a:t>Experiment</a:t>
            </a:r>
          </a:p>
        </p:txBody>
      </p:sp>
      <p:sp>
        <p:nvSpPr>
          <p:cNvPr id="26" name="Rectangle 25">
            <a:extLst>
              <a:ext uri="{FF2B5EF4-FFF2-40B4-BE49-F238E27FC236}">
                <a16:creationId xmlns:a16="http://schemas.microsoft.com/office/drawing/2014/main" id="{1D3D9B8B-016E-422D-B240-E28EB60093B5}"/>
              </a:ext>
            </a:extLst>
          </p:cNvPr>
          <p:cNvSpPr>
            <a:spLocks noGrp="1"/>
          </p:cNvSpPr>
          <p:nvPr/>
        </p:nvSpPr>
        <p:spPr>
          <a:xfrm>
            <a:off x="1329863" y="3236342"/>
            <a:ext cx="1114425" cy="304800"/>
          </a:xfrm>
          <a:prstGeom prst="rect">
            <a:avLst/>
          </a:prstGeom>
        </p:spPr>
        <p:txBody>
          <a:bodyPr lIns="0" tIns="0" rIns="0" bIns="0"/>
          <a:lstStyle/>
          <a:p>
            <a:pPr algn="ctr">
              <a:defRPr sz="713">
                <a:solidFill>
                  <a:srgbClr val="263845"/>
                </a:solidFill>
                <a:latin typeface="Arial"/>
                <a:ea typeface="Arial"/>
                <a:cs typeface="Arial"/>
              </a:defRPr>
            </a:pPr>
            <a:r>
              <a:rPr sz="713">
                <a:solidFill>
                  <a:srgbClr val="263845"/>
                </a:solidFill>
                <a:latin typeface="Arial"/>
                <a:ea typeface="Arial"/>
                <a:cs typeface="Arial"/>
              </a:rPr>
              <a:t>PsychoPy / Pavlovia</a:t>
            </a:r>
          </a:p>
        </p:txBody>
      </p:sp>
      <p:sp>
        <p:nvSpPr>
          <p:cNvPr id="27" name="Rectangle 26">
            <a:extLst>
              <a:ext uri="{FF2B5EF4-FFF2-40B4-BE49-F238E27FC236}">
                <a16:creationId xmlns:a16="http://schemas.microsoft.com/office/drawing/2014/main" id="{67564CE0-AB0B-42D9-9534-A9D2A4CAE11D}"/>
              </a:ext>
            </a:extLst>
          </p:cNvPr>
          <p:cNvSpPr>
            <a:spLocks noGrp="1"/>
          </p:cNvSpPr>
          <p:nvPr/>
        </p:nvSpPr>
        <p:spPr>
          <a:xfrm>
            <a:off x="2596688" y="3150617"/>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28" name="Rectangle 27">
            <a:extLst>
              <a:ext uri="{FF2B5EF4-FFF2-40B4-BE49-F238E27FC236}">
                <a16:creationId xmlns:a16="http://schemas.microsoft.com/office/drawing/2014/main" id="{03864454-10E1-4739-AC61-35B80D30CBEC}"/>
              </a:ext>
            </a:extLst>
          </p:cNvPr>
          <p:cNvSpPr>
            <a:spLocks noGrp="1"/>
          </p:cNvSpPr>
          <p:nvPr/>
        </p:nvSpPr>
        <p:spPr>
          <a:xfrm>
            <a:off x="2882438" y="2941067"/>
            <a:ext cx="1238250" cy="666750"/>
          </a:xfrm>
          <a:prstGeom prst="rect">
            <a:avLst/>
          </a:prstGeom>
          <a:solidFill>
            <a:srgbClr val="F3F6F8"/>
          </a:solidFill>
          <a:ln w="7620">
            <a:solidFill>
              <a:srgbClr val="003A61"/>
            </a:solidFill>
          </a:ln>
        </p:spPr>
      </p:sp>
      <p:sp>
        <p:nvSpPr>
          <p:cNvPr id="29" name="Rectangle 28">
            <a:extLst>
              <a:ext uri="{FF2B5EF4-FFF2-40B4-BE49-F238E27FC236}">
                <a16:creationId xmlns:a16="http://schemas.microsoft.com/office/drawing/2014/main" id="{D7A9D786-4A26-468A-9B87-6EB74F4B6331}"/>
              </a:ext>
            </a:extLst>
          </p:cNvPr>
          <p:cNvSpPr>
            <a:spLocks noGrp="1"/>
          </p:cNvSpPr>
          <p:nvPr/>
        </p:nvSpPr>
        <p:spPr>
          <a:xfrm>
            <a:off x="2968163" y="3026792"/>
            <a:ext cx="1066800" cy="171450"/>
          </a:xfrm>
          <a:prstGeom prst="rect">
            <a:avLst/>
          </a:prstGeom>
        </p:spPr>
        <p:txBody>
          <a:bodyPr lIns="0" tIns="0" rIns="0" bIns="0"/>
          <a:lstStyle/>
          <a:p>
            <a:pPr algn="ctr">
              <a:defRPr sz="825" b="1">
                <a:solidFill>
                  <a:srgbClr val="003A61"/>
                </a:solidFill>
                <a:latin typeface="Arial"/>
                <a:ea typeface="Arial"/>
                <a:cs typeface="Arial"/>
              </a:defRPr>
            </a:pPr>
            <a:r>
              <a:rPr sz="825" b="1">
                <a:solidFill>
                  <a:srgbClr val="003A61"/>
                </a:solidFill>
                <a:latin typeface="Arial"/>
                <a:ea typeface="Arial"/>
                <a:cs typeface="Arial"/>
              </a:rPr>
              <a:t>Raw CSV</a:t>
            </a:r>
          </a:p>
        </p:txBody>
      </p:sp>
      <p:sp>
        <p:nvSpPr>
          <p:cNvPr id="30" name="Rectangle 29">
            <a:extLst>
              <a:ext uri="{FF2B5EF4-FFF2-40B4-BE49-F238E27FC236}">
                <a16:creationId xmlns:a16="http://schemas.microsoft.com/office/drawing/2014/main" id="{E6622862-D0C7-4B5F-A7B4-D26FD1CD419D}"/>
              </a:ext>
            </a:extLst>
          </p:cNvPr>
          <p:cNvSpPr>
            <a:spLocks noGrp="1"/>
          </p:cNvSpPr>
          <p:nvPr/>
        </p:nvSpPr>
        <p:spPr>
          <a:xfrm>
            <a:off x="2968163" y="3236342"/>
            <a:ext cx="1066800" cy="304800"/>
          </a:xfrm>
          <a:prstGeom prst="rect">
            <a:avLst/>
          </a:prstGeom>
        </p:spPr>
        <p:txBody>
          <a:bodyPr lIns="0" tIns="0" rIns="0" bIns="0"/>
          <a:lstStyle/>
          <a:p>
            <a:pPr algn="ctr">
              <a:defRPr sz="713">
                <a:solidFill>
                  <a:srgbClr val="263845"/>
                </a:solidFill>
                <a:latin typeface="Arial"/>
                <a:ea typeface="Arial"/>
                <a:cs typeface="Arial"/>
              </a:defRPr>
            </a:pPr>
            <a:r>
              <a:rPr sz="713">
                <a:solidFill>
                  <a:srgbClr val="263845"/>
                </a:solidFill>
                <a:latin typeface="Arial"/>
                <a:ea typeface="Arial"/>
                <a:cs typeface="Arial"/>
              </a:rPr>
              <a:t>participant files</a:t>
            </a:r>
          </a:p>
        </p:txBody>
      </p:sp>
      <p:sp>
        <p:nvSpPr>
          <p:cNvPr id="31" name="Rectangle 30">
            <a:extLst>
              <a:ext uri="{FF2B5EF4-FFF2-40B4-BE49-F238E27FC236}">
                <a16:creationId xmlns:a16="http://schemas.microsoft.com/office/drawing/2014/main" id="{51BFFB91-8EEA-445C-8DBA-7CF675BABB61}"/>
              </a:ext>
            </a:extLst>
          </p:cNvPr>
          <p:cNvSpPr>
            <a:spLocks noGrp="1"/>
          </p:cNvSpPr>
          <p:nvPr/>
        </p:nvSpPr>
        <p:spPr>
          <a:xfrm>
            <a:off x="4177838" y="3150617"/>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32" name="Rectangle 31">
            <a:extLst>
              <a:ext uri="{FF2B5EF4-FFF2-40B4-BE49-F238E27FC236}">
                <a16:creationId xmlns:a16="http://schemas.microsoft.com/office/drawing/2014/main" id="{B246A735-6EAB-42B4-B5D1-631836C2904D}"/>
              </a:ext>
            </a:extLst>
          </p:cNvPr>
          <p:cNvSpPr>
            <a:spLocks noGrp="1"/>
          </p:cNvSpPr>
          <p:nvPr/>
        </p:nvSpPr>
        <p:spPr>
          <a:xfrm>
            <a:off x="4454063" y="2941067"/>
            <a:ext cx="1428750" cy="666750"/>
          </a:xfrm>
          <a:prstGeom prst="rect">
            <a:avLst/>
          </a:prstGeom>
          <a:solidFill>
            <a:srgbClr val="DDECB3"/>
          </a:solidFill>
          <a:ln w="7620">
            <a:solidFill>
              <a:srgbClr val="003A61"/>
            </a:solidFill>
          </a:ln>
        </p:spPr>
        <p:txBody>
          <a:bodyPr lIns="0" tIns="0" rIns="0" bIns="0"/>
          <a:lstStyle/>
          <a:p>
            <a:r>
              <a:rPr sz="100">
                <a:solidFill>
                  <a:srgbClr val="DDECB3"/>
                </a:solidFill>
                <a:latin typeface="Arial"/>
                <a:ea typeface="Arial"/>
                <a:cs typeface="Arial"/>
              </a:rPr>
              <a:t>.</a:t>
            </a:r>
          </a:p>
        </p:txBody>
      </p:sp>
      <p:sp>
        <p:nvSpPr>
          <p:cNvPr id="33" name="Rectangle 32">
            <a:extLst>
              <a:ext uri="{FF2B5EF4-FFF2-40B4-BE49-F238E27FC236}">
                <a16:creationId xmlns:a16="http://schemas.microsoft.com/office/drawing/2014/main" id="{259FC368-C883-43CE-86D8-DF6D444CDA7D}"/>
              </a:ext>
            </a:extLst>
          </p:cNvPr>
          <p:cNvSpPr>
            <a:spLocks noGrp="1"/>
          </p:cNvSpPr>
          <p:nvPr/>
        </p:nvSpPr>
        <p:spPr>
          <a:xfrm>
            <a:off x="4539788" y="3026792"/>
            <a:ext cx="1257300" cy="171450"/>
          </a:xfrm>
          <a:prstGeom prst="rect">
            <a:avLst/>
          </a:prstGeom>
        </p:spPr>
        <p:txBody>
          <a:bodyPr lIns="0" tIns="0" rIns="0" bIns="0"/>
          <a:lstStyle/>
          <a:p>
            <a:pPr algn="ctr">
              <a:defRPr sz="825" b="1">
                <a:solidFill>
                  <a:srgbClr val="003A61"/>
                </a:solidFill>
                <a:latin typeface="Arial"/>
                <a:ea typeface="Arial"/>
                <a:cs typeface="Arial"/>
              </a:defRPr>
            </a:pPr>
            <a:r>
              <a:rPr sz="825" b="1">
                <a:solidFill>
                  <a:srgbClr val="003A61"/>
                </a:solidFill>
                <a:latin typeface="Arial"/>
                <a:ea typeface="Arial"/>
                <a:cs typeface="Arial"/>
              </a:rPr>
              <a:t>Cleaning/QC</a:t>
            </a:r>
          </a:p>
        </p:txBody>
      </p:sp>
      <p:sp>
        <p:nvSpPr>
          <p:cNvPr id="34" name="Rectangle 33">
            <a:extLst>
              <a:ext uri="{FF2B5EF4-FFF2-40B4-BE49-F238E27FC236}">
                <a16:creationId xmlns:a16="http://schemas.microsoft.com/office/drawing/2014/main" id="{70664909-7915-44CC-95D8-107D1AE834B8}"/>
              </a:ext>
            </a:extLst>
          </p:cNvPr>
          <p:cNvSpPr>
            <a:spLocks noGrp="1"/>
          </p:cNvSpPr>
          <p:nvPr/>
        </p:nvSpPr>
        <p:spPr>
          <a:xfrm>
            <a:off x="4539788" y="3236342"/>
            <a:ext cx="1257300" cy="304800"/>
          </a:xfrm>
          <a:prstGeom prst="rect">
            <a:avLst/>
          </a:prstGeom>
        </p:spPr>
        <p:txBody>
          <a:bodyPr lIns="0" tIns="0" rIns="0" bIns="0"/>
          <a:lstStyle/>
          <a:p>
            <a:pPr algn="ctr">
              <a:defRPr sz="713">
                <a:solidFill>
                  <a:srgbClr val="263845"/>
                </a:solidFill>
                <a:latin typeface="Arial"/>
                <a:ea typeface="Arial"/>
                <a:cs typeface="Arial"/>
              </a:defRPr>
            </a:pPr>
            <a:r>
              <a:rPr sz="713">
                <a:solidFill>
                  <a:srgbClr val="263845"/>
                </a:solidFill>
                <a:latin typeface="Arial"/>
                <a:ea typeface="Arial"/>
                <a:cs typeface="Arial"/>
              </a:rPr>
              <a:t>Python + pandas</a:t>
            </a:r>
          </a:p>
        </p:txBody>
      </p:sp>
      <p:sp>
        <p:nvSpPr>
          <p:cNvPr id="35" name="Rectangle 34">
            <a:extLst>
              <a:ext uri="{FF2B5EF4-FFF2-40B4-BE49-F238E27FC236}">
                <a16:creationId xmlns:a16="http://schemas.microsoft.com/office/drawing/2014/main" id="{6DC51B92-5B43-41D3-8D59-81FC6024E74C}"/>
              </a:ext>
            </a:extLst>
          </p:cNvPr>
          <p:cNvSpPr>
            <a:spLocks noGrp="1"/>
          </p:cNvSpPr>
          <p:nvPr/>
        </p:nvSpPr>
        <p:spPr>
          <a:xfrm>
            <a:off x="5949488" y="3150617"/>
            <a:ext cx="247650" cy="238125"/>
          </a:xfrm>
          <a:prstGeom prst="rect">
            <a:avLst/>
          </a:prstGeom>
        </p:spPr>
        <p:txBody>
          <a:bodyPr lIns="0" tIns="0" rIns="0" bIns="0"/>
          <a:lstStyle/>
          <a:p>
            <a:pPr algn="ctr">
              <a:defRPr sz="1800" b="1">
                <a:solidFill>
                  <a:srgbClr val="8DB600"/>
                </a:solidFill>
                <a:latin typeface="Arial"/>
                <a:ea typeface="Arial"/>
                <a:cs typeface="Arial"/>
              </a:defRPr>
            </a:pPr>
            <a:r>
              <a:rPr sz="1800" b="1">
                <a:solidFill>
                  <a:srgbClr val="8DB600"/>
                </a:solidFill>
                <a:latin typeface="Arial"/>
                <a:ea typeface="Arial"/>
                <a:cs typeface="Arial"/>
              </a:rPr>
              <a:t>→</a:t>
            </a:r>
          </a:p>
        </p:txBody>
      </p:sp>
      <p:sp>
        <p:nvSpPr>
          <p:cNvPr id="36" name="Rectangle 35">
            <a:extLst>
              <a:ext uri="{FF2B5EF4-FFF2-40B4-BE49-F238E27FC236}">
                <a16:creationId xmlns:a16="http://schemas.microsoft.com/office/drawing/2014/main" id="{DB112873-3EFE-4B03-A444-3F417A925AF9}"/>
              </a:ext>
            </a:extLst>
          </p:cNvPr>
          <p:cNvSpPr>
            <a:spLocks noGrp="1"/>
          </p:cNvSpPr>
          <p:nvPr/>
        </p:nvSpPr>
        <p:spPr>
          <a:xfrm>
            <a:off x="6216188" y="2941067"/>
            <a:ext cx="1571625" cy="666750"/>
          </a:xfrm>
          <a:prstGeom prst="rect">
            <a:avLst/>
          </a:prstGeom>
          <a:solidFill>
            <a:srgbClr val="EEF4F8"/>
          </a:solidFill>
          <a:ln w="7620">
            <a:solidFill>
              <a:srgbClr val="003A61"/>
            </a:solidFill>
          </a:ln>
        </p:spPr>
        <p:txBody>
          <a:bodyPr lIns="0" tIns="0" rIns="0" bIns="0"/>
          <a:lstStyle/>
          <a:p>
            <a:r>
              <a:rPr sz="100">
                <a:solidFill>
                  <a:srgbClr val="EEF4F8"/>
                </a:solidFill>
                <a:latin typeface="Arial"/>
                <a:ea typeface="Arial"/>
                <a:cs typeface="Arial"/>
              </a:rPr>
              <a:t>.</a:t>
            </a:r>
          </a:p>
        </p:txBody>
      </p:sp>
      <p:sp>
        <p:nvSpPr>
          <p:cNvPr id="37" name="Rectangle 36">
            <a:extLst>
              <a:ext uri="{FF2B5EF4-FFF2-40B4-BE49-F238E27FC236}">
                <a16:creationId xmlns:a16="http://schemas.microsoft.com/office/drawing/2014/main" id="{A1D99FCF-7233-40FF-BF1D-49C785AABB31}"/>
              </a:ext>
            </a:extLst>
          </p:cNvPr>
          <p:cNvSpPr>
            <a:spLocks noGrp="1"/>
          </p:cNvSpPr>
          <p:nvPr/>
        </p:nvSpPr>
        <p:spPr>
          <a:xfrm>
            <a:off x="6301913" y="3026792"/>
            <a:ext cx="1400175" cy="171450"/>
          </a:xfrm>
          <a:prstGeom prst="rect">
            <a:avLst/>
          </a:prstGeom>
        </p:spPr>
        <p:txBody>
          <a:bodyPr lIns="0" tIns="0" rIns="0" bIns="0"/>
          <a:lstStyle/>
          <a:p>
            <a:pPr algn="ctr">
              <a:defRPr sz="825" b="1">
                <a:solidFill>
                  <a:srgbClr val="003A61"/>
                </a:solidFill>
                <a:latin typeface="Arial"/>
                <a:ea typeface="Arial"/>
                <a:cs typeface="Arial"/>
              </a:defRPr>
            </a:pPr>
            <a:r>
              <a:rPr sz="825" b="1">
                <a:solidFill>
                  <a:srgbClr val="003A61"/>
                </a:solidFill>
                <a:latin typeface="Arial"/>
                <a:ea typeface="Arial"/>
                <a:cs typeface="Arial"/>
              </a:rPr>
              <a:t>Analysis</a:t>
            </a:r>
          </a:p>
        </p:txBody>
      </p:sp>
      <p:sp>
        <p:nvSpPr>
          <p:cNvPr id="38" name="Rectangle 37">
            <a:extLst>
              <a:ext uri="{FF2B5EF4-FFF2-40B4-BE49-F238E27FC236}">
                <a16:creationId xmlns:a16="http://schemas.microsoft.com/office/drawing/2014/main" id="{8C54972F-9D7C-4519-BF66-CF33A4181F9C}"/>
              </a:ext>
            </a:extLst>
          </p:cNvPr>
          <p:cNvSpPr>
            <a:spLocks noGrp="1"/>
          </p:cNvSpPr>
          <p:nvPr/>
        </p:nvSpPr>
        <p:spPr>
          <a:xfrm>
            <a:off x="6301913" y="3236342"/>
            <a:ext cx="1400175" cy="304800"/>
          </a:xfrm>
          <a:prstGeom prst="rect">
            <a:avLst/>
          </a:prstGeom>
        </p:spPr>
        <p:txBody>
          <a:bodyPr lIns="0" tIns="0" rIns="0" bIns="0"/>
          <a:lstStyle/>
          <a:p>
            <a:pPr algn="ctr">
              <a:defRPr sz="713">
                <a:solidFill>
                  <a:srgbClr val="263845"/>
                </a:solidFill>
                <a:latin typeface="Arial"/>
                <a:ea typeface="Arial"/>
                <a:cs typeface="Arial"/>
              </a:defRPr>
            </a:pPr>
            <a:r>
              <a:rPr sz="713">
                <a:solidFill>
                  <a:srgbClr val="263845"/>
                </a:solidFill>
                <a:latin typeface="Arial"/>
                <a:ea typeface="Arial"/>
                <a:cs typeface="Arial"/>
              </a:rPr>
              <a:t>R Markdown</a:t>
            </a:r>
          </a:p>
          <a:p>
            <a:pPr algn="ctr">
              <a:defRPr sz="713">
                <a:solidFill>
                  <a:srgbClr val="263845"/>
                </a:solidFill>
                <a:latin typeface="Arial"/>
                <a:ea typeface="Arial"/>
                <a:cs typeface="Arial"/>
              </a:defRPr>
            </a:pPr>
            <a:r>
              <a:rPr sz="713">
                <a:solidFill>
                  <a:srgbClr val="263845"/>
                </a:solidFill>
                <a:latin typeface="Arial"/>
                <a:ea typeface="Arial"/>
                <a:cs typeface="Arial"/>
              </a:rPr>
              <a:t>lme4 / lmerTest</a:t>
            </a:r>
          </a:p>
        </p:txBody>
      </p:sp>
      <p:pic>
        <p:nvPicPr>
          <p:cNvPr id="14" name="Picture 13">
            <a:extLst>
              <a:ext uri="{FF2B5EF4-FFF2-40B4-BE49-F238E27FC236}">
                <a16:creationId xmlns:a16="http://schemas.microsoft.com/office/drawing/2014/main" id="{4007AC0F-0EA2-EF93-5B60-7CFE03BFEC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859" y="0"/>
            <a:ext cx="9139141" cy="5143500"/>
          </a:xfrm>
          <a:prstGeom prst="rect">
            <a:avLst/>
          </a:prstGeom>
        </p:spPr>
      </p:pic>
    </p:spTree>
    <p:extLst>
      <p:ext uri="{BB962C8B-B14F-4D97-AF65-F5344CB8AC3E}">
        <p14:creationId xmlns:p14="http://schemas.microsoft.com/office/powerpoint/2010/main" val="1826234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FACD8FE-9AD5-472C-967D-CAB6F2977E6A}"/>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E722FBA9-F89B-4545-B3B6-91AC6AC74402}"/>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14 | CLEANING AND QC</a:t>
            </a:r>
          </a:p>
        </p:txBody>
      </p:sp>
      <p:sp>
        <p:nvSpPr>
          <p:cNvPr id="3" name="Rectangle 2">
            <a:extLst>
              <a:ext uri="{FF2B5EF4-FFF2-40B4-BE49-F238E27FC236}">
                <a16:creationId xmlns:a16="http://schemas.microsoft.com/office/drawing/2014/main" id="{F5BB0C64-3910-488E-B18F-7BDFD1618C87}"/>
              </a:ext>
            </a:extLst>
          </p:cNvPr>
          <p:cNvSpPr>
            <a:spLocks noGrp="1"/>
          </p:cNvSpPr>
          <p:nvPr/>
        </p:nvSpPr>
        <p:spPr>
          <a:xfrm>
            <a:off x="476250" y="542925"/>
            <a:ext cx="7429500" cy="514350"/>
          </a:xfrm>
          <a:prstGeom prst="rect">
            <a:avLst/>
          </a:prstGeom>
        </p:spPr>
        <p:txBody>
          <a:bodyPr lIns="0" tIns="0" rIns="0" bIns="0"/>
          <a:lstStyle/>
          <a:p>
            <a:r>
              <a:rPr lang="en-US" sz="2175" b="1">
                <a:solidFill>
                  <a:srgbClr val="003A61"/>
                </a:solidFill>
                <a:latin typeface="Arial"/>
                <a:ea typeface="Arial"/>
                <a:cs typeface="Arial"/>
              </a:rPr>
              <a:t>Cleaning and QC check whether the exported participant files are usable for analysis.</a:t>
            </a:r>
            <a:endParaRPr sz="2175" b="1">
              <a:solidFill>
                <a:srgbClr val="003A61"/>
              </a:solidFill>
              <a:latin typeface="Arial"/>
              <a:ea typeface="Arial"/>
              <a:cs typeface="Arial"/>
            </a:endParaRPr>
          </a:p>
        </p:txBody>
      </p:sp>
      <p:sp>
        <p:nvSpPr>
          <p:cNvPr id="4" name="Rectangle 3">
            <a:extLst>
              <a:ext uri="{FF2B5EF4-FFF2-40B4-BE49-F238E27FC236}">
                <a16:creationId xmlns:a16="http://schemas.microsoft.com/office/drawing/2014/main" id="{28EA7C8A-9709-4CF7-B97B-F0EBFFBE951D}"/>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6A492060-447D-43B9-BA6E-6477A092488E}"/>
              </a:ext>
            </a:extLst>
          </p:cNvPr>
          <p:cNvSpPr>
            <a:spLocks noGrp="1"/>
          </p:cNvSpPr>
          <p:nvPr/>
        </p:nvSpPr>
        <p:spPr>
          <a:xfrm>
            <a:off x="933796" y="1435331"/>
            <a:ext cx="3286125" cy="523875"/>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6" name="Rectangle 5">
            <a:extLst>
              <a:ext uri="{FF2B5EF4-FFF2-40B4-BE49-F238E27FC236}">
                <a16:creationId xmlns:a16="http://schemas.microsoft.com/office/drawing/2014/main" id="{DEFBEBFF-8FF5-4175-9FAB-0F78BFE9FE13}"/>
              </a:ext>
            </a:extLst>
          </p:cNvPr>
          <p:cNvSpPr>
            <a:spLocks noGrp="1"/>
          </p:cNvSpPr>
          <p:nvPr/>
        </p:nvSpPr>
        <p:spPr>
          <a:xfrm>
            <a:off x="1048096" y="1530581"/>
            <a:ext cx="3057525" cy="190500"/>
          </a:xfrm>
          <a:prstGeom prst="rect">
            <a:avLst/>
          </a:prstGeom>
        </p:spPr>
        <p:txBody>
          <a:bodyPr lIns="0" tIns="0" rIns="0" bIns="0"/>
          <a:lstStyle/>
          <a:p>
            <a:r>
              <a:rPr sz="1200" b="1">
                <a:solidFill>
                  <a:srgbClr val="003A61"/>
                </a:solidFill>
                <a:latin typeface="Arial"/>
                <a:ea typeface="Arial"/>
                <a:cs typeface="Arial"/>
              </a:rPr>
              <a:t>Read participant CSVs</a:t>
            </a:r>
          </a:p>
        </p:txBody>
      </p:sp>
      <p:sp>
        <p:nvSpPr>
          <p:cNvPr id="7" name="Rectangle 6">
            <a:extLst>
              <a:ext uri="{FF2B5EF4-FFF2-40B4-BE49-F238E27FC236}">
                <a16:creationId xmlns:a16="http://schemas.microsoft.com/office/drawing/2014/main" id="{6A6910A8-042B-4D89-86A8-2A92540C3C52}"/>
              </a:ext>
            </a:extLst>
          </p:cNvPr>
          <p:cNvSpPr>
            <a:spLocks noGrp="1"/>
          </p:cNvSpPr>
          <p:nvPr/>
        </p:nvSpPr>
        <p:spPr>
          <a:xfrm>
            <a:off x="1048096" y="1759181"/>
            <a:ext cx="3057525" cy="123825"/>
          </a:xfrm>
          <a:prstGeom prst="rect">
            <a:avLst/>
          </a:prstGeom>
        </p:spPr>
        <p:txBody>
          <a:bodyPr lIns="0" tIns="0" rIns="0" bIns="0"/>
          <a:lstStyle/>
          <a:p>
            <a:r>
              <a:rPr sz="1200">
                <a:solidFill>
                  <a:srgbClr val="263845"/>
                </a:solidFill>
                <a:latin typeface="Arial"/>
                <a:ea typeface="Arial"/>
                <a:cs typeface="Arial"/>
              </a:rPr>
              <a:t>multiple encodings: utf-8-sig, utf-8, cp1258</a:t>
            </a:r>
          </a:p>
        </p:txBody>
      </p:sp>
      <p:sp>
        <p:nvSpPr>
          <p:cNvPr id="8" name="Rectangle 7">
            <a:extLst>
              <a:ext uri="{FF2B5EF4-FFF2-40B4-BE49-F238E27FC236}">
                <a16:creationId xmlns:a16="http://schemas.microsoft.com/office/drawing/2014/main" id="{31DB99B3-8561-4DDA-81FA-0A257981AEAA}"/>
              </a:ext>
            </a:extLst>
          </p:cNvPr>
          <p:cNvSpPr>
            <a:spLocks noGrp="1"/>
          </p:cNvSpPr>
          <p:nvPr/>
        </p:nvSpPr>
        <p:spPr>
          <a:xfrm>
            <a:off x="933796" y="2121131"/>
            <a:ext cx="3286125" cy="523875"/>
          </a:xfrm>
          <a:prstGeom prst="rect">
            <a:avLst/>
          </a:prstGeom>
          <a:solidFill>
            <a:srgbClr val="F3F6F8"/>
          </a:solidFill>
        </p:spPr>
        <p:txBody>
          <a:bodyPr lIns="0" tIns="0" rIns="0" bIns="0"/>
          <a:lstStyle/>
          <a:p>
            <a:r>
              <a:rPr sz="1200">
                <a:solidFill>
                  <a:srgbClr val="F3F6F8"/>
                </a:solidFill>
                <a:latin typeface="Arial"/>
                <a:ea typeface="Arial"/>
                <a:cs typeface="Arial"/>
              </a:rPr>
              <a:t>.</a:t>
            </a:r>
          </a:p>
        </p:txBody>
      </p:sp>
      <p:sp>
        <p:nvSpPr>
          <p:cNvPr id="9" name="Rectangle 8">
            <a:extLst>
              <a:ext uri="{FF2B5EF4-FFF2-40B4-BE49-F238E27FC236}">
                <a16:creationId xmlns:a16="http://schemas.microsoft.com/office/drawing/2014/main" id="{B89EA6E5-BB67-43C1-98DF-6E6535958DA4}"/>
              </a:ext>
            </a:extLst>
          </p:cNvPr>
          <p:cNvSpPr>
            <a:spLocks noGrp="1"/>
          </p:cNvSpPr>
          <p:nvPr/>
        </p:nvSpPr>
        <p:spPr>
          <a:xfrm>
            <a:off x="1048096" y="2216381"/>
            <a:ext cx="3057525" cy="190500"/>
          </a:xfrm>
          <a:prstGeom prst="rect">
            <a:avLst/>
          </a:prstGeom>
        </p:spPr>
        <p:txBody>
          <a:bodyPr lIns="0" tIns="0" rIns="0" bIns="0"/>
          <a:lstStyle/>
          <a:p>
            <a:r>
              <a:rPr sz="1200" b="1">
                <a:solidFill>
                  <a:srgbClr val="003A61"/>
                </a:solidFill>
                <a:latin typeface="Arial"/>
                <a:ea typeface="Arial"/>
                <a:cs typeface="Arial"/>
              </a:rPr>
              <a:t>Validate IDs</a:t>
            </a:r>
          </a:p>
        </p:txBody>
      </p:sp>
      <p:sp>
        <p:nvSpPr>
          <p:cNvPr id="10" name="Rectangle 9">
            <a:extLst>
              <a:ext uri="{FF2B5EF4-FFF2-40B4-BE49-F238E27FC236}">
                <a16:creationId xmlns:a16="http://schemas.microsoft.com/office/drawing/2014/main" id="{36AF6568-2675-4971-8D04-9C4395B29DB1}"/>
              </a:ext>
            </a:extLst>
          </p:cNvPr>
          <p:cNvSpPr>
            <a:spLocks noGrp="1"/>
          </p:cNvSpPr>
          <p:nvPr/>
        </p:nvSpPr>
        <p:spPr>
          <a:xfrm>
            <a:off x="1048096" y="2444981"/>
            <a:ext cx="3057525" cy="123825"/>
          </a:xfrm>
          <a:prstGeom prst="rect">
            <a:avLst/>
          </a:prstGeom>
        </p:spPr>
        <p:txBody>
          <a:bodyPr lIns="0" tIns="0" rIns="0" bIns="0"/>
          <a:lstStyle/>
          <a:p>
            <a:r>
              <a:rPr sz="1200">
                <a:solidFill>
                  <a:srgbClr val="263845"/>
                </a:solidFill>
                <a:latin typeface="Arial"/>
                <a:ea typeface="Arial"/>
                <a:cs typeface="Arial"/>
              </a:rPr>
              <a:t>participant ID in filename and file content</a:t>
            </a:r>
          </a:p>
        </p:txBody>
      </p:sp>
      <p:sp>
        <p:nvSpPr>
          <p:cNvPr id="11" name="Rectangle 10">
            <a:extLst>
              <a:ext uri="{FF2B5EF4-FFF2-40B4-BE49-F238E27FC236}">
                <a16:creationId xmlns:a16="http://schemas.microsoft.com/office/drawing/2014/main" id="{42152135-9E2E-4836-817B-5632A75D970C}"/>
              </a:ext>
            </a:extLst>
          </p:cNvPr>
          <p:cNvSpPr>
            <a:spLocks noGrp="1"/>
          </p:cNvSpPr>
          <p:nvPr/>
        </p:nvSpPr>
        <p:spPr>
          <a:xfrm>
            <a:off x="933796" y="2806931"/>
            <a:ext cx="3286125" cy="523875"/>
          </a:xfrm>
          <a:prstGeom prst="rect">
            <a:avLst/>
          </a:prstGeom>
          <a:solidFill>
            <a:srgbClr val="EEF4F8"/>
          </a:solidFill>
        </p:spPr>
        <p:txBody>
          <a:bodyPr lIns="0" tIns="0" rIns="0" bIns="0"/>
          <a:lstStyle/>
          <a:p>
            <a:r>
              <a:rPr sz="1200">
                <a:solidFill>
                  <a:srgbClr val="EEF4F8"/>
                </a:solidFill>
                <a:latin typeface="Arial"/>
                <a:ea typeface="Arial"/>
                <a:cs typeface="Arial"/>
              </a:rPr>
              <a:t>.</a:t>
            </a:r>
          </a:p>
        </p:txBody>
      </p:sp>
      <p:sp>
        <p:nvSpPr>
          <p:cNvPr id="12" name="Rectangle 11">
            <a:extLst>
              <a:ext uri="{FF2B5EF4-FFF2-40B4-BE49-F238E27FC236}">
                <a16:creationId xmlns:a16="http://schemas.microsoft.com/office/drawing/2014/main" id="{B6339A80-A539-4CE9-8F90-45EBBDFC783F}"/>
              </a:ext>
            </a:extLst>
          </p:cNvPr>
          <p:cNvSpPr>
            <a:spLocks noGrp="1"/>
          </p:cNvSpPr>
          <p:nvPr/>
        </p:nvSpPr>
        <p:spPr>
          <a:xfrm>
            <a:off x="1048096" y="2902181"/>
            <a:ext cx="3057525" cy="190500"/>
          </a:xfrm>
          <a:prstGeom prst="rect">
            <a:avLst/>
          </a:prstGeom>
        </p:spPr>
        <p:txBody>
          <a:bodyPr lIns="0" tIns="0" rIns="0" bIns="0"/>
          <a:lstStyle/>
          <a:p>
            <a:r>
              <a:rPr sz="1200" b="1">
                <a:solidFill>
                  <a:srgbClr val="003A61"/>
                </a:solidFill>
                <a:latin typeface="Arial"/>
                <a:ea typeface="Arial"/>
                <a:cs typeface="Arial"/>
              </a:rPr>
              <a:t>Check trial counts</a:t>
            </a:r>
          </a:p>
        </p:txBody>
      </p:sp>
      <p:sp>
        <p:nvSpPr>
          <p:cNvPr id="13" name="Rectangle 12">
            <a:extLst>
              <a:ext uri="{FF2B5EF4-FFF2-40B4-BE49-F238E27FC236}">
                <a16:creationId xmlns:a16="http://schemas.microsoft.com/office/drawing/2014/main" id="{9E363EB1-B233-42E5-A8DE-32F7B7B5FF3D}"/>
              </a:ext>
            </a:extLst>
          </p:cNvPr>
          <p:cNvSpPr>
            <a:spLocks noGrp="1"/>
          </p:cNvSpPr>
          <p:nvPr/>
        </p:nvSpPr>
        <p:spPr>
          <a:xfrm>
            <a:off x="1048096" y="3130781"/>
            <a:ext cx="3057525" cy="123825"/>
          </a:xfrm>
          <a:prstGeom prst="rect">
            <a:avLst/>
          </a:prstGeom>
        </p:spPr>
        <p:txBody>
          <a:bodyPr lIns="0" tIns="0" rIns="0" bIns="0"/>
          <a:lstStyle/>
          <a:p>
            <a:r>
              <a:rPr sz="1200">
                <a:solidFill>
                  <a:srgbClr val="263845"/>
                </a:solidFill>
                <a:latin typeface="Arial"/>
                <a:ea typeface="Arial"/>
                <a:cs typeface="Arial"/>
              </a:rPr>
              <a:t>4 practice + 120 main trials per participant</a:t>
            </a:r>
          </a:p>
        </p:txBody>
      </p:sp>
      <p:sp>
        <p:nvSpPr>
          <p:cNvPr id="14" name="Rectangle 13">
            <a:extLst>
              <a:ext uri="{FF2B5EF4-FFF2-40B4-BE49-F238E27FC236}">
                <a16:creationId xmlns:a16="http://schemas.microsoft.com/office/drawing/2014/main" id="{A858F43F-64A8-44F6-92D6-51AA4C635136}"/>
              </a:ext>
            </a:extLst>
          </p:cNvPr>
          <p:cNvSpPr>
            <a:spLocks noGrp="1"/>
          </p:cNvSpPr>
          <p:nvPr/>
        </p:nvSpPr>
        <p:spPr>
          <a:xfrm>
            <a:off x="933796" y="3492731"/>
            <a:ext cx="3286125" cy="523875"/>
          </a:xfrm>
          <a:prstGeom prst="rect">
            <a:avLst/>
          </a:prstGeom>
          <a:solidFill>
            <a:srgbClr val="F3F6F8"/>
          </a:solidFill>
        </p:spPr>
        <p:txBody>
          <a:bodyPr lIns="0" tIns="0" rIns="0" bIns="0"/>
          <a:lstStyle/>
          <a:p>
            <a:r>
              <a:rPr sz="1200">
                <a:solidFill>
                  <a:srgbClr val="F3F6F8"/>
                </a:solidFill>
                <a:latin typeface="Arial"/>
                <a:ea typeface="Arial"/>
                <a:cs typeface="Arial"/>
              </a:rPr>
              <a:t>.</a:t>
            </a:r>
          </a:p>
        </p:txBody>
      </p:sp>
      <p:sp>
        <p:nvSpPr>
          <p:cNvPr id="15" name="Rectangle 14">
            <a:extLst>
              <a:ext uri="{FF2B5EF4-FFF2-40B4-BE49-F238E27FC236}">
                <a16:creationId xmlns:a16="http://schemas.microsoft.com/office/drawing/2014/main" id="{2BE42819-A248-4CEB-B996-3E865948184D}"/>
              </a:ext>
            </a:extLst>
          </p:cNvPr>
          <p:cNvSpPr>
            <a:spLocks noGrp="1"/>
          </p:cNvSpPr>
          <p:nvPr/>
        </p:nvSpPr>
        <p:spPr>
          <a:xfrm>
            <a:off x="1048096" y="3587981"/>
            <a:ext cx="3057525" cy="190500"/>
          </a:xfrm>
          <a:prstGeom prst="rect">
            <a:avLst/>
          </a:prstGeom>
        </p:spPr>
        <p:txBody>
          <a:bodyPr lIns="0" tIns="0" rIns="0" bIns="0"/>
          <a:lstStyle/>
          <a:p>
            <a:r>
              <a:rPr sz="1200" b="1">
                <a:solidFill>
                  <a:srgbClr val="003A61"/>
                </a:solidFill>
                <a:latin typeface="Arial"/>
                <a:ea typeface="Arial"/>
                <a:cs typeface="Arial"/>
              </a:rPr>
              <a:t>Check response mapping</a:t>
            </a:r>
          </a:p>
        </p:txBody>
      </p:sp>
      <p:sp>
        <p:nvSpPr>
          <p:cNvPr id="16" name="Rectangle 15">
            <a:extLst>
              <a:ext uri="{FF2B5EF4-FFF2-40B4-BE49-F238E27FC236}">
                <a16:creationId xmlns:a16="http://schemas.microsoft.com/office/drawing/2014/main" id="{B5F5065E-2F60-49B5-914D-80EC548F0CC3}"/>
              </a:ext>
            </a:extLst>
          </p:cNvPr>
          <p:cNvSpPr>
            <a:spLocks noGrp="1"/>
          </p:cNvSpPr>
          <p:nvPr/>
        </p:nvSpPr>
        <p:spPr>
          <a:xfrm>
            <a:off x="1048096" y="3816581"/>
            <a:ext cx="3057525" cy="123825"/>
          </a:xfrm>
          <a:prstGeom prst="rect">
            <a:avLst/>
          </a:prstGeom>
        </p:spPr>
        <p:txBody>
          <a:bodyPr lIns="0" tIns="0" rIns="0" bIns="0"/>
          <a:lstStyle/>
          <a:p>
            <a:r>
              <a:rPr sz="1200">
                <a:solidFill>
                  <a:srgbClr val="263845"/>
                </a:solidFill>
                <a:latin typeface="Arial"/>
                <a:ea typeface="Arial"/>
                <a:cs typeface="Arial"/>
              </a:rPr>
              <a:t>F/J labels and accuracy recomputed</a:t>
            </a:r>
          </a:p>
        </p:txBody>
      </p:sp>
      <p:sp>
        <p:nvSpPr>
          <p:cNvPr id="17" name="Rectangle 16">
            <a:extLst>
              <a:ext uri="{FF2B5EF4-FFF2-40B4-BE49-F238E27FC236}">
                <a16:creationId xmlns:a16="http://schemas.microsoft.com/office/drawing/2014/main" id="{456FD8F9-BB12-4CB3-9650-DDF7B88ACF42}"/>
              </a:ext>
            </a:extLst>
          </p:cNvPr>
          <p:cNvSpPr>
            <a:spLocks noGrp="1"/>
          </p:cNvSpPr>
          <p:nvPr/>
        </p:nvSpPr>
        <p:spPr>
          <a:xfrm>
            <a:off x="4791421" y="1435331"/>
            <a:ext cx="3286125" cy="523875"/>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18" name="Rectangle 17">
            <a:extLst>
              <a:ext uri="{FF2B5EF4-FFF2-40B4-BE49-F238E27FC236}">
                <a16:creationId xmlns:a16="http://schemas.microsoft.com/office/drawing/2014/main" id="{593ED46B-1808-494B-9B16-6741509668DA}"/>
              </a:ext>
            </a:extLst>
          </p:cNvPr>
          <p:cNvSpPr>
            <a:spLocks noGrp="1"/>
          </p:cNvSpPr>
          <p:nvPr/>
        </p:nvSpPr>
        <p:spPr>
          <a:xfrm>
            <a:off x="4905721" y="1530581"/>
            <a:ext cx="3057525" cy="190500"/>
          </a:xfrm>
          <a:prstGeom prst="rect">
            <a:avLst/>
          </a:prstGeom>
        </p:spPr>
        <p:txBody>
          <a:bodyPr lIns="0" tIns="0" rIns="0" bIns="0"/>
          <a:lstStyle/>
          <a:p>
            <a:r>
              <a:rPr sz="1200" b="1">
                <a:solidFill>
                  <a:srgbClr val="003A61"/>
                </a:solidFill>
                <a:latin typeface="Arial"/>
                <a:ea typeface="Arial"/>
                <a:cs typeface="Arial"/>
              </a:rPr>
              <a:t>Convert RT</a:t>
            </a:r>
          </a:p>
        </p:txBody>
      </p:sp>
      <p:sp>
        <p:nvSpPr>
          <p:cNvPr id="19" name="Rectangle 18">
            <a:extLst>
              <a:ext uri="{FF2B5EF4-FFF2-40B4-BE49-F238E27FC236}">
                <a16:creationId xmlns:a16="http://schemas.microsoft.com/office/drawing/2014/main" id="{5B22B36A-BA4F-45D9-BA9A-96D08A8D6454}"/>
              </a:ext>
            </a:extLst>
          </p:cNvPr>
          <p:cNvSpPr>
            <a:spLocks noGrp="1"/>
          </p:cNvSpPr>
          <p:nvPr/>
        </p:nvSpPr>
        <p:spPr>
          <a:xfrm>
            <a:off x="4905721" y="1759181"/>
            <a:ext cx="3057525" cy="123825"/>
          </a:xfrm>
          <a:prstGeom prst="rect">
            <a:avLst/>
          </a:prstGeom>
        </p:spPr>
        <p:txBody>
          <a:bodyPr lIns="0" tIns="0" rIns="0" bIns="0"/>
          <a:lstStyle/>
          <a:p>
            <a:r>
              <a:rPr sz="1200">
                <a:solidFill>
                  <a:srgbClr val="263845"/>
                </a:solidFill>
                <a:latin typeface="Arial"/>
                <a:ea typeface="Arial"/>
                <a:cs typeface="Arial"/>
              </a:rPr>
              <a:t>numeric RT, log_rt, missing/timeout flags</a:t>
            </a:r>
          </a:p>
        </p:txBody>
      </p:sp>
      <p:sp>
        <p:nvSpPr>
          <p:cNvPr id="20" name="Rectangle 19">
            <a:extLst>
              <a:ext uri="{FF2B5EF4-FFF2-40B4-BE49-F238E27FC236}">
                <a16:creationId xmlns:a16="http://schemas.microsoft.com/office/drawing/2014/main" id="{0A783CFE-E924-4157-B66E-DC5DEB1B1316}"/>
              </a:ext>
            </a:extLst>
          </p:cNvPr>
          <p:cNvSpPr>
            <a:spLocks noGrp="1"/>
          </p:cNvSpPr>
          <p:nvPr/>
        </p:nvSpPr>
        <p:spPr>
          <a:xfrm>
            <a:off x="4791422" y="2121131"/>
            <a:ext cx="3217892" cy="685800"/>
          </a:xfrm>
          <a:prstGeom prst="rect">
            <a:avLst/>
          </a:prstGeom>
          <a:solidFill>
            <a:srgbClr val="F3F6F8"/>
          </a:solidFill>
        </p:spPr>
        <p:txBody>
          <a:bodyPr lIns="0" tIns="0" rIns="0" bIns="0"/>
          <a:lstStyle/>
          <a:p>
            <a:r>
              <a:rPr sz="1200">
                <a:solidFill>
                  <a:srgbClr val="F3F6F8"/>
                </a:solidFill>
                <a:latin typeface="Arial"/>
                <a:ea typeface="Arial"/>
                <a:cs typeface="Arial"/>
              </a:rPr>
              <a:t>.</a:t>
            </a:r>
          </a:p>
        </p:txBody>
      </p:sp>
      <p:sp>
        <p:nvSpPr>
          <p:cNvPr id="21" name="Rectangle 20">
            <a:extLst>
              <a:ext uri="{FF2B5EF4-FFF2-40B4-BE49-F238E27FC236}">
                <a16:creationId xmlns:a16="http://schemas.microsoft.com/office/drawing/2014/main" id="{96FBF1D8-39CE-48CC-A364-0D92A8A1BF46}"/>
              </a:ext>
            </a:extLst>
          </p:cNvPr>
          <p:cNvSpPr>
            <a:spLocks noGrp="1"/>
          </p:cNvSpPr>
          <p:nvPr/>
        </p:nvSpPr>
        <p:spPr>
          <a:xfrm>
            <a:off x="4905721" y="2216381"/>
            <a:ext cx="3057525" cy="190500"/>
          </a:xfrm>
          <a:prstGeom prst="rect">
            <a:avLst/>
          </a:prstGeom>
        </p:spPr>
        <p:txBody>
          <a:bodyPr lIns="0" tIns="0" rIns="0" bIns="0"/>
          <a:lstStyle/>
          <a:p>
            <a:r>
              <a:rPr sz="1200" b="1">
                <a:solidFill>
                  <a:srgbClr val="003A61"/>
                </a:solidFill>
                <a:latin typeface="Arial"/>
                <a:ea typeface="Arial"/>
                <a:cs typeface="Arial"/>
              </a:rPr>
              <a:t>Validate stimuli</a:t>
            </a:r>
          </a:p>
        </p:txBody>
      </p:sp>
      <p:sp>
        <p:nvSpPr>
          <p:cNvPr id="22" name="Rectangle 21">
            <a:extLst>
              <a:ext uri="{FF2B5EF4-FFF2-40B4-BE49-F238E27FC236}">
                <a16:creationId xmlns:a16="http://schemas.microsoft.com/office/drawing/2014/main" id="{9FEF6213-D39D-47AA-B934-DD9718C2AA5F}"/>
              </a:ext>
            </a:extLst>
          </p:cNvPr>
          <p:cNvSpPr>
            <a:spLocks noGrp="1"/>
          </p:cNvSpPr>
          <p:nvPr/>
        </p:nvSpPr>
        <p:spPr>
          <a:xfrm>
            <a:off x="4905721" y="2444981"/>
            <a:ext cx="3057525" cy="123825"/>
          </a:xfrm>
          <a:prstGeom prst="rect">
            <a:avLst/>
          </a:prstGeom>
        </p:spPr>
        <p:txBody>
          <a:bodyPr lIns="0" tIns="0" rIns="0" bIns="0"/>
          <a:lstStyle/>
          <a:p>
            <a:r>
              <a:rPr sz="1200" dirty="0" err="1">
                <a:solidFill>
                  <a:srgbClr val="263845"/>
                </a:solidFill>
                <a:latin typeface="Arial"/>
                <a:ea typeface="Arial"/>
                <a:cs typeface="Arial"/>
              </a:rPr>
              <a:t>trial_id</a:t>
            </a:r>
            <a:r>
              <a:rPr sz="1200" dirty="0">
                <a:solidFill>
                  <a:srgbClr val="263845"/>
                </a:solidFill>
                <a:latin typeface="Arial"/>
                <a:ea typeface="Arial"/>
                <a:cs typeface="Arial"/>
              </a:rPr>
              <a:t> and stimulus list matched against final design</a:t>
            </a:r>
          </a:p>
        </p:txBody>
      </p:sp>
      <p:sp>
        <p:nvSpPr>
          <p:cNvPr id="23" name="Rectangle 22">
            <a:extLst>
              <a:ext uri="{FF2B5EF4-FFF2-40B4-BE49-F238E27FC236}">
                <a16:creationId xmlns:a16="http://schemas.microsoft.com/office/drawing/2014/main" id="{927E528C-F86F-48AC-AD87-DA2E2724217C}"/>
              </a:ext>
            </a:extLst>
          </p:cNvPr>
          <p:cNvSpPr>
            <a:spLocks noGrp="1"/>
          </p:cNvSpPr>
          <p:nvPr/>
        </p:nvSpPr>
        <p:spPr>
          <a:xfrm>
            <a:off x="4791420" y="2887893"/>
            <a:ext cx="3286125" cy="685800"/>
          </a:xfrm>
          <a:prstGeom prst="rect">
            <a:avLst/>
          </a:prstGeom>
          <a:solidFill>
            <a:srgbClr val="EEF4F8"/>
          </a:solidFill>
        </p:spPr>
        <p:txBody>
          <a:bodyPr lIns="0" tIns="0" rIns="0" bIns="0"/>
          <a:lstStyle/>
          <a:p>
            <a:r>
              <a:rPr sz="1200">
                <a:solidFill>
                  <a:srgbClr val="EEF4F8"/>
                </a:solidFill>
                <a:latin typeface="Arial"/>
                <a:ea typeface="Arial"/>
                <a:cs typeface="Arial"/>
              </a:rPr>
              <a:t>.</a:t>
            </a:r>
          </a:p>
        </p:txBody>
      </p:sp>
      <p:sp>
        <p:nvSpPr>
          <p:cNvPr id="24" name="Rectangle 23">
            <a:extLst>
              <a:ext uri="{FF2B5EF4-FFF2-40B4-BE49-F238E27FC236}">
                <a16:creationId xmlns:a16="http://schemas.microsoft.com/office/drawing/2014/main" id="{328A5F4E-DE67-46FB-94EC-5B3E93BD399B}"/>
              </a:ext>
            </a:extLst>
          </p:cNvPr>
          <p:cNvSpPr>
            <a:spLocks noGrp="1"/>
          </p:cNvSpPr>
          <p:nvPr/>
        </p:nvSpPr>
        <p:spPr>
          <a:xfrm>
            <a:off x="4905720" y="2983143"/>
            <a:ext cx="3057525" cy="190500"/>
          </a:xfrm>
          <a:prstGeom prst="rect">
            <a:avLst/>
          </a:prstGeom>
        </p:spPr>
        <p:txBody>
          <a:bodyPr lIns="0" tIns="0" rIns="0" bIns="0"/>
          <a:lstStyle/>
          <a:p>
            <a:r>
              <a:rPr sz="1200" b="1">
                <a:solidFill>
                  <a:srgbClr val="003A61"/>
                </a:solidFill>
                <a:latin typeface="Arial"/>
                <a:ea typeface="Arial"/>
                <a:cs typeface="Arial"/>
              </a:rPr>
              <a:t>Create outputs</a:t>
            </a:r>
          </a:p>
        </p:txBody>
      </p:sp>
      <p:sp>
        <p:nvSpPr>
          <p:cNvPr id="25" name="Rectangle 24">
            <a:extLst>
              <a:ext uri="{FF2B5EF4-FFF2-40B4-BE49-F238E27FC236}">
                <a16:creationId xmlns:a16="http://schemas.microsoft.com/office/drawing/2014/main" id="{3027569A-A878-4D21-91CD-7701CDF99F8E}"/>
              </a:ext>
            </a:extLst>
          </p:cNvPr>
          <p:cNvSpPr>
            <a:spLocks noGrp="1"/>
          </p:cNvSpPr>
          <p:nvPr/>
        </p:nvSpPr>
        <p:spPr>
          <a:xfrm>
            <a:off x="4905720" y="3211743"/>
            <a:ext cx="3057525" cy="123825"/>
          </a:xfrm>
          <a:prstGeom prst="rect">
            <a:avLst/>
          </a:prstGeom>
        </p:spPr>
        <p:txBody>
          <a:bodyPr lIns="0" tIns="0" rIns="0" bIns="0"/>
          <a:lstStyle/>
          <a:p>
            <a:r>
              <a:rPr sz="1200" dirty="0">
                <a:solidFill>
                  <a:srgbClr val="263845"/>
                </a:solidFill>
                <a:latin typeface="Arial"/>
                <a:ea typeface="Arial"/>
                <a:cs typeface="Arial"/>
              </a:rPr>
              <a:t>cleaned datasets + participant/item/design QC</a:t>
            </a:r>
          </a:p>
        </p:txBody>
      </p:sp>
      <p:sp>
        <p:nvSpPr>
          <p:cNvPr id="26" name="Rectangle 25">
            <a:extLst>
              <a:ext uri="{FF2B5EF4-FFF2-40B4-BE49-F238E27FC236}">
                <a16:creationId xmlns:a16="http://schemas.microsoft.com/office/drawing/2014/main" id="{46A1FB37-AA22-4745-BBB2-7BF1CB017EBF}"/>
              </a:ext>
            </a:extLst>
          </p:cNvPr>
          <p:cNvSpPr>
            <a:spLocks noGrp="1"/>
          </p:cNvSpPr>
          <p:nvPr/>
        </p:nvSpPr>
        <p:spPr>
          <a:xfrm>
            <a:off x="4791420" y="3654656"/>
            <a:ext cx="3286125" cy="523875"/>
          </a:xfrm>
          <a:prstGeom prst="rect">
            <a:avLst/>
          </a:prstGeom>
          <a:solidFill>
            <a:srgbClr val="F3F6F8"/>
          </a:solidFill>
        </p:spPr>
        <p:txBody>
          <a:bodyPr lIns="0" tIns="0" rIns="0" bIns="0"/>
          <a:lstStyle/>
          <a:p>
            <a:r>
              <a:rPr sz="1200">
                <a:solidFill>
                  <a:srgbClr val="F3F6F8"/>
                </a:solidFill>
                <a:latin typeface="Arial"/>
                <a:ea typeface="Arial"/>
                <a:cs typeface="Arial"/>
              </a:rPr>
              <a:t>.</a:t>
            </a:r>
          </a:p>
        </p:txBody>
      </p:sp>
      <p:sp>
        <p:nvSpPr>
          <p:cNvPr id="27" name="Rectangle 26">
            <a:extLst>
              <a:ext uri="{FF2B5EF4-FFF2-40B4-BE49-F238E27FC236}">
                <a16:creationId xmlns:a16="http://schemas.microsoft.com/office/drawing/2014/main" id="{F33F77EB-09F2-446B-9162-56D47331DB91}"/>
              </a:ext>
            </a:extLst>
          </p:cNvPr>
          <p:cNvSpPr>
            <a:spLocks noGrp="1"/>
          </p:cNvSpPr>
          <p:nvPr/>
        </p:nvSpPr>
        <p:spPr>
          <a:xfrm>
            <a:off x="4905720" y="3749906"/>
            <a:ext cx="3057525" cy="190500"/>
          </a:xfrm>
          <a:prstGeom prst="rect">
            <a:avLst/>
          </a:prstGeom>
        </p:spPr>
        <p:txBody>
          <a:bodyPr lIns="0" tIns="0" rIns="0" bIns="0"/>
          <a:lstStyle/>
          <a:p>
            <a:r>
              <a:rPr sz="1200" b="1">
                <a:solidFill>
                  <a:srgbClr val="003A61"/>
                </a:solidFill>
                <a:latin typeface="Arial"/>
                <a:ea typeface="Arial"/>
                <a:cs typeface="Arial"/>
              </a:rPr>
              <a:t>Preserve raw files</a:t>
            </a:r>
          </a:p>
        </p:txBody>
      </p:sp>
      <p:sp>
        <p:nvSpPr>
          <p:cNvPr id="28" name="Rectangle 27">
            <a:extLst>
              <a:ext uri="{FF2B5EF4-FFF2-40B4-BE49-F238E27FC236}">
                <a16:creationId xmlns:a16="http://schemas.microsoft.com/office/drawing/2014/main" id="{2BFE5649-752F-458C-88C7-DE7FC0ED3078}"/>
              </a:ext>
            </a:extLst>
          </p:cNvPr>
          <p:cNvSpPr>
            <a:spLocks noGrp="1"/>
          </p:cNvSpPr>
          <p:nvPr/>
        </p:nvSpPr>
        <p:spPr>
          <a:xfrm>
            <a:off x="4905720" y="3978506"/>
            <a:ext cx="3057525" cy="123825"/>
          </a:xfrm>
          <a:prstGeom prst="rect">
            <a:avLst/>
          </a:prstGeom>
        </p:spPr>
        <p:txBody>
          <a:bodyPr lIns="0" tIns="0" rIns="0" bIns="0"/>
          <a:lstStyle/>
          <a:p>
            <a:r>
              <a:rPr sz="1200">
                <a:solidFill>
                  <a:srgbClr val="263845"/>
                </a:solidFill>
                <a:latin typeface="Arial"/>
                <a:ea typeface="Arial"/>
                <a:cs typeface="Arial"/>
              </a:rPr>
              <a:t>raw CSVs are read, not modified</a:t>
            </a:r>
          </a:p>
        </p:txBody>
      </p:sp>
    </p:spTree>
    <p:extLst>
      <p:ext uri="{BB962C8B-B14F-4D97-AF65-F5344CB8AC3E}">
        <p14:creationId xmlns:p14="http://schemas.microsoft.com/office/powerpoint/2010/main" val="18262340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D0AC8C01-E90B-4F85-A2F5-4D4AE2591A5C}"/>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BB3FBFCE-B49D-413B-ADC1-3E72EAA9F6E8}"/>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15 | QC STATUS</a:t>
            </a:r>
          </a:p>
        </p:txBody>
      </p:sp>
      <p:sp>
        <p:nvSpPr>
          <p:cNvPr id="3" name="Rectangle 2">
            <a:extLst>
              <a:ext uri="{FF2B5EF4-FFF2-40B4-BE49-F238E27FC236}">
                <a16:creationId xmlns:a16="http://schemas.microsoft.com/office/drawing/2014/main" id="{6D0F4772-1D65-4A92-B603-A9A77ADBCE29}"/>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current dataset passes the main participant, trial, and stimulus-validation checks.</a:t>
            </a:r>
          </a:p>
        </p:txBody>
      </p:sp>
      <p:sp>
        <p:nvSpPr>
          <p:cNvPr id="4" name="Rectangle 3">
            <a:extLst>
              <a:ext uri="{FF2B5EF4-FFF2-40B4-BE49-F238E27FC236}">
                <a16:creationId xmlns:a16="http://schemas.microsoft.com/office/drawing/2014/main" id="{B88D68ED-E4FE-48ED-962C-B649D8879AFF}"/>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021D8C55-8FC2-4042-B89A-E7FA01312741}"/>
              </a:ext>
            </a:extLst>
          </p:cNvPr>
          <p:cNvSpPr>
            <a:spLocks noGrp="1"/>
          </p:cNvSpPr>
          <p:nvPr/>
        </p:nvSpPr>
        <p:spPr>
          <a:xfrm>
            <a:off x="476250" y="1609552"/>
            <a:ext cx="1381125" cy="685800"/>
          </a:xfrm>
          <a:prstGeom prst="rect">
            <a:avLst/>
          </a:prstGeom>
          <a:solidFill>
            <a:srgbClr val="EEF4F8"/>
          </a:solidFill>
          <a:ln w="7620">
            <a:solidFill>
              <a:srgbClr val="003A61"/>
            </a:solidFill>
          </a:ln>
        </p:spPr>
        <p:txBody>
          <a:bodyPr lIns="0" tIns="0" rIns="0" bIns="0"/>
          <a:lstStyle/>
          <a:p>
            <a:r>
              <a:rPr sz="100">
                <a:solidFill>
                  <a:srgbClr val="EEF4F8"/>
                </a:solidFill>
                <a:latin typeface="Arial"/>
                <a:ea typeface="Arial"/>
                <a:cs typeface="Arial"/>
              </a:rPr>
              <a:t>.</a:t>
            </a:r>
          </a:p>
        </p:txBody>
      </p:sp>
      <p:sp>
        <p:nvSpPr>
          <p:cNvPr id="6" name="Rectangle 5">
            <a:extLst>
              <a:ext uri="{FF2B5EF4-FFF2-40B4-BE49-F238E27FC236}">
                <a16:creationId xmlns:a16="http://schemas.microsoft.com/office/drawing/2014/main" id="{1018D9F5-20D6-4D45-AA1E-4C9330E87CCA}"/>
              </a:ext>
            </a:extLst>
          </p:cNvPr>
          <p:cNvSpPr>
            <a:spLocks noGrp="1"/>
          </p:cNvSpPr>
          <p:nvPr/>
        </p:nvSpPr>
        <p:spPr>
          <a:xfrm>
            <a:off x="571500" y="1704802"/>
            <a:ext cx="1190625"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48</a:t>
            </a:r>
          </a:p>
        </p:txBody>
      </p:sp>
      <p:sp>
        <p:nvSpPr>
          <p:cNvPr id="7" name="Rectangle 6">
            <a:extLst>
              <a:ext uri="{FF2B5EF4-FFF2-40B4-BE49-F238E27FC236}">
                <a16:creationId xmlns:a16="http://schemas.microsoft.com/office/drawing/2014/main" id="{A63C377A-B10C-4CD2-B3EF-8B5B68EE193A}"/>
              </a:ext>
            </a:extLst>
          </p:cNvPr>
          <p:cNvSpPr>
            <a:spLocks noGrp="1"/>
          </p:cNvSpPr>
          <p:nvPr/>
        </p:nvSpPr>
        <p:spPr>
          <a:xfrm>
            <a:off x="571500" y="1971502"/>
            <a:ext cx="1190625"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files read</a:t>
            </a:r>
          </a:p>
        </p:txBody>
      </p:sp>
      <p:sp>
        <p:nvSpPr>
          <p:cNvPr id="8" name="Rectangle 7">
            <a:extLst>
              <a:ext uri="{FF2B5EF4-FFF2-40B4-BE49-F238E27FC236}">
                <a16:creationId xmlns:a16="http://schemas.microsoft.com/office/drawing/2014/main" id="{0DF1D2FE-FCF3-4BB9-89BB-091DE6019285}"/>
              </a:ext>
            </a:extLst>
          </p:cNvPr>
          <p:cNvSpPr>
            <a:spLocks noGrp="1"/>
          </p:cNvSpPr>
          <p:nvPr/>
        </p:nvSpPr>
        <p:spPr>
          <a:xfrm>
            <a:off x="571500" y="2142952"/>
            <a:ext cx="1190625"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participant CSVs</a:t>
            </a:r>
          </a:p>
        </p:txBody>
      </p:sp>
      <p:sp>
        <p:nvSpPr>
          <p:cNvPr id="9" name="Rectangle 8">
            <a:extLst>
              <a:ext uri="{FF2B5EF4-FFF2-40B4-BE49-F238E27FC236}">
                <a16:creationId xmlns:a16="http://schemas.microsoft.com/office/drawing/2014/main" id="{3F4BA538-A0D2-4D7F-8C71-187FDFDF9073}"/>
              </a:ext>
            </a:extLst>
          </p:cNvPr>
          <p:cNvSpPr>
            <a:spLocks noGrp="1"/>
          </p:cNvSpPr>
          <p:nvPr/>
        </p:nvSpPr>
        <p:spPr>
          <a:xfrm>
            <a:off x="2143125" y="1609552"/>
            <a:ext cx="1381125" cy="685800"/>
          </a:xfrm>
          <a:prstGeom prst="rect">
            <a:avLst/>
          </a:prstGeom>
          <a:solidFill>
            <a:srgbClr val="F3F6F8"/>
          </a:solidFill>
          <a:ln w="7620">
            <a:solidFill>
              <a:srgbClr val="003A61"/>
            </a:solidFill>
          </a:ln>
        </p:spPr>
        <p:txBody>
          <a:bodyPr lIns="0" tIns="0" rIns="0" bIns="0"/>
          <a:lstStyle/>
          <a:p>
            <a:r>
              <a:rPr sz="100">
                <a:solidFill>
                  <a:srgbClr val="F3F6F8"/>
                </a:solidFill>
                <a:latin typeface="Arial"/>
                <a:ea typeface="Arial"/>
                <a:cs typeface="Arial"/>
              </a:rPr>
              <a:t>.</a:t>
            </a:r>
          </a:p>
        </p:txBody>
      </p:sp>
      <p:sp>
        <p:nvSpPr>
          <p:cNvPr id="10" name="Rectangle 9">
            <a:extLst>
              <a:ext uri="{FF2B5EF4-FFF2-40B4-BE49-F238E27FC236}">
                <a16:creationId xmlns:a16="http://schemas.microsoft.com/office/drawing/2014/main" id="{66A84F37-3D68-4924-8E56-0C0AB402E2AD}"/>
              </a:ext>
            </a:extLst>
          </p:cNvPr>
          <p:cNvSpPr>
            <a:spLocks noGrp="1"/>
          </p:cNvSpPr>
          <p:nvPr/>
        </p:nvSpPr>
        <p:spPr>
          <a:xfrm>
            <a:off x="2238375" y="1704802"/>
            <a:ext cx="1190625"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48</a:t>
            </a:r>
          </a:p>
        </p:txBody>
      </p:sp>
      <p:sp>
        <p:nvSpPr>
          <p:cNvPr id="11" name="Rectangle 10">
            <a:extLst>
              <a:ext uri="{FF2B5EF4-FFF2-40B4-BE49-F238E27FC236}">
                <a16:creationId xmlns:a16="http://schemas.microsoft.com/office/drawing/2014/main" id="{FB4FF3AC-17F0-463D-815D-E678DA460DC7}"/>
              </a:ext>
            </a:extLst>
          </p:cNvPr>
          <p:cNvSpPr>
            <a:spLocks noGrp="1"/>
          </p:cNvSpPr>
          <p:nvPr/>
        </p:nvSpPr>
        <p:spPr>
          <a:xfrm>
            <a:off x="2238375" y="1971502"/>
            <a:ext cx="1190625"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participants</a:t>
            </a:r>
          </a:p>
        </p:txBody>
      </p:sp>
      <p:sp>
        <p:nvSpPr>
          <p:cNvPr id="12" name="Rectangle 11">
            <a:extLst>
              <a:ext uri="{FF2B5EF4-FFF2-40B4-BE49-F238E27FC236}">
                <a16:creationId xmlns:a16="http://schemas.microsoft.com/office/drawing/2014/main" id="{B0C6E91D-C8B2-412D-B17A-551B3ECCCF05}"/>
              </a:ext>
            </a:extLst>
          </p:cNvPr>
          <p:cNvSpPr>
            <a:spLocks noGrp="1"/>
          </p:cNvSpPr>
          <p:nvPr/>
        </p:nvSpPr>
        <p:spPr>
          <a:xfrm>
            <a:off x="2238375" y="2142952"/>
            <a:ext cx="1190625"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unique IDs</a:t>
            </a:r>
          </a:p>
        </p:txBody>
      </p:sp>
      <p:sp>
        <p:nvSpPr>
          <p:cNvPr id="13" name="Rectangle 12">
            <a:extLst>
              <a:ext uri="{FF2B5EF4-FFF2-40B4-BE49-F238E27FC236}">
                <a16:creationId xmlns:a16="http://schemas.microsoft.com/office/drawing/2014/main" id="{A8916003-EFC7-4BD5-A929-FBD11D3927A5}"/>
              </a:ext>
            </a:extLst>
          </p:cNvPr>
          <p:cNvSpPr>
            <a:spLocks noGrp="1"/>
          </p:cNvSpPr>
          <p:nvPr/>
        </p:nvSpPr>
        <p:spPr>
          <a:xfrm>
            <a:off x="3810000" y="1609552"/>
            <a:ext cx="1381125" cy="685800"/>
          </a:xfrm>
          <a:prstGeom prst="rect">
            <a:avLst/>
          </a:prstGeom>
          <a:solidFill>
            <a:srgbClr val="EEF4F8"/>
          </a:solidFill>
          <a:ln w="7620">
            <a:solidFill>
              <a:srgbClr val="003A61"/>
            </a:solidFill>
          </a:ln>
        </p:spPr>
        <p:txBody>
          <a:bodyPr lIns="0" tIns="0" rIns="0" bIns="0"/>
          <a:lstStyle/>
          <a:p>
            <a:r>
              <a:rPr sz="100">
                <a:solidFill>
                  <a:srgbClr val="EEF4F8"/>
                </a:solidFill>
                <a:latin typeface="Arial"/>
                <a:ea typeface="Arial"/>
                <a:cs typeface="Arial"/>
              </a:rPr>
              <a:t>.</a:t>
            </a:r>
          </a:p>
        </p:txBody>
      </p:sp>
      <p:sp>
        <p:nvSpPr>
          <p:cNvPr id="14" name="Rectangle 13">
            <a:extLst>
              <a:ext uri="{FF2B5EF4-FFF2-40B4-BE49-F238E27FC236}">
                <a16:creationId xmlns:a16="http://schemas.microsoft.com/office/drawing/2014/main" id="{86FB864B-6081-49AA-AE14-4FC6000A8E9D}"/>
              </a:ext>
            </a:extLst>
          </p:cNvPr>
          <p:cNvSpPr>
            <a:spLocks noGrp="1"/>
          </p:cNvSpPr>
          <p:nvPr/>
        </p:nvSpPr>
        <p:spPr>
          <a:xfrm>
            <a:off x="3905250" y="1704802"/>
            <a:ext cx="1190625"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0</a:t>
            </a:r>
          </a:p>
        </p:txBody>
      </p:sp>
      <p:sp>
        <p:nvSpPr>
          <p:cNvPr id="15" name="Rectangle 14">
            <a:extLst>
              <a:ext uri="{FF2B5EF4-FFF2-40B4-BE49-F238E27FC236}">
                <a16:creationId xmlns:a16="http://schemas.microsoft.com/office/drawing/2014/main" id="{934B5FA5-6673-46DA-B5D4-4CE7028A436F}"/>
              </a:ext>
            </a:extLst>
          </p:cNvPr>
          <p:cNvSpPr>
            <a:spLocks noGrp="1"/>
          </p:cNvSpPr>
          <p:nvPr/>
        </p:nvSpPr>
        <p:spPr>
          <a:xfrm>
            <a:off x="3905250" y="1971502"/>
            <a:ext cx="1190625"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flagged</a:t>
            </a:r>
          </a:p>
        </p:txBody>
      </p:sp>
      <p:sp>
        <p:nvSpPr>
          <p:cNvPr id="16" name="Rectangle 15">
            <a:extLst>
              <a:ext uri="{FF2B5EF4-FFF2-40B4-BE49-F238E27FC236}">
                <a16:creationId xmlns:a16="http://schemas.microsoft.com/office/drawing/2014/main" id="{CC2C4541-ACE3-4097-8D95-BF1BFDA9FDC7}"/>
              </a:ext>
            </a:extLst>
          </p:cNvPr>
          <p:cNvSpPr>
            <a:spLocks noGrp="1"/>
          </p:cNvSpPr>
          <p:nvPr/>
        </p:nvSpPr>
        <p:spPr>
          <a:xfrm>
            <a:off x="3905250" y="2142952"/>
            <a:ext cx="1190625"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participant QC</a:t>
            </a:r>
          </a:p>
        </p:txBody>
      </p:sp>
      <p:sp>
        <p:nvSpPr>
          <p:cNvPr id="17" name="Rectangle 16">
            <a:extLst>
              <a:ext uri="{FF2B5EF4-FFF2-40B4-BE49-F238E27FC236}">
                <a16:creationId xmlns:a16="http://schemas.microsoft.com/office/drawing/2014/main" id="{24E4BB11-6124-4EDF-941C-B2B58D6DBB14}"/>
              </a:ext>
            </a:extLst>
          </p:cNvPr>
          <p:cNvSpPr>
            <a:spLocks noGrp="1"/>
          </p:cNvSpPr>
          <p:nvPr/>
        </p:nvSpPr>
        <p:spPr>
          <a:xfrm>
            <a:off x="476250" y="2485852"/>
            <a:ext cx="1381125" cy="685800"/>
          </a:xfrm>
          <a:prstGeom prst="rect">
            <a:avLst/>
          </a:prstGeom>
          <a:solidFill>
            <a:srgbClr val="F3F6F8"/>
          </a:solidFill>
          <a:ln w="7620">
            <a:solidFill>
              <a:srgbClr val="003A61"/>
            </a:solidFill>
          </a:ln>
        </p:spPr>
        <p:txBody>
          <a:bodyPr lIns="0" tIns="0" rIns="0" bIns="0"/>
          <a:lstStyle/>
          <a:p>
            <a:r>
              <a:rPr sz="100">
                <a:solidFill>
                  <a:srgbClr val="F3F6F8"/>
                </a:solidFill>
                <a:latin typeface="Arial"/>
                <a:ea typeface="Arial"/>
                <a:cs typeface="Arial"/>
              </a:rPr>
              <a:t>.</a:t>
            </a:r>
          </a:p>
        </p:txBody>
      </p:sp>
      <p:sp>
        <p:nvSpPr>
          <p:cNvPr id="18" name="Rectangle 17">
            <a:extLst>
              <a:ext uri="{FF2B5EF4-FFF2-40B4-BE49-F238E27FC236}">
                <a16:creationId xmlns:a16="http://schemas.microsoft.com/office/drawing/2014/main" id="{AC9CE0F8-ED45-4686-8051-8CE4D2124B2F}"/>
              </a:ext>
            </a:extLst>
          </p:cNvPr>
          <p:cNvSpPr>
            <a:spLocks noGrp="1"/>
          </p:cNvSpPr>
          <p:nvPr/>
        </p:nvSpPr>
        <p:spPr>
          <a:xfrm>
            <a:off x="571500" y="2581102"/>
            <a:ext cx="1190625"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5,760</a:t>
            </a:r>
          </a:p>
        </p:txBody>
      </p:sp>
      <p:sp>
        <p:nvSpPr>
          <p:cNvPr id="19" name="Rectangle 18">
            <a:extLst>
              <a:ext uri="{FF2B5EF4-FFF2-40B4-BE49-F238E27FC236}">
                <a16:creationId xmlns:a16="http://schemas.microsoft.com/office/drawing/2014/main" id="{4EF5E166-1A09-4D14-95A2-AD384DCAA3F0}"/>
              </a:ext>
            </a:extLst>
          </p:cNvPr>
          <p:cNvSpPr>
            <a:spLocks noGrp="1"/>
          </p:cNvSpPr>
          <p:nvPr/>
        </p:nvSpPr>
        <p:spPr>
          <a:xfrm>
            <a:off x="571500" y="2847802"/>
            <a:ext cx="1190625"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main trials</a:t>
            </a:r>
          </a:p>
        </p:txBody>
      </p:sp>
      <p:sp>
        <p:nvSpPr>
          <p:cNvPr id="20" name="Rectangle 19">
            <a:extLst>
              <a:ext uri="{FF2B5EF4-FFF2-40B4-BE49-F238E27FC236}">
                <a16:creationId xmlns:a16="http://schemas.microsoft.com/office/drawing/2014/main" id="{86ABCFFB-97F6-487B-8653-7B9A9C260572}"/>
              </a:ext>
            </a:extLst>
          </p:cNvPr>
          <p:cNvSpPr>
            <a:spLocks noGrp="1"/>
          </p:cNvSpPr>
          <p:nvPr/>
        </p:nvSpPr>
        <p:spPr>
          <a:xfrm>
            <a:off x="571500" y="3019252"/>
            <a:ext cx="1190625"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48 x 120</a:t>
            </a:r>
          </a:p>
        </p:txBody>
      </p:sp>
      <p:sp>
        <p:nvSpPr>
          <p:cNvPr id="21" name="Rectangle 20">
            <a:extLst>
              <a:ext uri="{FF2B5EF4-FFF2-40B4-BE49-F238E27FC236}">
                <a16:creationId xmlns:a16="http://schemas.microsoft.com/office/drawing/2014/main" id="{2BBF4EF2-9DC9-46F6-ABAE-03BC3E947960}"/>
              </a:ext>
            </a:extLst>
          </p:cNvPr>
          <p:cNvSpPr>
            <a:spLocks noGrp="1"/>
          </p:cNvSpPr>
          <p:nvPr/>
        </p:nvSpPr>
        <p:spPr>
          <a:xfrm>
            <a:off x="2143125" y="2485852"/>
            <a:ext cx="1381125" cy="685800"/>
          </a:xfrm>
          <a:prstGeom prst="rect">
            <a:avLst/>
          </a:prstGeom>
          <a:solidFill>
            <a:srgbClr val="EEF4F8"/>
          </a:solidFill>
          <a:ln w="7620">
            <a:solidFill>
              <a:srgbClr val="003A61"/>
            </a:solidFill>
          </a:ln>
        </p:spPr>
        <p:txBody>
          <a:bodyPr lIns="0" tIns="0" rIns="0" bIns="0"/>
          <a:lstStyle/>
          <a:p>
            <a:r>
              <a:rPr sz="100">
                <a:solidFill>
                  <a:srgbClr val="EEF4F8"/>
                </a:solidFill>
                <a:latin typeface="Arial"/>
                <a:ea typeface="Arial"/>
                <a:cs typeface="Arial"/>
              </a:rPr>
              <a:t>.</a:t>
            </a:r>
          </a:p>
        </p:txBody>
      </p:sp>
      <p:sp>
        <p:nvSpPr>
          <p:cNvPr id="22" name="Rectangle 21">
            <a:extLst>
              <a:ext uri="{FF2B5EF4-FFF2-40B4-BE49-F238E27FC236}">
                <a16:creationId xmlns:a16="http://schemas.microsoft.com/office/drawing/2014/main" id="{9403C5DD-2962-42AB-A6F7-0E787A712BEB}"/>
              </a:ext>
            </a:extLst>
          </p:cNvPr>
          <p:cNvSpPr>
            <a:spLocks noGrp="1"/>
          </p:cNvSpPr>
          <p:nvPr/>
        </p:nvSpPr>
        <p:spPr>
          <a:xfrm>
            <a:off x="2238375" y="2581102"/>
            <a:ext cx="1190625"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5,715</a:t>
            </a:r>
          </a:p>
        </p:txBody>
      </p:sp>
      <p:sp>
        <p:nvSpPr>
          <p:cNvPr id="23" name="Rectangle 22">
            <a:extLst>
              <a:ext uri="{FF2B5EF4-FFF2-40B4-BE49-F238E27FC236}">
                <a16:creationId xmlns:a16="http://schemas.microsoft.com/office/drawing/2014/main" id="{A63C926A-94CE-4F8C-BC05-C0165CE72C40}"/>
              </a:ext>
            </a:extLst>
          </p:cNvPr>
          <p:cNvSpPr>
            <a:spLocks noGrp="1"/>
          </p:cNvSpPr>
          <p:nvPr/>
        </p:nvSpPr>
        <p:spPr>
          <a:xfrm>
            <a:off x="2238375" y="2847802"/>
            <a:ext cx="1190625"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valid RTs</a:t>
            </a:r>
          </a:p>
        </p:txBody>
      </p:sp>
      <p:sp>
        <p:nvSpPr>
          <p:cNvPr id="24" name="Rectangle 23">
            <a:extLst>
              <a:ext uri="{FF2B5EF4-FFF2-40B4-BE49-F238E27FC236}">
                <a16:creationId xmlns:a16="http://schemas.microsoft.com/office/drawing/2014/main" id="{37973D5C-CDBF-4DA4-ABD6-5464BD221244}"/>
              </a:ext>
            </a:extLst>
          </p:cNvPr>
          <p:cNvSpPr>
            <a:spLocks noGrp="1"/>
          </p:cNvSpPr>
          <p:nvPr/>
        </p:nvSpPr>
        <p:spPr>
          <a:xfrm>
            <a:off x="2238375" y="3019252"/>
            <a:ext cx="1190625"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main trials</a:t>
            </a:r>
          </a:p>
        </p:txBody>
      </p:sp>
      <p:sp>
        <p:nvSpPr>
          <p:cNvPr id="25" name="Rectangle 24">
            <a:extLst>
              <a:ext uri="{FF2B5EF4-FFF2-40B4-BE49-F238E27FC236}">
                <a16:creationId xmlns:a16="http://schemas.microsoft.com/office/drawing/2014/main" id="{B14818B8-4110-4037-9187-75C90AD50DED}"/>
              </a:ext>
            </a:extLst>
          </p:cNvPr>
          <p:cNvSpPr>
            <a:spLocks noGrp="1"/>
          </p:cNvSpPr>
          <p:nvPr/>
        </p:nvSpPr>
        <p:spPr>
          <a:xfrm>
            <a:off x="3810000" y="2485852"/>
            <a:ext cx="1381125" cy="685800"/>
          </a:xfrm>
          <a:prstGeom prst="rect">
            <a:avLst/>
          </a:prstGeom>
          <a:solidFill>
            <a:srgbClr val="F3F6F8"/>
          </a:solidFill>
          <a:ln w="7620">
            <a:solidFill>
              <a:srgbClr val="003A61"/>
            </a:solidFill>
          </a:ln>
        </p:spPr>
        <p:txBody>
          <a:bodyPr lIns="0" tIns="0" rIns="0" bIns="0"/>
          <a:lstStyle/>
          <a:p>
            <a:r>
              <a:rPr sz="100">
                <a:solidFill>
                  <a:srgbClr val="F3F6F8"/>
                </a:solidFill>
                <a:latin typeface="Arial"/>
                <a:ea typeface="Arial"/>
                <a:cs typeface="Arial"/>
              </a:rPr>
              <a:t>.</a:t>
            </a:r>
          </a:p>
        </p:txBody>
      </p:sp>
      <p:sp>
        <p:nvSpPr>
          <p:cNvPr id="26" name="Rectangle 25">
            <a:extLst>
              <a:ext uri="{FF2B5EF4-FFF2-40B4-BE49-F238E27FC236}">
                <a16:creationId xmlns:a16="http://schemas.microsoft.com/office/drawing/2014/main" id="{449D31CE-81F8-49DF-8A6D-B88FB43BFFE8}"/>
              </a:ext>
            </a:extLst>
          </p:cNvPr>
          <p:cNvSpPr>
            <a:spLocks noGrp="1"/>
          </p:cNvSpPr>
          <p:nvPr/>
        </p:nvSpPr>
        <p:spPr>
          <a:xfrm>
            <a:off x="3905250" y="2581102"/>
            <a:ext cx="1190625"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3,306</a:t>
            </a:r>
          </a:p>
        </p:txBody>
      </p:sp>
      <p:sp>
        <p:nvSpPr>
          <p:cNvPr id="27" name="Rectangle 26">
            <a:extLst>
              <a:ext uri="{FF2B5EF4-FFF2-40B4-BE49-F238E27FC236}">
                <a16:creationId xmlns:a16="http://schemas.microsoft.com/office/drawing/2014/main" id="{683139EF-F0FA-49BF-AB4B-695BEB4022B0}"/>
              </a:ext>
            </a:extLst>
          </p:cNvPr>
          <p:cNvSpPr>
            <a:spLocks noGrp="1"/>
          </p:cNvSpPr>
          <p:nvPr/>
        </p:nvSpPr>
        <p:spPr>
          <a:xfrm>
            <a:off x="3905250" y="2847802"/>
            <a:ext cx="1190625"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RT model rows</a:t>
            </a:r>
          </a:p>
        </p:txBody>
      </p:sp>
      <p:sp>
        <p:nvSpPr>
          <p:cNvPr id="28" name="Rectangle 27">
            <a:extLst>
              <a:ext uri="{FF2B5EF4-FFF2-40B4-BE49-F238E27FC236}">
                <a16:creationId xmlns:a16="http://schemas.microsoft.com/office/drawing/2014/main" id="{C0CB1828-ED68-429F-8F1E-BE2F2C77E462}"/>
              </a:ext>
            </a:extLst>
          </p:cNvPr>
          <p:cNvSpPr>
            <a:spLocks noGrp="1"/>
          </p:cNvSpPr>
          <p:nvPr/>
        </p:nvSpPr>
        <p:spPr>
          <a:xfrm>
            <a:off x="3905250" y="3019252"/>
            <a:ext cx="1190625"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correct real words</a:t>
            </a:r>
          </a:p>
        </p:txBody>
      </p:sp>
      <p:sp>
        <p:nvSpPr>
          <p:cNvPr id="29" name="Rectangle 28">
            <a:extLst>
              <a:ext uri="{FF2B5EF4-FFF2-40B4-BE49-F238E27FC236}">
                <a16:creationId xmlns:a16="http://schemas.microsoft.com/office/drawing/2014/main" id="{B1615559-6E05-4407-B841-E089108527C0}"/>
              </a:ext>
            </a:extLst>
          </p:cNvPr>
          <p:cNvSpPr>
            <a:spLocks noGrp="1"/>
          </p:cNvSpPr>
          <p:nvPr/>
        </p:nvSpPr>
        <p:spPr>
          <a:xfrm>
            <a:off x="5857875" y="1676227"/>
            <a:ext cx="2190750" cy="20002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30" name="Rectangle 29">
            <a:extLst>
              <a:ext uri="{FF2B5EF4-FFF2-40B4-BE49-F238E27FC236}">
                <a16:creationId xmlns:a16="http://schemas.microsoft.com/office/drawing/2014/main" id="{D8DD1D0A-F76F-4164-8EC9-F5F2AF28D171}"/>
              </a:ext>
            </a:extLst>
          </p:cNvPr>
          <p:cNvSpPr>
            <a:spLocks noGrp="1"/>
          </p:cNvSpPr>
          <p:nvPr/>
        </p:nvSpPr>
        <p:spPr>
          <a:xfrm>
            <a:off x="5972175" y="1771477"/>
            <a:ext cx="1962150" cy="190500"/>
          </a:xfrm>
          <a:prstGeom prst="rect">
            <a:avLst/>
          </a:prstGeom>
        </p:spPr>
        <p:txBody>
          <a:bodyPr lIns="0" tIns="0" rIns="0" bIns="0"/>
          <a:lstStyle/>
          <a:p>
            <a:r>
              <a:rPr sz="900" b="1">
                <a:solidFill>
                  <a:srgbClr val="003A61"/>
                </a:solidFill>
                <a:latin typeface="Arial"/>
                <a:ea typeface="Arial"/>
                <a:cs typeface="Arial"/>
              </a:rPr>
              <a:t>Validation passed</a:t>
            </a:r>
          </a:p>
        </p:txBody>
      </p:sp>
      <p:sp>
        <p:nvSpPr>
          <p:cNvPr id="31" name="Rectangle 30">
            <a:extLst>
              <a:ext uri="{FF2B5EF4-FFF2-40B4-BE49-F238E27FC236}">
                <a16:creationId xmlns:a16="http://schemas.microsoft.com/office/drawing/2014/main" id="{912956E8-5E62-4B69-8766-A73DEDC4E4F7}"/>
              </a:ext>
            </a:extLst>
          </p:cNvPr>
          <p:cNvSpPr>
            <a:spLocks noGrp="1"/>
          </p:cNvSpPr>
          <p:nvPr/>
        </p:nvSpPr>
        <p:spPr>
          <a:xfrm>
            <a:off x="5972175" y="2000077"/>
            <a:ext cx="1962150" cy="1600200"/>
          </a:xfrm>
          <a:prstGeom prst="rect">
            <a:avLst/>
          </a:prstGeom>
        </p:spPr>
        <p:txBody>
          <a:bodyPr lIns="0" tIns="0" rIns="0" bIns="0"/>
          <a:lstStyle/>
          <a:p>
            <a:r>
              <a:rPr sz="923">
                <a:solidFill>
                  <a:srgbClr val="263845"/>
                </a:solidFill>
                <a:latin typeface="Arial"/>
                <a:ea typeface="Arial"/>
                <a:cs typeface="Arial"/>
              </a:rPr>
              <a:t>Stimulus file readable</a:t>
            </a:r>
          </a:p>
          <a:p>
            <a:r>
              <a:rPr sz="923">
                <a:solidFill>
                  <a:srgbClr val="263845"/>
                </a:solidFill>
                <a:latin typeface="Arial"/>
                <a:ea typeface="Arial"/>
                <a:cs typeface="Arial"/>
              </a:rPr>
              <a:t>120 unique main trial IDs</a:t>
            </a:r>
          </a:p>
          <a:p>
            <a:r>
              <a:rPr sz="923">
                <a:solidFill>
                  <a:srgbClr val="263845"/>
                </a:solidFill>
                <a:latin typeface="Arial"/>
                <a:ea typeface="Arial"/>
                <a:cs typeface="Arial"/>
              </a:rPr>
              <a:t>72 real words, 48 pseudowords</a:t>
            </a:r>
          </a:p>
          <a:p>
            <a:r>
              <a:rPr sz="923">
                <a:solidFill>
                  <a:srgbClr val="263845"/>
                </a:solidFill>
                <a:latin typeface="Arial"/>
                <a:ea typeface="Arial"/>
                <a:cs typeface="Arial"/>
              </a:rPr>
              <a:t>Every trial_id has 48 presentations</a:t>
            </a:r>
          </a:p>
          <a:p>
            <a:r>
              <a:rPr sz="923">
                <a:solidFill>
                  <a:srgbClr val="263845"/>
                </a:solidFill>
                <a:latin typeface="Arial"/>
                <a:ea typeface="Arial"/>
                <a:cs typeface="Arial"/>
              </a:rPr>
              <a:t>No unexpected trial IDs</a:t>
            </a:r>
          </a:p>
          <a:p>
            <a:r>
              <a:rPr sz="923">
                <a:solidFill>
                  <a:srgbClr val="263845"/>
                </a:solidFill>
                <a:latin typeface="Arial"/>
                <a:ea typeface="Arial"/>
                <a:cs typeface="Arial"/>
              </a:rPr>
              <a:t>Raw data were not modified</a:t>
            </a:r>
          </a:p>
        </p:txBody>
      </p:sp>
    </p:spTree>
    <p:extLst>
      <p:ext uri="{BB962C8B-B14F-4D97-AF65-F5344CB8AC3E}">
        <p14:creationId xmlns:p14="http://schemas.microsoft.com/office/powerpoint/2010/main" val="1826234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637B7290-F9EF-446F-AED8-0AADC9893FE3}"/>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6511D09E-CF74-4EB9-99B4-6CC8C8413667}"/>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16 | REPRODUCIBILITY</a:t>
            </a:r>
          </a:p>
        </p:txBody>
      </p:sp>
      <p:sp>
        <p:nvSpPr>
          <p:cNvPr id="3" name="Rectangle 2">
            <a:extLst>
              <a:ext uri="{FF2B5EF4-FFF2-40B4-BE49-F238E27FC236}">
                <a16:creationId xmlns:a16="http://schemas.microsoft.com/office/drawing/2014/main" id="{2A2F0A09-99C0-47B6-BF02-4A98308391C6}"/>
              </a:ext>
            </a:extLst>
          </p:cNvPr>
          <p:cNvSpPr>
            <a:spLocks noGrp="1"/>
          </p:cNvSpPr>
          <p:nvPr/>
        </p:nvSpPr>
        <p:spPr>
          <a:xfrm>
            <a:off x="476250" y="542925"/>
            <a:ext cx="7429500" cy="514350"/>
          </a:xfrm>
          <a:prstGeom prst="rect">
            <a:avLst/>
          </a:prstGeom>
        </p:spPr>
        <p:txBody>
          <a:bodyPr lIns="0" tIns="0" rIns="0" bIns="0"/>
          <a:lstStyle/>
          <a:p>
            <a:r>
              <a:rPr lang="en-US" sz="2175" b="1">
                <a:solidFill>
                  <a:srgbClr val="003A61"/>
                </a:solidFill>
                <a:latin typeface="Arial"/>
                <a:ea typeface="Arial"/>
                <a:cs typeface="Arial"/>
              </a:rPr>
              <a:t>Reproducibility comes from keeping raw data, cleaned data, QC outputs, and R Markdown separate.</a:t>
            </a:r>
            <a:endParaRPr sz="2175" b="1">
              <a:solidFill>
                <a:srgbClr val="003A61"/>
              </a:solidFill>
              <a:latin typeface="Arial"/>
              <a:ea typeface="Arial"/>
              <a:cs typeface="Arial"/>
            </a:endParaRPr>
          </a:p>
        </p:txBody>
      </p:sp>
      <p:sp>
        <p:nvSpPr>
          <p:cNvPr id="4" name="Rectangle 3">
            <a:extLst>
              <a:ext uri="{FF2B5EF4-FFF2-40B4-BE49-F238E27FC236}">
                <a16:creationId xmlns:a16="http://schemas.microsoft.com/office/drawing/2014/main" id="{553F4890-DC94-4604-A1C9-D03D701F771C}"/>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CAE6CD19-66CF-415A-8C91-9966A798439D}"/>
              </a:ext>
            </a:extLst>
          </p:cNvPr>
          <p:cNvSpPr>
            <a:spLocks noGrp="1"/>
          </p:cNvSpPr>
          <p:nvPr/>
        </p:nvSpPr>
        <p:spPr>
          <a:xfrm>
            <a:off x="762000" y="1504950"/>
            <a:ext cx="2000250" cy="742950"/>
          </a:xfrm>
          <a:prstGeom prst="rect">
            <a:avLst/>
          </a:prstGeom>
          <a:solidFill>
            <a:srgbClr val="F3F6F8"/>
          </a:solidFill>
          <a:ln w="7620">
            <a:solidFill>
              <a:srgbClr val="003A61"/>
            </a:solidFill>
          </a:ln>
        </p:spPr>
        <p:txBody>
          <a:bodyPr lIns="0" tIns="0" rIns="0" bIns="0"/>
          <a:lstStyle/>
          <a:p>
            <a:r>
              <a:rPr sz="1200">
                <a:solidFill>
                  <a:srgbClr val="F3F6F8"/>
                </a:solidFill>
                <a:latin typeface="Arial"/>
                <a:ea typeface="Arial"/>
                <a:cs typeface="Arial"/>
              </a:rPr>
              <a:t>.</a:t>
            </a:r>
          </a:p>
        </p:txBody>
      </p:sp>
      <p:sp>
        <p:nvSpPr>
          <p:cNvPr id="6" name="Rectangle 5">
            <a:extLst>
              <a:ext uri="{FF2B5EF4-FFF2-40B4-BE49-F238E27FC236}">
                <a16:creationId xmlns:a16="http://schemas.microsoft.com/office/drawing/2014/main" id="{3351EB19-CDD2-4B27-B1CA-6CF6E67D71B2}"/>
              </a:ext>
            </a:extLst>
          </p:cNvPr>
          <p:cNvSpPr>
            <a:spLocks noGrp="1"/>
          </p:cNvSpPr>
          <p:nvPr/>
        </p:nvSpPr>
        <p:spPr>
          <a:xfrm>
            <a:off x="847725" y="1590675"/>
            <a:ext cx="1828800" cy="171450"/>
          </a:xfrm>
          <a:prstGeom prst="rect">
            <a:avLst/>
          </a:prstGeom>
        </p:spPr>
        <p:txBody>
          <a:bodyPr lIns="0" tIns="0" rIns="0" bIns="0"/>
          <a:lstStyle/>
          <a:p>
            <a:pPr algn="ctr">
              <a:defRPr sz="825" b="1">
                <a:solidFill>
                  <a:srgbClr val="003A61"/>
                </a:solidFill>
                <a:latin typeface="Arial"/>
                <a:ea typeface="Arial"/>
                <a:cs typeface="Arial"/>
              </a:defRPr>
            </a:pPr>
            <a:r>
              <a:rPr sz="1200" b="1">
                <a:solidFill>
                  <a:srgbClr val="003A61"/>
                </a:solidFill>
                <a:latin typeface="Arial"/>
                <a:ea typeface="Arial"/>
                <a:cs typeface="Arial"/>
              </a:rPr>
              <a:t>Raw PsychoPy CSVs</a:t>
            </a:r>
          </a:p>
        </p:txBody>
      </p:sp>
      <p:sp>
        <p:nvSpPr>
          <p:cNvPr id="7" name="Rectangle 6">
            <a:extLst>
              <a:ext uri="{FF2B5EF4-FFF2-40B4-BE49-F238E27FC236}">
                <a16:creationId xmlns:a16="http://schemas.microsoft.com/office/drawing/2014/main" id="{8917FF9C-624F-4953-AC0C-C35992CE9379}"/>
              </a:ext>
            </a:extLst>
          </p:cNvPr>
          <p:cNvSpPr>
            <a:spLocks noGrp="1"/>
          </p:cNvSpPr>
          <p:nvPr/>
        </p:nvSpPr>
        <p:spPr>
          <a:xfrm>
            <a:off x="847725" y="1800225"/>
            <a:ext cx="1828800" cy="381000"/>
          </a:xfrm>
          <a:prstGeom prst="rect">
            <a:avLst/>
          </a:prstGeom>
        </p:spPr>
        <p:txBody>
          <a:bodyPr lIns="0" tIns="0" rIns="0" bIns="0"/>
          <a:lstStyle/>
          <a:p>
            <a:pPr algn="ctr">
              <a:defRPr sz="713">
                <a:solidFill>
                  <a:srgbClr val="263845"/>
                </a:solidFill>
                <a:latin typeface="Arial"/>
                <a:ea typeface="Arial"/>
                <a:cs typeface="Arial"/>
              </a:defRPr>
            </a:pPr>
            <a:r>
              <a:rPr sz="1200">
                <a:solidFill>
                  <a:srgbClr val="263845"/>
                </a:solidFill>
                <a:latin typeface="Arial"/>
                <a:ea typeface="Arial"/>
                <a:cs typeface="Arial"/>
              </a:rPr>
              <a:t>data/experiment_results</a:t>
            </a:r>
          </a:p>
          <a:p>
            <a:pPr algn="ctr">
              <a:defRPr sz="713">
                <a:solidFill>
                  <a:srgbClr val="263845"/>
                </a:solidFill>
                <a:latin typeface="Arial"/>
                <a:ea typeface="Arial"/>
                <a:cs typeface="Arial"/>
              </a:defRPr>
            </a:pPr>
            <a:r>
              <a:rPr sz="1200">
                <a:solidFill>
                  <a:srgbClr val="263845"/>
                </a:solidFill>
                <a:latin typeface="Arial"/>
                <a:ea typeface="Arial"/>
                <a:cs typeface="Arial"/>
              </a:rPr>
              <a:t>read only</a:t>
            </a:r>
          </a:p>
        </p:txBody>
      </p:sp>
      <p:sp>
        <p:nvSpPr>
          <p:cNvPr id="8" name="Rectangle 7">
            <a:extLst>
              <a:ext uri="{FF2B5EF4-FFF2-40B4-BE49-F238E27FC236}">
                <a16:creationId xmlns:a16="http://schemas.microsoft.com/office/drawing/2014/main" id="{0442E38B-3444-4E28-8C9C-9C0F3A124253}"/>
              </a:ext>
            </a:extLst>
          </p:cNvPr>
          <p:cNvSpPr>
            <a:spLocks noGrp="1"/>
          </p:cNvSpPr>
          <p:nvPr/>
        </p:nvSpPr>
        <p:spPr>
          <a:xfrm>
            <a:off x="2800350" y="1752600"/>
            <a:ext cx="247650" cy="238125"/>
          </a:xfrm>
          <a:prstGeom prst="rect">
            <a:avLst/>
          </a:prstGeom>
        </p:spPr>
        <p:txBody>
          <a:bodyPr lIns="0" tIns="0" rIns="0" bIns="0"/>
          <a:lstStyle/>
          <a:p>
            <a:pPr algn="ctr">
              <a:defRPr sz="1800" b="1">
                <a:solidFill>
                  <a:srgbClr val="8DB600"/>
                </a:solidFill>
                <a:latin typeface="Arial"/>
                <a:ea typeface="Arial"/>
                <a:cs typeface="Arial"/>
              </a:defRPr>
            </a:pPr>
            <a:r>
              <a:rPr sz="1200" b="1">
                <a:solidFill>
                  <a:srgbClr val="8DB600"/>
                </a:solidFill>
                <a:latin typeface="Arial"/>
                <a:ea typeface="Arial"/>
                <a:cs typeface="Arial"/>
              </a:rPr>
              <a:t>→</a:t>
            </a:r>
          </a:p>
        </p:txBody>
      </p:sp>
      <p:sp>
        <p:nvSpPr>
          <p:cNvPr id="9" name="Rectangle 8">
            <a:extLst>
              <a:ext uri="{FF2B5EF4-FFF2-40B4-BE49-F238E27FC236}">
                <a16:creationId xmlns:a16="http://schemas.microsoft.com/office/drawing/2014/main" id="{C826C7E9-E312-4D05-8561-E65ACD7E4BFF}"/>
              </a:ext>
            </a:extLst>
          </p:cNvPr>
          <p:cNvSpPr>
            <a:spLocks noGrp="1"/>
          </p:cNvSpPr>
          <p:nvPr/>
        </p:nvSpPr>
        <p:spPr>
          <a:xfrm>
            <a:off x="3333750" y="1504950"/>
            <a:ext cx="2000250" cy="742950"/>
          </a:xfrm>
          <a:prstGeom prst="rect">
            <a:avLst/>
          </a:prstGeom>
          <a:solidFill>
            <a:srgbClr val="EEF4F8"/>
          </a:solidFill>
          <a:ln w="7620">
            <a:solidFill>
              <a:srgbClr val="003A61"/>
            </a:solidFill>
          </a:ln>
        </p:spPr>
        <p:txBody>
          <a:bodyPr lIns="0" tIns="0" rIns="0" bIns="0"/>
          <a:lstStyle/>
          <a:p>
            <a:r>
              <a:rPr sz="1200">
                <a:solidFill>
                  <a:srgbClr val="EEF4F8"/>
                </a:solidFill>
                <a:latin typeface="Arial"/>
                <a:ea typeface="Arial"/>
                <a:cs typeface="Arial"/>
              </a:rPr>
              <a:t>.</a:t>
            </a:r>
          </a:p>
        </p:txBody>
      </p:sp>
      <p:sp>
        <p:nvSpPr>
          <p:cNvPr id="10" name="Rectangle 9">
            <a:extLst>
              <a:ext uri="{FF2B5EF4-FFF2-40B4-BE49-F238E27FC236}">
                <a16:creationId xmlns:a16="http://schemas.microsoft.com/office/drawing/2014/main" id="{EF55D73F-7ACE-49F0-AE1C-FC453EED940A}"/>
              </a:ext>
            </a:extLst>
          </p:cNvPr>
          <p:cNvSpPr>
            <a:spLocks noGrp="1"/>
          </p:cNvSpPr>
          <p:nvPr/>
        </p:nvSpPr>
        <p:spPr>
          <a:xfrm>
            <a:off x="3419475" y="1590675"/>
            <a:ext cx="1828800" cy="171450"/>
          </a:xfrm>
          <a:prstGeom prst="rect">
            <a:avLst/>
          </a:prstGeom>
        </p:spPr>
        <p:txBody>
          <a:bodyPr lIns="0" tIns="0" rIns="0" bIns="0"/>
          <a:lstStyle/>
          <a:p>
            <a:pPr algn="ctr">
              <a:defRPr sz="825" b="1">
                <a:solidFill>
                  <a:srgbClr val="003A61"/>
                </a:solidFill>
                <a:latin typeface="Arial"/>
                <a:ea typeface="Arial"/>
                <a:cs typeface="Arial"/>
              </a:defRPr>
            </a:pPr>
            <a:r>
              <a:rPr sz="1200" b="1">
                <a:solidFill>
                  <a:srgbClr val="003A61"/>
                </a:solidFill>
                <a:latin typeface="Arial"/>
                <a:ea typeface="Arial"/>
                <a:cs typeface="Arial"/>
              </a:rPr>
              <a:t>Cleaning script</a:t>
            </a:r>
          </a:p>
        </p:txBody>
      </p:sp>
      <p:sp>
        <p:nvSpPr>
          <p:cNvPr id="11" name="Rectangle 10">
            <a:extLst>
              <a:ext uri="{FF2B5EF4-FFF2-40B4-BE49-F238E27FC236}">
                <a16:creationId xmlns:a16="http://schemas.microsoft.com/office/drawing/2014/main" id="{10F50B0A-9887-46E9-A819-C26DB7B335D6}"/>
              </a:ext>
            </a:extLst>
          </p:cNvPr>
          <p:cNvSpPr>
            <a:spLocks noGrp="1"/>
          </p:cNvSpPr>
          <p:nvPr/>
        </p:nvSpPr>
        <p:spPr>
          <a:xfrm>
            <a:off x="3419475" y="1800225"/>
            <a:ext cx="1828800" cy="381000"/>
          </a:xfrm>
          <a:prstGeom prst="rect">
            <a:avLst/>
          </a:prstGeom>
        </p:spPr>
        <p:txBody>
          <a:bodyPr lIns="0" tIns="0" rIns="0" bIns="0"/>
          <a:lstStyle/>
          <a:p>
            <a:pPr algn="ctr">
              <a:defRPr sz="713">
                <a:solidFill>
                  <a:srgbClr val="263845"/>
                </a:solidFill>
                <a:latin typeface="Arial"/>
                <a:ea typeface="Arial"/>
                <a:cs typeface="Arial"/>
              </a:defRPr>
            </a:pPr>
            <a:r>
              <a:rPr sz="1200">
                <a:solidFill>
                  <a:srgbClr val="263845"/>
                </a:solidFill>
                <a:latin typeface="Arial"/>
                <a:ea typeface="Arial"/>
                <a:cs typeface="Arial"/>
              </a:rPr>
              <a:t>analysis/01_prepare_clean_data.py</a:t>
            </a:r>
          </a:p>
        </p:txBody>
      </p:sp>
      <p:sp>
        <p:nvSpPr>
          <p:cNvPr id="12" name="Rectangle 11">
            <a:extLst>
              <a:ext uri="{FF2B5EF4-FFF2-40B4-BE49-F238E27FC236}">
                <a16:creationId xmlns:a16="http://schemas.microsoft.com/office/drawing/2014/main" id="{C12F4714-AC10-4479-B89B-D32B7FD289C9}"/>
              </a:ext>
            </a:extLst>
          </p:cNvPr>
          <p:cNvSpPr>
            <a:spLocks noGrp="1"/>
          </p:cNvSpPr>
          <p:nvPr/>
        </p:nvSpPr>
        <p:spPr>
          <a:xfrm>
            <a:off x="5372100" y="1752600"/>
            <a:ext cx="247650" cy="238125"/>
          </a:xfrm>
          <a:prstGeom prst="rect">
            <a:avLst/>
          </a:prstGeom>
        </p:spPr>
        <p:txBody>
          <a:bodyPr lIns="0" tIns="0" rIns="0" bIns="0"/>
          <a:lstStyle/>
          <a:p>
            <a:pPr algn="ctr">
              <a:defRPr sz="1800" b="1">
                <a:solidFill>
                  <a:srgbClr val="8DB600"/>
                </a:solidFill>
                <a:latin typeface="Arial"/>
                <a:ea typeface="Arial"/>
                <a:cs typeface="Arial"/>
              </a:defRPr>
            </a:pPr>
            <a:r>
              <a:rPr sz="1200" b="1">
                <a:solidFill>
                  <a:srgbClr val="8DB600"/>
                </a:solidFill>
                <a:latin typeface="Arial"/>
                <a:ea typeface="Arial"/>
                <a:cs typeface="Arial"/>
              </a:rPr>
              <a:t>→</a:t>
            </a:r>
          </a:p>
        </p:txBody>
      </p:sp>
      <p:sp>
        <p:nvSpPr>
          <p:cNvPr id="13" name="Rectangle 12">
            <a:extLst>
              <a:ext uri="{FF2B5EF4-FFF2-40B4-BE49-F238E27FC236}">
                <a16:creationId xmlns:a16="http://schemas.microsoft.com/office/drawing/2014/main" id="{49A3D1BB-7404-438B-ACEC-EEBAA4DA2C4D}"/>
              </a:ext>
            </a:extLst>
          </p:cNvPr>
          <p:cNvSpPr>
            <a:spLocks noGrp="1"/>
          </p:cNvSpPr>
          <p:nvPr/>
        </p:nvSpPr>
        <p:spPr>
          <a:xfrm>
            <a:off x="5905500" y="1504950"/>
            <a:ext cx="2000250" cy="742950"/>
          </a:xfrm>
          <a:prstGeom prst="rect">
            <a:avLst/>
          </a:prstGeom>
          <a:solidFill>
            <a:srgbClr val="EEF4F8"/>
          </a:solidFill>
          <a:ln w="7620">
            <a:solidFill>
              <a:srgbClr val="003A61"/>
            </a:solidFill>
          </a:ln>
        </p:spPr>
        <p:txBody>
          <a:bodyPr lIns="0" tIns="0" rIns="0" bIns="0"/>
          <a:lstStyle/>
          <a:p>
            <a:r>
              <a:rPr sz="1200">
                <a:solidFill>
                  <a:srgbClr val="EEF4F8"/>
                </a:solidFill>
                <a:latin typeface="Arial"/>
                <a:ea typeface="Arial"/>
                <a:cs typeface="Arial"/>
              </a:rPr>
              <a:t>.</a:t>
            </a:r>
          </a:p>
        </p:txBody>
      </p:sp>
      <p:sp>
        <p:nvSpPr>
          <p:cNvPr id="14" name="Rectangle 13">
            <a:extLst>
              <a:ext uri="{FF2B5EF4-FFF2-40B4-BE49-F238E27FC236}">
                <a16:creationId xmlns:a16="http://schemas.microsoft.com/office/drawing/2014/main" id="{74F00590-634D-482C-B0F5-BB82C2835380}"/>
              </a:ext>
            </a:extLst>
          </p:cNvPr>
          <p:cNvSpPr>
            <a:spLocks noGrp="1"/>
          </p:cNvSpPr>
          <p:nvPr/>
        </p:nvSpPr>
        <p:spPr>
          <a:xfrm>
            <a:off x="5991225" y="1590675"/>
            <a:ext cx="1828800" cy="171450"/>
          </a:xfrm>
          <a:prstGeom prst="rect">
            <a:avLst/>
          </a:prstGeom>
        </p:spPr>
        <p:txBody>
          <a:bodyPr lIns="0" tIns="0" rIns="0" bIns="0"/>
          <a:lstStyle/>
          <a:p>
            <a:pPr algn="ctr">
              <a:defRPr sz="825" b="1">
                <a:solidFill>
                  <a:srgbClr val="003A61"/>
                </a:solidFill>
                <a:latin typeface="Arial"/>
                <a:ea typeface="Arial"/>
                <a:cs typeface="Arial"/>
              </a:defRPr>
            </a:pPr>
            <a:r>
              <a:rPr sz="1200" b="1">
                <a:solidFill>
                  <a:srgbClr val="003A61"/>
                </a:solidFill>
                <a:latin typeface="Arial"/>
                <a:ea typeface="Arial"/>
                <a:cs typeface="Arial"/>
              </a:rPr>
              <a:t>Cleaned datasets</a:t>
            </a:r>
          </a:p>
        </p:txBody>
      </p:sp>
      <p:sp>
        <p:nvSpPr>
          <p:cNvPr id="15" name="Rectangle 14">
            <a:extLst>
              <a:ext uri="{FF2B5EF4-FFF2-40B4-BE49-F238E27FC236}">
                <a16:creationId xmlns:a16="http://schemas.microsoft.com/office/drawing/2014/main" id="{D691A3F5-30B2-4E92-9E29-DBDE8840DEE6}"/>
              </a:ext>
            </a:extLst>
          </p:cNvPr>
          <p:cNvSpPr>
            <a:spLocks noGrp="1"/>
          </p:cNvSpPr>
          <p:nvPr/>
        </p:nvSpPr>
        <p:spPr>
          <a:xfrm>
            <a:off x="5991225" y="1800225"/>
            <a:ext cx="1828800" cy="381000"/>
          </a:xfrm>
          <a:prstGeom prst="rect">
            <a:avLst/>
          </a:prstGeom>
        </p:spPr>
        <p:txBody>
          <a:bodyPr lIns="0" tIns="0" rIns="0" bIns="0"/>
          <a:lstStyle/>
          <a:p>
            <a:pPr algn="ctr">
              <a:defRPr sz="713">
                <a:solidFill>
                  <a:srgbClr val="263845"/>
                </a:solidFill>
                <a:latin typeface="Arial"/>
                <a:ea typeface="Arial"/>
                <a:cs typeface="Arial"/>
              </a:defRPr>
            </a:pPr>
            <a:r>
              <a:rPr sz="1000" dirty="0" err="1">
                <a:solidFill>
                  <a:srgbClr val="263845"/>
                </a:solidFill>
                <a:latin typeface="Arial"/>
                <a:ea typeface="Arial"/>
                <a:cs typeface="Arial"/>
              </a:rPr>
              <a:t>all_trials_clean</a:t>
            </a:r>
            <a:endParaRPr sz="1000" dirty="0">
              <a:solidFill>
                <a:srgbClr val="263845"/>
              </a:solidFill>
              <a:latin typeface="Arial"/>
              <a:ea typeface="Arial"/>
              <a:cs typeface="Arial"/>
            </a:endParaRPr>
          </a:p>
          <a:p>
            <a:pPr algn="ctr">
              <a:defRPr sz="713">
                <a:solidFill>
                  <a:srgbClr val="263845"/>
                </a:solidFill>
                <a:latin typeface="Arial"/>
                <a:ea typeface="Arial"/>
                <a:cs typeface="Arial"/>
              </a:defRPr>
            </a:pPr>
            <a:r>
              <a:rPr sz="1000" dirty="0" err="1">
                <a:solidFill>
                  <a:srgbClr val="263845"/>
                </a:solidFill>
                <a:latin typeface="Arial"/>
                <a:ea typeface="Arial"/>
                <a:cs typeface="Arial"/>
              </a:rPr>
              <a:t>main_trials_clean</a:t>
            </a:r>
            <a:endParaRPr sz="1000" dirty="0">
              <a:solidFill>
                <a:srgbClr val="263845"/>
              </a:solidFill>
              <a:latin typeface="Arial"/>
              <a:ea typeface="Arial"/>
              <a:cs typeface="Arial"/>
            </a:endParaRPr>
          </a:p>
          <a:p>
            <a:pPr algn="ctr">
              <a:defRPr sz="713">
                <a:solidFill>
                  <a:srgbClr val="263845"/>
                </a:solidFill>
                <a:latin typeface="Arial"/>
                <a:ea typeface="Arial"/>
                <a:cs typeface="Arial"/>
              </a:defRPr>
            </a:pPr>
            <a:r>
              <a:rPr sz="1000" dirty="0" err="1">
                <a:solidFill>
                  <a:srgbClr val="263845"/>
                </a:solidFill>
                <a:latin typeface="Arial"/>
                <a:ea typeface="Arial"/>
                <a:cs typeface="Arial"/>
              </a:rPr>
              <a:t>rt_realword_correct</a:t>
            </a:r>
            <a:endParaRPr sz="1000" dirty="0">
              <a:solidFill>
                <a:srgbClr val="263845"/>
              </a:solidFill>
              <a:latin typeface="Arial"/>
              <a:ea typeface="Arial"/>
              <a:cs typeface="Arial"/>
            </a:endParaRPr>
          </a:p>
        </p:txBody>
      </p:sp>
      <p:sp>
        <p:nvSpPr>
          <p:cNvPr id="16" name="Rectangle 15">
            <a:extLst>
              <a:ext uri="{FF2B5EF4-FFF2-40B4-BE49-F238E27FC236}">
                <a16:creationId xmlns:a16="http://schemas.microsoft.com/office/drawing/2014/main" id="{C50B2BDD-7A8B-4521-929E-E290E54EE9D4}"/>
              </a:ext>
            </a:extLst>
          </p:cNvPr>
          <p:cNvSpPr>
            <a:spLocks noGrp="1"/>
          </p:cNvSpPr>
          <p:nvPr/>
        </p:nvSpPr>
        <p:spPr>
          <a:xfrm>
            <a:off x="762000" y="2628900"/>
            <a:ext cx="2000250" cy="742950"/>
          </a:xfrm>
          <a:prstGeom prst="rect">
            <a:avLst/>
          </a:prstGeom>
          <a:solidFill>
            <a:srgbClr val="EEF4F8"/>
          </a:solidFill>
          <a:ln w="7620">
            <a:solidFill>
              <a:srgbClr val="003A61"/>
            </a:solidFill>
          </a:ln>
        </p:spPr>
        <p:txBody>
          <a:bodyPr lIns="0" tIns="0" rIns="0" bIns="0"/>
          <a:lstStyle/>
          <a:p>
            <a:r>
              <a:rPr sz="1200">
                <a:solidFill>
                  <a:srgbClr val="EEF4F8"/>
                </a:solidFill>
                <a:latin typeface="Arial"/>
                <a:ea typeface="Arial"/>
                <a:cs typeface="Arial"/>
              </a:rPr>
              <a:t>.</a:t>
            </a:r>
          </a:p>
        </p:txBody>
      </p:sp>
      <p:sp>
        <p:nvSpPr>
          <p:cNvPr id="17" name="Rectangle 16">
            <a:extLst>
              <a:ext uri="{FF2B5EF4-FFF2-40B4-BE49-F238E27FC236}">
                <a16:creationId xmlns:a16="http://schemas.microsoft.com/office/drawing/2014/main" id="{49F1BFB6-BF2E-47E5-A2BF-54296A159BDB}"/>
              </a:ext>
            </a:extLst>
          </p:cNvPr>
          <p:cNvSpPr>
            <a:spLocks noGrp="1"/>
          </p:cNvSpPr>
          <p:nvPr/>
        </p:nvSpPr>
        <p:spPr>
          <a:xfrm>
            <a:off x="847725" y="2714625"/>
            <a:ext cx="1828800" cy="171450"/>
          </a:xfrm>
          <a:prstGeom prst="rect">
            <a:avLst/>
          </a:prstGeom>
        </p:spPr>
        <p:txBody>
          <a:bodyPr lIns="0" tIns="0" rIns="0" bIns="0"/>
          <a:lstStyle/>
          <a:p>
            <a:pPr algn="ctr">
              <a:defRPr sz="825" b="1">
                <a:solidFill>
                  <a:srgbClr val="003A61"/>
                </a:solidFill>
                <a:latin typeface="Arial"/>
                <a:ea typeface="Arial"/>
                <a:cs typeface="Arial"/>
              </a:defRPr>
            </a:pPr>
            <a:r>
              <a:rPr sz="1200" b="1">
                <a:solidFill>
                  <a:srgbClr val="003A61"/>
                </a:solidFill>
                <a:latin typeface="Arial"/>
                <a:ea typeface="Arial"/>
                <a:cs typeface="Arial"/>
              </a:rPr>
              <a:t>QC outputs</a:t>
            </a:r>
          </a:p>
        </p:txBody>
      </p:sp>
      <p:sp>
        <p:nvSpPr>
          <p:cNvPr id="18" name="Rectangle 17">
            <a:extLst>
              <a:ext uri="{FF2B5EF4-FFF2-40B4-BE49-F238E27FC236}">
                <a16:creationId xmlns:a16="http://schemas.microsoft.com/office/drawing/2014/main" id="{EFA1AEFE-9486-43C8-BA40-9C33B21939C4}"/>
              </a:ext>
            </a:extLst>
          </p:cNvPr>
          <p:cNvSpPr>
            <a:spLocks noGrp="1"/>
          </p:cNvSpPr>
          <p:nvPr/>
        </p:nvSpPr>
        <p:spPr>
          <a:xfrm>
            <a:off x="847725" y="2924175"/>
            <a:ext cx="1828800" cy="381000"/>
          </a:xfrm>
          <a:prstGeom prst="rect">
            <a:avLst/>
          </a:prstGeom>
        </p:spPr>
        <p:txBody>
          <a:bodyPr lIns="0" tIns="0" rIns="0" bIns="0"/>
          <a:lstStyle/>
          <a:p>
            <a:pPr algn="ctr">
              <a:defRPr sz="713">
                <a:solidFill>
                  <a:srgbClr val="263845"/>
                </a:solidFill>
                <a:latin typeface="Arial"/>
                <a:ea typeface="Arial"/>
                <a:cs typeface="Arial"/>
              </a:defRPr>
            </a:pPr>
            <a:r>
              <a:rPr sz="1200">
                <a:solidFill>
                  <a:srgbClr val="263845"/>
                </a:solidFill>
                <a:latin typeface="Arial"/>
                <a:ea typeface="Arial"/>
                <a:cs typeface="Arial"/>
              </a:rPr>
              <a:t>participant/item/design</a:t>
            </a:r>
          </a:p>
          <a:p>
            <a:pPr algn="ctr">
              <a:defRPr sz="713">
                <a:solidFill>
                  <a:srgbClr val="263845"/>
                </a:solidFill>
                <a:latin typeface="Arial"/>
                <a:ea typeface="Arial"/>
                <a:cs typeface="Arial"/>
              </a:defRPr>
            </a:pPr>
            <a:r>
              <a:rPr sz="1200">
                <a:solidFill>
                  <a:srgbClr val="263845"/>
                </a:solidFill>
                <a:latin typeface="Arial"/>
                <a:ea typeface="Arial"/>
                <a:cs typeface="Arial"/>
              </a:rPr>
              <a:t>stimulus validation</a:t>
            </a:r>
          </a:p>
        </p:txBody>
      </p:sp>
      <p:sp>
        <p:nvSpPr>
          <p:cNvPr id="19" name="Rectangle 18">
            <a:extLst>
              <a:ext uri="{FF2B5EF4-FFF2-40B4-BE49-F238E27FC236}">
                <a16:creationId xmlns:a16="http://schemas.microsoft.com/office/drawing/2014/main" id="{A0D33BF5-B16A-4954-8538-AE413E8ED986}"/>
              </a:ext>
            </a:extLst>
          </p:cNvPr>
          <p:cNvSpPr>
            <a:spLocks noGrp="1"/>
          </p:cNvSpPr>
          <p:nvPr/>
        </p:nvSpPr>
        <p:spPr>
          <a:xfrm>
            <a:off x="2800350" y="2876550"/>
            <a:ext cx="247650" cy="238125"/>
          </a:xfrm>
          <a:prstGeom prst="rect">
            <a:avLst/>
          </a:prstGeom>
        </p:spPr>
        <p:txBody>
          <a:bodyPr lIns="0" tIns="0" rIns="0" bIns="0"/>
          <a:lstStyle/>
          <a:p>
            <a:pPr algn="ctr">
              <a:defRPr sz="1800" b="1">
                <a:solidFill>
                  <a:srgbClr val="8DB600"/>
                </a:solidFill>
                <a:latin typeface="Arial"/>
                <a:ea typeface="Arial"/>
                <a:cs typeface="Arial"/>
              </a:defRPr>
            </a:pPr>
            <a:r>
              <a:rPr sz="1200" b="1">
                <a:solidFill>
                  <a:srgbClr val="8DB600"/>
                </a:solidFill>
                <a:latin typeface="Arial"/>
                <a:ea typeface="Arial"/>
                <a:cs typeface="Arial"/>
              </a:rPr>
              <a:t>→</a:t>
            </a:r>
          </a:p>
        </p:txBody>
      </p:sp>
      <p:sp>
        <p:nvSpPr>
          <p:cNvPr id="20" name="Rectangle 19">
            <a:extLst>
              <a:ext uri="{FF2B5EF4-FFF2-40B4-BE49-F238E27FC236}">
                <a16:creationId xmlns:a16="http://schemas.microsoft.com/office/drawing/2014/main" id="{371DBDA3-C0E9-4007-8D88-0D248DC5609E}"/>
              </a:ext>
            </a:extLst>
          </p:cNvPr>
          <p:cNvSpPr>
            <a:spLocks noGrp="1"/>
          </p:cNvSpPr>
          <p:nvPr/>
        </p:nvSpPr>
        <p:spPr>
          <a:xfrm>
            <a:off x="3333750" y="2628900"/>
            <a:ext cx="2000250" cy="742950"/>
          </a:xfrm>
          <a:prstGeom prst="rect">
            <a:avLst/>
          </a:prstGeom>
          <a:solidFill>
            <a:srgbClr val="DDECB3"/>
          </a:solidFill>
          <a:ln w="7620">
            <a:solidFill>
              <a:srgbClr val="003A61"/>
            </a:solidFill>
          </a:ln>
        </p:spPr>
        <p:txBody>
          <a:bodyPr lIns="0" tIns="0" rIns="0" bIns="0"/>
          <a:lstStyle/>
          <a:p>
            <a:r>
              <a:rPr sz="1200">
                <a:solidFill>
                  <a:srgbClr val="DDECB3"/>
                </a:solidFill>
                <a:latin typeface="Arial"/>
                <a:ea typeface="Arial"/>
                <a:cs typeface="Arial"/>
              </a:rPr>
              <a:t>.</a:t>
            </a:r>
          </a:p>
        </p:txBody>
      </p:sp>
      <p:sp>
        <p:nvSpPr>
          <p:cNvPr id="21" name="Rectangle 20">
            <a:extLst>
              <a:ext uri="{FF2B5EF4-FFF2-40B4-BE49-F238E27FC236}">
                <a16:creationId xmlns:a16="http://schemas.microsoft.com/office/drawing/2014/main" id="{9534DA6D-7C95-47F6-A5B8-726449435534}"/>
              </a:ext>
            </a:extLst>
          </p:cNvPr>
          <p:cNvSpPr>
            <a:spLocks noGrp="1"/>
          </p:cNvSpPr>
          <p:nvPr/>
        </p:nvSpPr>
        <p:spPr>
          <a:xfrm>
            <a:off x="3419475" y="2714625"/>
            <a:ext cx="1828800" cy="171450"/>
          </a:xfrm>
          <a:prstGeom prst="rect">
            <a:avLst/>
          </a:prstGeom>
        </p:spPr>
        <p:txBody>
          <a:bodyPr lIns="0" tIns="0" rIns="0" bIns="0"/>
          <a:lstStyle/>
          <a:p>
            <a:pPr algn="ctr">
              <a:defRPr sz="825" b="1">
                <a:solidFill>
                  <a:srgbClr val="003A61"/>
                </a:solidFill>
                <a:latin typeface="Arial"/>
                <a:ea typeface="Arial"/>
                <a:cs typeface="Arial"/>
              </a:defRPr>
            </a:pPr>
            <a:r>
              <a:rPr sz="1200" b="1">
                <a:solidFill>
                  <a:srgbClr val="003A61"/>
                </a:solidFill>
                <a:latin typeface="Arial"/>
                <a:ea typeface="Arial"/>
                <a:cs typeface="Arial"/>
              </a:rPr>
              <a:t>R Markdown</a:t>
            </a:r>
          </a:p>
        </p:txBody>
      </p:sp>
      <p:sp>
        <p:nvSpPr>
          <p:cNvPr id="22" name="Rectangle 21">
            <a:extLst>
              <a:ext uri="{FF2B5EF4-FFF2-40B4-BE49-F238E27FC236}">
                <a16:creationId xmlns:a16="http://schemas.microsoft.com/office/drawing/2014/main" id="{52303AAF-4EC7-46D3-AA28-E445C2E92E72}"/>
              </a:ext>
            </a:extLst>
          </p:cNvPr>
          <p:cNvSpPr>
            <a:spLocks noGrp="1"/>
          </p:cNvSpPr>
          <p:nvPr/>
        </p:nvSpPr>
        <p:spPr>
          <a:xfrm>
            <a:off x="3419475" y="2924175"/>
            <a:ext cx="1828800" cy="381000"/>
          </a:xfrm>
          <a:prstGeom prst="rect">
            <a:avLst/>
          </a:prstGeom>
        </p:spPr>
        <p:txBody>
          <a:bodyPr lIns="0" tIns="0" rIns="0" bIns="0"/>
          <a:lstStyle/>
          <a:p>
            <a:pPr algn="ctr">
              <a:defRPr sz="713">
                <a:solidFill>
                  <a:srgbClr val="263845"/>
                </a:solidFill>
                <a:latin typeface="Arial"/>
                <a:ea typeface="Arial"/>
                <a:cs typeface="Arial"/>
              </a:defRPr>
            </a:pPr>
            <a:r>
              <a:rPr sz="1200">
                <a:solidFill>
                  <a:srgbClr val="263845"/>
                </a:solidFill>
                <a:latin typeface="Arial"/>
                <a:ea typeface="Arial"/>
                <a:cs typeface="Arial"/>
              </a:rPr>
              <a:t>analysis/RP2_final_analysis_v2.Rmd</a:t>
            </a:r>
          </a:p>
        </p:txBody>
      </p:sp>
      <p:sp>
        <p:nvSpPr>
          <p:cNvPr id="23" name="Rectangle 22">
            <a:extLst>
              <a:ext uri="{FF2B5EF4-FFF2-40B4-BE49-F238E27FC236}">
                <a16:creationId xmlns:a16="http://schemas.microsoft.com/office/drawing/2014/main" id="{6B1C8A6F-00E9-4E26-88B6-6659A15EE318}"/>
              </a:ext>
            </a:extLst>
          </p:cNvPr>
          <p:cNvSpPr>
            <a:spLocks noGrp="1"/>
          </p:cNvSpPr>
          <p:nvPr/>
        </p:nvSpPr>
        <p:spPr>
          <a:xfrm>
            <a:off x="5372100" y="2876550"/>
            <a:ext cx="247650" cy="238125"/>
          </a:xfrm>
          <a:prstGeom prst="rect">
            <a:avLst/>
          </a:prstGeom>
        </p:spPr>
        <p:txBody>
          <a:bodyPr lIns="0" tIns="0" rIns="0" bIns="0"/>
          <a:lstStyle/>
          <a:p>
            <a:pPr algn="ctr">
              <a:defRPr sz="1800" b="1">
                <a:solidFill>
                  <a:srgbClr val="8DB600"/>
                </a:solidFill>
                <a:latin typeface="Arial"/>
                <a:ea typeface="Arial"/>
                <a:cs typeface="Arial"/>
              </a:defRPr>
            </a:pPr>
            <a:r>
              <a:rPr sz="1200" b="1">
                <a:solidFill>
                  <a:srgbClr val="8DB600"/>
                </a:solidFill>
                <a:latin typeface="Arial"/>
                <a:ea typeface="Arial"/>
                <a:cs typeface="Arial"/>
              </a:rPr>
              <a:t>→</a:t>
            </a:r>
          </a:p>
        </p:txBody>
      </p:sp>
      <p:sp>
        <p:nvSpPr>
          <p:cNvPr id="24" name="Rectangle 23">
            <a:extLst>
              <a:ext uri="{FF2B5EF4-FFF2-40B4-BE49-F238E27FC236}">
                <a16:creationId xmlns:a16="http://schemas.microsoft.com/office/drawing/2014/main" id="{E82969BC-C468-4943-A86B-2D2FB253A034}"/>
              </a:ext>
            </a:extLst>
          </p:cNvPr>
          <p:cNvSpPr>
            <a:spLocks noGrp="1"/>
          </p:cNvSpPr>
          <p:nvPr/>
        </p:nvSpPr>
        <p:spPr>
          <a:xfrm>
            <a:off x="5905500" y="2628900"/>
            <a:ext cx="2000250" cy="742950"/>
          </a:xfrm>
          <a:prstGeom prst="rect">
            <a:avLst/>
          </a:prstGeom>
          <a:solidFill>
            <a:srgbClr val="EEF4F8"/>
          </a:solidFill>
          <a:ln w="7620">
            <a:solidFill>
              <a:srgbClr val="003A61"/>
            </a:solidFill>
          </a:ln>
        </p:spPr>
        <p:txBody>
          <a:bodyPr lIns="0" tIns="0" rIns="0" bIns="0"/>
          <a:lstStyle/>
          <a:p>
            <a:r>
              <a:rPr sz="1200">
                <a:solidFill>
                  <a:srgbClr val="EEF4F8"/>
                </a:solidFill>
                <a:latin typeface="Arial"/>
                <a:ea typeface="Arial"/>
                <a:cs typeface="Arial"/>
              </a:rPr>
              <a:t>.</a:t>
            </a:r>
          </a:p>
        </p:txBody>
      </p:sp>
      <p:sp>
        <p:nvSpPr>
          <p:cNvPr id="25" name="Rectangle 24">
            <a:extLst>
              <a:ext uri="{FF2B5EF4-FFF2-40B4-BE49-F238E27FC236}">
                <a16:creationId xmlns:a16="http://schemas.microsoft.com/office/drawing/2014/main" id="{9CA34A2F-6791-43F0-BF9E-E0FAB89A482B}"/>
              </a:ext>
            </a:extLst>
          </p:cNvPr>
          <p:cNvSpPr>
            <a:spLocks noGrp="1"/>
          </p:cNvSpPr>
          <p:nvPr/>
        </p:nvSpPr>
        <p:spPr>
          <a:xfrm>
            <a:off x="5991225" y="2714625"/>
            <a:ext cx="1828800" cy="171450"/>
          </a:xfrm>
          <a:prstGeom prst="rect">
            <a:avLst/>
          </a:prstGeom>
        </p:spPr>
        <p:txBody>
          <a:bodyPr lIns="0" tIns="0" rIns="0" bIns="0"/>
          <a:lstStyle/>
          <a:p>
            <a:pPr algn="ctr">
              <a:defRPr sz="825" b="1">
                <a:solidFill>
                  <a:srgbClr val="003A61"/>
                </a:solidFill>
                <a:latin typeface="Arial"/>
                <a:ea typeface="Arial"/>
                <a:cs typeface="Arial"/>
              </a:defRPr>
            </a:pPr>
            <a:r>
              <a:rPr sz="1200" b="1">
                <a:solidFill>
                  <a:srgbClr val="003A61"/>
                </a:solidFill>
                <a:latin typeface="Arial"/>
                <a:ea typeface="Arial"/>
                <a:cs typeface="Arial"/>
              </a:rPr>
              <a:t>Analysis outputs</a:t>
            </a:r>
          </a:p>
        </p:txBody>
      </p:sp>
      <p:sp>
        <p:nvSpPr>
          <p:cNvPr id="26" name="Rectangle 25">
            <a:extLst>
              <a:ext uri="{FF2B5EF4-FFF2-40B4-BE49-F238E27FC236}">
                <a16:creationId xmlns:a16="http://schemas.microsoft.com/office/drawing/2014/main" id="{51941A67-1C93-4538-9CFC-0A02A04DC8EB}"/>
              </a:ext>
            </a:extLst>
          </p:cNvPr>
          <p:cNvSpPr>
            <a:spLocks noGrp="1"/>
          </p:cNvSpPr>
          <p:nvPr/>
        </p:nvSpPr>
        <p:spPr>
          <a:xfrm>
            <a:off x="5991225" y="2924175"/>
            <a:ext cx="1828800" cy="381000"/>
          </a:xfrm>
          <a:prstGeom prst="rect">
            <a:avLst/>
          </a:prstGeom>
        </p:spPr>
        <p:txBody>
          <a:bodyPr lIns="0" tIns="0" rIns="0" bIns="0"/>
          <a:lstStyle/>
          <a:p>
            <a:pPr algn="ctr">
              <a:defRPr sz="713">
                <a:solidFill>
                  <a:srgbClr val="263845"/>
                </a:solidFill>
                <a:latin typeface="Arial"/>
                <a:ea typeface="Arial"/>
                <a:cs typeface="Arial"/>
              </a:defRPr>
            </a:pPr>
            <a:r>
              <a:rPr sz="1200">
                <a:solidFill>
                  <a:srgbClr val="263845"/>
                </a:solidFill>
                <a:latin typeface="Arial"/>
                <a:ea typeface="Arial"/>
                <a:cs typeface="Arial"/>
              </a:rPr>
              <a:t>figures, tables,</a:t>
            </a:r>
          </a:p>
          <a:p>
            <a:pPr algn="ctr">
              <a:defRPr sz="713">
                <a:solidFill>
                  <a:srgbClr val="263845"/>
                </a:solidFill>
                <a:latin typeface="Arial"/>
                <a:ea typeface="Arial"/>
                <a:cs typeface="Arial"/>
              </a:defRPr>
            </a:pPr>
            <a:r>
              <a:rPr sz="1200">
                <a:solidFill>
                  <a:srgbClr val="263845"/>
                </a:solidFill>
                <a:latin typeface="Arial"/>
                <a:ea typeface="Arial"/>
                <a:cs typeface="Arial"/>
              </a:rPr>
              <a:t>model summaries</a:t>
            </a:r>
          </a:p>
        </p:txBody>
      </p:sp>
      <p:sp>
        <p:nvSpPr>
          <p:cNvPr id="27" name="Rectangle 26">
            <a:extLst>
              <a:ext uri="{FF2B5EF4-FFF2-40B4-BE49-F238E27FC236}">
                <a16:creationId xmlns:a16="http://schemas.microsoft.com/office/drawing/2014/main" id="{157151D2-BC3E-4205-8510-2708F5E95CE3}"/>
              </a:ext>
            </a:extLst>
          </p:cNvPr>
          <p:cNvSpPr>
            <a:spLocks noGrp="1"/>
          </p:cNvSpPr>
          <p:nvPr/>
        </p:nvSpPr>
        <p:spPr>
          <a:xfrm>
            <a:off x="933450" y="3924300"/>
            <a:ext cx="6667500" cy="266700"/>
          </a:xfrm>
          <a:prstGeom prst="rect">
            <a:avLst/>
          </a:prstGeom>
        </p:spPr>
        <p:txBody>
          <a:bodyPr lIns="0" tIns="0" rIns="0" bIns="0"/>
          <a:lstStyle/>
          <a:p>
            <a:pPr algn="ctr">
              <a:defRPr sz="1125" b="1">
                <a:solidFill>
                  <a:srgbClr val="003A61"/>
                </a:solidFill>
                <a:latin typeface="Arial"/>
                <a:ea typeface="Arial"/>
                <a:cs typeface="Arial"/>
              </a:defRPr>
            </a:pPr>
            <a:r>
              <a:rPr sz="1125" b="1">
                <a:solidFill>
                  <a:srgbClr val="003A61"/>
                </a:solidFill>
                <a:latin typeface="Arial"/>
                <a:ea typeface="Arial"/>
                <a:cs typeface="Arial"/>
              </a:rPr>
              <a:t>Reproducibility principle: every transformation has a named script or output file.</a:t>
            </a:r>
          </a:p>
        </p:txBody>
      </p:sp>
    </p:spTree>
    <p:extLst>
      <p:ext uri="{BB962C8B-B14F-4D97-AF65-F5344CB8AC3E}">
        <p14:creationId xmlns:p14="http://schemas.microsoft.com/office/powerpoint/2010/main" val="1826234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19576C6-018C-42CB-BD36-201D2743C9D6}"/>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3E497963-8D60-404C-9844-8714C4F4E16D}"/>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17 | ANALYSIS PLAN</a:t>
            </a:r>
          </a:p>
        </p:txBody>
      </p:sp>
      <p:sp>
        <p:nvSpPr>
          <p:cNvPr id="3" name="Rectangle 2">
            <a:extLst>
              <a:ext uri="{FF2B5EF4-FFF2-40B4-BE49-F238E27FC236}">
                <a16:creationId xmlns:a16="http://schemas.microsoft.com/office/drawing/2014/main" id="{43DD431D-6D01-4018-A5FD-7C201284C809}"/>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Log RT and mixed-effects models match the structure of repeated lexical-decision data.</a:t>
            </a:r>
          </a:p>
        </p:txBody>
      </p:sp>
      <p:sp>
        <p:nvSpPr>
          <p:cNvPr id="4" name="Rectangle 3">
            <a:extLst>
              <a:ext uri="{FF2B5EF4-FFF2-40B4-BE49-F238E27FC236}">
                <a16:creationId xmlns:a16="http://schemas.microsoft.com/office/drawing/2014/main" id="{CDA5B93F-EE55-4F65-9CF5-11536C7D8E15}"/>
              </a:ext>
            </a:extLst>
          </p:cNvPr>
          <p:cNvSpPr>
            <a:spLocks noGrp="1"/>
          </p:cNvSpPr>
          <p:nvPr/>
        </p:nvSpPr>
        <p:spPr>
          <a:xfrm>
            <a:off x="476250" y="4514850"/>
            <a:ext cx="6667500" cy="171450"/>
          </a:xfrm>
          <a:prstGeom prst="rect">
            <a:avLst/>
          </a:prstGeom>
        </p:spPr>
        <p:txBody>
          <a:bodyPr lIns="0" tIns="0" rIns="0" bIns="0"/>
          <a:lstStyle/>
          <a:p>
            <a:r>
              <a:rPr sz="638">
                <a:solidFill>
                  <a:srgbClr val="63717A"/>
                </a:solidFill>
                <a:latin typeface="Arial"/>
                <a:ea typeface="Arial"/>
                <a:cs typeface="Arial"/>
              </a:rPr>
              <a:t>Sources: Baayen et al., 2008; Bates et al., 2015; Ratcliff, 1993; Whelan, 2008</a:t>
            </a:r>
          </a:p>
        </p:txBody>
      </p:sp>
      <p:sp>
        <p:nvSpPr>
          <p:cNvPr id="5" name="Rectangle 4">
            <a:extLst>
              <a:ext uri="{FF2B5EF4-FFF2-40B4-BE49-F238E27FC236}">
                <a16:creationId xmlns:a16="http://schemas.microsoft.com/office/drawing/2014/main" id="{0F43C937-D0E6-42F1-8EAA-4D2709102F03}"/>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6" name="Rectangle 5">
            <a:extLst>
              <a:ext uri="{FF2B5EF4-FFF2-40B4-BE49-F238E27FC236}">
                <a16:creationId xmlns:a16="http://schemas.microsoft.com/office/drawing/2014/main" id="{1A39FA19-E5FA-40B7-87BF-FEDDD7DA6197}"/>
              </a:ext>
            </a:extLst>
          </p:cNvPr>
          <p:cNvSpPr>
            <a:spLocks noGrp="1"/>
          </p:cNvSpPr>
          <p:nvPr/>
        </p:nvSpPr>
        <p:spPr>
          <a:xfrm>
            <a:off x="666750" y="1285875"/>
            <a:ext cx="2333625" cy="171450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7" name="Rectangle 6">
            <a:extLst>
              <a:ext uri="{FF2B5EF4-FFF2-40B4-BE49-F238E27FC236}">
                <a16:creationId xmlns:a16="http://schemas.microsoft.com/office/drawing/2014/main" id="{DC4680B0-50FC-4B15-BE66-D67873B7BD6F}"/>
              </a:ext>
            </a:extLst>
          </p:cNvPr>
          <p:cNvSpPr>
            <a:spLocks noGrp="1"/>
          </p:cNvSpPr>
          <p:nvPr/>
        </p:nvSpPr>
        <p:spPr>
          <a:xfrm>
            <a:off x="781050" y="1381125"/>
            <a:ext cx="2105025" cy="190500"/>
          </a:xfrm>
          <a:prstGeom prst="rect">
            <a:avLst/>
          </a:prstGeom>
        </p:spPr>
        <p:txBody>
          <a:bodyPr lIns="0" tIns="0" rIns="0" bIns="0"/>
          <a:lstStyle/>
          <a:p>
            <a:r>
              <a:rPr sz="900" b="1">
                <a:solidFill>
                  <a:srgbClr val="003A61"/>
                </a:solidFill>
                <a:latin typeface="Arial"/>
                <a:ea typeface="Arial"/>
                <a:cs typeface="Arial"/>
              </a:rPr>
              <a:t>Why log RT?</a:t>
            </a:r>
          </a:p>
        </p:txBody>
      </p:sp>
      <p:sp>
        <p:nvSpPr>
          <p:cNvPr id="8" name="Rectangle 7">
            <a:extLst>
              <a:ext uri="{FF2B5EF4-FFF2-40B4-BE49-F238E27FC236}">
                <a16:creationId xmlns:a16="http://schemas.microsoft.com/office/drawing/2014/main" id="{C3771EC3-E379-4B41-A667-BD01F4D6D787}"/>
              </a:ext>
            </a:extLst>
          </p:cNvPr>
          <p:cNvSpPr>
            <a:spLocks noGrp="1"/>
          </p:cNvSpPr>
          <p:nvPr/>
        </p:nvSpPr>
        <p:spPr>
          <a:xfrm>
            <a:off x="781050" y="1609725"/>
            <a:ext cx="2105025" cy="1314450"/>
          </a:xfrm>
          <a:prstGeom prst="rect">
            <a:avLst/>
          </a:prstGeom>
        </p:spPr>
        <p:txBody>
          <a:bodyPr lIns="0" tIns="0" rIns="0" bIns="0"/>
          <a:lstStyle/>
          <a:p>
            <a:r>
              <a:rPr sz="975">
                <a:solidFill>
                  <a:srgbClr val="263845"/>
                </a:solidFill>
                <a:latin typeface="Arial"/>
                <a:ea typeface="Arial"/>
                <a:cs typeface="Arial"/>
              </a:rPr>
              <a:t>Reaction-time data are typically right-skewed.</a:t>
            </a:r>
          </a:p>
          <a:p>
            <a:endParaRPr sz="975">
              <a:solidFill>
                <a:srgbClr val="263845"/>
              </a:solidFill>
              <a:latin typeface="Arial"/>
              <a:ea typeface="Arial"/>
              <a:cs typeface="Arial"/>
            </a:endParaRPr>
          </a:p>
          <a:p>
            <a:r>
              <a:rPr sz="975">
                <a:solidFill>
                  <a:srgbClr val="263845"/>
                </a:solidFill>
                <a:latin typeface="Arial"/>
                <a:ea typeface="Arial"/>
                <a:cs typeface="Arial"/>
              </a:rPr>
              <a:t>Using log_rt reduces skew and makes linear-model assumptions more plausible.</a:t>
            </a:r>
          </a:p>
          <a:p>
            <a:endParaRPr sz="975">
              <a:solidFill>
                <a:srgbClr val="263845"/>
              </a:solidFill>
              <a:latin typeface="Arial"/>
              <a:ea typeface="Arial"/>
              <a:cs typeface="Arial"/>
            </a:endParaRPr>
          </a:p>
          <a:p>
            <a:r>
              <a:rPr sz="975">
                <a:solidFill>
                  <a:srgbClr val="263845"/>
                </a:solidFill>
                <a:latin typeface="Arial"/>
                <a:ea typeface="Arial"/>
                <a:cs typeface="Arial"/>
              </a:rPr>
              <a:t>Diagnostics are still checked.</a:t>
            </a:r>
          </a:p>
        </p:txBody>
      </p:sp>
      <p:sp>
        <p:nvSpPr>
          <p:cNvPr id="9" name="Rectangle 8">
            <a:extLst>
              <a:ext uri="{FF2B5EF4-FFF2-40B4-BE49-F238E27FC236}">
                <a16:creationId xmlns:a16="http://schemas.microsoft.com/office/drawing/2014/main" id="{55E40732-55F9-4B52-9E00-CE328CA256AF}"/>
              </a:ext>
            </a:extLst>
          </p:cNvPr>
          <p:cNvSpPr>
            <a:spLocks noGrp="1"/>
          </p:cNvSpPr>
          <p:nvPr/>
        </p:nvSpPr>
        <p:spPr>
          <a:xfrm>
            <a:off x="3400425" y="1285875"/>
            <a:ext cx="2333625" cy="171450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10" name="Rectangle 9">
            <a:extLst>
              <a:ext uri="{FF2B5EF4-FFF2-40B4-BE49-F238E27FC236}">
                <a16:creationId xmlns:a16="http://schemas.microsoft.com/office/drawing/2014/main" id="{B783B11A-22E1-45CD-B8D5-8EBE4C064937}"/>
              </a:ext>
            </a:extLst>
          </p:cNvPr>
          <p:cNvSpPr>
            <a:spLocks noGrp="1"/>
          </p:cNvSpPr>
          <p:nvPr/>
        </p:nvSpPr>
        <p:spPr>
          <a:xfrm>
            <a:off x="3514725" y="1381125"/>
            <a:ext cx="2105025" cy="190500"/>
          </a:xfrm>
          <a:prstGeom prst="rect">
            <a:avLst/>
          </a:prstGeom>
        </p:spPr>
        <p:txBody>
          <a:bodyPr lIns="0" tIns="0" rIns="0" bIns="0"/>
          <a:lstStyle/>
          <a:p>
            <a:r>
              <a:rPr sz="900" b="1">
                <a:solidFill>
                  <a:srgbClr val="003A61"/>
                </a:solidFill>
                <a:latin typeface="Arial"/>
                <a:ea typeface="Arial"/>
                <a:cs typeface="Arial"/>
              </a:rPr>
              <a:t>Why mixed effects?</a:t>
            </a:r>
          </a:p>
        </p:txBody>
      </p:sp>
      <p:sp>
        <p:nvSpPr>
          <p:cNvPr id="11" name="Rectangle 10">
            <a:extLst>
              <a:ext uri="{FF2B5EF4-FFF2-40B4-BE49-F238E27FC236}">
                <a16:creationId xmlns:a16="http://schemas.microsoft.com/office/drawing/2014/main" id="{F8C623E7-34CC-463B-BC5B-A7B422B477F2}"/>
              </a:ext>
            </a:extLst>
          </p:cNvPr>
          <p:cNvSpPr>
            <a:spLocks noGrp="1"/>
          </p:cNvSpPr>
          <p:nvPr/>
        </p:nvSpPr>
        <p:spPr>
          <a:xfrm>
            <a:off x="3514725" y="1609725"/>
            <a:ext cx="2105025" cy="1314450"/>
          </a:xfrm>
          <a:prstGeom prst="rect">
            <a:avLst/>
          </a:prstGeom>
        </p:spPr>
        <p:txBody>
          <a:bodyPr lIns="0" tIns="0" rIns="0" bIns="0"/>
          <a:lstStyle/>
          <a:p>
            <a:r>
              <a:rPr sz="975">
                <a:solidFill>
                  <a:srgbClr val="263845"/>
                </a:solidFill>
                <a:latin typeface="Arial"/>
                <a:ea typeface="Arial"/>
                <a:cs typeface="Arial"/>
              </a:rPr>
              <a:t>Each participant sees many items.</a:t>
            </a:r>
          </a:p>
          <a:p>
            <a:endParaRPr sz="975">
              <a:solidFill>
                <a:srgbClr val="263845"/>
              </a:solidFill>
              <a:latin typeface="Arial"/>
              <a:ea typeface="Arial"/>
              <a:cs typeface="Arial"/>
            </a:endParaRPr>
          </a:p>
          <a:p>
            <a:r>
              <a:rPr sz="975">
                <a:solidFill>
                  <a:srgbClr val="263845"/>
                </a:solidFill>
                <a:latin typeface="Arial"/>
                <a:ea typeface="Arial"/>
                <a:cs typeface="Arial"/>
              </a:rPr>
              <a:t>Each item is seen by many participants.</a:t>
            </a:r>
          </a:p>
          <a:p>
            <a:endParaRPr sz="975">
              <a:solidFill>
                <a:srgbClr val="263845"/>
              </a:solidFill>
              <a:latin typeface="Arial"/>
              <a:ea typeface="Arial"/>
              <a:cs typeface="Arial"/>
            </a:endParaRPr>
          </a:p>
          <a:p>
            <a:r>
              <a:rPr sz="975">
                <a:solidFill>
                  <a:srgbClr val="263845"/>
                </a:solidFill>
                <a:latin typeface="Arial"/>
                <a:ea typeface="Arial"/>
                <a:cs typeface="Arial"/>
              </a:rPr>
              <a:t>Random intercepts account for participant and item variability.</a:t>
            </a:r>
          </a:p>
        </p:txBody>
      </p:sp>
      <p:sp>
        <p:nvSpPr>
          <p:cNvPr id="12" name="Rectangle 11">
            <a:extLst>
              <a:ext uri="{FF2B5EF4-FFF2-40B4-BE49-F238E27FC236}">
                <a16:creationId xmlns:a16="http://schemas.microsoft.com/office/drawing/2014/main" id="{D808EA73-ABE1-4219-9779-BF409202B4F6}"/>
              </a:ext>
            </a:extLst>
          </p:cNvPr>
          <p:cNvSpPr>
            <a:spLocks noGrp="1"/>
          </p:cNvSpPr>
          <p:nvPr/>
        </p:nvSpPr>
        <p:spPr>
          <a:xfrm>
            <a:off x="6143625" y="1285875"/>
            <a:ext cx="2047875" cy="171450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13" name="Rectangle 12">
            <a:extLst>
              <a:ext uri="{FF2B5EF4-FFF2-40B4-BE49-F238E27FC236}">
                <a16:creationId xmlns:a16="http://schemas.microsoft.com/office/drawing/2014/main" id="{13809B2E-DA66-4397-AF88-A6F4D39D6046}"/>
              </a:ext>
            </a:extLst>
          </p:cNvPr>
          <p:cNvSpPr>
            <a:spLocks noGrp="1"/>
          </p:cNvSpPr>
          <p:nvPr/>
        </p:nvSpPr>
        <p:spPr>
          <a:xfrm>
            <a:off x="6257925" y="1381125"/>
            <a:ext cx="1819275" cy="190500"/>
          </a:xfrm>
          <a:prstGeom prst="rect">
            <a:avLst/>
          </a:prstGeom>
        </p:spPr>
        <p:txBody>
          <a:bodyPr lIns="0" tIns="0" rIns="0" bIns="0"/>
          <a:lstStyle/>
          <a:p>
            <a:r>
              <a:rPr sz="900" b="1">
                <a:solidFill>
                  <a:srgbClr val="003A61"/>
                </a:solidFill>
                <a:latin typeface="Arial"/>
                <a:ea typeface="Arial"/>
                <a:cs typeface="Arial"/>
              </a:rPr>
              <a:t>RT model data</a:t>
            </a:r>
          </a:p>
        </p:txBody>
      </p:sp>
      <p:sp>
        <p:nvSpPr>
          <p:cNvPr id="14" name="Rectangle 13">
            <a:extLst>
              <a:ext uri="{FF2B5EF4-FFF2-40B4-BE49-F238E27FC236}">
                <a16:creationId xmlns:a16="http://schemas.microsoft.com/office/drawing/2014/main" id="{6DFAE282-5DA2-46D2-80D7-9C74B1F19185}"/>
              </a:ext>
            </a:extLst>
          </p:cNvPr>
          <p:cNvSpPr>
            <a:spLocks noGrp="1"/>
          </p:cNvSpPr>
          <p:nvPr/>
        </p:nvSpPr>
        <p:spPr>
          <a:xfrm>
            <a:off x="6257925" y="1609725"/>
            <a:ext cx="1819275" cy="1314450"/>
          </a:xfrm>
          <a:prstGeom prst="rect">
            <a:avLst/>
          </a:prstGeom>
        </p:spPr>
        <p:txBody>
          <a:bodyPr lIns="0" tIns="0" rIns="0" bIns="0"/>
          <a:lstStyle/>
          <a:p>
            <a:r>
              <a:rPr sz="975">
                <a:solidFill>
                  <a:srgbClr val="263845"/>
                </a:solidFill>
                <a:latin typeface="Arial"/>
                <a:ea typeface="Arial"/>
                <a:cs typeface="Arial"/>
              </a:rPr>
              <a:t>Correct real-word main trials only</a:t>
            </a:r>
          </a:p>
          <a:p>
            <a:endParaRPr sz="975">
              <a:solidFill>
                <a:srgbClr val="263845"/>
              </a:solidFill>
              <a:latin typeface="Arial"/>
              <a:ea typeface="Arial"/>
              <a:cs typeface="Arial"/>
            </a:endParaRPr>
          </a:p>
          <a:p>
            <a:r>
              <a:rPr sz="975">
                <a:solidFill>
                  <a:srgbClr val="263845"/>
                </a:solidFill>
                <a:latin typeface="Arial"/>
                <a:ea typeface="Arial"/>
                <a:cs typeface="Arial"/>
              </a:rPr>
              <a:t>n = 3,306</a:t>
            </a:r>
          </a:p>
          <a:p>
            <a:r>
              <a:rPr sz="975">
                <a:solidFill>
                  <a:srgbClr val="263845"/>
                </a:solidFill>
                <a:latin typeface="Arial"/>
                <a:ea typeface="Arial"/>
                <a:cs typeface="Arial"/>
              </a:rPr>
              <a:t>participants = 48</a:t>
            </a:r>
          </a:p>
          <a:p>
            <a:r>
              <a:rPr sz="975">
                <a:solidFill>
                  <a:srgbClr val="263845"/>
                </a:solidFill>
                <a:latin typeface="Arial"/>
                <a:ea typeface="Arial"/>
                <a:cs typeface="Arial"/>
              </a:rPr>
              <a:t>items = 72</a:t>
            </a:r>
          </a:p>
        </p:txBody>
      </p:sp>
      <p:sp>
        <p:nvSpPr>
          <p:cNvPr id="15" name="Rectangle 14">
            <a:extLst>
              <a:ext uri="{FF2B5EF4-FFF2-40B4-BE49-F238E27FC236}">
                <a16:creationId xmlns:a16="http://schemas.microsoft.com/office/drawing/2014/main" id="{60453BE2-C11A-4F71-AB75-FA4BEC2E6D3E}"/>
              </a:ext>
            </a:extLst>
          </p:cNvPr>
          <p:cNvSpPr>
            <a:spLocks noGrp="1"/>
          </p:cNvSpPr>
          <p:nvPr/>
        </p:nvSpPr>
        <p:spPr>
          <a:xfrm>
            <a:off x="809625" y="3600450"/>
            <a:ext cx="7048500" cy="381000"/>
          </a:xfrm>
          <a:prstGeom prst="rect">
            <a:avLst/>
          </a:prstGeom>
        </p:spPr>
        <p:txBody>
          <a:bodyPr lIns="0" tIns="0" rIns="0" bIns="0"/>
          <a:lstStyle/>
          <a:p>
            <a:pPr algn="ctr">
              <a:defRPr sz="1088" b="1">
                <a:solidFill>
                  <a:srgbClr val="003A61"/>
                </a:solidFill>
                <a:latin typeface="Arial"/>
                <a:ea typeface="Arial"/>
                <a:cs typeface="Arial"/>
              </a:defRPr>
            </a:pPr>
            <a:r>
              <a:rPr sz="1088" b="1">
                <a:solidFill>
                  <a:srgbClr val="003A61"/>
                </a:solidFill>
                <a:latin typeface="Arial"/>
                <a:ea typeface="Arial"/>
                <a:cs typeface="Arial"/>
              </a:rPr>
              <a:t>Accuracy is summarized separately because pseudowords are central for task quality but not part of the real-word RT model.</a:t>
            </a:r>
          </a:p>
        </p:txBody>
      </p:sp>
    </p:spTree>
    <p:extLst>
      <p:ext uri="{BB962C8B-B14F-4D97-AF65-F5344CB8AC3E}">
        <p14:creationId xmlns:p14="http://schemas.microsoft.com/office/powerpoint/2010/main" val="1826234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CC29FF0-3D58-4315-A19A-5E6A7EA5D1C4}"/>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78201816-5961-4F0F-A17E-263B2D6AC684}"/>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18 | MODEL</a:t>
            </a:r>
          </a:p>
        </p:txBody>
      </p:sp>
      <p:sp>
        <p:nvSpPr>
          <p:cNvPr id="3" name="Rectangle 2">
            <a:extLst>
              <a:ext uri="{FF2B5EF4-FFF2-40B4-BE49-F238E27FC236}">
                <a16:creationId xmlns:a16="http://schemas.microsoft.com/office/drawing/2014/main" id="{52984345-13B9-40B5-9DE3-4BD4E3051319}"/>
              </a:ext>
            </a:extLst>
          </p:cNvPr>
          <p:cNvSpPr>
            <a:spLocks noGrp="1"/>
          </p:cNvSpPr>
          <p:nvPr/>
        </p:nvSpPr>
        <p:spPr>
          <a:xfrm>
            <a:off x="476250" y="542925"/>
            <a:ext cx="7429500" cy="514350"/>
          </a:xfrm>
          <a:prstGeom prst="rect">
            <a:avLst/>
          </a:prstGeom>
        </p:spPr>
        <p:txBody>
          <a:bodyPr lIns="0" tIns="0" rIns="0" bIns="0"/>
          <a:lstStyle/>
          <a:p>
            <a:r>
              <a:rPr sz="2175" b="1" dirty="0">
                <a:solidFill>
                  <a:srgbClr val="003A61"/>
                </a:solidFill>
                <a:latin typeface="Arial"/>
                <a:ea typeface="Arial"/>
                <a:cs typeface="Arial"/>
              </a:rPr>
              <a:t>The main model estimates frequency, syllable length, and their interaction with participant and item intercepts.</a:t>
            </a:r>
          </a:p>
        </p:txBody>
      </p:sp>
      <p:sp>
        <p:nvSpPr>
          <p:cNvPr id="4" name="Rectangle 3">
            <a:extLst>
              <a:ext uri="{FF2B5EF4-FFF2-40B4-BE49-F238E27FC236}">
                <a16:creationId xmlns:a16="http://schemas.microsoft.com/office/drawing/2014/main" id="{11C6EBFC-A4DA-4C38-AC83-6680BFF7FDC3}"/>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7F8F619E-4D4A-43BB-A61C-8E8DE27DDF02}"/>
              </a:ext>
            </a:extLst>
          </p:cNvPr>
          <p:cNvSpPr>
            <a:spLocks noGrp="1"/>
          </p:cNvSpPr>
          <p:nvPr/>
        </p:nvSpPr>
        <p:spPr>
          <a:xfrm>
            <a:off x="539635" y="1657350"/>
            <a:ext cx="7524750" cy="742950"/>
          </a:xfrm>
          <a:prstGeom prst="rect">
            <a:avLst/>
          </a:prstGeom>
          <a:solidFill>
            <a:srgbClr val="F3F6F8"/>
          </a:solidFill>
          <a:ln w="7620">
            <a:solidFill>
              <a:srgbClr val="003A61"/>
            </a:solidFill>
          </a:ln>
        </p:spPr>
        <p:txBody>
          <a:bodyPr lIns="0" tIns="0" rIns="0" bIns="0"/>
          <a:lstStyle/>
          <a:p>
            <a:r>
              <a:rPr sz="100" dirty="0">
                <a:solidFill>
                  <a:srgbClr val="F3F6F8"/>
                </a:solidFill>
                <a:latin typeface="Arial"/>
                <a:ea typeface="Arial"/>
                <a:cs typeface="Arial"/>
              </a:rPr>
              <a:t>.</a:t>
            </a:r>
          </a:p>
        </p:txBody>
      </p:sp>
      <p:sp>
        <p:nvSpPr>
          <p:cNvPr id="6" name="Rectangle 5">
            <a:extLst>
              <a:ext uri="{FF2B5EF4-FFF2-40B4-BE49-F238E27FC236}">
                <a16:creationId xmlns:a16="http://schemas.microsoft.com/office/drawing/2014/main" id="{E529D0DB-0F96-410E-AA29-B89BC9FE2D44}"/>
              </a:ext>
            </a:extLst>
          </p:cNvPr>
          <p:cNvSpPr>
            <a:spLocks noGrp="1"/>
          </p:cNvSpPr>
          <p:nvPr/>
        </p:nvSpPr>
        <p:spPr>
          <a:xfrm>
            <a:off x="749185" y="1828800"/>
            <a:ext cx="7105650" cy="400050"/>
          </a:xfrm>
          <a:prstGeom prst="rect">
            <a:avLst/>
          </a:prstGeom>
        </p:spPr>
        <p:txBody>
          <a:bodyPr lIns="0" tIns="0" rIns="0" bIns="0"/>
          <a:lstStyle/>
          <a:p>
            <a:pPr algn="ctr">
              <a:defRPr sz="1350" b="1">
                <a:solidFill>
                  <a:srgbClr val="003A61"/>
                </a:solidFill>
                <a:latin typeface="Arial"/>
                <a:ea typeface="Arial"/>
                <a:cs typeface="Arial"/>
              </a:defRPr>
            </a:pPr>
            <a:r>
              <a:rPr sz="1350" b="1" dirty="0" err="1">
                <a:solidFill>
                  <a:srgbClr val="003A61"/>
                </a:solidFill>
                <a:latin typeface="Arial"/>
                <a:ea typeface="Arial"/>
                <a:cs typeface="Arial"/>
              </a:rPr>
              <a:t>log_rt</a:t>
            </a:r>
            <a:r>
              <a:rPr sz="1350" b="1" dirty="0">
                <a:solidFill>
                  <a:srgbClr val="003A61"/>
                </a:solidFill>
                <a:latin typeface="Arial"/>
                <a:ea typeface="Arial"/>
                <a:cs typeface="Arial"/>
              </a:rPr>
              <a:t> ~ </a:t>
            </a:r>
            <a:r>
              <a:rPr sz="1350" b="1" dirty="0" err="1">
                <a:solidFill>
                  <a:srgbClr val="003A61"/>
                </a:solidFill>
                <a:latin typeface="Arial"/>
                <a:ea typeface="Arial"/>
                <a:cs typeface="Arial"/>
              </a:rPr>
              <a:t>frequency_group</a:t>
            </a:r>
            <a:r>
              <a:rPr sz="1350" b="1" dirty="0">
                <a:solidFill>
                  <a:srgbClr val="003A61"/>
                </a:solidFill>
                <a:latin typeface="Arial"/>
                <a:ea typeface="Arial"/>
                <a:cs typeface="Arial"/>
              </a:rPr>
              <a:t> * </a:t>
            </a:r>
            <a:r>
              <a:rPr sz="1350" b="1" dirty="0" err="1">
                <a:solidFill>
                  <a:srgbClr val="003A61"/>
                </a:solidFill>
                <a:latin typeface="Arial"/>
                <a:ea typeface="Arial"/>
                <a:cs typeface="Arial"/>
              </a:rPr>
              <a:t>syllable_length</a:t>
            </a:r>
            <a:r>
              <a:rPr sz="1350" b="1" dirty="0">
                <a:solidFill>
                  <a:srgbClr val="003A61"/>
                </a:solidFill>
                <a:latin typeface="Arial"/>
                <a:ea typeface="Arial"/>
                <a:cs typeface="Arial"/>
              </a:rPr>
              <a:t> +</a:t>
            </a:r>
          </a:p>
          <a:p>
            <a:pPr algn="ctr">
              <a:defRPr sz="1350" b="1">
                <a:solidFill>
                  <a:srgbClr val="003A61"/>
                </a:solidFill>
                <a:latin typeface="Arial"/>
                <a:ea typeface="Arial"/>
                <a:cs typeface="Arial"/>
              </a:defRPr>
            </a:pPr>
            <a:r>
              <a:rPr sz="1350" b="1" dirty="0">
                <a:solidFill>
                  <a:srgbClr val="003A61"/>
                </a:solidFill>
                <a:latin typeface="Arial"/>
                <a:ea typeface="Arial"/>
                <a:cs typeface="Arial"/>
              </a:rPr>
              <a:t>(1 | </a:t>
            </a:r>
            <a:r>
              <a:rPr sz="1350" b="1" dirty="0" err="1">
                <a:solidFill>
                  <a:srgbClr val="003A61"/>
                </a:solidFill>
                <a:latin typeface="Arial"/>
                <a:ea typeface="Arial"/>
                <a:cs typeface="Arial"/>
              </a:rPr>
              <a:t>participant_id</a:t>
            </a:r>
            <a:r>
              <a:rPr sz="1350" b="1" dirty="0">
                <a:solidFill>
                  <a:srgbClr val="003A61"/>
                </a:solidFill>
                <a:latin typeface="Arial"/>
                <a:ea typeface="Arial"/>
                <a:cs typeface="Arial"/>
              </a:rPr>
              <a:t>) + (1 | </a:t>
            </a:r>
            <a:r>
              <a:rPr sz="1350" b="1" dirty="0" err="1">
                <a:solidFill>
                  <a:srgbClr val="003A61"/>
                </a:solidFill>
                <a:latin typeface="Arial"/>
                <a:ea typeface="Arial"/>
                <a:cs typeface="Arial"/>
              </a:rPr>
              <a:t>trial_id</a:t>
            </a:r>
            <a:r>
              <a:rPr sz="1350" b="1" dirty="0">
                <a:solidFill>
                  <a:srgbClr val="003A61"/>
                </a:solidFill>
                <a:latin typeface="Arial"/>
                <a:ea typeface="Arial"/>
                <a:cs typeface="Arial"/>
              </a:rPr>
              <a:t>)</a:t>
            </a:r>
          </a:p>
        </p:txBody>
      </p:sp>
      <p:sp>
        <p:nvSpPr>
          <p:cNvPr id="7" name="Rectangle 6">
            <a:extLst>
              <a:ext uri="{FF2B5EF4-FFF2-40B4-BE49-F238E27FC236}">
                <a16:creationId xmlns:a16="http://schemas.microsoft.com/office/drawing/2014/main" id="{046A67A6-86A8-4149-AAE4-49A43C66BF58}"/>
              </a:ext>
            </a:extLst>
          </p:cNvPr>
          <p:cNvSpPr>
            <a:spLocks noGrp="1"/>
          </p:cNvSpPr>
          <p:nvPr/>
        </p:nvSpPr>
        <p:spPr>
          <a:xfrm>
            <a:off x="539635" y="2667000"/>
            <a:ext cx="1952625" cy="323850"/>
          </a:xfrm>
          <a:prstGeom prst="rect">
            <a:avLst/>
          </a:prstGeom>
          <a:solidFill>
            <a:srgbClr val="003A61"/>
          </a:solidFill>
          <a:ln w="7620">
            <a:solidFill>
              <a:srgbClr val="003A61"/>
            </a:solidFill>
          </a:ln>
        </p:spPr>
      </p:sp>
      <p:sp>
        <p:nvSpPr>
          <p:cNvPr id="8" name="Rectangle 7">
            <a:extLst>
              <a:ext uri="{FF2B5EF4-FFF2-40B4-BE49-F238E27FC236}">
                <a16:creationId xmlns:a16="http://schemas.microsoft.com/office/drawing/2014/main" id="{5A134999-8836-450D-8E3B-095E2A77F9B6}"/>
              </a:ext>
            </a:extLst>
          </p:cNvPr>
          <p:cNvSpPr>
            <a:spLocks noGrp="1"/>
          </p:cNvSpPr>
          <p:nvPr/>
        </p:nvSpPr>
        <p:spPr>
          <a:xfrm>
            <a:off x="596785" y="2724150"/>
            <a:ext cx="1838325" cy="247650"/>
          </a:xfrm>
          <a:prstGeom prst="rect">
            <a:avLst/>
          </a:prstGeom>
        </p:spPr>
        <p:txBody>
          <a:bodyPr lIns="0" tIns="0" rIns="0" bIns="0"/>
          <a:lstStyle/>
          <a:p>
            <a:pPr algn="l">
              <a:defRPr sz="713" b="1">
                <a:solidFill>
                  <a:srgbClr val="FFFFFF"/>
                </a:solidFill>
                <a:latin typeface="Arial"/>
                <a:ea typeface="Arial"/>
                <a:cs typeface="Arial"/>
              </a:defRPr>
            </a:pPr>
            <a:r>
              <a:rPr sz="713" b="1">
                <a:solidFill>
                  <a:srgbClr val="FFFFFF"/>
                </a:solidFill>
                <a:latin typeface="Arial"/>
                <a:ea typeface="Arial"/>
                <a:cs typeface="Arial"/>
              </a:rPr>
              <a:t>Random effect</a:t>
            </a:r>
          </a:p>
        </p:txBody>
      </p:sp>
      <p:sp>
        <p:nvSpPr>
          <p:cNvPr id="9" name="Rectangle 8">
            <a:extLst>
              <a:ext uri="{FF2B5EF4-FFF2-40B4-BE49-F238E27FC236}">
                <a16:creationId xmlns:a16="http://schemas.microsoft.com/office/drawing/2014/main" id="{D4688CD8-2945-4E3A-B36D-D0CFA5A5DAE3}"/>
              </a:ext>
            </a:extLst>
          </p:cNvPr>
          <p:cNvSpPr>
            <a:spLocks noGrp="1"/>
          </p:cNvSpPr>
          <p:nvPr/>
        </p:nvSpPr>
        <p:spPr>
          <a:xfrm>
            <a:off x="2492260" y="2667000"/>
            <a:ext cx="1333500" cy="323850"/>
          </a:xfrm>
          <a:prstGeom prst="rect">
            <a:avLst/>
          </a:prstGeom>
          <a:solidFill>
            <a:srgbClr val="003A61"/>
          </a:solidFill>
          <a:ln w="7620">
            <a:solidFill>
              <a:srgbClr val="003A61"/>
            </a:solidFill>
          </a:ln>
        </p:spPr>
      </p:sp>
      <p:sp>
        <p:nvSpPr>
          <p:cNvPr id="10" name="Rectangle 9">
            <a:extLst>
              <a:ext uri="{FF2B5EF4-FFF2-40B4-BE49-F238E27FC236}">
                <a16:creationId xmlns:a16="http://schemas.microsoft.com/office/drawing/2014/main" id="{C26B808F-6872-4FB8-AA9D-35432DFCCB21}"/>
              </a:ext>
            </a:extLst>
          </p:cNvPr>
          <p:cNvSpPr>
            <a:spLocks noGrp="1"/>
          </p:cNvSpPr>
          <p:nvPr/>
        </p:nvSpPr>
        <p:spPr>
          <a:xfrm>
            <a:off x="2549410" y="2724150"/>
            <a:ext cx="1219200" cy="24765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Variance</a:t>
            </a:r>
          </a:p>
        </p:txBody>
      </p:sp>
      <p:sp>
        <p:nvSpPr>
          <p:cNvPr id="11" name="Rectangle 10">
            <a:extLst>
              <a:ext uri="{FF2B5EF4-FFF2-40B4-BE49-F238E27FC236}">
                <a16:creationId xmlns:a16="http://schemas.microsoft.com/office/drawing/2014/main" id="{C9108091-2D6C-43E8-9053-FE07934D9A0D}"/>
              </a:ext>
            </a:extLst>
          </p:cNvPr>
          <p:cNvSpPr>
            <a:spLocks noGrp="1"/>
          </p:cNvSpPr>
          <p:nvPr/>
        </p:nvSpPr>
        <p:spPr>
          <a:xfrm>
            <a:off x="3825760" y="2667000"/>
            <a:ext cx="1333500" cy="323850"/>
          </a:xfrm>
          <a:prstGeom prst="rect">
            <a:avLst/>
          </a:prstGeom>
          <a:solidFill>
            <a:srgbClr val="003A61"/>
          </a:solidFill>
          <a:ln w="7620">
            <a:solidFill>
              <a:srgbClr val="003A61"/>
            </a:solidFill>
          </a:ln>
        </p:spPr>
      </p:sp>
      <p:sp>
        <p:nvSpPr>
          <p:cNvPr id="12" name="Rectangle 11">
            <a:extLst>
              <a:ext uri="{FF2B5EF4-FFF2-40B4-BE49-F238E27FC236}">
                <a16:creationId xmlns:a16="http://schemas.microsoft.com/office/drawing/2014/main" id="{947DD13F-DA67-409E-9D84-18A68C9A723B}"/>
              </a:ext>
            </a:extLst>
          </p:cNvPr>
          <p:cNvSpPr>
            <a:spLocks noGrp="1"/>
          </p:cNvSpPr>
          <p:nvPr/>
        </p:nvSpPr>
        <p:spPr>
          <a:xfrm>
            <a:off x="3882910" y="2724150"/>
            <a:ext cx="1219200" cy="24765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Std. dev.</a:t>
            </a:r>
          </a:p>
        </p:txBody>
      </p:sp>
      <p:sp>
        <p:nvSpPr>
          <p:cNvPr id="13" name="Rectangle 12">
            <a:extLst>
              <a:ext uri="{FF2B5EF4-FFF2-40B4-BE49-F238E27FC236}">
                <a16:creationId xmlns:a16="http://schemas.microsoft.com/office/drawing/2014/main" id="{E9D15559-C883-41AB-AEA6-B2FE78E81F3D}"/>
              </a:ext>
            </a:extLst>
          </p:cNvPr>
          <p:cNvSpPr>
            <a:spLocks noGrp="1"/>
          </p:cNvSpPr>
          <p:nvPr/>
        </p:nvSpPr>
        <p:spPr>
          <a:xfrm>
            <a:off x="539635" y="2990850"/>
            <a:ext cx="1952625" cy="323850"/>
          </a:xfrm>
          <a:prstGeom prst="rect">
            <a:avLst/>
          </a:prstGeom>
          <a:solidFill>
            <a:srgbClr val="FFFFFF"/>
          </a:solidFill>
          <a:ln w="7620">
            <a:solidFill>
              <a:srgbClr val="DDECB3"/>
            </a:solidFill>
          </a:ln>
        </p:spPr>
      </p:sp>
      <p:sp>
        <p:nvSpPr>
          <p:cNvPr id="14" name="Rectangle 13">
            <a:extLst>
              <a:ext uri="{FF2B5EF4-FFF2-40B4-BE49-F238E27FC236}">
                <a16:creationId xmlns:a16="http://schemas.microsoft.com/office/drawing/2014/main" id="{B933034F-0B32-4426-9F02-DD89305ADC18}"/>
              </a:ext>
            </a:extLst>
          </p:cNvPr>
          <p:cNvSpPr>
            <a:spLocks noGrp="1"/>
          </p:cNvSpPr>
          <p:nvPr/>
        </p:nvSpPr>
        <p:spPr>
          <a:xfrm>
            <a:off x="596785" y="3048000"/>
            <a:ext cx="1838325" cy="24765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participant_id</a:t>
            </a:r>
          </a:p>
        </p:txBody>
      </p:sp>
      <p:sp>
        <p:nvSpPr>
          <p:cNvPr id="15" name="Rectangle 14">
            <a:extLst>
              <a:ext uri="{FF2B5EF4-FFF2-40B4-BE49-F238E27FC236}">
                <a16:creationId xmlns:a16="http://schemas.microsoft.com/office/drawing/2014/main" id="{6F7F997B-F779-4745-977A-C1C257AB3D09}"/>
              </a:ext>
            </a:extLst>
          </p:cNvPr>
          <p:cNvSpPr>
            <a:spLocks noGrp="1"/>
          </p:cNvSpPr>
          <p:nvPr/>
        </p:nvSpPr>
        <p:spPr>
          <a:xfrm>
            <a:off x="2492260" y="2990850"/>
            <a:ext cx="1333500" cy="323850"/>
          </a:xfrm>
          <a:prstGeom prst="rect">
            <a:avLst/>
          </a:prstGeom>
          <a:solidFill>
            <a:srgbClr val="FFFFFF"/>
          </a:solidFill>
          <a:ln w="7620">
            <a:solidFill>
              <a:srgbClr val="DDECB3"/>
            </a:solidFill>
          </a:ln>
        </p:spPr>
      </p:sp>
      <p:sp>
        <p:nvSpPr>
          <p:cNvPr id="16" name="Rectangle 15">
            <a:extLst>
              <a:ext uri="{FF2B5EF4-FFF2-40B4-BE49-F238E27FC236}">
                <a16:creationId xmlns:a16="http://schemas.microsoft.com/office/drawing/2014/main" id="{9B6415F9-6B37-4E56-B9A3-3FE39FB0C5D4}"/>
              </a:ext>
            </a:extLst>
          </p:cNvPr>
          <p:cNvSpPr>
            <a:spLocks noGrp="1"/>
          </p:cNvSpPr>
          <p:nvPr/>
        </p:nvSpPr>
        <p:spPr>
          <a:xfrm>
            <a:off x="2549410" y="3048000"/>
            <a:ext cx="1219200" cy="2476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0.0148</a:t>
            </a:r>
          </a:p>
        </p:txBody>
      </p:sp>
      <p:sp>
        <p:nvSpPr>
          <p:cNvPr id="17" name="Rectangle 16">
            <a:extLst>
              <a:ext uri="{FF2B5EF4-FFF2-40B4-BE49-F238E27FC236}">
                <a16:creationId xmlns:a16="http://schemas.microsoft.com/office/drawing/2014/main" id="{423B74DE-76EE-4120-9A24-65D9BBC70525}"/>
              </a:ext>
            </a:extLst>
          </p:cNvPr>
          <p:cNvSpPr>
            <a:spLocks noGrp="1"/>
          </p:cNvSpPr>
          <p:nvPr/>
        </p:nvSpPr>
        <p:spPr>
          <a:xfrm>
            <a:off x="3825760" y="2990850"/>
            <a:ext cx="1333500" cy="323850"/>
          </a:xfrm>
          <a:prstGeom prst="rect">
            <a:avLst/>
          </a:prstGeom>
          <a:solidFill>
            <a:srgbClr val="FFFFFF"/>
          </a:solidFill>
          <a:ln w="7620">
            <a:solidFill>
              <a:srgbClr val="DDECB3"/>
            </a:solidFill>
          </a:ln>
        </p:spPr>
      </p:sp>
      <p:sp>
        <p:nvSpPr>
          <p:cNvPr id="18" name="Rectangle 17">
            <a:extLst>
              <a:ext uri="{FF2B5EF4-FFF2-40B4-BE49-F238E27FC236}">
                <a16:creationId xmlns:a16="http://schemas.microsoft.com/office/drawing/2014/main" id="{C3832DA6-5F25-45E8-AF8A-A88E12D0014B}"/>
              </a:ext>
            </a:extLst>
          </p:cNvPr>
          <p:cNvSpPr>
            <a:spLocks noGrp="1"/>
          </p:cNvSpPr>
          <p:nvPr/>
        </p:nvSpPr>
        <p:spPr>
          <a:xfrm>
            <a:off x="3882910" y="3048000"/>
            <a:ext cx="1219200" cy="2476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0.1217</a:t>
            </a:r>
          </a:p>
        </p:txBody>
      </p:sp>
      <p:sp>
        <p:nvSpPr>
          <p:cNvPr id="19" name="Rectangle 18">
            <a:extLst>
              <a:ext uri="{FF2B5EF4-FFF2-40B4-BE49-F238E27FC236}">
                <a16:creationId xmlns:a16="http://schemas.microsoft.com/office/drawing/2014/main" id="{634410C4-5E4A-4309-AB5E-3A6305436032}"/>
              </a:ext>
            </a:extLst>
          </p:cNvPr>
          <p:cNvSpPr>
            <a:spLocks noGrp="1"/>
          </p:cNvSpPr>
          <p:nvPr/>
        </p:nvSpPr>
        <p:spPr>
          <a:xfrm>
            <a:off x="539635" y="3314700"/>
            <a:ext cx="1952625" cy="323850"/>
          </a:xfrm>
          <a:prstGeom prst="rect">
            <a:avLst/>
          </a:prstGeom>
          <a:solidFill>
            <a:srgbClr val="FFFFFF"/>
          </a:solidFill>
          <a:ln w="7620">
            <a:solidFill>
              <a:srgbClr val="DDECB3"/>
            </a:solidFill>
          </a:ln>
        </p:spPr>
      </p:sp>
      <p:sp>
        <p:nvSpPr>
          <p:cNvPr id="20" name="Rectangle 19">
            <a:extLst>
              <a:ext uri="{FF2B5EF4-FFF2-40B4-BE49-F238E27FC236}">
                <a16:creationId xmlns:a16="http://schemas.microsoft.com/office/drawing/2014/main" id="{80C3CCA4-4B1E-44B6-8A07-48417714FE56}"/>
              </a:ext>
            </a:extLst>
          </p:cNvPr>
          <p:cNvSpPr>
            <a:spLocks noGrp="1"/>
          </p:cNvSpPr>
          <p:nvPr/>
        </p:nvSpPr>
        <p:spPr>
          <a:xfrm>
            <a:off x="596785" y="3371850"/>
            <a:ext cx="1838325" cy="24765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trial_id</a:t>
            </a:r>
          </a:p>
        </p:txBody>
      </p:sp>
      <p:sp>
        <p:nvSpPr>
          <p:cNvPr id="21" name="Rectangle 20">
            <a:extLst>
              <a:ext uri="{FF2B5EF4-FFF2-40B4-BE49-F238E27FC236}">
                <a16:creationId xmlns:a16="http://schemas.microsoft.com/office/drawing/2014/main" id="{EE2E7288-61C6-4514-8B1D-10F045DA7E30}"/>
              </a:ext>
            </a:extLst>
          </p:cNvPr>
          <p:cNvSpPr>
            <a:spLocks noGrp="1"/>
          </p:cNvSpPr>
          <p:nvPr/>
        </p:nvSpPr>
        <p:spPr>
          <a:xfrm>
            <a:off x="2492260" y="3314700"/>
            <a:ext cx="1333500" cy="323850"/>
          </a:xfrm>
          <a:prstGeom prst="rect">
            <a:avLst/>
          </a:prstGeom>
          <a:solidFill>
            <a:srgbClr val="FFFFFF"/>
          </a:solidFill>
          <a:ln w="7620">
            <a:solidFill>
              <a:srgbClr val="DDECB3"/>
            </a:solidFill>
          </a:ln>
        </p:spPr>
      </p:sp>
      <p:sp>
        <p:nvSpPr>
          <p:cNvPr id="22" name="Rectangle 21">
            <a:extLst>
              <a:ext uri="{FF2B5EF4-FFF2-40B4-BE49-F238E27FC236}">
                <a16:creationId xmlns:a16="http://schemas.microsoft.com/office/drawing/2014/main" id="{2D3BAC43-570F-4DBA-B1EE-9AF70BCE2554}"/>
              </a:ext>
            </a:extLst>
          </p:cNvPr>
          <p:cNvSpPr>
            <a:spLocks noGrp="1"/>
          </p:cNvSpPr>
          <p:nvPr/>
        </p:nvSpPr>
        <p:spPr>
          <a:xfrm>
            <a:off x="2549410" y="3371850"/>
            <a:ext cx="1219200" cy="2476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0.0008</a:t>
            </a:r>
          </a:p>
        </p:txBody>
      </p:sp>
      <p:sp>
        <p:nvSpPr>
          <p:cNvPr id="23" name="Rectangle 22">
            <a:extLst>
              <a:ext uri="{FF2B5EF4-FFF2-40B4-BE49-F238E27FC236}">
                <a16:creationId xmlns:a16="http://schemas.microsoft.com/office/drawing/2014/main" id="{31557AF8-84FA-49F2-9D26-CC2801A0ED5C}"/>
              </a:ext>
            </a:extLst>
          </p:cNvPr>
          <p:cNvSpPr>
            <a:spLocks noGrp="1"/>
          </p:cNvSpPr>
          <p:nvPr/>
        </p:nvSpPr>
        <p:spPr>
          <a:xfrm>
            <a:off x="3825760" y="3314700"/>
            <a:ext cx="1333500" cy="323850"/>
          </a:xfrm>
          <a:prstGeom prst="rect">
            <a:avLst/>
          </a:prstGeom>
          <a:solidFill>
            <a:srgbClr val="FFFFFF"/>
          </a:solidFill>
          <a:ln w="7620">
            <a:solidFill>
              <a:srgbClr val="DDECB3"/>
            </a:solidFill>
          </a:ln>
        </p:spPr>
      </p:sp>
      <p:sp>
        <p:nvSpPr>
          <p:cNvPr id="24" name="Rectangle 23">
            <a:extLst>
              <a:ext uri="{FF2B5EF4-FFF2-40B4-BE49-F238E27FC236}">
                <a16:creationId xmlns:a16="http://schemas.microsoft.com/office/drawing/2014/main" id="{8B8D9319-E67B-416C-BA15-2C5789D5422A}"/>
              </a:ext>
            </a:extLst>
          </p:cNvPr>
          <p:cNvSpPr>
            <a:spLocks noGrp="1"/>
          </p:cNvSpPr>
          <p:nvPr/>
        </p:nvSpPr>
        <p:spPr>
          <a:xfrm>
            <a:off x="3882910" y="3371850"/>
            <a:ext cx="1219200" cy="2476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0.0291</a:t>
            </a:r>
          </a:p>
        </p:txBody>
      </p:sp>
      <p:sp>
        <p:nvSpPr>
          <p:cNvPr id="25" name="Rectangle 24">
            <a:extLst>
              <a:ext uri="{FF2B5EF4-FFF2-40B4-BE49-F238E27FC236}">
                <a16:creationId xmlns:a16="http://schemas.microsoft.com/office/drawing/2014/main" id="{CB909634-E788-4402-A107-7B21CF1EBCF8}"/>
              </a:ext>
            </a:extLst>
          </p:cNvPr>
          <p:cNvSpPr>
            <a:spLocks noGrp="1"/>
          </p:cNvSpPr>
          <p:nvPr/>
        </p:nvSpPr>
        <p:spPr>
          <a:xfrm>
            <a:off x="539635" y="3638550"/>
            <a:ext cx="1952625" cy="323850"/>
          </a:xfrm>
          <a:prstGeom prst="rect">
            <a:avLst/>
          </a:prstGeom>
          <a:solidFill>
            <a:srgbClr val="FFFFFF"/>
          </a:solidFill>
          <a:ln w="7620">
            <a:solidFill>
              <a:srgbClr val="DDECB3"/>
            </a:solidFill>
          </a:ln>
        </p:spPr>
      </p:sp>
      <p:sp>
        <p:nvSpPr>
          <p:cNvPr id="26" name="Rectangle 25">
            <a:extLst>
              <a:ext uri="{FF2B5EF4-FFF2-40B4-BE49-F238E27FC236}">
                <a16:creationId xmlns:a16="http://schemas.microsoft.com/office/drawing/2014/main" id="{3CE389ED-1A18-44D2-9C87-D0E25A75EF2C}"/>
              </a:ext>
            </a:extLst>
          </p:cNvPr>
          <p:cNvSpPr>
            <a:spLocks noGrp="1"/>
          </p:cNvSpPr>
          <p:nvPr/>
        </p:nvSpPr>
        <p:spPr>
          <a:xfrm>
            <a:off x="596785" y="3695700"/>
            <a:ext cx="1838325" cy="24765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residual</a:t>
            </a:r>
          </a:p>
        </p:txBody>
      </p:sp>
      <p:sp>
        <p:nvSpPr>
          <p:cNvPr id="27" name="Rectangle 26">
            <a:extLst>
              <a:ext uri="{FF2B5EF4-FFF2-40B4-BE49-F238E27FC236}">
                <a16:creationId xmlns:a16="http://schemas.microsoft.com/office/drawing/2014/main" id="{29130CE9-D13C-451D-8AE2-9DC22EE28967}"/>
              </a:ext>
            </a:extLst>
          </p:cNvPr>
          <p:cNvSpPr>
            <a:spLocks noGrp="1"/>
          </p:cNvSpPr>
          <p:nvPr/>
        </p:nvSpPr>
        <p:spPr>
          <a:xfrm>
            <a:off x="2492260" y="3638550"/>
            <a:ext cx="1333500" cy="323850"/>
          </a:xfrm>
          <a:prstGeom prst="rect">
            <a:avLst/>
          </a:prstGeom>
          <a:solidFill>
            <a:srgbClr val="FFFFFF"/>
          </a:solidFill>
          <a:ln w="7620">
            <a:solidFill>
              <a:srgbClr val="DDECB3"/>
            </a:solidFill>
          </a:ln>
        </p:spPr>
      </p:sp>
      <p:sp>
        <p:nvSpPr>
          <p:cNvPr id="28" name="Rectangle 27">
            <a:extLst>
              <a:ext uri="{FF2B5EF4-FFF2-40B4-BE49-F238E27FC236}">
                <a16:creationId xmlns:a16="http://schemas.microsoft.com/office/drawing/2014/main" id="{A23E2DBD-F0E4-4455-AC0B-370822AE6ECC}"/>
              </a:ext>
            </a:extLst>
          </p:cNvPr>
          <p:cNvSpPr>
            <a:spLocks noGrp="1"/>
          </p:cNvSpPr>
          <p:nvPr/>
        </p:nvSpPr>
        <p:spPr>
          <a:xfrm>
            <a:off x="2549410" y="3695700"/>
            <a:ext cx="1219200" cy="2476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0.0469</a:t>
            </a:r>
          </a:p>
        </p:txBody>
      </p:sp>
      <p:sp>
        <p:nvSpPr>
          <p:cNvPr id="29" name="Rectangle 28">
            <a:extLst>
              <a:ext uri="{FF2B5EF4-FFF2-40B4-BE49-F238E27FC236}">
                <a16:creationId xmlns:a16="http://schemas.microsoft.com/office/drawing/2014/main" id="{E2F9A53C-3B80-4877-8E44-030D42CAC5E6}"/>
              </a:ext>
            </a:extLst>
          </p:cNvPr>
          <p:cNvSpPr>
            <a:spLocks noGrp="1"/>
          </p:cNvSpPr>
          <p:nvPr/>
        </p:nvSpPr>
        <p:spPr>
          <a:xfrm>
            <a:off x="3825760" y="3638550"/>
            <a:ext cx="1333500" cy="323850"/>
          </a:xfrm>
          <a:prstGeom prst="rect">
            <a:avLst/>
          </a:prstGeom>
          <a:solidFill>
            <a:srgbClr val="FFFFFF"/>
          </a:solidFill>
          <a:ln w="7620">
            <a:solidFill>
              <a:srgbClr val="DDECB3"/>
            </a:solidFill>
          </a:ln>
        </p:spPr>
      </p:sp>
      <p:sp>
        <p:nvSpPr>
          <p:cNvPr id="30" name="Rectangle 29">
            <a:extLst>
              <a:ext uri="{FF2B5EF4-FFF2-40B4-BE49-F238E27FC236}">
                <a16:creationId xmlns:a16="http://schemas.microsoft.com/office/drawing/2014/main" id="{28C6A8D1-C1C1-4A55-BB89-A2223503F965}"/>
              </a:ext>
            </a:extLst>
          </p:cNvPr>
          <p:cNvSpPr>
            <a:spLocks noGrp="1"/>
          </p:cNvSpPr>
          <p:nvPr/>
        </p:nvSpPr>
        <p:spPr>
          <a:xfrm>
            <a:off x="3882910" y="3695700"/>
            <a:ext cx="1219200" cy="24765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0.2165</a:t>
            </a:r>
          </a:p>
        </p:txBody>
      </p:sp>
      <p:sp>
        <p:nvSpPr>
          <p:cNvPr id="31" name="Rectangle 30">
            <a:extLst>
              <a:ext uri="{FF2B5EF4-FFF2-40B4-BE49-F238E27FC236}">
                <a16:creationId xmlns:a16="http://schemas.microsoft.com/office/drawing/2014/main" id="{BB37847A-B446-4A70-AF44-C908182E086B}"/>
              </a:ext>
            </a:extLst>
          </p:cNvPr>
          <p:cNvSpPr>
            <a:spLocks noGrp="1"/>
          </p:cNvSpPr>
          <p:nvPr/>
        </p:nvSpPr>
        <p:spPr>
          <a:xfrm>
            <a:off x="6173759" y="2819400"/>
            <a:ext cx="2095500" cy="11239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32" name="Rectangle 31">
            <a:extLst>
              <a:ext uri="{FF2B5EF4-FFF2-40B4-BE49-F238E27FC236}">
                <a16:creationId xmlns:a16="http://schemas.microsoft.com/office/drawing/2014/main" id="{E4B044B6-959F-4CB5-BD65-4E46E99C89E5}"/>
              </a:ext>
            </a:extLst>
          </p:cNvPr>
          <p:cNvSpPr>
            <a:spLocks noGrp="1"/>
          </p:cNvSpPr>
          <p:nvPr/>
        </p:nvSpPr>
        <p:spPr>
          <a:xfrm>
            <a:off x="6288059" y="2914650"/>
            <a:ext cx="1866900" cy="190500"/>
          </a:xfrm>
          <a:prstGeom prst="rect">
            <a:avLst/>
          </a:prstGeom>
        </p:spPr>
        <p:txBody>
          <a:bodyPr lIns="0" tIns="0" rIns="0" bIns="0"/>
          <a:lstStyle/>
          <a:p>
            <a:r>
              <a:rPr sz="900" b="1">
                <a:solidFill>
                  <a:srgbClr val="003A61"/>
                </a:solidFill>
                <a:latin typeface="Arial"/>
                <a:ea typeface="Arial"/>
                <a:cs typeface="Arial"/>
              </a:rPr>
              <a:t>Model status</a:t>
            </a:r>
          </a:p>
        </p:txBody>
      </p:sp>
      <p:sp>
        <p:nvSpPr>
          <p:cNvPr id="33" name="Rectangle 32">
            <a:extLst>
              <a:ext uri="{FF2B5EF4-FFF2-40B4-BE49-F238E27FC236}">
                <a16:creationId xmlns:a16="http://schemas.microsoft.com/office/drawing/2014/main" id="{1ECC0B55-B533-48B1-A9BC-307646B91A38}"/>
              </a:ext>
            </a:extLst>
          </p:cNvPr>
          <p:cNvSpPr>
            <a:spLocks noGrp="1"/>
          </p:cNvSpPr>
          <p:nvPr/>
        </p:nvSpPr>
        <p:spPr>
          <a:xfrm>
            <a:off x="6288059" y="3143250"/>
            <a:ext cx="1866900" cy="723900"/>
          </a:xfrm>
          <a:prstGeom prst="rect">
            <a:avLst/>
          </a:prstGeom>
        </p:spPr>
        <p:txBody>
          <a:bodyPr lIns="0" tIns="0" rIns="0" bIns="0"/>
          <a:lstStyle/>
          <a:p>
            <a:r>
              <a:rPr sz="990">
                <a:solidFill>
                  <a:srgbClr val="263845"/>
                </a:solidFill>
                <a:latin typeface="Arial"/>
                <a:ea typeface="Arial"/>
                <a:cs typeface="Arial"/>
              </a:rPr>
              <a:t>Observations: 3,306</a:t>
            </a:r>
          </a:p>
          <a:p>
            <a:r>
              <a:rPr sz="990">
                <a:solidFill>
                  <a:srgbClr val="263845"/>
                </a:solidFill>
                <a:latin typeface="Arial"/>
                <a:ea typeface="Arial"/>
                <a:cs typeface="Arial"/>
              </a:rPr>
              <a:t>Participants: 48</a:t>
            </a:r>
          </a:p>
          <a:p>
            <a:r>
              <a:rPr sz="990">
                <a:solidFill>
                  <a:srgbClr val="263845"/>
                </a:solidFill>
                <a:latin typeface="Arial"/>
                <a:ea typeface="Arial"/>
                <a:cs typeface="Arial"/>
              </a:rPr>
              <a:t>Items: 72</a:t>
            </a:r>
          </a:p>
          <a:p>
            <a:r>
              <a:rPr sz="990">
                <a:solidFill>
                  <a:srgbClr val="263845"/>
                </a:solidFill>
                <a:latin typeface="Arial"/>
                <a:ea typeface="Arial"/>
                <a:cs typeface="Arial"/>
              </a:rPr>
              <a:t>Singular fit: false</a:t>
            </a:r>
          </a:p>
        </p:txBody>
      </p:sp>
      <p:sp>
        <p:nvSpPr>
          <p:cNvPr id="34" name="Rectangle 33">
            <a:extLst>
              <a:ext uri="{FF2B5EF4-FFF2-40B4-BE49-F238E27FC236}">
                <a16:creationId xmlns:a16="http://schemas.microsoft.com/office/drawing/2014/main" id="{E0AF30F8-607F-43B9-998A-350A6351C2EE}"/>
              </a:ext>
            </a:extLst>
          </p:cNvPr>
          <p:cNvSpPr>
            <a:spLocks noGrp="1"/>
          </p:cNvSpPr>
          <p:nvPr/>
        </p:nvSpPr>
        <p:spPr>
          <a:xfrm>
            <a:off x="1095894" y="4210050"/>
            <a:ext cx="6572250" cy="228600"/>
          </a:xfrm>
          <a:prstGeom prst="rect">
            <a:avLst/>
          </a:prstGeom>
        </p:spPr>
        <p:txBody>
          <a:bodyPr lIns="0" tIns="0" rIns="0" bIns="0"/>
          <a:lstStyle/>
          <a:p>
            <a:pPr algn="ctr">
              <a:defRPr sz="1125" b="1">
                <a:solidFill>
                  <a:srgbClr val="003A61"/>
                </a:solidFill>
                <a:latin typeface="Arial"/>
                <a:ea typeface="Arial"/>
                <a:cs typeface="Arial"/>
              </a:defRPr>
            </a:pPr>
            <a:r>
              <a:rPr sz="1125" b="1">
                <a:solidFill>
                  <a:srgbClr val="003A61"/>
                </a:solidFill>
                <a:latin typeface="Arial"/>
                <a:ea typeface="Arial"/>
                <a:cs typeface="Arial"/>
              </a:rPr>
              <a:t>This structure avoids treating 3,306 rows as fully independent observations.</a:t>
            </a:r>
          </a:p>
        </p:txBody>
      </p:sp>
    </p:spTree>
    <p:extLst>
      <p:ext uri="{BB962C8B-B14F-4D97-AF65-F5344CB8AC3E}">
        <p14:creationId xmlns:p14="http://schemas.microsoft.com/office/powerpoint/2010/main" val="1826234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48F77E-4F33-4F72-83B6-40DDD0B9B91B}"/>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9169327C-9699-4D05-BC63-766EFB973C32}"/>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19 | PRELIMINARY RESULTS</a:t>
            </a:r>
          </a:p>
        </p:txBody>
      </p:sp>
      <p:sp>
        <p:nvSpPr>
          <p:cNvPr id="3" name="Rectangle 2">
            <a:extLst>
              <a:ext uri="{FF2B5EF4-FFF2-40B4-BE49-F238E27FC236}">
                <a16:creationId xmlns:a16="http://schemas.microsoft.com/office/drawing/2014/main" id="{9FD7490C-827D-4B43-B1DA-E111F5820C64}"/>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Descriptively, high-frequency words are faster and longer words are slower.</a:t>
            </a:r>
          </a:p>
        </p:txBody>
      </p:sp>
      <p:sp>
        <p:nvSpPr>
          <p:cNvPr id="4" name="Rectangle 3">
            <a:extLst>
              <a:ext uri="{FF2B5EF4-FFF2-40B4-BE49-F238E27FC236}">
                <a16:creationId xmlns:a16="http://schemas.microsoft.com/office/drawing/2014/main" id="{1B2BD6B7-181F-4B17-B80B-85909B767F79}"/>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pic>
        <p:nvPicPr>
          <p:cNvPr id="47" name="Picture 46"/>
          <p:cNvPicPr>
            <a:picLocks noChangeAspect="1"/>
          </p:cNvPicPr>
          <p:nvPr/>
        </p:nvPicPr>
        <p:blipFill>
          <a:blip r:embed="rId3"/>
          <a:stretch/>
        </p:blipFill>
        <p:spPr>
          <a:xfrm>
            <a:off x="609600" y="1219200"/>
            <a:ext cx="3467100" cy="2476500"/>
          </a:xfrm>
          <a:prstGeom prst="rect">
            <a:avLst/>
          </a:prstGeom>
        </p:spPr>
      </p:pic>
      <p:pic>
        <p:nvPicPr>
          <p:cNvPr id="48" name="Picture 47"/>
          <p:cNvPicPr>
            <a:picLocks noChangeAspect="1"/>
          </p:cNvPicPr>
          <p:nvPr/>
        </p:nvPicPr>
        <p:blipFill>
          <a:blip r:embed="rId4"/>
          <a:stretch/>
        </p:blipFill>
        <p:spPr>
          <a:xfrm>
            <a:off x="4419600" y="1219200"/>
            <a:ext cx="3467100" cy="2476500"/>
          </a:xfrm>
          <a:prstGeom prst="rect">
            <a:avLst/>
          </a:prstGeom>
        </p:spPr>
      </p:pic>
      <p:sp>
        <p:nvSpPr>
          <p:cNvPr id="7" name="Rectangle 6">
            <a:extLst>
              <a:ext uri="{FF2B5EF4-FFF2-40B4-BE49-F238E27FC236}">
                <a16:creationId xmlns:a16="http://schemas.microsoft.com/office/drawing/2014/main" id="{5F19F69A-41B6-46CC-9F1C-55C4FEAB33FA}"/>
              </a:ext>
            </a:extLst>
          </p:cNvPr>
          <p:cNvSpPr>
            <a:spLocks noGrp="1"/>
          </p:cNvSpPr>
          <p:nvPr/>
        </p:nvSpPr>
        <p:spPr>
          <a:xfrm>
            <a:off x="762000" y="3829050"/>
            <a:ext cx="914400" cy="266700"/>
          </a:xfrm>
          <a:prstGeom prst="rect">
            <a:avLst/>
          </a:prstGeom>
          <a:solidFill>
            <a:srgbClr val="003A61"/>
          </a:solidFill>
          <a:ln w="7620">
            <a:solidFill>
              <a:srgbClr val="003A61"/>
            </a:solidFill>
          </a:ln>
        </p:spPr>
      </p:sp>
      <p:sp>
        <p:nvSpPr>
          <p:cNvPr id="8" name="Rectangle 7">
            <a:extLst>
              <a:ext uri="{FF2B5EF4-FFF2-40B4-BE49-F238E27FC236}">
                <a16:creationId xmlns:a16="http://schemas.microsoft.com/office/drawing/2014/main" id="{D14962DD-7918-4E7F-8B63-A48D162AFEEF}"/>
              </a:ext>
            </a:extLst>
          </p:cNvPr>
          <p:cNvSpPr>
            <a:spLocks noGrp="1"/>
          </p:cNvSpPr>
          <p:nvPr/>
        </p:nvSpPr>
        <p:spPr>
          <a:xfrm>
            <a:off x="819150" y="3886200"/>
            <a:ext cx="800100" cy="190500"/>
          </a:xfrm>
          <a:prstGeom prst="rect">
            <a:avLst/>
          </a:prstGeom>
        </p:spPr>
        <p:txBody>
          <a:bodyPr lIns="0" tIns="0" rIns="0" bIns="0"/>
          <a:lstStyle/>
          <a:p>
            <a:pPr algn="l">
              <a:defRPr sz="713" b="1">
                <a:solidFill>
                  <a:srgbClr val="FFFFFF"/>
                </a:solidFill>
                <a:latin typeface="Arial"/>
                <a:ea typeface="Arial"/>
                <a:cs typeface="Arial"/>
              </a:defRPr>
            </a:pPr>
            <a:r>
              <a:rPr sz="713" b="1">
                <a:solidFill>
                  <a:srgbClr val="FFFFFF"/>
                </a:solidFill>
                <a:latin typeface="Arial"/>
                <a:ea typeface="Arial"/>
                <a:cs typeface="Arial"/>
              </a:rPr>
              <a:t>Frequency</a:t>
            </a:r>
          </a:p>
        </p:txBody>
      </p:sp>
      <p:sp>
        <p:nvSpPr>
          <p:cNvPr id="9" name="Rectangle 8">
            <a:extLst>
              <a:ext uri="{FF2B5EF4-FFF2-40B4-BE49-F238E27FC236}">
                <a16:creationId xmlns:a16="http://schemas.microsoft.com/office/drawing/2014/main" id="{07684B56-1DBD-4AD9-B3AB-95BC7F0697C6}"/>
              </a:ext>
            </a:extLst>
          </p:cNvPr>
          <p:cNvSpPr>
            <a:spLocks noGrp="1"/>
          </p:cNvSpPr>
          <p:nvPr/>
        </p:nvSpPr>
        <p:spPr>
          <a:xfrm>
            <a:off x="1676400" y="3829050"/>
            <a:ext cx="819150" cy="266700"/>
          </a:xfrm>
          <a:prstGeom prst="rect">
            <a:avLst/>
          </a:prstGeom>
          <a:solidFill>
            <a:srgbClr val="003A61"/>
          </a:solidFill>
          <a:ln w="7620">
            <a:solidFill>
              <a:srgbClr val="003A61"/>
            </a:solidFill>
          </a:ln>
        </p:spPr>
      </p:sp>
      <p:sp>
        <p:nvSpPr>
          <p:cNvPr id="10" name="Rectangle 9">
            <a:extLst>
              <a:ext uri="{FF2B5EF4-FFF2-40B4-BE49-F238E27FC236}">
                <a16:creationId xmlns:a16="http://schemas.microsoft.com/office/drawing/2014/main" id="{6B4C2239-6E9A-486F-BEEE-FAEE5FF1647F}"/>
              </a:ext>
            </a:extLst>
          </p:cNvPr>
          <p:cNvSpPr>
            <a:spLocks noGrp="1"/>
          </p:cNvSpPr>
          <p:nvPr/>
        </p:nvSpPr>
        <p:spPr>
          <a:xfrm>
            <a:off x="1733550" y="3886200"/>
            <a:ext cx="704850" cy="1905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low</a:t>
            </a:r>
          </a:p>
        </p:txBody>
      </p:sp>
      <p:sp>
        <p:nvSpPr>
          <p:cNvPr id="11" name="Rectangle 10">
            <a:extLst>
              <a:ext uri="{FF2B5EF4-FFF2-40B4-BE49-F238E27FC236}">
                <a16:creationId xmlns:a16="http://schemas.microsoft.com/office/drawing/2014/main" id="{06260BAF-AF44-4A1B-8584-12F7C4E382D8}"/>
              </a:ext>
            </a:extLst>
          </p:cNvPr>
          <p:cNvSpPr>
            <a:spLocks noGrp="1"/>
          </p:cNvSpPr>
          <p:nvPr/>
        </p:nvSpPr>
        <p:spPr>
          <a:xfrm>
            <a:off x="2495550" y="3829050"/>
            <a:ext cx="819150" cy="266700"/>
          </a:xfrm>
          <a:prstGeom prst="rect">
            <a:avLst/>
          </a:prstGeom>
          <a:solidFill>
            <a:srgbClr val="003A61"/>
          </a:solidFill>
          <a:ln w="7620">
            <a:solidFill>
              <a:srgbClr val="003A61"/>
            </a:solidFill>
          </a:ln>
        </p:spPr>
      </p:sp>
      <p:sp>
        <p:nvSpPr>
          <p:cNvPr id="12" name="Rectangle 11">
            <a:extLst>
              <a:ext uri="{FF2B5EF4-FFF2-40B4-BE49-F238E27FC236}">
                <a16:creationId xmlns:a16="http://schemas.microsoft.com/office/drawing/2014/main" id="{042A3D99-035C-42AB-8BBE-DBBC4DFC1F4F}"/>
              </a:ext>
            </a:extLst>
          </p:cNvPr>
          <p:cNvSpPr>
            <a:spLocks noGrp="1"/>
          </p:cNvSpPr>
          <p:nvPr/>
        </p:nvSpPr>
        <p:spPr>
          <a:xfrm>
            <a:off x="2552700" y="3886200"/>
            <a:ext cx="704850" cy="1905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mid</a:t>
            </a:r>
          </a:p>
        </p:txBody>
      </p:sp>
      <p:sp>
        <p:nvSpPr>
          <p:cNvPr id="13" name="Rectangle 12">
            <a:extLst>
              <a:ext uri="{FF2B5EF4-FFF2-40B4-BE49-F238E27FC236}">
                <a16:creationId xmlns:a16="http://schemas.microsoft.com/office/drawing/2014/main" id="{2F25FCE8-8863-4C8B-887F-E3A8818CA575}"/>
              </a:ext>
            </a:extLst>
          </p:cNvPr>
          <p:cNvSpPr>
            <a:spLocks noGrp="1"/>
          </p:cNvSpPr>
          <p:nvPr/>
        </p:nvSpPr>
        <p:spPr>
          <a:xfrm>
            <a:off x="3314700" y="3829050"/>
            <a:ext cx="819150" cy="266700"/>
          </a:xfrm>
          <a:prstGeom prst="rect">
            <a:avLst/>
          </a:prstGeom>
          <a:solidFill>
            <a:srgbClr val="003A61"/>
          </a:solidFill>
          <a:ln w="7620">
            <a:solidFill>
              <a:srgbClr val="003A61"/>
            </a:solidFill>
          </a:ln>
        </p:spPr>
      </p:sp>
      <p:sp>
        <p:nvSpPr>
          <p:cNvPr id="14" name="Rectangle 13">
            <a:extLst>
              <a:ext uri="{FF2B5EF4-FFF2-40B4-BE49-F238E27FC236}">
                <a16:creationId xmlns:a16="http://schemas.microsoft.com/office/drawing/2014/main" id="{B6D59271-A6C7-4245-BFDF-263ED3D2EC64}"/>
              </a:ext>
            </a:extLst>
          </p:cNvPr>
          <p:cNvSpPr>
            <a:spLocks noGrp="1"/>
          </p:cNvSpPr>
          <p:nvPr/>
        </p:nvSpPr>
        <p:spPr>
          <a:xfrm>
            <a:off x="3371850" y="3886200"/>
            <a:ext cx="704850" cy="1905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high</a:t>
            </a:r>
          </a:p>
        </p:txBody>
      </p:sp>
      <p:sp>
        <p:nvSpPr>
          <p:cNvPr id="15" name="Rectangle 14">
            <a:extLst>
              <a:ext uri="{FF2B5EF4-FFF2-40B4-BE49-F238E27FC236}">
                <a16:creationId xmlns:a16="http://schemas.microsoft.com/office/drawing/2014/main" id="{A166BF7B-CEE8-4050-99D4-A6ED12AB7206}"/>
              </a:ext>
            </a:extLst>
          </p:cNvPr>
          <p:cNvSpPr>
            <a:spLocks noGrp="1"/>
          </p:cNvSpPr>
          <p:nvPr/>
        </p:nvSpPr>
        <p:spPr>
          <a:xfrm>
            <a:off x="762000" y="4095750"/>
            <a:ext cx="914400" cy="266700"/>
          </a:xfrm>
          <a:prstGeom prst="rect">
            <a:avLst/>
          </a:prstGeom>
          <a:solidFill>
            <a:srgbClr val="FFFFFF"/>
          </a:solidFill>
          <a:ln w="7620">
            <a:solidFill>
              <a:srgbClr val="DDECB3"/>
            </a:solidFill>
          </a:ln>
        </p:spPr>
      </p:sp>
      <p:sp>
        <p:nvSpPr>
          <p:cNvPr id="16" name="Rectangle 15">
            <a:extLst>
              <a:ext uri="{FF2B5EF4-FFF2-40B4-BE49-F238E27FC236}">
                <a16:creationId xmlns:a16="http://schemas.microsoft.com/office/drawing/2014/main" id="{E81096E2-039C-4EBD-87C0-1723F1F562DE}"/>
              </a:ext>
            </a:extLst>
          </p:cNvPr>
          <p:cNvSpPr>
            <a:spLocks noGrp="1"/>
          </p:cNvSpPr>
          <p:nvPr/>
        </p:nvSpPr>
        <p:spPr>
          <a:xfrm>
            <a:off x="819150" y="4152900"/>
            <a:ext cx="800100" cy="19050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Mean RT</a:t>
            </a:r>
          </a:p>
        </p:txBody>
      </p:sp>
      <p:sp>
        <p:nvSpPr>
          <p:cNvPr id="17" name="Rectangle 16">
            <a:extLst>
              <a:ext uri="{FF2B5EF4-FFF2-40B4-BE49-F238E27FC236}">
                <a16:creationId xmlns:a16="http://schemas.microsoft.com/office/drawing/2014/main" id="{ADA2F351-523A-459C-9320-58F77803FE19}"/>
              </a:ext>
            </a:extLst>
          </p:cNvPr>
          <p:cNvSpPr>
            <a:spLocks noGrp="1"/>
          </p:cNvSpPr>
          <p:nvPr/>
        </p:nvSpPr>
        <p:spPr>
          <a:xfrm>
            <a:off x="1676400" y="4095750"/>
            <a:ext cx="819150" cy="266700"/>
          </a:xfrm>
          <a:prstGeom prst="rect">
            <a:avLst/>
          </a:prstGeom>
          <a:solidFill>
            <a:srgbClr val="FFFFFF"/>
          </a:solidFill>
          <a:ln w="7620">
            <a:solidFill>
              <a:srgbClr val="DDECB3"/>
            </a:solidFill>
          </a:ln>
        </p:spPr>
      </p:sp>
      <p:sp>
        <p:nvSpPr>
          <p:cNvPr id="18" name="Rectangle 17">
            <a:extLst>
              <a:ext uri="{FF2B5EF4-FFF2-40B4-BE49-F238E27FC236}">
                <a16:creationId xmlns:a16="http://schemas.microsoft.com/office/drawing/2014/main" id="{D5ED4F4D-B256-4346-BE45-DB31C024D26E}"/>
              </a:ext>
            </a:extLst>
          </p:cNvPr>
          <p:cNvSpPr>
            <a:spLocks noGrp="1"/>
          </p:cNvSpPr>
          <p:nvPr/>
        </p:nvSpPr>
        <p:spPr>
          <a:xfrm>
            <a:off x="1733550" y="4152900"/>
            <a:ext cx="704850" cy="1905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0.668</a:t>
            </a:r>
          </a:p>
        </p:txBody>
      </p:sp>
      <p:sp>
        <p:nvSpPr>
          <p:cNvPr id="19" name="Rectangle 18">
            <a:extLst>
              <a:ext uri="{FF2B5EF4-FFF2-40B4-BE49-F238E27FC236}">
                <a16:creationId xmlns:a16="http://schemas.microsoft.com/office/drawing/2014/main" id="{EFC67B76-F9FB-4787-BAF5-803327DBAB70}"/>
              </a:ext>
            </a:extLst>
          </p:cNvPr>
          <p:cNvSpPr>
            <a:spLocks noGrp="1"/>
          </p:cNvSpPr>
          <p:nvPr/>
        </p:nvSpPr>
        <p:spPr>
          <a:xfrm>
            <a:off x="2495550" y="4095750"/>
            <a:ext cx="819150" cy="266700"/>
          </a:xfrm>
          <a:prstGeom prst="rect">
            <a:avLst/>
          </a:prstGeom>
          <a:solidFill>
            <a:srgbClr val="FFFFFF"/>
          </a:solidFill>
          <a:ln w="7620">
            <a:solidFill>
              <a:srgbClr val="DDECB3"/>
            </a:solidFill>
          </a:ln>
        </p:spPr>
      </p:sp>
      <p:sp>
        <p:nvSpPr>
          <p:cNvPr id="20" name="Rectangle 19">
            <a:extLst>
              <a:ext uri="{FF2B5EF4-FFF2-40B4-BE49-F238E27FC236}">
                <a16:creationId xmlns:a16="http://schemas.microsoft.com/office/drawing/2014/main" id="{AE8B69BA-552A-4902-8BC7-7F228A1967B4}"/>
              </a:ext>
            </a:extLst>
          </p:cNvPr>
          <p:cNvSpPr>
            <a:spLocks noGrp="1"/>
          </p:cNvSpPr>
          <p:nvPr/>
        </p:nvSpPr>
        <p:spPr>
          <a:xfrm>
            <a:off x="2552700" y="4152900"/>
            <a:ext cx="704850" cy="1905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0.618</a:t>
            </a:r>
          </a:p>
        </p:txBody>
      </p:sp>
      <p:sp>
        <p:nvSpPr>
          <p:cNvPr id="21" name="Rectangle 20">
            <a:extLst>
              <a:ext uri="{FF2B5EF4-FFF2-40B4-BE49-F238E27FC236}">
                <a16:creationId xmlns:a16="http://schemas.microsoft.com/office/drawing/2014/main" id="{F3C9E1E4-EB97-4564-9D06-69917A4B83F9}"/>
              </a:ext>
            </a:extLst>
          </p:cNvPr>
          <p:cNvSpPr>
            <a:spLocks noGrp="1"/>
          </p:cNvSpPr>
          <p:nvPr/>
        </p:nvSpPr>
        <p:spPr>
          <a:xfrm>
            <a:off x="3314700" y="4095750"/>
            <a:ext cx="819150" cy="266700"/>
          </a:xfrm>
          <a:prstGeom prst="rect">
            <a:avLst/>
          </a:prstGeom>
          <a:solidFill>
            <a:srgbClr val="FFFFFF"/>
          </a:solidFill>
          <a:ln w="7620">
            <a:solidFill>
              <a:srgbClr val="DDECB3"/>
            </a:solidFill>
          </a:ln>
        </p:spPr>
      </p:sp>
      <p:sp>
        <p:nvSpPr>
          <p:cNvPr id="22" name="Rectangle 21">
            <a:extLst>
              <a:ext uri="{FF2B5EF4-FFF2-40B4-BE49-F238E27FC236}">
                <a16:creationId xmlns:a16="http://schemas.microsoft.com/office/drawing/2014/main" id="{1D32DA99-BB2F-4C07-92BB-C6657B190FEC}"/>
              </a:ext>
            </a:extLst>
          </p:cNvPr>
          <p:cNvSpPr>
            <a:spLocks noGrp="1"/>
          </p:cNvSpPr>
          <p:nvPr/>
        </p:nvSpPr>
        <p:spPr>
          <a:xfrm>
            <a:off x="3371850" y="4152900"/>
            <a:ext cx="704850" cy="1905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0.510</a:t>
            </a:r>
          </a:p>
        </p:txBody>
      </p:sp>
      <p:sp>
        <p:nvSpPr>
          <p:cNvPr id="23" name="Rectangle 22">
            <a:extLst>
              <a:ext uri="{FF2B5EF4-FFF2-40B4-BE49-F238E27FC236}">
                <a16:creationId xmlns:a16="http://schemas.microsoft.com/office/drawing/2014/main" id="{62E64015-8BBB-48C9-9FF4-BB06C7D88627}"/>
              </a:ext>
            </a:extLst>
          </p:cNvPr>
          <p:cNvSpPr>
            <a:spLocks noGrp="1"/>
          </p:cNvSpPr>
          <p:nvPr/>
        </p:nvSpPr>
        <p:spPr>
          <a:xfrm>
            <a:off x="4333875" y="3829050"/>
            <a:ext cx="914400" cy="266700"/>
          </a:xfrm>
          <a:prstGeom prst="rect">
            <a:avLst/>
          </a:prstGeom>
          <a:solidFill>
            <a:srgbClr val="003A61"/>
          </a:solidFill>
          <a:ln w="7620">
            <a:solidFill>
              <a:srgbClr val="003A61"/>
            </a:solidFill>
          </a:ln>
        </p:spPr>
      </p:sp>
      <p:sp>
        <p:nvSpPr>
          <p:cNvPr id="24" name="Rectangle 23">
            <a:extLst>
              <a:ext uri="{FF2B5EF4-FFF2-40B4-BE49-F238E27FC236}">
                <a16:creationId xmlns:a16="http://schemas.microsoft.com/office/drawing/2014/main" id="{3FF2B82F-732D-4790-8A9F-3C0550136520}"/>
              </a:ext>
            </a:extLst>
          </p:cNvPr>
          <p:cNvSpPr>
            <a:spLocks noGrp="1"/>
          </p:cNvSpPr>
          <p:nvPr/>
        </p:nvSpPr>
        <p:spPr>
          <a:xfrm>
            <a:off x="4391025" y="3886200"/>
            <a:ext cx="800100" cy="190500"/>
          </a:xfrm>
          <a:prstGeom prst="rect">
            <a:avLst/>
          </a:prstGeom>
        </p:spPr>
        <p:txBody>
          <a:bodyPr lIns="0" tIns="0" rIns="0" bIns="0"/>
          <a:lstStyle/>
          <a:p>
            <a:pPr algn="l">
              <a:defRPr sz="713" b="1">
                <a:solidFill>
                  <a:srgbClr val="FFFFFF"/>
                </a:solidFill>
                <a:latin typeface="Arial"/>
                <a:ea typeface="Arial"/>
                <a:cs typeface="Arial"/>
              </a:defRPr>
            </a:pPr>
            <a:r>
              <a:rPr sz="713" b="1">
                <a:solidFill>
                  <a:srgbClr val="FFFFFF"/>
                </a:solidFill>
                <a:latin typeface="Arial"/>
                <a:ea typeface="Arial"/>
                <a:cs typeface="Arial"/>
              </a:rPr>
              <a:t>Length</a:t>
            </a:r>
          </a:p>
        </p:txBody>
      </p:sp>
      <p:sp>
        <p:nvSpPr>
          <p:cNvPr id="25" name="Rectangle 24">
            <a:extLst>
              <a:ext uri="{FF2B5EF4-FFF2-40B4-BE49-F238E27FC236}">
                <a16:creationId xmlns:a16="http://schemas.microsoft.com/office/drawing/2014/main" id="{A7B26D71-AFCE-4605-86D4-BD8D30DB089D}"/>
              </a:ext>
            </a:extLst>
          </p:cNvPr>
          <p:cNvSpPr>
            <a:spLocks noGrp="1"/>
          </p:cNvSpPr>
          <p:nvPr/>
        </p:nvSpPr>
        <p:spPr>
          <a:xfrm>
            <a:off x="5248275" y="3829050"/>
            <a:ext cx="666750" cy="266700"/>
          </a:xfrm>
          <a:prstGeom prst="rect">
            <a:avLst/>
          </a:prstGeom>
          <a:solidFill>
            <a:srgbClr val="003A61"/>
          </a:solidFill>
          <a:ln w="7620">
            <a:solidFill>
              <a:srgbClr val="003A61"/>
            </a:solidFill>
          </a:ln>
        </p:spPr>
      </p:sp>
      <p:sp>
        <p:nvSpPr>
          <p:cNvPr id="26" name="Rectangle 25">
            <a:extLst>
              <a:ext uri="{FF2B5EF4-FFF2-40B4-BE49-F238E27FC236}">
                <a16:creationId xmlns:a16="http://schemas.microsoft.com/office/drawing/2014/main" id="{A0C6376A-2058-47CE-A3DD-01B3999E227B}"/>
              </a:ext>
            </a:extLst>
          </p:cNvPr>
          <p:cNvSpPr>
            <a:spLocks noGrp="1"/>
          </p:cNvSpPr>
          <p:nvPr/>
        </p:nvSpPr>
        <p:spPr>
          <a:xfrm>
            <a:off x="5305425" y="3886200"/>
            <a:ext cx="552450" cy="1905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1</a:t>
            </a:r>
          </a:p>
        </p:txBody>
      </p:sp>
      <p:sp>
        <p:nvSpPr>
          <p:cNvPr id="27" name="Rectangle 26">
            <a:extLst>
              <a:ext uri="{FF2B5EF4-FFF2-40B4-BE49-F238E27FC236}">
                <a16:creationId xmlns:a16="http://schemas.microsoft.com/office/drawing/2014/main" id="{E75C1528-A230-4A3D-B5AB-5F885848FAD7}"/>
              </a:ext>
            </a:extLst>
          </p:cNvPr>
          <p:cNvSpPr>
            <a:spLocks noGrp="1"/>
          </p:cNvSpPr>
          <p:nvPr/>
        </p:nvSpPr>
        <p:spPr>
          <a:xfrm>
            <a:off x="5915025" y="3829050"/>
            <a:ext cx="666750" cy="266700"/>
          </a:xfrm>
          <a:prstGeom prst="rect">
            <a:avLst/>
          </a:prstGeom>
          <a:solidFill>
            <a:srgbClr val="003A61"/>
          </a:solidFill>
          <a:ln w="7620">
            <a:solidFill>
              <a:srgbClr val="003A61"/>
            </a:solidFill>
          </a:ln>
        </p:spPr>
      </p:sp>
      <p:sp>
        <p:nvSpPr>
          <p:cNvPr id="28" name="Rectangle 27">
            <a:extLst>
              <a:ext uri="{FF2B5EF4-FFF2-40B4-BE49-F238E27FC236}">
                <a16:creationId xmlns:a16="http://schemas.microsoft.com/office/drawing/2014/main" id="{746D29B8-010D-4A4C-A24E-3D5FB46BCEC4}"/>
              </a:ext>
            </a:extLst>
          </p:cNvPr>
          <p:cNvSpPr>
            <a:spLocks noGrp="1"/>
          </p:cNvSpPr>
          <p:nvPr/>
        </p:nvSpPr>
        <p:spPr>
          <a:xfrm>
            <a:off x="5972175" y="3886200"/>
            <a:ext cx="552450" cy="1905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2</a:t>
            </a:r>
          </a:p>
        </p:txBody>
      </p:sp>
      <p:sp>
        <p:nvSpPr>
          <p:cNvPr id="29" name="Rectangle 28">
            <a:extLst>
              <a:ext uri="{FF2B5EF4-FFF2-40B4-BE49-F238E27FC236}">
                <a16:creationId xmlns:a16="http://schemas.microsoft.com/office/drawing/2014/main" id="{5992EAD7-21C9-4474-9DE4-08858217DE85}"/>
              </a:ext>
            </a:extLst>
          </p:cNvPr>
          <p:cNvSpPr>
            <a:spLocks noGrp="1"/>
          </p:cNvSpPr>
          <p:nvPr/>
        </p:nvSpPr>
        <p:spPr>
          <a:xfrm>
            <a:off x="6581775" y="3829050"/>
            <a:ext cx="666750" cy="266700"/>
          </a:xfrm>
          <a:prstGeom prst="rect">
            <a:avLst/>
          </a:prstGeom>
          <a:solidFill>
            <a:srgbClr val="003A61"/>
          </a:solidFill>
          <a:ln w="7620">
            <a:solidFill>
              <a:srgbClr val="003A61"/>
            </a:solidFill>
          </a:ln>
        </p:spPr>
      </p:sp>
      <p:sp>
        <p:nvSpPr>
          <p:cNvPr id="30" name="Rectangle 29">
            <a:extLst>
              <a:ext uri="{FF2B5EF4-FFF2-40B4-BE49-F238E27FC236}">
                <a16:creationId xmlns:a16="http://schemas.microsoft.com/office/drawing/2014/main" id="{822222CD-5BCD-4AD9-B2E6-75A8ECD19A56}"/>
              </a:ext>
            </a:extLst>
          </p:cNvPr>
          <p:cNvSpPr>
            <a:spLocks noGrp="1"/>
          </p:cNvSpPr>
          <p:nvPr/>
        </p:nvSpPr>
        <p:spPr>
          <a:xfrm>
            <a:off x="6638925" y="3886200"/>
            <a:ext cx="552450" cy="1905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3</a:t>
            </a:r>
          </a:p>
        </p:txBody>
      </p:sp>
      <p:sp>
        <p:nvSpPr>
          <p:cNvPr id="31" name="Rectangle 30">
            <a:extLst>
              <a:ext uri="{FF2B5EF4-FFF2-40B4-BE49-F238E27FC236}">
                <a16:creationId xmlns:a16="http://schemas.microsoft.com/office/drawing/2014/main" id="{E6131B4B-5F76-40EE-9D73-80D537A3CCFB}"/>
              </a:ext>
            </a:extLst>
          </p:cNvPr>
          <p:cNvSpPr>
            <a:spLocks noGrp="1"/>
          </p:cNvSpPr>
          <p:nvPr/>
        </p:nvSpPr>
        <p:spPr>
          <a:xfrm>
            <a:off x="7248525" y="3829050"/>
            <a:ext cx="666750" cy="266700"/>
          </a:xfrm>
          <a:prstGeom prst="rect">
            <a:avLst/>
          </a:prstGeom>
          <a:solidFill>
            <a:srgbClr val="003A61"/>
          </a:solidFill>
          <a:ln w="7620">
            <a:solidFill>
              <a:srgbClr val="003A61"/>
            </a:solidFill>
          </a:ln>
        </p:spPr>
      </p:sp>
      <p:sp>
        <p:nvSpPr>
          <p:cNvPr id="32" name="Rectangle 31">
            <a:extLst>
              <a:ext uri="{FF2B5EF4-FFF2-40B4-BE49-F238E27FC236}">
                <a16:creationId xmlns:a16="http://schemas.microsoft.com/office/drawing/2014/main" id="{EF373F82-048C-477E-842C-3C2E83890B4B}"/>
              </a:ext>
            </a:extLst>
          </p:cNvPr>
          <p:cNvSpPr>
            <a:spLocks noGrp="1"/>
          </p:cNvSpPr>
          <p:nvPr/>
        </p:nvSpPr>
        <p:spPr>
          <a:xfrm>
            <a:off x="7305675" y="3886200"/>
            <a:ext cx="552450" cy="190500"/>
          </a:xfrm>
          <a:prstGeom prst="rect">
            <a:avLst/>
          </a:prstGeom>
        </p:spPr>
        <p:txBody>
          <a:bodyPr lIns="0" tIns="0" rIns="0" bIns="0"/>
          <a:lstStyle/>
          <a:p>
            <a:pPr algn="ctr">
              <a:defRPr sz="713" b="1">
                <a:solidFill>
                  <a:srgbClr val="FFFFFF"/>
                </a:solidFill>
                <a:latin typeface="Arial"/>
                <a:ea typeface="Arial"/>
                <a:cs typeface="Arial"/>
              </a:defRPr>
            </a:pPr>
            <a:r>
              <a:rPr sz="713" b="1">
                <a:solidFill>
                  <a:srgbClr val="FFFFFF"/>
                </a:solidFill>
                <a:latin typeface="Arial"/>
                <a:ea typeface="Arial"/>
                <a:cs typeface="Arial"/>
              </a:rPr>
              <a:t>4</a:t>
            </a:r>
          </a:p>
        </p:txBody>
      </p:sp>
      <p:sp>
        <p:nvSpPr>
          <p:cNvPr id="33" name="Rectangle 32">
            <a:extLst>
              <a:ext uri="{FF2B5EF4-FFF2-40B4-BE49-F238E27FC236}">
                <a16:creationId xmlns:a16="http://schemas.microsoft.com/office/drawing/2014/main" id="{30707278-901D-4CE7-879B-01917EEB1934}"/>
              </a:ext>
            </a:extLst>
          </p:cNvPr>
          <p:cNvSpPr>
            <a:spLocks noGrp="1"/>
          </p:cNvSpPr>
          <p:nvPr/>
        </p:nvSpPr>
        <p:spPr>
          <a:xfrm>
            <a:off x="4333875" y="4095750"/>
            <a:ext cx="914400" cy="266700"/>
          </a:xfrm>
          <a:prstGeom prst="rect">
            <a:avLst/>
          </a:prstGeom>
          <a:solidFill>
            <a:srgbClr val="FFFFFF"/>
          </a:solidFill>
          <a:ln w="7620">
            <a:solidFill>
              <a:srgbClr val="DDECB3"/>
            </a:solidFill>
          </a:ln>
        </p:spPr>
      </p:sp>
      <p:sp>
        <p:nvSpPr>
          <p:cNvPr id="34" name="Rectangle 33">
            <a:extLst>
              <a:ext uri="{FF2B5EF4-FFF2-40B4-BE49-F238E27FC236}">
                <a16:creationId xmlns:a16="http://schemas.microsoft.com/office/drawing/2014/main" id="{48AC8FB8-8846-4388-80AF-5CF8CFEEA45B}"/>
              </a:ext>
            </a:extLst>
          </p:cNvPr>
          <p:cNvSpPr>
            <a:spLocks noGrp="1"/>
          </p:cNvSpPr>
          <p:nvPr/>
        </p:nvSpPr>
        <p:spPr>
          <a:xfrm>
            <a:off x="4391025" y="4152900"/>
            <a:ext cx="800100" cy="190500"/>
          </a:xfrm>
          <a:prstGeom prst="rect">
            <a:avLst/>
          </a:prstGeom>
        </p:spPr>
        <p:txBody>
          <a:bodyPr lIns="0" tIns="0" rIns="0" bIns="0"/>
          <a:lstStyle/>
          <a:p>
            <a:pPr algn="l">
              <a:defRPr sz="690" b="1">
                <a:solidFill>
                  <a:srgbClr val="263845"/>
                </a:solidFill>
                <a:latin typeface="Arial"/>
                <a:ea typeface="Arial"/>
                <a:cs typeface="Arial"/>
              </a:defRPr>
            </a:pPr>
            <a:r>
              <a:rPr sz="690" b="1">
                <a:solidFill>
                  <a:srgbClr val="263845"/>
                </a:solidFill>
                <a:latin typeface="Arial"/>
                <a:ea typeface="Arial"/>
                <a:cs typeface="Arial"/>
              </a:rPr>
              <a:t>Mean RT</a:t>
            </a:r>
          </a:p>
        </p:txBody>
      </p:sp>
      <p:sp>
        <p:nvSpPr>
          <p:cNvPr id="35" name="Rectangle 34">
            <a:extLst>
              <a:ext uri="{FF2B5EF4-FFF2-40B4-BE49-F238E27FC236}">
                <a16:creationId xmlns:a16="http://schemas.microsoft.com/office/drawing/2014/main" id="{F992CAFF-1A7F-475B-8A7E-FD02C2DA2A2C}"/>
              </a:ext>
            </a:extLst>
          </p:cNvPr>
          <p:cNvSpPr>
            <a:spLocks noGrp="1"/>
          </p:cNvSpPr>
          <p:nvPr/>
        </p:nvSpPr>
        <p:spPr>
          <a:xfrm>
            <a:off x="5248275" y="4095750"/>
            <a:ext cx="666750" cy="266700"/>
          </a:xfrm>
          <a:prstGeom prst="rect">
            <a:avLst/>
          </a:prstGeom>
          <a:solidFill>
            <a:srgbClr val="FFFFFF"/>
          </a:solidFill>
          <a:ln w="7620">
            <a:solidFill>
              <a:srgbClr val="DDECB3"/>
            </a:solidFill>
          </a:ln>
        </p:spPr>
      </p:sp>
      <p:sp>
        <p:nvSpPr>
          <p:cNvPr id="36" name="Rectangle 35">
            <a:extLst>
              <a:ext uri="{FF2B5EF4-FFF2-40B4-BE49-F238E27FC236}">
                <a16:creationId xmlns:a16="http://schemas.microsoft.com/office/drawing/2014/main" id="{8AC0F13B-BEA2-45EA-86DC-671C173F39C4}"/>
              </a:ext>
            </a:extLst>
          </p:cNvPr>
          <p:cNvSpPr>
            <a:spLocks noGrp="1"/>
          </p:cNvSpPr>
          <p:nvPr/>
        </p:nvSpPr>
        <p:spPr>
          <a:xfrm>
            <a:off x="5305425" y="4152900"/>
            <a:ext cx="552450" cy="1905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0.441</a:t>
            </a:r>
          </a:p>
        </p:txBody>
      </p:sp>
      <p:sp>
        <p:nvSpPr>
          <p:cNvPr id="37" name="Rectangle 36">
            <a:extLst>
              <a:ext uri="{FF2B5EF4-FFF2-40B4-BE49-F238E27FC236}">
                <a16:creationId xmlns:a16="http://schemas.microsoft.com/office/drawing/2014/main" id="{9523C174-642A-4016-8B4E-BC3A6FD227D2}"/>
              </a:ext>
            </a:extLst>
          </p:cNvPr>
          <p:cNvSpPr>
            <a:spLocks noGrp="1"/>
          </p:cNvSpPr>
          <p:nvPr/>
        </p:nvSpPr>
        <p:spPr>
          <a:xfrm>
            <a:off x="5915025" y="4095750"/>
            <a:ext cx="666750" cy="266700"/>
          </a:xfrm>
          <a:prstGeom prst="rect">
            <a:avLst/>
          </a:prstGeom>
          <a:solidFill>
            <a:srgbClr val="FFFFFF"/>
          </a:solidFill>
          <a:ln w="7620">
            <a:solidFill>
              <a:srgbClr val="DDECB3"/>
            </a:solidFill>
          </a:ln>
        </p:spPr>
      </p:sp>
      <p:sp>
        <p:nvSpPr>
          <p:cNvPr id="38" name="Rectangle 37">
            <a:extLst>
              <a:ext uri="{FF2B5EF4-FFF2-40B4-BE49-F238E27FC236}">
                <a16:creationId xmlns:a16="http://schemas.microsoft.com/office/drawing/2014/main" id="{A5A89D4F-C471-4118-91BC-5DD37C34C7BE}"/>
              </a:ext>
            </a:extLst>
          </p:cNvPr>
          <p:cNvSpPr>
            <a:spLocks noGrp="1"/>
          </p:cNvSpPr>
          <p:nvPr/>
        </p:nvSpPr>
        <p:spPr>
          <a:xfrm>
            <a:off x="5972175" y="4152900"/>
            <a:ext cx="552450" cy="1905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0.528</a:t>
            </a:r>
          </a:p>
        </p:txBody>
      </p:sp>
      <p:sp>
        <p:nvSpPr>
          <p:cNvPr id="39" name="Rectangle 38">
            <a:extLst>
              <a:ext uri="{FF2B5EF4-FFF2-40B4-BE49-F238E27FC236}">
                <a16:creationId xmlns:a16="http://schemas.microsoft.com/office/drawing/2014/main" id="{081D5105-2CBE-4AD9-AC60-728FC79C2CE9}"/>
              </a:ext>
            </a:extLst>
          </p:cNvPr>
          <p:cNvSpPr>
            <a:spLocks noGrp="1"/>
          </p:cNvSpPr>
          <p:nvPr/>
        </p:nvSpPr>
        <p:spPr>
          <a:xfrm>
            <a:off x="6581775" y="4095750"/>
            <a:ext cx="666750" cy="266700"/>
          </a:xfrm>
          <a:prstGeom prst="rect">
            <a:avLst/>
          </a:prstGeom>
          <a:solidFill>
            <a:srgbClr val="FFFFFF"/>
          </a:solidFill>
          <a:ln w="7620">
            <a:solidFill>
              <a:srgbClr val="DDECB3"/>
            </a:solidFill>
          </a:ln>
        </p:spPr>
      </p:sp>
      <p:sp>
        <p:nvSpPr>
          <p:cNvPr id="40" name="Rectangle 39">
            <a:extLst>
              <a:ext uri="{FF2B5EF4-FFF2-40B4-BE49-F238E27FC236}">
                <a16:creationId xmlns:a16="http://schemas.microsoft.com/office/drawing/2014/main" id="{B43FAA19-F7A3-4CB6-95BC-C913BB2412A1}"/>
              </a:ext>
            </a:extLst>
          </p:cNvPr>
          <p:cNvSpPr>
            <a:spLocks noGrp="1"/>
          </p:cNvSpPr>
          <p:nvPr/>
        </p:nvSpPr>
        <p:spPr>
          <a:xfrm>
            <a:off x="6638925" y="4152900"/>
            <a:ext cx="552450" cy="1905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0.684</a:t>
            </a:r>
          </a:p>
        </p:txBody>
      </p:sp>
      <p:sp>
        <p:nvSpPr>
          <p:cNvPr id="41" name="Rectangle 40">
            <a:extLst>
              <a:ext uri="{FF2B5EF4-FFF2-40B4-BE49-F238E27FC236}">
                <a16:creationId xmlns:a16="http://schemas.microsoft.com/office/drawing/2014/main" id="{EB3B31F8-A373-41C9-8821-532CAF2BA2C9}"/>
              </a:ext>
            </a:extLst>
          </p:cNvPr>
          <p:cNvSpPr>
            <a:spLocks noGrp="1"/>
          </p:cNvSpPr>
          <p:nvPr/>
        </p:nvSpPr>
        <p:spPr>
          <a:xfrm>
            <a:off x="7248525" y="4095750"/>
            <a:ext cx="666750" cy="266700"/>
          </a:xfrm>
          <a:prstGeom prst="rect">
            <a:avLst/>
          </a:prstGeom>
          <a:solidFill>
            <a:srgbClr val="FFFFFF"/>
          </a:solidFill>
          <a:ln w="7620">
            <a:solidFill>
              <a:srgbClr val="DDECB3"/>
            </a:solidFill>
          </a:ln>
        </p:spPr>
      </p:sp>
      <p:sp>
        <p:nvSpPr>
          <p:cNvPr id="42" name="Rectangle 41">
            <a:extLst>
              <a:ext uri="{FF2B5EF4-FFF2-40B4-BE49-F238E27FC236}">
                <a16:creationId xmlns:a16="http://schemas.microsoft.com/office/drawing/2014/main" id="{AEB1261B-7FF0-4759-A7AA-86EFC6F4747F}"/>
              </a:ext>
            </a:extLst>
          </p:cNvPr>
          <p:cNvSpPr>
            <a:spLocks noGrp="1"/>
          </p:cNvSpPr>
          <p:nvPr/>
        </p:nvSpPr>
        <p:spPr>
          <a:xfrm>
            <a:off x="7305675" y="4152900"/>
            <a:ext cx="552450" cy="190500"/>
          </a:xfrm>
          <a:prstGeom prst="rect">
            <a:avLst/>
          </a:prstGeom>
        </p:spPr>
        <p:txBody>
          <a:bodyPr lIns="0" tIns="0" rIns="0" bIns="0"/>
          <a:lstStyle/>
          <a:p>
            <a:pPr algn="ctr">
              <a:defRPr sz="690" b="0">
                <a:solidFill>
                  <a:srgbClr val="263845"/>
                </a:solidFill>
                <a:latin typeface="Arial"/>
                <a:ea typeface="Arial"/>
                <a:cs typeface="Arial"/>
              </a:defRPr>
            </a:pPr>
            <a:r>
              <a:rPr sz="690" b="0">
                <a:solidFill>
                  <a:srgbClr val="263845"/>
                </a:solidFill>
                <a:latin typeface="Arial"/>
                <a:ea typeface="Arial"/>
                <a:cs typeface="Arial"/>
              </a:rPr>
              <a:t>0.748</a:t>
            </a:r>
          </a:p>
        </p:txBody>
      </p:sp>
    </p:spTree>
    <p:extLst>
      <p:ext uri="{BB962C8B-B14F-4D97-AF65-F5344CB8AC3E}">
        <p14:creationId xmlns:p14="http://schemas.microsoft.com/office/powerpoint/2010/main" val="1826234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EF01F44-C691-4686-8971-F83C1A7947AA}"/>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CC448741-5562-484A-85C7-5ED40A83CE58}"/>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20 | INTERACTION</a:t>
            </a:r>
          </a:p>
        </p:txBody>
      </p:sp>
      <p:sp>
        <p:nvSpPr>
          <p:cNvPr id="3" name="Rectangle 2">
            <a:extLst>
              <a:ext uri="{FF2B5EF4-FFF2-40B4-BE49-F238E27FC236}">
                <a16:creationId xmlns:a16="http://schemas.microsoft.com/office/drawing/2014/main" id="{B7BF8EA3-1EBA-426A-B42E-29F8BD7B7BEE}"/>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frequency advantage may vary by syllable length, but the interaction is modest.</a:t>
            </a:r>
          </a:p>
        </p:txBody>
      </p:sp>
      <p:sp>
        <p:nvSpPr>
          <p:cNvPr id="4" name="Rectangle 3">
            <a:extLst>
              <a:ext uri="{FF2B5EF4-FFF2-40B4-BE49-F238E27FC236}">
                <a16:creationId xmlns:a16="http://schemas.microsoft.com/office/drawing/2014/main" id="{855E1815-5441-4B9E-95F8-2A21E6E2415C}"/>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pic>
        <p:nvPicPr>
          <p:cNvPr id="14" name="Picture 13"/>
          <p:cNvPicPr>
            <a:picLocks noChangeAspect="1"/>
          </p:cNvPicPr>
          <p:nvPr/>
        </p:nvPicPr>
        <p:blipFill>
          <a:blip r:embed="rId3"/>
          <a:stretch/>
        </p:blipFill>
        <p:spPr>
          <a:xfrm>
            <a:off x="990600" y="1143000"/>
            <a:ext cx="4624647" cy="3303319"/>
          </a:xfrm>
          <a:prstGeom prst="rect">
            <a:avLst/>
          </a:prstGeom>
        </p:spPr>
      </p:pic>
      <p:sp>
        <p:nvSpPr>
          <p:cNvPr id="6" name="Rectangle 5">
            <a:extLst>
              <a:ext uri="{FF2B5EF4-FFF2-40B4-BE49-F238E27FC236}">
                <a16:creationId xmlns:a16="http://schemas.microsoft.com/office/drawing/2014/main" id="{3A30E387-B0E3-4453-9EFF-9CA826DCC27D}"/>
              </a:ext>
            </a:extLst>
          </p:cNvPr>
          <p:cNvSpPr>
            <a:spLocks noGrp="1"/>
          </p:cNvSpPr>
          <p:nvPr/>
        </p:nvSpPr>
        <p:spPr>
          <a:xfrm>
            <a:off x="6381750" y="1524000"/>
            <a:ext cx="1695450" cy="156210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7" name="Rectangle 6">
            <a:extLst>
              <a:ext uri="{FF2B5EF4-FFF2-40B4-BE49-F238E27FC236}">
                <a16:creationId xmlns:a16="http://schemas.microsoft.com/office/drawing/2014/main" id="{DFE03C1B-A868-46AF-AFBC-474FAA1BC6DF}"/>
              </a:ext>
            </a:extLst>
          </p:cNvPr>
          <p:cNvSpPr>
            <a:spLocks noGrp="1"/>
          </p:cNvSpPr>
          <p:nvPr/>
        </p:nvSpPr>
        <p:spPr>
          <a:xfrm>
            <a:off x="6496050" y="1619250"/>
            <a:ext cx="1466850" cy="190500"/>
          </a:xfrm>
          <a:prstGeom prst="rect">
            <a:avLst/>
          </a:prstGeom>
        </p:spPr>
        <p:txBody>
          <a:bodyPr lIns="0" tIns="0" rIns="0" bIns="0"/>
          <a:lstStyle/>
          <a:p>
            <a:r>
              <a:rPr sz="900" b="1">
                <a:solidFill>
                  <a:srgbClr val="003A61"/>
                </a:solidFill>
                <a:latin typeface="Arial"/>
                <a:ea typeface="Arial"/>
                <a:cs typeface="Arial"/>
              </a:rPr>
              <a:t>Cautious read</a:t>
            </a:r>
          </a:p>
        </p:txBody>
      </p:sp>
      <p:sp>
        <p:nvSpPr>
          <p:cNvPr id="8" name="Rectangle 7">
            <a:extLst>
              <a:ext uri="{FF2B5EF4-FFF2-40B4-BE49-F238E27FC236}">
                <a16:creationId xmlns:a16="http://schemas.microsoft.com/office/drawing/2014/main" id="{5CBCABF1-A02A-4F85-9099-34C8F212C79B}"/>
              </a:ext>
            </a:extLst>
          </p:cNvPr>
          <p:cNvSpPr>
            <a:spLocks noGrp="1"/>
          </p:cNvSpPr>
          <p:nvPr/>
        </p:nvSpPr>
        <p:spPr>
          <a:xfrm>
            <a:off x="6496050" y="1847850"/>
            <a:ext cx="1466850" cy="1162050"/>
          </a:xfrm>
          <a:prstGeom prst="rect">
            <a:avLst/>
          </a:prstGeom>
        </p:spPr>
        <p:txBody>
          <a:bodyPr lIns="0" tIns="0" rIns="0" bIns="0"/>
          <a:lstStyle/>
          <a:p>
            <a:r>
              <a:rPr lang="en-US" sz="907">
                <a:solidFill>
                  <a:srgbClr val="263845"/>
                </a:solidFill>
                <a:latin typeface="Arial"/>
                <a:ea typeface="Arial"/>
                <a:cs typeface="Arial"/>
              </a:rPr>
              <a:t>Interaction model improves fit over the additive model.</a:t>
            </a:r>
          </a:p>
          <a:p>
            <a:endParaRPr lang="en-US" sz="907">
              <a:solidFill>
                <a:srgbClr val="263845"/>
              </a:solidFill>
              <a:latin typeface="Arial"/>
              <a:ea typeface="Arial"/>
              <a:cs typeface="Arial"/>
            </a:endParaRPr>
          </a:p>
          <a:p>
            <a:r>
              <a:rPr lang="en-US" sz="907">
                <a:solidFill>
                  <a:srgbClr val="263845"/>
                </a:solidFill>
                <a:latin typeface="Arial"/>
                <a:ea typeface="Arial"/>
                <a:cs typeface="Arial"/>
              </a:rPr>
              <a:t>Likelihood-ratio p = .0449.</a:t>
            </a:r>
          </a:p>
          <a:p>
            <a:endParaRPr lang="en-US" sz="907">
              <a:solidFill>
                <a:srgbClr val="263845"/>
              </a:solidFill>
              <a:latin typeface="Arial"/>
              <a:ea typeface="Arial"/>
              <a:cs typeface="Arial"/>
            </a:endParaRPr>
          </a:p>
          <a:p>
            <a:r>
              <a:rPr lang="en-US" sz="907">
                <a:solidFill>
                  <a:srgbClr val="263845"/>
                </a:solidFill>
                <a:latin typeface="Arial"/>
                <a:ea typeface="Arial"/>
                <a:cs typeface="Arial"/>
              </a:rPr>
              <a:t>The interaction is modest and should not be overclaimed.</a:t>
            </a:r>
            <a:endParaRPr sz="907">
              <a:solidFill>
                <a:srgbClr val="263845"/>
              </a:solidFill>
              <a:latin typeface="Arial"/>
              <a:ea typeface="Arial"/>
              <a:cs typeface="Arial"/>
            </a:endParaRPr>
          </a:p>
        </p:txBody>
      </p:sp>
      <p:sp>
        <p:nvSpPr>
          <p:cNvPr id="9" name="Rectangle 8">
            <a:extLst>
              <a:ext uri="{FF2B5EF4-FFF2-40B4-BE49-F238E27FC236}">
                <a16:creationId xmlns:a16="http://schemas.microsoft.com/office/drawing/2014/main" id="{957F3B15-D4EF-4BE0-A08B-91DAEAC79DE8}"/>
              </a:ext>
            </a:extLst>
          </p:cNvPr>
          <p:cNvSpPr>
            <a:spLocks noGrp="1"/>
          </p:cNvSpPr>
          <p:nvPr/>
        </p:nvSpPr>
        <p:spPr>
          <a:xfrm>
            <a:off x="6381750" y="3429000"/>
            <a:ext cx="1714500" cy="438150"/>
          </a:xfrm>
          <a:prstGeom prst="rect">
            <a:avLst/>
          </a:prstGeom>
        </p:spPr>
        <p:txBody>
          <a:bodyPr lIns="0" tIns="0" rIns="0" bIns="0"/>
          <a:lstStyle/>
          <a:p>
            <a:pPr algn="ctr">
              <a:defRPr sz="975" b="1">
                <a:solidFill>
                  <a:srgbClr val="003A61"/>
                </a:solidFill>
                <a:latin typeface="Arial"/>
                <a:ea typeface="Arial"/>
                <a:cs typeface="Arial"/>
              </a:defRPr>
            </a:pPr>
            <a:r>
              <a:rPr lang="en-US" sz="975" b="1">
                <a:solidFill>
                  <a:srgbClr val="003A61"/>
                </a:solidFill>
                <a:latin typeface="Arial"/>
                <a:ea typeface="Arial"/>
                <a:cs typeface="Arial"/>
              </a:rPr>
              <a:t>Result wording: frequency group and syllable length effects are clearer than the interaction.</a:t>
            </a:r>
            <a:endParaRPr sz="975" b="1">
              <a:solidFill>
                <a:srgbClr val="003A61"/>
              </a:solidFill>
              <a:latin typeface="Arial"/>
              <a:ea typeface="Arial"/>
              <a:cs typeface="Arial"/>
            </a:endParaRPr>
          </a:p>
        </p:txBody>
      </p:sp>
    </p:spTree>
    <p:extLst>
      <p:ext uri="{BB962C8B-B14F-4D97-AF65-F5344CB8AC3E}">
        <p14:creationId xmlns:p14="http://schemas.microsoft.com/office/powerpoint/2010/main" val="18262340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9DD33799-A358-46D4-B7A3-2BB61706E353}"/>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80889728-66EE-49EE-A14A-6AE2D0BACF11}"/>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21 | MODEL COMPARISON</a:t>
            </a:r>
          </a:p>
        </p:txBody>
      </p:sp>
      <p:sp>
        <p:nvSpPr>
          <p:cNvPr id="3" name="Rectangle 2">
            <a:extLst>
              <a:ext uri="{FF2B5EF4-FFF2-40B4-BE49-F238E27FC236}">
                <a16:creationId xmlns:a16="http://schemas.microsoft.com/office/drawing/2014/main" id="{D1029BBB-9165-49E0-9E30-B04264F6749A}"/>
              </a:ext>
            </a:extLst>
          </p:cNvPr>
          <p:cNvSpPr>
            <a:spLocks noGrp="1"/>
          </p:cNvSpPr>
          <p:nvPr/>
        </p:nvSpPr>
        <p:spPr>
          <a:xfrm>
            <a:off x="476250" y="542925"/>
            <a:ext cx="7429500" cy="514350"/>
          </a:xfrm>
          <a:prstGeom prst="rect">
            <a:avLst/>
          </a:prstGeom>
        </p:spPr>
        <p:txBody>
          <a:bodyPr lIns="0" tIns="0" rIns="0" bIns="0"/>
          <a:lstStyle/>
          <a:p>
            <a:r>
              <a:rPr lang="en-US" sz="2175" b="1">
                <a:solidFill>
                  <a:srgbClr val="003A61"/>
                </a:solidFill>
                <a:latin typeface="Arial"/>
                <a:ea typeface="Arial"/>
                <a:cs typeface="Arial"/>
              </a:rPr>
              <a:t>Syllable length gives the largest model-fit improvement; the interaction adds only a small increment.</a:t>
            </a:r>
            <a:endParaRPr sz="2175" b="1">
              <a:solidFill>
                <a:srgbClr val="003A61"/>
              </a:solidFill>
              <a:latin typeface="Arial"/>
              <a:ea typeface="Arial"/>
              <a:cs typeface="Arial"/>
            </a:endParaRPr>
          </a:p>
        </p:txBody>
      </p:sp>
      <p:sp>
        <p:nvSpPr>
          <p:cNvPr id="4" name="Rectangle 3">
            <a:extLst>
              <a:ext uri="{FF2B5EF4-FFF2-40B4-BE49-F238E27FC236}">
                <a16:creationId xmlns:a16="http://schemas.microsoft.com/office/drawing/2014/main" id="{65FDD8F3-850B-468F-AE72-322B1308B65B}"/>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3B56DCBF-5699-4F16-903D-40B4D6C76A39}"/>
              </a:ext>
            </a:extLst>
          </p:cNvPr>
          <p:cNvSpPr>
            <a:spLocks noGrp="1"/>
          </p:cNvSpPr>
          <p:nvPr/>
        </p:nvSpPr>
        <p:spPr>
          <a:xfrm>
            <a:off x="476250" y="1357312"/>
            <a:ext cx="952500" cy="400050"/>
          </a:xfrm>
          <a:prstGeom prst="rect">
            <a:avLst/>
          </a:prstGeom>
          <a:solidFill>
            <a:srgbClr val="003A61"/>
          </a:solidFill>
          <a:ln w="7620">
            <a:solidFill>
              <a:srgbClr val="003A61"/>
            </a:solidFill>
          </a:ln>
        </p:spPr>
      </p:sp>
      <p:sp>
        <p:nvSpPr>
          <p:cNvPr id="6" name="Rectangle 5">
            <a:extLst>
              <a:ext uri="{FF2B5EF4-FFF2-40B4-BE49-F238E27FC236}">
                <a16:creationId xmlns:a16="http://schemas.microsoft.com/office/drawing/2014/main" id="{D140FED9-4BA2-4ABD-A6C0-6CFF78D029B0}"/>
              </a:ext>
            </a:extLst>
          </p:cNvPr>
          <p:cNvSpPr>
            <a:spLocks noGrp="1"/>
          </p:cNvSpPr>
          <p:nvPr/>
        </p:nvSpPr>
        <p:spPr>
          <a:xfrm>
            <a:off x="533400" y="1414462"/>
            <a:ext cx="838200" cy="323850"/>
          </a:xfrm>
          <a:prstGeom prst="rect">
            <a:avLst/>
          </a:prstGeom>
        </p:spPr>
        <p:txBody>
          <a:bodyPr lIns="0" tIns="0" rIns="0" bIns="0"/>
          <a:lstStyle/>
          <a:p>
            <a:pPr algn="l">
              <a:defRPr sz="713" b="1">
                <a:solidFill>
                  <a:srgbClr val="FFFFFF"/>
                </a:solidFill>
                <a:latin typeface="Arial"/>
                <a:ea typeface="Arial"/>
                <a:cs typeface="Arial"/>
              </a:defRPr>
            </a:pPr>
            <a:r>
              <a:rPr sz="1000" b="1">
                <a:solidFill>
                  <a:srgbClr val="FFFFFF"/>
                </a:solidFill>
                <a:latin typeface="Arial"/>
                <a:ea typeface="Arial"/>
                <a:cs typeface="Arial"/>
              </a:rPr>
              <a:t>Model</a:t>
            </a:r>
          </a:p>
        </p:txBody>
      </p:sp>
      <p:sp>
        <p:nvSpPr>
          <p:cNvPr id="7" name="Rectangle 6">
            <a:extLst>
              <a:ext uri="{FF2B5EF4-FFF2-40B4-BE49-F238E27FC236}">
                <a16:creationId xmlns:a16="http://schemas.microsoft.com/office/drawing/2014/main" id="{8FEC8BF2-7174-40C1-97AE-89FE3909EEFF}"/>
              </a:ext>
            </a:extLst>
          </p:cNvPr>
          <p:cNvSpPr>
            <a:spLocks noGrp="1"/>
          </p:cNvSpPr>
          <p:nvPr/>
        </p:nvSpPr>
        <p:spPr>
          <a:xfrm>
            <a:off x="1428750" y="1357312"/>
            <a:ext cx="1000125" cy="400050"/>
          </a:xfrm>
          <a:prstGeom prst="rect">
            <a:avLst/>
          </a:prstGeom>
          <a:solidFill>
            <a:srgbClr val="003A61"/>
          </a:solidFill>
          <a:ln w="7620">
            <a:solidFill>
              <a:srgbClr val="003A61"/>
            </a:solidFill>
          </a:ln>
        </p:spPr>
      </p:sp>
      <p:sp>
        <p:nvSpPr>
          <p:cNvPr id="8" name="Rectangle 7">
            <a:extLst>
              <a:ext uri="{FF2B5EF4-FFF2-40B4-BE49-F238E27FC236}">
                <a16:creationId xmlns:a16="http://schemas.microsoft.com/office/drawing/2014/main" id="{9BCCF9AB-AD55-4C29-B237-0027F0473E3A}"/>
              </a:ext>
            </a:extLst>
          </p:cNvPr>
          <p:cNvSpPr>
            <a:spLocks noGrp="1"/>
          </p:cNvSpPr>
          <p:nvPr/>
        </p:nvSpPr>
        <p:spPr>
          <a:xfrm>
            <a:off x="1485900" y="1414462"/>
            <a:ext cx="885825" cy="323850"/>
          </a:xfrm>
          <a:prstGeom prst="rect">
            <a:avLst/>
          </a:prstGeom>
        </p:spPr>
        <p:txBody>
          <a:bodyPr lIns="0" tIns="0" rIns="0" bIns="0"/>
          <a:lstStyle/>
          <a:p>
            <a:pPr algn="ctr">
              <a:defRPr sz="713" b="1">
                <a:solidFill>
                  <a:srgbClr val="FFFFFF"/>
                </a:solidFill>
                <a:latin typeface="Arial"/>
                <a:ea typeface="Arial"/>
                <a:cs typeface="Arial"/>
              </a:defRPr>
            </a:pPr>
            <a:r>
              <a:rPr sz="1000" b="1">
                <a:solidFill>
                  <a:srgbClr val="FFFFFF"/>
                </a:solidFill>
                <a:latin typeface="Arial"/>
                <a:ea typeface="Arial"/>
                <a:cs typeface="Arial"/>
              </a:rPr>
              <a:t>npar</a:t>
            </a:r>
          </a:p>
        </p:txBody>
      </p:sp>
      <p:sp>
        <p:nvSpPr>
          <p:cNvPr id="9" name="Rectangle 8">
            <a:extLst>
              <a:ext uri="{FF2B5EF4-FFF2-40B4-BE49-F238E27FC236}">
                <a16:creationId xmlns:a16="http://schemas.microsoft.com/office/drawing/2014/main" id="{5760F58D-DFBF-4114-9968-1B85542DDA9A}"/>
              </a:ext>
            </a:extLst>
          </p:cNvPr>
          <p:cNvSpPr>
            <a:spLocks noGrp="1"/>
          </p:cNvSpPr>
          <p:nvPr/>
        </p:nvSpPr>
        <p:spPr>
          <a:xfrm>
            <a:off x="2428875" y="1357312"/>
            <a:ext cx="1000125" cy="400050"/>
          </a:xfrm>
          <a:prstGeom prst="rect">
            <a:avLst/>
          </a:prstGeom>
          <a:solidFill>
            <a:srgbClr val="003A61"/>
          </a:solidFill>
          <a:ln w="7620">
            <a:solidFill>
              <a:srgbClr val="003A61"/>
            </a:solidFill>
          </a:ln>
        </p:spPr>
      </p:sp>
      <p:sp>
        <p:nvSpPr>
          <p:cNvPr id="10" name="Rectangle 9">
            <a:extLst>
              <a:ext uri="{FF2B5EF4-FFF2-40B4-BE49-F238E27FC236}">
                <a16:creationId xmlns:a16="http://schemas.microsoft.com/office/drawing/2014/main" id="{41C73801-2B4F-42D3-B5D4-2B75BE5FC8EA}"/>
              </a:ext>
            </a:extLst>
          </p:cNvPr>
          <p:cNvSpPr>
            <a:spLocks noGrp="1"/>
          </p:cNvSpPr>
          <p:nvPr/>
        </p:nvSpPr>
        <p:spPr>
          <a:xfrm>
            <a:off x="2486025" y="1414462"/>
            <a:ext cx="885825" cy="323850"/>
          </a:xfrm>
          <a:prstGeom prst="rect">
            <a:avLst/>
          </a:prstGeom>
        </p:spPr>
        <p:txBody>
          <a:bodyPr lIns="0" tIns="0" rIns="0" bIns="0"/>
          <a:lstStyle/>
          <a:p>
            <a:pPr algn="ctr">
              <a:defRPr sz="713" b="1">
                <a:solidFill>
                  <a:srgbClr val="FFFFFF"/>
                </a:solidFill>
                <a:latin typeface="Arial"/>
                <a:ea typeface="Arial"/>
                <a:cs typeface="Arial"/>
              </a:defRPr>
            </a:pPr>
            <a:r>
              <a:rPr sz="1000" b="1">
                <a:solidFill>
                  <a:srgbClr val="FFFFFF"/>
                </a:solidFill>
                <a:latin typeface="Arial"/>
                <a:ea typeface="Arial"/>
                <a:cs typeface="Arial"/>
              </a:rPr>
              <a:t>AIC</a:t>
            </a:r>
          </a:p>
        </p:txBody>
      </p:sp>
      <p:sp>
        <p:nvSpPr>
          <p:cNvPr id="11" name="Rectangle 10">
            <a:extLst>
              <a:ext uri="{FF2B5EF4-FFF2-40B4-BE49-F238E27FC236}">
                <a16:creationId xmlns:a16="http://schemas.microsoft.com/office/drawing/2014/main" id="{317674C0-58D7-4BE2-AE1A-4542891D298F}"/>
              </a:ext>
            </a:extLst>
          </p:cNvPr>
          <p:cNvSpPr>
            <a:spLocks noGrp="1"/>
          </p:cNvSpPr>
          <p:nvPr/>
        </p:nvSpPr>
        <p:spPr>
          <a:xfrm>
            <a:off x="3429000" y="1357312"/>
            <a:ext cx="1000125" cy="400050"/>
          </a:xfrm>
          <a:prstGeom prst="rect">
            <a:avLst/>
          </a:prstGeom>
          <a:solidFill>
            <a:srgbClr val="003A61"/>
          </a:solidFill>
          <a:ln w="7620">
            <a:solidFill>
              <a:srgbClr val="003A61"/>
            </a:solidFill>
          </a:ln>
        </p:spPr>
      </p:sp>
      <p:sp>
        <p:nvSpPr>
          <p:cNvPr id="12" name="Rectangle 11">
            <a:extLst>
              <a:ext uri="{FF2B5EF4-FFF2-40B4-BE49-F238E27FC236}">
                <a16:creationId xmlns:a16="http://schemas.microsoft.com/office/drawing/2014/main" id="{6DF536D0-21FD-4F02-90C1-1168F36C7299}"/>
              </a:ext>
            </a:extLst>
          </p:cNvPr>
          <p:cNvSpPr>
            <a:spLocks noGrp="1"/>
          </p:cNvSpPr>
          <p:nvPr/>
        </p:nvSpPr>
        <p:spPr>
          <a:xfrm>
            <a:off x="3486150" y="1414462"/>
            <a:ext cx="885825" cy="323850"/>
          </a:xfrm>
          <a:prstGeom prst="rect">
            <a:avLst/>
          </a:prstGeom>
        </p:spPr>
        <p:txBody>
          <a:bodyPr lIns="0" tIns="0" rIns="0" bIns="0"/>
          <a:lstStyle/>
          <a:p>
            <a:pPr algn="ctr">
              <a:defRPr sz="713" b="1">
                <a:solidFill>
                  <a:srgbClr val="FFFFFF"/>
                </a:solidFill>
                <a:latin typeface="Arial"/>
                <a:ea typeface="Arial"/>
                <a:cs typeface="Arial"/>
              </a:defRPr>
            </a:pPr>
            <a:r>
              <a:rPr sz="1000" b="1">
                <a:solidFill>
                  <a:srgbClr val="FFFFFF"/>
                </a:solidFill>
                <a:latin typeface="Arial"/>
                <a:ea typeface="Arial"/>
                <a:cs typeface="Arial"/>
              </a:rPr>
              <a:t>BIC</a:t>
            </a:r>
          </a:p>
        </p:txBody>
      </p:sp>
      <p:sp>
        <p:nvSpPr>
          <p:cNvPr id="13" name="Rectangle 12">
            <a:extLst>
              <a:ext uri="{FF2B5EF4-FFF2-40B4-BE49-F238E27FC236}">
                <a16:creationId xmlns:a16="http://schemas.microsoft.com/office/drawing/2014/main" id="{7C9C0A9F-AAF9-4943-95E0-4A119EF72BFF}"/>
              </a:ext>
            </a:extLst>
          </p:cNvPr>
          <p:cNvSpPr>
            <a:spLocks noGrp="1"/>
          </p:cNvSpPr>
          <p:nvPr/>
        </p:nvSpPr>
        <p:spPr>
          <a:xfrm>
            <a:off x="4429125" y="1357312"/>
            <a:ext cx="1000125" cy="400050"/>
          </a:xfrm>
          <a:prstGeom prst="rect">
            <a:avLst/>
          </a:prstGeom>
          <a:solidFill>
            <a:srgbClr val="003A61"/>
          </a:solidFill>
          <a:ln w="7620">
            <a:solidFill>
              <a:srgbClr val="003A61"/>
            </a:solidFill>
          </a:ln>
        </p:spPr>
      </p:sp>
      <p:sp>
        <p:nvSpPr>
          <p:cNvPr id="14" name="Rectangle 13">
            <a:extLst>
              <a:ext uri="{FF2B5EF4-FFF2-40B4-BE49-F238E27FC236}">
                <a16:creationId xmlns:a16="http://schemas.microsoft.com/office/drawing/2014/main" id="{C48619F0-788E-4F8F-863A-2C4DBC75E4EC}"/>
              </a:ext>
            </a:extLst>
          </p:cNvPr>
          <p:cNvSpPr>
            <a:spLocks noGrp="1"/>
          </p:cNvSpPr>
          <p:nvPr/>
        </p:nvSpPr>
        <p:spPr>
          <a:xfrm>
            <a:off x="4486275" y="1414462"/>
            <a:ext cx="885825" cy="323850"/>
          </a:xfrm>
          <a:prstGeom prst="rect">
            <a:avLst/>
          </a:prstGeom>
        </p:spPr>
        <p:txBody>
          <a:bodyPr lIns="0" tIns="0" rIns="0" bIns="0"/>
          <a:lstStyle/>
          <a:p>
            <a:pPr algn="ctr">
              <a:defRPr sz="713" b="1">
                <a:solidFill>
                  <a:srgbClr val="FFFFFF"/>
                </a:solidFill>
                <a:latin typeface="Arial"/>
                <a:ea typeface="Arial"/>
                <a:cs typeface="Arial"/>
              </a:defRPr>
            </a:pPr>
            <a:r>
              <a:rPr sz="1000" b="1">
                <a:solidFill>
                  <a:srgbClr val="FFFFFF"/>
                </a:solidFill>
                <a:latin typeface="Arial"/>
                <a:ea typeface="Arial"/>
                <a:cs typeface="Arial"/>
              </a:rPr>
              <a:t>Chisq</a:t>
            </a:r>
          </a:p>
        </p:txBody>
      </p:sp>
      <p:sp>
        <p:nvSpPr>
          <p:cNvPr id="15" name="Rectangle 14">
            <a:extLst>
              <a:ext uri="{FF2B5EF4-FFF2-40B4-BE49-F238E27FC236}">
                <a16:creationId xmlns:a16="http://schemas.microsoft.com/office/drawing/2014/main" id="{0FE788F3-2903-459C-A9EB-D2360ABA2177}"/>
              </a:ext>
            </a:extLst>
          </p:cNvPr>
          <p:cNvSpPr>
            <a:spLocks noGrp="1"/>
          </p:cNvSpPr>
          <p:nvPr/>
        </p:nvSpPr>
        <p:spPr>
          <a:xfrm>
            <a:off x="5429250" y="1357312"/>
            <a:ext cx="1143000" cy="400050"/>
          </a:xfrm>
          <a:prstGeom prst="rect">
            <a:avLst/>
          </a:prstGeom>
          <a:solidFill>
            <a:srgbClr val="003A61"/>
          </a:solidFill>
          <a:ln w="7620">
            <a:solidFill>
              <a:srgbClr val="003A61"/>
            </a:solidFill>
          </a:ln>
        </p:spPr>
      </p:sp>
      <p:sp>
        <p:nvSpPr>
          <p:cNvPr id="16" name="Rectangle 15">
            <a:extLst>
              <a:ext uri="{FF2B5EF4-FFF2-40B4-BE49-F238E27FC236}">
                <a16:creationId xmlns:a16="http://schemas.microsoft.com/office/drawing/2014/main" id="{CE94E39B-FC2C-4E71-B157-3CF796525BD5}"/>
              </a:ext>
            </a:extLst>
          </p:cNvPr>
          <p:cNvSpPr>
            <a:spLocks noGrp="1"/>
          </p:cNvSpPr>
          <p:nvPr/>
        </p:nvSpPr>
        <p:spPr>
          <a:xfrm>
            <a:off x="5486400" y="1414462"/>
            <a:ext cx="1028700" cy="323850"/>
          </a:xfrm>
          <a:prstGeom prst="rect">
            <a:avLst/>
          </a:prstGeom>
        </p:spPr>
        <p:txBody>
          <a:bodyPr lIns="0" tIns="0" rIns="0" bIns="0"/>
          <a:lstStyle/>
          <a:p>
            <a:pPr algn="ctr">
              <a:defRPr sz="713" b="1">
                <a:solidFill>
                  <a:srgbClr val="FFFFFF"/>
                </a:solidFill>
                <a:latin typeface="Arial"/>
                <a:ea typeface="Arial"/>
                <a:cs typeface="Arial"/>
              </a:defRPr>
            </a:pPr>
            <a:r>
              <a:rPr sz="1000" b="1">
                <a:solidFill>
                  <a:srgbClr val="FFFFFF"/>
                </a:solidFill>
                <a:latin typeface="Arial"/>
                <a:ea typeface="Arial"/>
                <a:cs typeface="Arial"/>
              </a:rPr>
              <a:t>p</a:t>
            </a:r>
          </a:p>
        </p:txBody>
      </p:sp>
      <p:sp>
        <p:nvSpPr>
          <p:cNvPr id="17" name="Rectangle 16">
            <a:extLst>
              <a:ext uri="{FF2B5EF4-FFF2-40B4-BE49-F238E27FC236}">
                <a16:creationId xmlns:a16="http://schemas.microsoft.com/office/drawing/2014/main" id="{7622DBB4-35D9-40CD-A5EE-16E40513C18E}"/>
              </a:ext>
            </a:extLst>
          </p:cNvPr>
          <p:cNvSpPr>
            <a:spLocks noGrp="1"/>
          </p:cNvSpPr>
          <p:nvPr/>
        </p:nvSpPr>
        <p:spPr>
          <a:xfrm>
            <a:off x="476250" y="1757362"/>
            <a:ext cx="952500" cy="400050"/>
          </a:xfrm>
          <a:prstGeom prst="rect">
            <a:avLst/>
          </a:prstGeom>
          <a:solidFill>
            <a:srgbClr val="FFFFFF"/>
          </a:solidFill>
          <a:ln w="7620">
            <a:solidFill>
              <a:srgbClr val="DDECB3"/>
            </a:solidFill>
          </a:ln>
        </p:spPr>
      </p:sp>
      <p:sp>
        <p:nvSpPr>
          <p:cNvPr id="18" name="Rectangle 17">
            <a:extLst>
              <a:ext uri="{FF2B5EF4-FFF2-40B4-BE49-F238E27FC236}">
                <a16:creationId xmlns:a16="http://schemas.microsoft.com/office/drawing/2014/main" id="{0EBC4575-ECD8-4BA2-8C31-26881EC60C22}"/>
              </a:ext>
            </a:extLst>
          </p:cNvPr>
          <p:cNvSpPr>
            <a:spLocks noGrp="1"/>
          </p:cNvSpPr>
          <p:nvPr/>
        </p:nvSpPr>
        <p:spPr>
          <a:xfrm>
            <a:off x="533400" y="1814512"/>
            <a:ext cx="838200" cy="323850"/>
          </a:xfrm>
          <a:prstGeom prst="rect">
            <a:avLst/>
          </a:prstGeom>
        </p:spPr>
        <p:txBody>
          <a:bodyPr lIns="0" tIns="0" rIns="0" bIns="0"/>
          <a:lstStyle/>
          <a:p>
            <a:pPr algn="l">
              <a:defRPr sz="690" b="1">
                <a:solidFill>
                  <a:srgbClr val="263845"/>
                </a:solidFill>
                <a:latin typeface="Arial"/>
                <a:ea typeface="Arial"/>
                <a:cs typeface="Arial"/>
              </a:defRPr>
            </a:pPr>
            <a:r>
              <a:rPr sz="1000" b="1">
                <a:solidFill>
                  <a:srgbClr val="263845"/>
                </a:solidFill>
                <a:latin typeface="Arial"/>
                <a:ea typeface="Arial"/>
                <a:cs typeface="Arial"/>
              </a:rPr>
              <a:t>model0</a:t>
            </a:r>
          </a:p>
        </p:txBody>
      </p:sp>
      <p:sp>
        <p:nvSpPr>
          <p:cNvPr id="19" name="Rectangle 18">
            <a:extLst>
              <a:ext uri="{FF2B5EF4-FFF2-40B4-BE49-F238E27FC236}">
                <a16:creationId xmlns:a16="http://schemas.microsoft.com/office/drawing/2014/main" id="{B2DCEE9A-93E1-4A98-A259-907E5AC43998}"/>
              </a:ext>
            </a:extLst>
          </p:cNvPr>
          <p:cNvSpPr>
            <a:spLocks noGrp="1"/>
          </p:cNvSpPr>
          <p:nvPr/>
        </p:nvSpPr>
        <p:spPr>
          <a:xfrm>
            <a:off x="1428750" y="1757362"/>
            <a:ext cx="1000125" cy="400050"/>
          </a:xfrm>
          <a:prstGeom prst="rect">
            <a:avLst/>
          </a:prstGeom>
          <a:solidFill>
            <a:srgbClr val="FFFFFF"/>
          </a:solidFill>
          <a:ln w="7620">
            <a:solidFill>
              <a:srgbClr val="DDECB3"/>
            </a:solidFill>
          </a:ln>
        </p:spPr>
      </p:sp>
      <p:sp>
        <p:nvSpPr>
          <p:cNvPr id="20" name="Rectangle 19">
            <a:extLst>
              <a:ext uri="{FF2B5EF4-FFF2-40B4-BE49-F238E27FC236}">
                <a16:creationId xmlns:a16="http://schemas.microsoft.com/office/drawing/2014/main" id="{6EE56292-FF0E-4669-8C78-4EE4CF4F1544}"/>
              </a:ext>
            </a:extLst>
          </p:cNvPr>
          <p:cNvSpPr>
            <a:spLocks noGrp="1"/>
          </p:cNvSpPr>
          <p:nvPr/>
        </p:nvSpPr>
        <p:spPr>
          <a:xfrm>
            <a:off x="1485900" y="181451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4</a:t>
            </a:r>
          </a:p>
        </p:txBody>
      </p:sp>
      <p:sp>
        <p:nvSpPr>
          <p:cNvPr id="21" name="Rectangle 20">
            <a:extLst>
              <a:ext uri="{FF2B5EF4-FFF2-40B4-BE49-F238E27FC236}">
                <a16:creationId xmlns:a16="http://schemas.microsoft.com/office/drawing/2014/main" id="{1E944026-C8ED-461A-A647-FEF625E14243}"/>
              </a:ext>
            </a:extLst>
          </p:cNvPr>
          <p:cNvSpPr>
            <a:spLocks noGrp="1"/>
          </p:cNvSpPr>
          <p:nvPr/>
        </p:nvSpPr>
        <p:spPr>
          <a:xfrm>
            <a:off x="2428875" y="1757362"/>
            <a:ext cx="1000125" cy="400050"/>
          </a:xfrm>
          <a:prstGeom prst="rect">
            <a:avLst/>
          </a:prstGeom>
          <a:solidFill>
            <a:srgbClr val="FFFFFF"/>
          </a:solidFill>
          <a:ln w="7620">
            <a:solidFill>
              <a:srgbClr val="DDECB3"/>
            </a:solidFill>
          </a:ln>
        </p:spPr>
      </p:sp>
      <p:sp>
        <p:nvSpPr>
          <p:cNvPr id="22" name="Rectangle 21">
            <a:extLst>
              <a:ext uri="{FF2B5EF4-FFF2-40B4-BE49-F238E27FC236}">
                <a16:creationId xmlns:a16="http://schemas.microsoft.com/office/drawing/2014/main" id="{CF6237B8-0BE4-4F08-8059-E2362812A39C}"/>
              </a:ext>
            </a:extLst>
          </p:cNvPr>
          <p:cNvSpPr>
            <a:spLocks noGrp="1"/>
          </p:cNvSpPr>
          <p:nvPr/>
        </p:nvSpPr>
        <p:spPr>
          <a:xfrm>
            <a:off x="2486025" y="181451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-286.3</a:t>
            </a:r>
          </a:p>
        </p:txBody>
      </p:sp>
      <p:sp>
        <p:nvSpPr>
          <p:cNvPr id="23" name="Rectangle 22">
            <a:extLst>
              <a:ext uri="{FF2B5EF4-FFF2-40B4-BE49-F238E27FC236}">
                <a16:creationId xmlns:a16="http://schemas.microsoft.com/office/drawing/2014/main" id="{45FA0690-7544-47B4-8271-0A5ECC00F134}"/>
              </a:ext>
            </a:extLst>
          </p:cNvPr>
          <p:cNvSpPr>
            <a:spLocks noGrp="1"/>
          </p:cNvSpPr>
          <p:nvPr/>
        </p:nvSpPr>
        <p:spPr>
          <a:xfrm>
            <a:off x="3429000" y="1757362"/>
            <a:ext cx="1000125" cy="400050"/>
          </a:xfrm>
          <a:prstGeom prst="rect">
            <a:avLst/>
          </a:prstGeom>
          <a:solidFill>
            <a:srgbClr val="FFFFFF"/>
          </a:solidFill>
          <a:ln w="7620">
            <a:solidFill>
              <a:srgbClr val="DDECB3"/>
            </a:solidFill>
          </a:ln>
        </p:spPr>
      </p:sp>
      <p:sp>
        <p:nvSpPr>
          <p:cNvPr id="24" name="Rectangle 23">
            <a:extLst>
              <a:ext uri="{FF2B5EF4-FFF2-40B4-BE49-F238E27FC236}">
                <a16:creationId xmlns:a16="http://schemas.microsoft.com/office/drawing/2014/main" id="{C485660D-F2B0-403C-9E93-B7E2CF9587EC}"/>
              </a:ext>
            </a:extLst>
          </p:cNvPr>
          <p:cNvSpPr>
            <a:spLocks noGrp="1"/>
          </p:cNvSpPr>
          <p:nvPr/>
        </p:nvSpPr>
        <p:spPr>
          <a:xfrm>
            <a:off x="3486150" y="181451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-261.9</a:t>
            </a:r>
          </a:p>
        </p:txBody>
      </p:sp>
      <p:sp>
        <p:nvSpPr>
          <p:cNvPr id="25" name="Rectangle 24">
            <a:extLst>
              <a:ext uri="{FF2B5EF4-FFF2-40B4-BE49-F238E27FC236}">
                <a16:creationId xmlns:a16="http://schemas.microsoft.com/office/drawing/2014/main" id="{AC2417E9-154A-42EC-A969-8327FD18884E}"/>
              </a:ext>
            </a:extLst>
          </p:cNvPr>
          <p:cNvSpPr>
            <a:spLocks noGrp="1"/>
          </p:cNvSpPr>
          <p:nvPr/>
        </p:nvSpPr>
        <p:spPr>
          <a:xfrm>
            <a:off x="4429125" y="1757362"/>
            <a:ext cx="1000125" cy="400050"/>
          </a:xfrm>
          <a:prstGeom prst="rect">
            <a:avLst/>
          </a:prstGeom>
          <a:solidFill>
            <a:srgbClr val="FFFFFF"/>
          </a:solidFill>
          <a:ln w="7620">
            <a:solidFill>
              <a:srgbClr val="DDECB3"/>
            </a:solidFill>
          </a:ln>
        </p:spPr>
      </p:sp>
      <p:sp>
        <p:nvSpPr>
          <p:cNvPr id="26" name="Rectangle 25">
            <a:extLst>
              <a:ext uri="{FF2B5EF4-FFF2-40B4-BE49-F238E27FC236}">
                <a16:creationId xmlns:a16="http://schemas.microsoft.com/office/drawing/2014/main" id="{2A37A52F-7613-4E23-9517-33613C9A1690}"/>
              </a:ext>
            </a:extLst>
          </p:cNvPr>
          <p:cNvSpPr>
            <a:spLocks noGrp="1"/>
          </p:cNvSpPr>
          <p:nvPr/>
        </p:nvSpPr>
        <p:spPr>
          <a:xfrm>
            <a:off x="4486275" y="181451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a:t>
            </a:r>
          </a:p>
        </p:txBody>
      </p:sp>
      <p:sp>
        <p:nvSpPr>
          <p:cNvPr id="27" name="Rectangle 26">
            <a:extLst>
              <a:ext uri="{FF2B5EF4-FFF2-40B4-BE49-F238E27FC236}">
                <a16:creationId xmlns:a16="http://schemas.microsoft.com/office/drawing/2014/main" id="{7CF238BF-EF4F-4927-AED7-0BBEFC7FB4B6}"/>
              </a:ext>
            </a:extLst>
          </p:cNvPr>
          <p:cNvSpPr>
            <a:spLocks noGrp="1"/>
          </p:cNvSpPr>
          <p:nvPr/>
        </p:nvSpPr>
        <p:spPr>
          <a:xfrm>
            <a:off x="5429250" y="1757362"/>
            <a:ext cx="1143000" cy="400050"/>
          </a:xfrm>
          <a:prstGeom prst="rect">
            <a:avLst/>
          </a:prstGeom>
          <a:solidFill>
            <a:srgbClr val="FFFFFF"/>
          </a:solidFill>
          <a:ln w="7620">
            <a:solidFill>
              <a:srgbClr val="DDECB3"/>
            </a:solidFill>
          </a:ln>
        </p:spPr>
      </p:sp>
      <p:sp>
        <p:nvSpPr>
          <p:cNvPr id="28" name="Rectangle 27">
            <a:extLst>
              <a:ext uri="{FF2B5EF4-FFF2-40B4-BE49-F238E27FC236}">
                <a16:creationId xmlns:a16="http://schemas.microsoft.com/office/drawing/2014/main" id="{B01718D9-9ECC-4F2B-9EF7-5D0DF039F760}"/>
              </a:ext>
            </a:extLst>
          </p:cNvPr>
          <p:cNvSpPr>
            <a:spLocks noGrp="1"/>
          </p:cNvSpPr>
          <p:nvPr/>
        </p:nvSpPr>
        <p:spPr>
          <a:xfrm>
            <a:off x="5486400" y="1814512"/>
            <a:ext cx="1028700"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a:t>
            </a:r>
          </a:p>
        </p:txBody>
      </p:sp>
      <p:sp>
        <p:nvSpPr>
          <p:cNvPr id="29" name="Rectangle 28">
            <a:extLst>
              <a:ext uri="{FF2B5EF4-FFF2-40B4-BE49-F238E27FC236}">
                <a16:creationId xmlns:a16="http://schemas.microsoft.com/office/drawing/2014/main" id="{6683D62E-BAF2-435B-820B-E9FF420BD022}"/>
              </a:ext>
            </a:extLst>
          </p:cNvPr>
          <p:cNvSpPr>
            <a:spLocks noGrp="1"/>
          </p:cNvSpPr>
          <p:nvPr/>
        </p:nvSpPr>
        <p:spPr>
          <a:xfrm>
            <a:off x="476250" y="2157412"/>
            <a:ext cx="952500" cy="400050"/>
          </a:xfrm>
          <a:prstGeom prst="rect">
            <a:avLst/>
          </a:prstGeom>
          <a:solidFill>
            <a:srgbClr val="FFFFFF"/>
          </a:solidFill>
          <a:ln w="7620">
            <a:solidFill>
              <a:srgbClr val="DDECB3"/>
            </a:solidFill>
          </a:ln>
        </p:spPr>
      </p:sp>
      <p:sp>
        <p:nvSpPr>
          <p:cNvPr id="30" name="Rectangle 29">
            <a:extLst>
              <a:ext uri="{FF2B5EF4-FFF2-40B4-BE49-F238E27FC236}">
                <a16:creationId xmlns:a16="http://schemas.microsoft.com/office/drawing/2014/main" id="{44989EB9-6DD5-4B29-A314-ABF551BC5EBB}"/>
              </a:ext>
            </a:extLst>
          </p:cNvPr>
          <p:cNvSpPr>
            <a:spLocks noGrp="1"/>
          </p:cNvSpPr>
          <p:nvPr/>
        </p:nvSpPr>
        <p:spPr>
          <a:xfrm>
            <a:off x="533400" y="2214562"/>
            <a:ext cx="838200" cy="323850"/>
          </a:xfrm>
          <a:prstGeom prst="rect">
            <a:avLst/>
          </a:prstGeom>
        </p:spPr>
        <p:txBody>
          <a:bodyPr lIns="0" tIns="0" rIns="0" bIns="0"/>
          <a:lstStyle/>
          <a:p>
            <a:pPr algn="l">
              <a:defRPr sz="690" b="1">
                <a:solidFill>
                  <a:srgbClr val="263845"/>
                </a:solidFill>
                <a:latin typeface="Arial"/>
                <a:ea typeface="Arial"/>
                <a:cs typeface="Arial"/>
              </a:defRPr>
            </a:pPr>
            <a:r>
              <a:rPr lang="en-US" sz="1000" b="1">
                <a:solidFill>
                  <a:srgbClr val="263845"/>
                </a:solidFill>
                <a:latin typeface="Arial"/>
                <a:ea typeface="Arial"/>
                <a:cs typeface="Arial"/>
              </a:rPr>
              <a:t>model1 + frequency_group</a:t>
            </a:r>
            <a:endParaRPr sz="1000" b="1">
              <a:solidFill>
                <a:srgbClr val="263845"/>
              </a:solidFill>
              <a:latin typeface="Arial"/>
              <a:ea typeface="Arial"/>
              <a:cs typeface="Arial"/>
            </a:endParaRPr>
          </a:p>
        </p:txBody>
      </p:sp>
      <p:sp>
        <p:nvSpPr>
          <p:cNvPr id="31" name="Rectangle 30">
            <a:extLst>
              <a:ext uri="{FF2B5EF4-FFF2-40B4-BE49-F238E27FC236}">
                <a16:creationId xmlns:a16="http://schemas.microsoft.com/office/drawing/2014/main" id="{2EEC7E57-81E9-4A7E-8D0B-230BE7D07E0D}"/>
              </a:ext>
            </a:extLst>
          </p:cNvPr>
          <p:cNvSpPr>
            <a:spLocks noGrp="1"/>
          </p:cNvSpPr>
          <p:nvPr/>
        </p:nvSpPr>
        <p:spPr>
          <a:xfrm>
            <a:off x="1428750" y="2157412"/>
            <a:ext cx="1000125" cy="400050"/>
          </a:xfrm>
          <a:prstGeom prst="rect">
            <a:avLst/>
          </a:prstGeom>
          <a:solidFill>
            <a:srgbClr val="FFFFFF"/>
          </a:solidFill>
          <a:ln w="7620">
            <a:solidFill>
              <a:srgbClr val="DDECB3"/>
            </a:solidFill>
          </a:ln>
        </p:spPr>
      </p:sp>
      <p:sp>
        <p:nvSpPr>
          <p:cNvPr id="32" name="Rectangle 31">
            <a:extLst>
              <a:ext uri="{FF2B5EF4-FFF2-40B4-BE49-F238E27FC236}">
                <a16:creationId xmlns:a16="http://schemas.microsoft.com/office/drawing/2014/main" id="{3DFB59AB-1464-4DC0-BF0E-F0042F66B563}"/>
              </a:ext>
            </a:extLst>
          </p:cNvPr>
          <p:cNvSpPr>
            <a:spLocks noGrp="1"/>
          </p:cNvSpPr>
          <p:nvPr/>
        </p:nvSpPr>
        <p:spPr>
          <a:xfrm>
            <a:off x="1485900" y="221456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6</a:t>
            </a:r>
          </a:p>
        </p:txBody>
      </p:sp>
      <p:sp>
        <p:nvSpPr>
          <p:cNvPr id="33" name="Rectangle 32">
            <a:extLst>
              <a:ext uri="{FF2B5EF4-FFF2-40B4-BE49-F238E27FC236}">
                <a16:creationId xmlns:a16="http://schemas.microsoft.com/office/drawing/2014/main" id="{2FB7C299-1F11-458B-AC55-A89E40AE8D1E}"/>
              </a:ext>
            </a:extLst>
          </p:cNvPr>
          <p:cNvSpPr>
            <a:spLocks noGrp="1"/>
          </p:cNvSpPr>
          <p:nvPr/>
        </p:nvSpPr>
        <p:spPr>
          <a:xfrm>
            <a:off x="2428875" y="2157412"/>
            <a:ext cx="1000125" cy="400050"/>
          </a:xfrm>
          <a:prstGeom prst="rect">
            <a:avLst/>
          </a:prstGeom>
          <a:solidFill>
            <a:srgbClr val="FFFFFF"/>
          </a:solidFill>
          <a:ln w="7620">
            <a:solidFill>
              <a:srgbClr val="DDECB3"/>
            </a:solidFill>
          </a:ln>
        </p:spPr>
      </p:sp>
      <p:sp>
        <p:nvSpPr>
          <p:cNvPr id="34" name="Rectangle 33">
            <a:extLst>
              <a:ext uri="{FF2B5EF4-FFF2-40B4-BE49-F238E27FC236}">
                <a16:creationId xmlns:a16="http://schemas.microsoft.com/office/drawing/2014/main" id="{BA8032F6-011D-4341-A54A-5AC3FD72B6FC}"/>
              </a:ext>
            </a:extLst>
          </p:cNvPr>
          <p:cNvSpPr>
            <a:spLocks noGrp="1"/>
          </p:cNvSpPr>
          <p:nvPr/>
        </p:nvSpPr>
        <p:spPr>
          <a:xfrm>
            <a:off x="2486025" y="221456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-299.2</a:t>
            </a:r>
          </a:p>
        </p:txBody>
      </p:sp>
      <p:sp>
        <p:nvSpPr>
          <p:cNvPr id="35" name="Rectangle 34">
            <a:extLst>
              <a:ext uri="{FF2B5EF4-FFF2-40B4-BE49-F238E27FC236}">
                <a16:creationId xmlns:a16="http://schemas.microsoft.com/office/drawing/2014/main" id="{B0AFC0F4-A217-4766-8DF2-3DC0343CBF48}"/>
              </a:ext>
            </a:extLst>
          </p:cNvPr>
          <p:cNvSpPr>
            <a:spLocks noGrp="1"/>
          </p:cNvSpPr>
          <p:nvPr/>
        </p:nvSpPr>
        <p:spPr>
          <a:xfrm>
            <a:off x="3429000" y="2157412"/>
            <a:ext cx="1000125" cy="400050"/>
          </a:xfrm>
          <a:prstGeom prst="rect">
            <a:avLst/>
          </a:prstGeom>
          <a:solidFill>
            <a:srgbClr val="FFFFFF"/>
          </a:solidFill>
          <a:ln w="7620">
            <a:solidFill>
              <a:srgbClr val="DDECB3"/>
            </a:solidFill>
          </a:ln>
        </p:spPr>
      </p:sp>
      <p:sp>
        <p:nvSpPr>
          <p:cNvPr id="36" name="Rectangle 35">
            <a:extLst>
              <a:ext uri="{FF2B5EF4-FFF2-40B4-BE49-F238E27FC236}">
                <a16:creationId xmlns:a16="http://schemas.microsoft.com/office/drawing/2014/main" id="{04C36EEC-6C97-4911-8097-7D65A49C4A5E}"/>
              </a:ext>
            </a:extLst>
          </p:cNvPr>
          <p:cNvSpPr>
            <a:spLocks noGrp="1"/>
          </p:cNvSpPr>
          <p:nvPr/>
        </p:nvSpPr>
        <p:spPr>
          <a:xfrm>
            <a:off x="3486150" y="221456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-262.6</a:t>
            </a:r>
          </a:p>
        </p:txBody>
      </p:sp>
      <p:sp>
        <p:nvSpPr>
          <p:cNvPr id="37" name="Rectangle 36">
            <a:extLst>
              <a:ext uri="{FF2B5EF4-FFF2-40B4-BE49-F238E27FC236}">
                <a16:creationId xmlns:a16="http://schemas.microsoft.com/office/drawing/2014/main" id="{C72ECCF5-D20E-45A9-8D92-8D80D9F801A1}"/>
              </a:ext>
            </a:extLst>
          </p:cNvPr>
          <p:cNvSpPr>
            <a:spLocks noGrp="1"/>
          </p:cNvSpPr>
          <p:nvPr/>
        </p:nvSpPr>
        <p:spPr>
          <a:xfrm>
            <a:off x="4429125" y="2157412"/>
            <a:ext cx="1000125" cy="400050"/>
          </a:xfrm>
          <a:prstGeom prst="rect">
            <a:avLst/>
          </a:prstGeom>
          <a:solidFill>
            <a:srgbClr val="FFFFFF"/>
          </a:solidFill>
          <a:ln w="7620">
            <a:solidFill>
              <a:srgbClr val="DDECB3"/>
            </a:solidFill>
          </a:ln>
        </p:spPr>
      </p:sp>
      <p:sp>
        <p:nvSpPr>
          <p:cNvPr id="38" name="Rectangle 37">
            <a:extLst>
              <a:ext uri="{FF2B5EF4-FFF2-40B4-BE49-F238E27FC236}">
                <a16:creationId xmlns:a16="http://schemas.microsoft.com/office/drawing/2014/main" id="{503D4559-083E-449B-AEEA-BB44FADDAC20}"/>
              </a:ext>
            </a:extLst>
          </p:cNvPr>
          <p:cNvSpPr>
            <a:spLocks noGrp="1"/>
          </p:cNvSpPr>
          <p:nvPr/>
        </p:nvSpPr>
        <p:spPr>
          <a:xfrm>
            <a:off x="4486275" y="221456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16.95</a:t>
            </a:r>
          </a:p>
        </p:txBody>
      </p:sp>
      <p:sp>
        <p:nvSpPr>
          <p:cNvPr id="39" name="Rectangle 38">
            <a:extLst>
              <a:ext uri="{FF2B5EF4-FFF2-40B4-BE49-F238E27FC236}">
                <a16:creationId xmlns:a16="http://schemas.microsoft.com/office/drawing/2014/main" id="{5ADD7AB8-5498-4013-9AD5-57828FB26255}"/>
              </a:ext>
            </a:extLst>
          </p:cNvPr>
          <p:cNvSpPr>
            <a:spLocks noGrp="1"/>
          </p:cNvSpPr>
          <p:nvPr/>
        </p:nvSpPr>
        <p:spPr>
          <a:xfrm>
            <a:off x="5429250" y="2157412"/>
            <a:ext cx="1143000" cy="400050"/>
          </a:xfrm>
          <a:prstGeom prst="rect">
            <a:avLst/>
          </a:prstGeom>
          <a:solidFill>
            <a:srgbClr val="FFFFFF"/>
          </a:solidFill>
          <a:ln w="7620">
            <a:solidFill>
              <a:srgbClr val="DDECB3"/>
            </a:solidFill>
          </a:ln>
        </p:spPr>
      </p:sp>
      <p:sp>
        <p:nvSpPr>
          <p:cNvPr id="40" name="Rectangle 39">
            <a:extLst>
              <a:ext uri="{FF2B5EF4-FFF2-40B4-BE49-F238E27FC236}">
                <a16:creationId xmlns:a16="http://schemas.microsoft.com/office/drawing/2014/main" id="{D002BA94-E538-4127-A61A-B4C71DF38FAA}"/>
              </a:ext>
            </a:extLst>
          </p:cNvPr>
          <p:cNvSpPr>
            <a:spLocks noGrp="1"/>
          </p:cNvSpPr>
          <p:nvPr/>
        </p:nvSpPr>
        <p:spPr>
          <a:xfrm>
            <a:off x="5486400" y="2214562"/>
            <a:ext cx="1028700"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&lt; .001</a:t>
            </a:r>
          </a:p>
        </p:txBody>
      </p:sp>
      <p:sp>
        <p:nvSpPr>
          <p:cNvPr id="41" name="Rectangle 40">
            <a:extLst>
              <a:ext uri="{FF2B5EF4-FFF2-40B4-BE49-F238E27FC236}">
                <a16:creationId xmlns:a16="http://schemas.microsoft.com/office/drawing/2014/main" id="{D9CA232E-31A2-468E-BCD1-27F9EAD0513F}"/>
              </a:ext>
            </a:extLst>
          </p:cNvPr>
          <p:cNvSpPr>
            <a:spLocks noGrp="1"/>
          </p:cNvSpPr>
          <p:nvPr/>
        </p:nvSpPr>
        <p:spPr>
          <a:xfrm>
            <a:off x="476250" y="2557462"/>
            <a:ext cx="952500" cy="400050"/>
          </a:xfrm>
          <a:prstGeom prst="rect">
            <a:avLst/>
          </a:prstGeom>
          <a:solidFill>
            <a:srgbClr val="FFFFFF"/>
          </a:solidFill>
          <a:ln w="7620">
            <a:solidFill>
              <a:srgbClr val="DDECB3"/>
            </a:solidFill>
          </a:ln>
        </p:spPr>
      </p:sp>
      <p:sp>
        <p:nvSpPr>
          <p:cNvPr id="42" name="Rectangle 41">
            <a:extLst>
              <a:ext uri="{FF2B5EF4-FFF2-40B4-BE49-F238E27FC236}">
                <a16:creationId xmlns:a16="http://schemas.microsoft.com/office/drawing/2014/main" id="{E3A49659-F05A-4756-839A-859CD23AD7C6}"/>
              </a:ext>
            </a:extLst>
          </p:cNvPr>
          <p:cNvSpPr>
            <a:spLocks noGrp="1"/>
          </p:cNvSpPr>
          <p:nvPr/>
        </p:nvSpPr>
        <p:spPr>
          <a:xfrm>
            <a:off x="533400" y="2614612"/>
            <a:ext cx="838200" cy="323850"/>
          </a:xfrm>
          <a:prstGeom prst="rect">
            <a:avLst/>
          </a:prstGeom>
        </p:spPr>
        <p:txBody>
          <a:bodyPr lIns="0" tIns="0" rIns="0" bIns="0"/>
          <a:lstStyle/>
          <a:p>
            <a:pPr algn="l">
              <a:defRPr sz="690" b="1">
                <a:solidFill>
                  <a:srgbClr val="263845"/>
                </a:solidFill>
                <a:latin typeface="Arial"/>
                <a:ea typeface="Arial"/>
                <a:cs typeface="Arial"/>
              </a:defRPr>
            </a:pPr>
            <a:r>
              <a:rPr lang="en-US" sz="1000" b="1">
                <a:solidFill>
                  <a:srgbClr val="263845"/>
                </a:solidFill>
                <a:latin typeface="Arial"/>
                <a:ea typeface="Arial"/>
                <a:cs typeface="Arial"/>
              </a:rPr>
              <a:t>model2 + syllable_length</a:t>
            </a:r>
            <a:endParaRPr sz="1000" b="1">
              <a:solidFill>
                <a:srgbClr val="263845"/>
              </a:solidFill>
              <a:latin typeface="Arial"/>
              <a:ea typeface="Arial"/>
              <a:cs typeface="Arial"/>
            </a:endParaRPr>
          </a:p>
        </p:txBody>
      </p:sp>
      <p:sp>
        <p:nvSpPr>
          <p:cNvPr id="43" name="Rectangle 42">
            <a:extLst>
              <a:ext uri="{FF2B5EF4-FFF2-40B4-BE49-F238E27FC236}">
                <a16:creationId xmlns:a16="http://schemas.microsoft.com/office/drawing/2014/main" id="{4B744037-553E-4D3D-9D9E-38C4B250A0B0}"/>
              </a:ext>
            </a:extLst>
          </p:cNvPr>
          <p:cNvSpPr>
            <a:spLocks noGrp="1"/>
          </p:cNvSpPr>
          <p:nvPr/>
        </p:nvSpPr>
        <p:spPr>
          <a:xfrm>
            <a:off x="1428750" y="2557462"/>
            <a:ext cx="1000125" cy="400050"/>
          </a:xfrm>
          <a:prstGeom prst="rect">
            <a:avLst/>
          </a:prstGeom>
          <a:solidFill>
            <a:srgbClr val="FFFFFF"/>
          </a:solidFill>
          <a:ln w="7620">
            <a:solidFill>
              <a:srgbClr val="DDECB3"/>
            </a:solidFill>
          </a:ln>
        </p:spPr>
      </p:sp>
      <p:sp>
        <p:nvSpPr>
          <p:cNvPr id="44" name="Rectangle 43">
            <a:extLst>
              <a:ext uri="{FF2B5EF4-FFF2-40B4-BE49-F238E27FC236}">
                <a16:creationId xmlns:a16="http://schemas.microsoft.com/office/drawing/2014/main" id="{A79529F4-9531-4461-929A-1F0B63D7ED8E}"/>
              </a:ext>
            </a:extLst>
          </p:cNvPr>
          <p:cNvSpPr>
            <a:spLocks noGrp="1"/>
          </p:cNvSpPr>
          <p:nvPr/>
        </p:nvSpPr>
        <p:spPr>
          <a:xfrm>
            <a:off x="1485900" y="261461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9</a:t>
            </a:r>
          </a:p>
        </p:txBody>
      </p:sp>
      <p:sp>
        <p:nvSpPr>
          <p:cNvPr id="45" name="Rectangle 44">
            <a:extLst>
              <a:ext uri="{FF2B5EF4-FFF2-40B4-BE49-F238E27FC236}">
                <a16:creationId xmlns:a16="http://schemas.microsoft.com/office/drawing/2014/main" id="{3854E168-391B-4B25-AE2B-B8125BD3EC70}"/>
              </a:ext>
            </a:extLst>
          </p:cNvPr>
          <p:cNvSpPr>
            <a:spLocks noGrp="1"/>
          </p:cNvSpPr>
          <p:nvPr/>
        </p:nvSpPr>
        <p:spPr>
          <a:xfrm>
            <a:off x="2428875" y="2557462"/>
            <a:ext cx="1000125" cy="400050"/>
          </a:xfrm>
          <a:prstGeom prst="rect">
            <a:avLst/>
          </a:prstGeom>
          <a:solidFill>
            <a:srgbClr val="FFFFFF"/>
          </a:solidFill>
          <a:ln w="7620">
            <a:solidFill>
              <a:srgbClr val="DDECB3"/>
            </a:solidFill>
          </a:ln>
        </p:spPr>
      </p:sp>
      <p:sp>
        <p:nvSpPr>
          <p:cNvPr id="46" name="Rectangle 45">
            <a:extLst>
              <a:ext uri="{FF2B5EF4-FFF2-40B4-BE49-F238E27FC236}">
                <a16:creationId xmlns:a16="http://schemas.microsoft.com/office/drawing/2014/main" id="{F5A3187E-A044-46BB-A56D-F2CE1396CAF1}"/>
              </a:ext>
            </a:extLst>
          </p:cNvPr>
          <p:cNvSpPr>
            <a:spLocks noGrp="1"/>
          </p:cNvSpPr>
          <p:nvPr/>
        </p:nvSpPr>
        <p:spPr>
          <a:xfrm>
            <a:off x="2486025" y="261461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-511.0</a:t>
            </a:r>
          </a:p>
        </p:txBody>
      </p:sp>
      <p:sp>
        <p:nvSpPr>
          <p:cNvPr id="47" name="Rectangle 46">
            <a:extLst>
              <a:ext uri="{FF2B5EF4-FFF2-40B4-BE49-F238E27FC236}">
                <a16:creationId xmlns:a16="http://schemas.microsoft.com/office/drawing/2014/main" id="{12CCA8AB-AD19-4135-89F8-7528F8635B56}"/>
              </a:ext>
            </a:extLst>
          </p:cNvPr>
          <p:cNvSpPr>
            <a:spLocks noGrp="1"/>
          </p:cNvSpPr>
          <p:nvPr/>
        </p:nvSpPr>
        <p:spPr>
          <a:xfrm>
            <a:off x="3429000" y="2557462"/>
            <a:ext cx="1000125" cy="400050"/>
          </a:xfrm>
          <a:prstGeom prst="rect">
            <a:avLst/>
          </a:prstGeom>
          <a:solidFill>
            <a:srgbClr val="FFFFFF"/>
          </a:solidFill>
          <a:ln w="7620">
            <a:solidFill>
              <a:srgbClr val="DDECB3"/>
            </a:solidFill>
          </a:ln>
        </p:spPr>
      </p:sp>
      <p:sp>
        <p:nvSpPr>
          <p:cNvPr id="48" name="Rectangle 47">
            <a:extLst>
              <a:ext uri="{FF2B5EF4-FFF2-40B4-BE49-F238E27FC236}">
                <a16:creationId xmlns:a16="http://schemas.microsoft.com/office/drawing/2014/main" id="{BD10E80D-83B4-4B5A-A7D0-59E3FBBD71FF}"/>
              </a:ext>
            </a:extLst>
          </p:cNvPr>
          <p:cNvSpPr>
            <a:spLocks noGrp="1"/>
          </p:cNvSpPr>
          <p:nvPr/>
        </p:nvSpPr>
        <p:spPr>
          <a:xfrm>
            <a:off x="3486150" y="261461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-456.1</a:t>
            </a:r>
          </a:p>
        </p:txBody>
      </p:sp>
      <p:sp>
        <p:nvSpPr>
          <p:cNvPr id="49" name="Rectangle 48">
            <a:extLst>
              <a:ext uri="{FF2B5EF4-FFF2-40B4-BE49-F238E27FC236}">
                <a16:creationId xmlns:a16="http://schemas.microsoft.com/office/drawing/2014/main" id="{E4947CAA-A867-4DFB-A776-9E307F7D60DD}"/>
              </a:ext>
            </a:extLst>
          </p:cNvPr>
          <p:cNvSpPr>
            <a:spLocks noGrp="1"/>
          </p:cNvSpPr>
          <p:nvPr/>
        </p:nvSpPr>
        <p:spPr>
          <a:xfrm>
            <a:off x="4429125" y="2557462"/>
            <a:ext cx="1000125" cy="400050"/>
          </a:xfrm>
          <a:prstGeom prst="rect">
            <a:avLst/>
          </a:prstGeom>
          <a:solidFill>
            <a:srgbClr val="FFFFFF"/>
          </a:solidFill>
          <a:ln w="7620">
            <a:solidFill>
              <a:srgbClr val="DDECB3"/>
            </a:solidFill>
          </a:ln>
        </p:spPr>
      </p:sp>
      <p:sp>
        <p:nvSpPr>
          <p:cNvPr id="50" name="Rectangle 49">
            <a:extLst>
              <a:ext uri="{FF2B5EF4-FFF2-40B4-BE49-F238E27FC236}">
                <a16:creationId xmlns:a16="http://schemas.microsoft.com/office/drawing/2014/main" id="{E18AB454-F212-4D75-8B5F-DF31898491D4}"/>
              </a:ext>
            </a:extLst>
          </p:cNvPr>
          <p:cNvSpPr>
            <a:spLocks noGrp="1"/>
          </p:cNvSpPr>
          <p:nvPr/>
        </p:nvSpPr>
        <p:spPr>
          <a:xfrm>
            <a:off x="4486275" y="261461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217.80</a:t>
            </a:r>
          </a:p>
        </p:txBody>
      </p:sp>
      <p:sp>
        <p:nvSpPr>
          <p:cNvPr id="51" name="Rectangle 50">
            <a:extLst>
              <a:ext uri="{FF2B5EF4-FFF2-40B4-BE49-F238E27FC236}">
                <a16:creationId xmlns:a16="http://schemas.microsoft.com/office/drawing/2014/main" id="{4201FB3F-D7AB-4333-97D3-2AA01B0F1F73}"/>
              </a:ext>
            </a:extLst>
          </p:cNvPr>
          <p:cNvSpPr>
            <a:spLocks noGrp="1"/>
          </p:cNvSpPr>
          <p:nvPr/>
        </p:nvSpPr>
        <p:spPr>
          <a:xfrm>
            <a:off x="5429250" y="2557462"/>
            <a:ext cx="1143000" cy="400050"/>
          </a:xfrm>
          <a:prstGeom prst="rect">
            <a:avLst/>
          </a:prstGeom>
          <a:solidFill>
            <a:srgbClr val="FFFFFF"/>
          </a:solidFill>
          <a:ln w="7620">
            <a:solidFill>
              <a:srgbClr val="DDECB3"/>
            </a:solidFill>
          </a:ln>
        </p:spPr>
      </p:sp>
      <p:sp>
        <p:nvSpPr>
          <p:cNvPr id="52" name="Rectangle 51">
            <a:extLst>
              <a:ext uri="{FF2B5EF4-FFF2-40B4-BE49-F238E27FC236}">
                <a16:creationId xmlns:a16="http://schemas.microsoft.com/office/drawing/2014/main" id="{478A7F3E-6207-434E-814B-AA94E8AD7389}"/>
              </a:ext>
            </a:extLst>
          </p:cNvPr>
          <p:cNvSpPr>
            <a:spLocks noGrp="1"/>
          </p:cNvSpPr>
          <p:nvPr/>
        </p:nvSpPr>
        <p:spPr>
          <a:xfrm>
            <a:off x="5486400" y="2614612"/>
            <a:ext cx="1028700"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&lt; .001</a:t>
            </a:r>
          </a:p>
        </p:txBody>
      </p:sp>
      <p:sp>
        <p:nvSpPr>
          <p:cNvPr id="53" name="Rectangle 52">
            <a:extLst>
              <a:ext uri="{FF2B5EF4-FFF2-40B4-BE49-F238E27FC236}">
                <a16:creationId xmlns:a16="http://schemas.microsoft.com/office/drawing/2014/main" id="{A0372A51-0DC5-4B9B-8840-4A8882356AFA}"/>
              </a:ext>
            </a:extLst>
          </p:cNvPr>
          <p:cNvSpPr>
            <a:spLocks noGrp="1"/>
          </p:cNvSpPr>
          <p:nvPr/>
        </p:nvSpPr>
        <p:spPr>
          <a:xfrm>
            <a:off x="476250" y="2957512"/>
            <a:ext cx="952500" cy="400050"/>
          </a:xfrm>
          <a:prstGeom prst="rect">
            <a:avLst/>
          </a:prstGeom>
          <a:solidFill>
            <a:srgbClr val="FFFFFF"/>
          </a:solidFill>
          <a:ln w="7620">
            <a:solidFill>
              <a:srgbClr val="DDECB3"/>
            </a:solidFill>
          </a:ln>
        </p:spPr>
      </p:sp>
      <p:sp>
        <p:nvSpPr>
          <p:cNvPr id="54" name="Rectangle 53">
            <a:extLst>
              <a:ext uri="{FF2B5EF4-FFF2-40B4-BE49-F238E27FC236}">
                <a16:creationId xmlns:a16="http://schemas.microsoft.com/office/drawing/2014/main" id="{2174D20E-E802-477B-8235-F8B6D51B29C5}"/>
              </a:ext>
            </a:extLst>
          </p:cNvPr>
          <p:cNvSpPr>
            <a:spLocks noGrp="1"/>
          </p:cNvSpPr>
          <p:nvPr/>
        </p:nvSpPr>
        <p:spPr>
          <a:xfrm>
            <a:off x="533400" y="3014662"/>
            <a:ext cx="838200" cy="323850"/>
          </a:xfrm>
          <a:prstGeom prst="rect">
            <a:avLst/>
          </a:prstGeom>
        </p:spPr>
        <p:txBody>
          <a:bodyPr lIns="0" tIns="0" rIns="0" bIns="0"/>
          <a:lstStyle/>
          <a:p>
            <a:pPr algn="l">
              <a:defRPr sz="690" b="1">
                <a:solidFill>
                  <a:srgbClr val="263845"/>
                </a:solidFill>
                <a:latin typeface="Arial"/>
                <a:ea typeface="Arial"/>
                <a:cs typeface="Arial"/>
              </a:defRPr>
            </a:pPr>
            <a:r>
              <a:rPr sz="1000" b="1">
                <a:solidFill>
                  <a:srgbClr val="263845"/>
                </a:solidFill>
                <a:latin typeface="Arial"/>
                <a:ea typeface="Arial"/>
                <a:cs typeface="Arial"/>
              </a:rPr>
              <a:t>model3 + interaction</a:t>
            </a:r>
          </a:p>
        </p:txBody>
      </p:sp>
      <p:sp>
        <p:nvSpPr>
          <p:cNvPr id="55" name="Rectangle 54">
            <a:extLst>
              <a:ext uri="{FF2B5EF4-FFF2-40B4-BE49-F238E27FC236}">
                <a16:creationId xmlns:a16="http://schemas.microsoft.com/office/drawing/2014/main" id="{1C56877E-45BC-4C69-A942-322EBAD83277}"/>
              </a:ext>
            </a:extLst>
          </p:cNvPr>
          <p:cNvSpPr>
            <a:spLocks noGrp="1"/>
          </p:cNvSpPr>
          <p:nvPr/>
        </p:nvSpPr>
        <p:spPr>
          <a:xfrm>
            <a:off x="1428750" y="2957512"/>
            <a:ext cx="1000125" cy="400050"/>
          </a:xfrm>
          <a:prstGeom prst="rect">
            <a:avLst/>
          </a:prstGeom>
          <a:solidFill>
            <a:srgbClr val="FFFFFF"/>
          </a:solidFill>
          <a:ln w="7620">
            <a:solidFill>
              <a:srgbClr val="DDECB3"/>
            </a:solidFill>
          </a:ln>
        </p:spPr>
      </p:sp>
      <p:sp>
        <p:nvSpPr>
          <p:cNvPr id="56" name="Rectangle 55">
            <a:extLst>
              <a:ext uri="{FF2B5EF4-FFF2-40B4-BE49-F238E27FC236}">
                <a16:creationId xmlns:a16="http://schemas.microsoft.com/office/drawing/2014/main" id="{76AB6253-68ED-41B5-B0FC-2188E486BBC2}"/>
              </a:ext>
            </a:extLst>
          </p:cNvPr>
          <p:cNvSpPr>
            <a:spLocks noGrp="1"/>
          </p:cNvSpPr>
          <p:nvPr/>
        </p:nvSpPr>
        <p:spPr>
          <a:xfrm>
            <a:off x="1485900" y="301466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15</a:t>
            </a:r>
          </a:p>
        </p:txBody>
      </p:sp>
      <p:sp>
        <p:nvSpPr>
          <p:cNvPr id="57" name="Rectangle 56">
            <a:extLst>
              <a:ext uri="{FF2B5EF4-FFF2-40B4-BE49-F238E27FC236}">
                <a16:creationId xmlns:a16="http://schemas.microsoft.com/office/drawing/2014/main" id="{2EF85FF1-423E-461C-AED1-D4307F50D50B}"/>
              </a:ext>
            </a:extLst>
          </p:cNvPr>
          <p:cNvSpPr>
            <a:spLocks noGrp="1"/>
          </p:cNvSpPr>
          <p:nvPr/>
        </p:nvSpPr>
        <p:spPr>
          <a:xfrm>
            <a:off x="2428875" y="2957512"/>
            <a:ext cx="1000125" cy="400050"/>
          </a:xfrm>
          <a:prstGeom prst="rect">
            <a:avLst/>
          </a:prstGeom>
          <a:solidFill>
            <a:srgbClr val="FFFFFF"/>
          </a:solidFill>
          <a:ln w="7620">
            <a:solidFill>
              <a:srgbClr val="DDECB3"/>
            </a:solidFill>
          </a:ln>
        </p:spPr>
      </p:sp>
      <p:sp>
        <p:nvSpPr>
          <p:cNvPr id="58" name="Rectangle 57">
            <a:extLst>
              <a:ext uri="{FF2B5EF4-FFF2-40B4-BE49-F238E27FC236}">
                <a16:creationId xmlns:a16="http://schemas.microsoft.com/office/drawing/2014/main" id="{12755993-6B33-4313-AF02-759090C6ACE9}"/>
              </a:ext>
            </a:extLst>
          </p:cNvPr>
          <p:cNvSpPr>
            <a:spLocks noGrp="1"/>
          </p:cNvSpPr>
          <p:nvPr/>
        </p:nvSpPr>
        <p:spPr>
          <a:xfrm>
            <a:off x="2486025" y="301466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-511.9</a:t>
            </a:r>
          </a:p>
        </p:txBody>
      </p:sp>
      <p:sp>
        <p:nvSpPr>
          <p:cNvPr id="59" name="Rectangle 58">
            <a:extLst>
              <a:ext uri="{FF2B5EF4-FFF2-40B4-BE49-F238E27FC236}">
                <a16:creationId xmlns:a16="http://schemas.microsoft.com/office/drawing/2014/main" id="{88721C63-E905-4EA1-A590-FED8CE3857F0}"/>
              </a:ext>
            </a:extLst>
          </p:cNvPr>
          <p:cNvSpPr>
            <a:spLocks noGrp="1"/>
          </p:cNvSpPr>
          <p:nvPr/>
        </p:nvSpPr>
        <p:spPr>
          <a:xfrm>
            <a:off x="3429000" y="2957512"/>
            <a:ext cx="1000125" cy="400050"/>
          </a:xfrm>
          <a:prstGeom prst="rect">
            <a:avLst/>
          </a:prstGeom>
          <a:solidFill>
            <a:srgbClr val="FFFFFF"/>
          </a:solidFill>
          <a:ln w="7620">
            <a:solidFill>
              <a:srgbClr val="DDECB3"/>
            </a:solidFill>
          </a:ln>
        </p:spPr>
      </p:sp>
      <p:sp>
        <p:nvSpPr>
          <p:cNvPr id="60" name="Rectangle 59">
            <a:extLst>
              <a:ext uri="{FF2B5EF4-FFF2-40B4-BE49-F238E27FC236}">
                <a16:creationId xmlns:a16="http://schemas.microsoft.com/office/drawing/2014/main" id="{6F553832-5B40-4B71-8B9F-918A0BE4D8E8}"/>
              </a:ext>
            </a:extLst>
          </p:cNvPr>
          <p:cNvSpPr>
            <a:spLocks noGrp="1"/>
          </p:cNvSpPr>
          <p:nvPr/>
        </p:nvSpPr>
        <p:spPr>
          <a:xfrm>
            <a:off x="3486150" y="301466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-420.4</a:t>
            </a:r>
          </a:p>
        </p:txBody>
      </p:sp>
      <p:sp>
        <p:nvSpPr>
          <p:cNvPr id="61" name="Rectangle 60">
            <a:extLst>
              <a:ext uri="{FF2B5EF4-FFF2-40B4-BE49-F238E27FC236}">
                <a16:creationId xmlns:a16="http://schemas.microsoft.com/office/drawing/2014/main" id="{56E86F5F-BC31-4FCA-85C4-18444FA58681}"/>
              </a:ext>
            </a:extLst>
          </p:cNvPr>
          <p:cNvSpPr>
            <a:spLocks noGrp="1"/>
          </p:cNvSpPr>
          <p:nvPr/>
        </p:nvSpPr>
        <p:spPr>
          <a:xfrm>
            <a:off x="4429125" y="2957512"/>
            <a:ext cx="1000125" cy="400050"/>
          </a:xfrm>
          <a:prstGeom prst="rect">
            <a:avLst/>
          </a:prstGeom>
          <a:solidFill>
            <a:srgbClr val="FFFFFF"/>
          </a:solidFill>
          <a:ln w="7620">
            <a:solidFill>
              <a:srgbClr val="DDECB3"/>
            </a:solidFill>
          </a:ln>
        </p:spPr>
      </p:sp>
      <p:sp>
        <p:nvSpPr>
          <p:cNvPr id="62" name="Rectangle 61">
            <a:extLst>
              <a:ext uri="{FF2B5EF4-FFF2-40B4-BE49-F238E27FC236}">
                <a16:creationId xmlns:a16="http://schemas.microsoft.com/office/drawing/2014/main" id="{164C3717-D64F-4FE3-9654-B71D83763147}"/>
              </a:ext>
            </a:extLst>
          </p:cNvPr>
          <p:cNvSpPr>
            <a:spLocks noGrp="1"/>
          </p:cNvSpPr>
          <p:nvPr/>
        </p:nvSpPr>
        <p:spPr>
          <a:xfrm>
            <a:off x="4486275" y="3014662"/>
            <a:ext cx="885825"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12.89</a:t>
            </a:r>
          </a:p>
        </p:txBody>
      </p:sp>
      <p:sp>
        <p:nvSpPr>
          <p:cNvPr id="63" name="Rectangle 62">
            <a:extLst>
              <a:ext uri="{FF2B5EF4-FFF2-40B4-BE49-F238E27FC236}">
                <a16:creationId xmlns:a16="http://schemas.microsoft.com/office/drawing/2014/main" id="{FEC6F014-C21B-418B-B8D3-8A50222ACABF}"/>
              </a:ext>
            </a:extLst>
          </p:cNvPr>
          <p:cNvSpPr>
            <a:spLocks noGrp="1"/>
          </p:cNvSpPr>
          <p:nvPr/>
        </p:nvSpPr>
        <p:spPr>
          <a:xfrm>
            <a:off x="5429250" y="2957512"/>
            <a:ext cx="1143000" cy="400050"/>
          </a:xfrm>
          <a:prstGeom prst="rect">
            <a:avLst/>
          </a:prstGeom>
          <a:solidFill>
            <a:srgbClr val="FFFFFF"/>
          </a:solidFill>
          <a:ln w="7620">
            <a:solidFill>
              <a:srgbClr val="DDECB3"/>
            </a:solidFill>
          </a:ln>
        </p:spPr>
      </p:sp>
      <p:sp>
        <p:nvSpPr>
          <p:cNvPr id="64" name="Rectangle 63">
            <a:extLst>
              <a:ext uri="{FF2B5EF4-FFF2-40B4-BE49-F238E27FC236}">
                <a16:creationId xmlns:a16="http://schemas.microsoft.com/office/drawing/2014/main" id="{2D838B3D-3947-4393-8323-0061D4D49E1E}"/>
              </a:ext>
            </a:extLst>
          </p:cNvPr>
          <p:cNvSpPr>
            <a:spLocks noGrp="1"/>
          </p:cNvSpPr>
          <p:nvPr/>
        </p:nvSpPr>
        <p:spPr>
          <a:xfrm>
            <a:off x="5486400" y="3014662"/>
            <a:ext cx="1028700" cy="323850"/>
          </a:xfrm>
          <a:prstGeom prst="rect">
            <a:avLst/>
          </a:prstGeom>
        </p:spPr>
        <p:txBody>
          <a:bodyPr lIns="0" tIns="0" rIns="0" bIns="0"/>
          <a:lstStyle/>
          <a:p>
            <a:pPr algn="ctr">
              <a:defRPr sz="690" b="0">
                <a:solidFill>
                  <a:srgbClr val="263845"/>
                </a:solidFill>
                <a:latin typeface="Arial"/>
                <a:ea typeface="Arial"/>
                <a:cs typeface="Arial"/>
              </a:defRPr>
            </a:pPr>
            <a:r>
              <a:rPr sz="1000" b="0">
                <a:solidFill>
                  <a:srgbClr val="263845"/>
                </a:solidFill>
                <a:latin typeface="Arial"/>
                <a:ea typeface="Arial"/>
                <a:cs typeface="Arial"/>
              </a:rPr>
              <a:t>.0449</a:t>
            </a:r>
          </a:p>
        </p:txBody>
      </p:sp>
      <p:sp>
        <p:nvSpPr>
          <p:cNvPr id="65" name="Rectangle 64">
            <a:extLst>
              <a:ext uri="{FF2B5EF4-FFF2-40B4-BE49-F238E27FC236}">
                <a16:creationId xmlns:a16="http://schemas.microsoft.com/office/drawing/2014/main" id="{5584AD2A-6517-4DCA-A004-46203C151C1B}"/>
              </a:ext>
            </a:extLst>
          </p:cNvPr>
          <p:cNvSpPr>
            <a:spLocks noGrp="1"/>
          </p:cNvSpPr>
          <p:nvPr/>
        </p:nvSpPr>
        <p:spPr>
          <a:xfrm>
            <a:off x="7070494" y="1333500"/>
            <a:ext cx="1952625" cy="110490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66" name="Rectangle 65">
            <a:extLst>
              <a:ext uri="{FF2B5EF4-FFF2-40B4-BE49-F238E27FC236}">
                <a16:creationId xmlns:a16="http://schemas.microsoft.com/office/drawing/2014/main" id="{391F4A15-9454-4759-9C12-2427B89DFA09}"/>
              </a:ext>
            </a:extLst>
          </p:cNvPr>
          <p:cNvSpPr>
            <a:spLocks noGrp="1"/>
          </p:cNvSpPr>
          <p:nvPr/>
        </p:nvSpPr>
        <p:spPr>
          <a:xfrm>
            <a:off x="7184794" y="1428750"/>
            <a:ext cx="1724025" cy="190500"/>
          </a:xfrm>
          <a:prstGeom prst="rect">
            <a:avLst/>
          </a:prstGeom>
        </p:spPr>
        <p:txBody>
          <a:bodyPr lIns="0" tIns="0" rIns="0" bIns="0"/>
          <a:lstStyle/>
          <a:p>
            <a:r>
              <a:rPr sz="900" b="1">
                <a:solidFill>
                  <a:srgbClr val="003A61"/>
                </a:solidFill>
                <a:latin typeface="Arial"/>
                <a:ea typeface="Arial"/>
                <a:cs typeface="Arial"/>
              </a:rPr>
              <a:t>Largest step</a:t>
            </a:r>
          </a:p>
        </p:txBody>
      </p:sp>
      <p:sp>
        <p:nvSpPr>
          <p:cNvPr id="67" name="Rectangle 66">
            <a:extLst>
              <a:ext uri="{FF2B5EF4-FFF2-40B4-BE49-F238E27FC236}">
                <a16:creationId xmlns:a16="http://schemas.microsoft.com/office/drawing/2014/main" id="{A93EED11-FE78-4823-8441-542094946C81}"/>
              </a:ext>
            </a:extLst>
          </p:cNvPr>
          <p:cNvSpPr>
            <a:spLocks noGrp="1"/>
          </p:cNvSpPr>
          <p:nvPr/>
        </p:nvSpPr>
        <p:spPr>
          <a:xfrm>
            <a:off x="7184794" y="1657350"/>
            <a:ext cx="1724025" cy="704850"/>
          </a:xfrm>
          <a:prstGeom prst="rect">
            <a:avLst/>
          </a:prstGeom>
        </p:spPr>
        <p:txBody>
          <a:bodyPr lIns="0" tIns="0" rIns="0" bIns="0"/>
          <a:lstStyle/>
          <a:p>
            <a:r>
              <a:rPr lang="en-US" sz="975">
                <a:solidFill>
                  <a:srgbClr val="263845"/>
                </a:solidFill>
                <a:latin typeface="Arial"/>
                <a:ea typeface="Arial"/>
                <a:cs typeface="Arial"/>
              </a:rPr>
              <a:t>Syllable length gives the largest model-fit improvement.</a:t>
            </a:r>
            <a:endParaRPr sz="975">
              <a:solidFill>
                <a:srgbClr val="263845"/>
              </a:solidFill>
              <a:latin typeface="Arial"/>
              <a:ea typeface="Arial"/>
              <a:cs typeface="Arial"/>
            </a:endParaRPr>
          </a:p>
        </p:txBody>
      </p:sp>
      <p:sp>
        <p:nvSpPr>
          <p:cNvPr id="68" name="Rectangle 67">
            <a:extLst>
              <a:ext uri="{FF2B5EF4-FFF2-40B4-BE49-F238E27FC236}">
                <a16:creationId xmlns:a16="http://schemas.microsoft.com/office/drawing/2014/main" id="{1A664181-8765-4835-864D-20C810036110}"/>
              </a:ext>
            </a:extLst>
          </p:cNvPr>
          <p:cNvSpPr>
            <a:spLocks noGrp="1"/>
          </p:cNvSpPr>
          <p:nvPr/>
        </p:nvSpPr>
        <p:spPr>
          <a:xfrm>
            <a:off x="7070494" y="2705100"/>
            <a:ext cx="1952625" cy="110490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69" name="Rectangle 68">
            <a:extLst>
              <a:ext uri="{FF2B5EF4-FFF2-40B4-BE49-F238E27FC236}">
                <a16:creationId xmlns:a16="http://schemas.microsoft.com/office/drawing/2014/main" id="{5447B31D-D845-4725-877B-3F910C9929D1}"/>
              </a:ext>
            </a:extLst>
          </p:cNvPr>
          <p:cNvSpPr>
            <a:spLocks noGrp="1"/>
          </p:cNvSpPr>
          <p:nvPr/>
        </p:nvSpPr>
        <p:spPr>
          <a:xfrm>
            <a:off x="7184794" y="2800350"/>
            <a:ext cx="1724025" cy="190500"/>
          </a:xfrm>
          <a:prstGeom prst="rect">
            <a:avLst/>
          </a:prstGeom>
        </p:spPr>
        <p:txBody>
          <a:bodyPr lIns="0" tIns="0" rIns="0" bIns="0"/>
          <a:lstStyle/>
          <a:p>
            <a:r>
              <a:rPr sz="900" b="1">
                <a:solidFill>
                  <a:srgbClr val="003A61"/>
                </a:solidFill>
                <a:latin typeface="Arial"/>
                <a:ea typeface="Arial"/>
                <a:cs typeface="Arial"/>
              </a:rPr>
              <a:t>Small step</a:t>
            </a:r>
          </a:p>
        </p:txBody>
      </p:sp>
      <p:sp>
        <p:nvSpPr>
          <p:cNvPr id="70" name="Rectangle 69">
            <a:extLst>
              <a:ext uri="{FF2B5EF4-FFF2-40B4-BE49-F238E27FC236}">
                <a16:creationId xmlns:a16="http://schemas.microsoft.com/office/drawing/2014/main" id="{6CAE0C49-63A8-4DB6-8A3B-8B9744B42390}"/>
              </a:ext>
            </a:extLst>
          </p:cNvPr>
          <p:cNvSpPr>
            <a:spLocks noGrp="1"/>
          </p:cNvSpPr>
          <p:nvPr/>
        </p:nvSpPr>
        <p:spPr>
          <a:xfrm>
            <a:off x="7184794" y="3028950"/>
            <a:ext cx="1724025" cy="704850"/>
          </a:xfrm>
          <a:prstGeom prst="rect">
            <a:avLst/>
          </a:prstGeom>
        </p:spPr>
        <p:txBody>
          <a:bodyPr lIns="0" tIns="0" rIns="0" bIns="0"/>
          <a:lstStyle/>
          <a:p>
            <a:r>
              <a:rPr sz="930">
                <a:solidFill>
                  <a:srgbClr val="263845"/>
                </a:solidFill>
                <a:latin typeface="Arial"/>
                <a:ea typeface="Arial"/>
                <a:cs typeface="Arial"/>
              </a:rPr>
              <a:t>The interaction improves fit, but weakly. It should guide follow-up checks rather than stand alone.</a:t>
            </a:r>
          </a:p>
        </p:txBody>
      </p:sp>
    </p:spTree>
    <p:extLst>
      <p:ext uri="{BB962C8B-B14F-4D97-AF65-F5344CB8AC3E}">
        <p14:creationId xmlns:p14="http://schemas.microsoft.com/office/powerpoint/2010/main" val="18262340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5663D4D-0F64-4032-8A25-2FD5057573D8}"/>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86B5F43C-29F1-47B3-A4AF-E5F20337D2ED}"/>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22 | DIAGNOSTICS</a:t>
            </a:r>
          </a:p>
        </p:txBody>
      </p:sp>
      <p:sp>
        <p:nvSpPr>
          <p:cNvPr id="3" name="Rectangle 2">
            <a:extLst>
              <a:ext uri="{FF2B5EF4-FFF2-40B4-BE49-F238E27FC236}">
                <a16:creationId xmlns:a16="http://schemas.microsoft.com/office/drawing/2014/main" id="{9A08B77D-E3D7-4D23-83CF-77BD238613E4}"/>
              </a:ext>
            </a:extLst>
          </p:cNvPr>
          <p:cNvSpPr>
            <a:spLocks noGrp="1"/>
          </p:cNvSpPr>
          <p:nvPr/>
        </p:nvSpPr>
        <p:spPr>
          <a:xfrm>
            <a:off x="476250" y="542925"/>
            <a:ext cx="7429500" cy="514350"/>
          </a:xfrm>
          <a:prstGeom prst="rect">
            <a:avLst/>
          </a:prstGeom>
        </p:spPr>
        <p:txBody>
          <a:bodyPr lIns="0" tIns="0" rIns="0" bIns="0"/>
          <a:lstStyle/>
          <a:p>
            <a:r>
              <a:rPr lang="en-US" sz="2175" b="1">
                <a:solidFill>
                  <a:srgbClr val="003A61"/>
                </a:solidFill>
                <a:latin typeface="Arial"/>
                <a:ea typeface="Arial"/>
                <a:cs typeface="Arial"/>
              </a:rPr>
              <a:t>No singular fit was detected; diagnostics support cautious preliminary reporting.</a:t>
            </a:r>
            <a:endParaRPr sz="2175" b="1">
              <a:solidFill>
                <a:srgbClr val="003A61"/>
              </a:solidFill>
              <a:latin typeface="Arial"/>
              <a:ea typeface="Arial"/>
              <a:cs typeface="Arial"/>
            </a:endParaRPr>
          </a:p>
        </p:txBody>
      </p:sp>
      <p:sp>
        <p:nvSpPr>
          <p:cNvPr id="4" name="Rectangle 3">
            <a:extLst>
              <a:ext uri="{FF2B5EF4-FFF2-40B4-BE49-F238E27FC236}">
                <a16:creationId xmlns:a16="http://schemas.microsoft.com/office/drawing/2014/main" id="{7C346209-4FC5-4D54-92D0-A80FB52AF997}"/>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pic>
        <p:nvPicPr>
          <p:cNvPr id="21" name="Picture 20"/>
          <p:cNvPicPr>
            <a:picLocks noChangeAspect="1"/>
          </p:cNvPicPr>
          <p:nvPr/>
        </p:nvPicPr>
        <p:blipFill>
          <a:blip r:embed="rId3"/>
          <a:stretch/>
        </p:blipFill>
        <p:spPr>
          <a:xfrm>
            <a:off x="585788" y="1190625"/>
            <a:ext cx="2266950" cy="1619250"/>
          </a:xfrm>
          <a:prstGeom prst="rect">
            <a:avLst/>
          </a:prstGeom>
        </p:spPr>
      </p:pic>
      <p:pic>
        <p:nvPicPr>
          <p:cNvPr id="22" name="Picture 21"/>
          <p:cNvPicPr>
            <a:picLocks noChangeAspect="1"/>
          </p:cNvPicPr>
          <p:nvPr/>
        </p:nvPicPr>
        <p:blipFill>
          <a:blip r:embed="rId4"/>
          <a:stretch/>
        </p:blipFill>
        <p:spPr>
          <a:xfrm>
            <a:off x="3062288" y="1190625"/>
            <a:ext cx="2266950" cy="1619250"/>
          </a:xfrm>
          <a:prstGeom prst="rect">
            <a:avLst/>
          </a:prstGeom>
        </p:spPr>
      </p:pic>
      <p:pic>
        <p:nvPicPr>
          <p:cNvPr id="23" name="Picture 22"/>
          <p:cNvPicPr>
            <a:picLocks noChangeAspect="1"/>
          </p:cNvPicPr>
          <p:nvPr/>
        </p:nvPicPr>
        <p:blipFill>
          <a:blip r:embed="rId5"/>
          <a:stretch/>
        </p:blipFill>
        <p:spPr>
          <a:xfrm>
            <a:off x="5538788" y="1190625"/>
            <a:ext cx="2266950" cy="1619250"/>
          </a:xfrm>
          <a:prstGeom prst="rect">
            <a:avLst/>
          </a:prstGeom>
        </p:spPr>
      </p:pic>
      <p:sp>
        <p:nvSpPr>
          <p:cNvPr id="8" name="Rectangle 7">
            <a:extLst>
              <a:ext uri="{FF2B5EF4-FFF2-40B4-BE49-F238E27FC236}">
                <a16:creationId xmlns:a16="http://schemas.microsoft.com/office/drawing/2014/main" id="{02856A08-FE09-4069-B4FB-259424F49B6D}"/>
              </a:ext>
            </a:extLst>
          </p:cNvPr>
          <p:cNvSpPr>
            <a:spLocks noGrp="1"/>
          </p:cNvSpPr>
          <p:nvPr/>
        </p:nvSpPr>
        <p:spPr>
          <a:xfrm>
            <a:off x="838200" y="3143250"/>
            <a:ext cx="2000250" cy="83820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9" name="Rectangle 8">
            <a:extLst>
              <a:ext uri="{FF2B5EF4-FFF2-40B4-BE49-F238E27FC236}">
                <a16:creationId xmlns:a16="http://schemas.microsoft.com/office/drawing/2014/main" id="{6E2E6C1A-3DD9-4737-BF57-35124EF96D99}"/>
              </a:ext>
            </a:extLst>
          </p:cNvPr>
          <p:cNvSpPr>
            <a:spLocks noGrp="1"/>
          </p:cNvSpPr>
          <p:nvPr/>
        </p:nvSpPr>
        <p:spPr>
          <a:xfrm>
            <a:off x="952500" y="3238500"/>
            <a:ext cx="1771650" cy="190500"/>
          </a:xfrm>
          <a:prstGeom prst="rect">
            <a:avLst/>
          </a:prstGeom>
        </p:spPr>
        <p:txBody>
          <a:bodyPr lIns="0" tIns="0" rIns="0" bIns="0"/>
          <a:lstStyle/>
          <a:p>
            <a:r>
              <a:rPr sz="900" b="1">
                <a:solidFill>
                  <a:srgbClr val="003A61"/>
                </a:solidFill>
                <a:latin typeface="Arial"/>
                <a:ea typeface="Arial"/>
                <a:cs typeface="Arial"/>
              </a:rPr>
              <a:t>Singularity</a:t>
            </a:r>
          </a:p>
        </p:txBody>
      </p:sp>
      <p:sp>
        <p:nvSpPr>
          <p:cNvPr id="10" name="Rectangle 9">
            <a:extLst>
              <a:ext uri="{FF2B5EF4-FFF2-40B4-BE49-F238E27FC236}">
                <a16:creationId xmlns:a16="http://schemas.microsoft.com/office/drawing/2014/main" id="{9A27C739-7819-4DE6-BB56-2A5CCCB07CA0}"/>
              </a:ext>
            </a:extLst>
          </p:cNvPr>
          <p:cNvSpPr>
            <a:spLocks noGrp="1"/>
          </p:cNvSpPr>
          <p:nvPr/>
        </p:nvSpPr>
        <p:spPr>
          <a:xfrm>
            <a:off x="952500" y="3467100"/>
            <a:ext cx="1771650" cy="438150"/>
          </a:xfrm>
          <a:prstGeom prst="rect">
            <a:avLst/>
          </a:prstGeom>
        </p:spPr>
        <p:txBody>
          <a:bodyPr lIns="0" tIns="0" rIns="0" bIns="0"/>
          <a:lstStyle/>
          <a:p>
            <a:r>
              <a:rPr sz="975">
                <a:solidFill>
                  <a:srgbClr val="263845"/>
                </a:solidFill>
                <a:latin typeface="Arial"/>
                <a:ea typeface="Arial"/>
                <a:cs typeface="Arial"/>
              </a:rPr>
              <a:t>model0, model1, model2, model3:</a:t>
            </a:r>
          </a:p>
          <a:p>
            <a:r>
              <a:rPr sz="975">
                <a:solidFill>
                  <a:srgbClr val="263845"/>
                </a:solidFill>
                <a:latin typeface="Arial"/>
                <a:ea typeface="Arial"/>
                <a:cs typeface="Arial"/>
              </a:rPr>
              <a:t>FALSE</a:t>
            </a:r>
          </a:p>
        </p:txBody>
      </p:sp>
      <p:sp>
        <p:nvSpPr>
          <p:cNvPr id="11" name="Rectangle 10">
            <a:extLst>
              <a:ext uri="{FF2B5EF4-FFF2-40B4-BE49-F238E27FC236}">
                <a16:creationId xmlns:a16="http://schemas.microsoft.com/office/drawing/2014/main" id="{1E105891-E3B7-4B65-A8F3-2ACC4F6B9860}"/>
              </a:ext>
            </a:extLst>
          </p:cNvPr>
          <p:cNvSpPr>
            <a:spLocks noGrp="1"/>
          </p:cNvSpPr>
          <p:nvPr/>
        </p:nvSpPr>
        <p:spPr>
          <a:xfrm>
            <a:off x="3429000" y="3143250"/>
            <a:ext cx="2000250" cy="83820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12" name="Rectangle 11">
            <a:extLst>
              <a:ext uri="{FF2B5EF4-FFF2-40B4-BE49-F238E27FC236}">
                <a16:creationId xmlns:a16="http://schemas.microsoft.com/office/drawing/2014/main" id="{68DF96AC-31D6-45C5-A933-0D1B2F033BCC}"/>
              </a:ext>
            </a:extLst>
          </p:cNvPr>
          <p:cNvSpPr>
            <a:spLocks noGrp="1"/>
          </p:cNvSpPr>
          <p:nvPr/>
        </p:nvSpPr>
        <p:spPr>
          <a:xfrm>
            <a:off x="3543300" y="3238500"/>
            <a:ext cx="1771650" cy="190500"/>
          </a:xfrm>
          <a:prstGeom prst="rect">
            <a:avLst/>
          </a:prstGeom>
        </p:spPr>
        <p:txBody>
          <a:bodyPr lIns="0" tIns="0" rIns="0" bIns="0"/>
          <a:lstStyle/>
          <a:p>
            <a:r>
              <a:rPr sz="900" b="1">
                <a:solidFill>
                  <a:srgbClr val="003A61"/>
                </a:solidFill>
                <a:latin typeface="Arial"/>
                <a:ea typeface="Arial"/>
                <a:cs typeface="Arial"/>
              </a:rPr>
              <a:t>VIF check</a:t>
            </a:r>
          </a:p>
        </p:txBody>
      </p:sp>
      <p:sp>
        <p:nvSpPr>
          <p:cNvPr id="13" name="Rectangle 12">
            <a:extLst>
              <a:ext uri="{FF2B5EF4-FFF2-40B4-BE49-F238E27FC236}">
                <a16:creationId xmlns:a16="http://schemas.microsoft.com/office/drawing/2014/main" id="{432DEDC2-97D1-41D0-ABF5-670724A2A77A}"/>
              </a:ext>
            </a:extLst>
          </p:cNvPr>
          <p:cNvSpPr>
            <a:spLocks noGrp="1"/>
          </p:cNvSpPr>
          <p:nvPr/>
        </p:nvSpPr>
        <p:spPr>
          <a:xfrm>
            <a:off x="3543300" y="3467100"/>
            <a:ext cx="1771650" cy="438150"/>
          </a:xfrm>
          <a:prstGeom prst="rect">
            <a:avLst/>
          </a:prstGeom>
        </p:spPr>
        <p:txBody>
          <a:bodyPr lIns="0" tIns="0" rIns="0" bIns="0"/>
          <a:lstStyle/>
          <a:p>
            <a:r>
              <a:rPr sz="923">
                <a:solidFill>
                  <a:srgbClr val="263845"/>
                </a:solidFill>
                <a:latin typeface="Arial"/>
                <a:ea typeface="Arial"/>
                <a:cs typeface="Arial"/>
              </a:rPr>
              <a:t>Adjusted GVIF values remain below common concern thresholds.</a:t>
            </a:r>
          </a:p>
        </p:txBody>
      </p:sp>
      <p:sp>
        <p:nvSpPr>
          <p:cNvPr id="14" name="Rectangle 13">
            <a:extLst>
              <a:ext uri="{FF2B5EF4-FFF2-40B4-BE49-F238E27FC236}">
                <a16:creationId xmlns:a16="http://schemas.microsoft.com/office/drawing/2014/main" id="{29985EB2-A5BC-4573-A3BE-D3F096AD52BA}"/>
              </a:ext>
            </a:extLst>
          </p:cNvPr>
          <p:cNvSpPr>
            <a:spLocks noGrp="1"/>
          </p:cNvSpPr>
          <p:nvPr/>
        </p:nvSpPr>
        <p:spPr>
          <a:xfrm>
            <a:off x="6019800" y="3143250"/>
            <a:ext cx="2000250" cy="83820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15" name="Rectangle 14">
            <a:extLst>
              <a:ext uri="{FF2B5EF4-FFF2-40B4-BE49-F238E27FC236}">
                <a16:creationId xmlns:a16="http://schemas.microsoft.com/office/drawing/2014/main" id="{2FD024FE-3215-4B59-9CE3-750F49EB2C5D}"/>
              </a:ext>
            </a:extLst>
          </p:cNvPr>
          <p:cNvSpPr>
            <a:spLocks noGrp="1"/>
          </p:cNvSpPr>
          <p:nvPr/>
        </p:nvSpPr>
        <p:spPr>
          <a:xfrm>
            <a:off x="6134100" y="3238500"/>
            <a:ext cx="1771650" cy="190500"/>
          </a:xfrm>
          <a:prstGeom prst="rect">
            <a:avLst/>
          </a:prstGeom>
        </p:spPr>
        <p:txBody>
          <a:bodyPr lIns="0" tIns="0" rIns="0" bIns="0"/>
          <a:lstStyle/>
          <a:p>
            <a:r>
              <a:rPr sz="900" b="1">
                <a:solidFill>
                  <a:srgbClr val="003A61"/>
                </a:solidFill>
                <a:latin typeface="Arial"/>
                <a:ea typeface="Arial"/>
                <a:cs typeface="Arial"/>
              </a:rPr>
              <a:t>Remaining caution</a:t>
            </a:r>
          </a:p>
        </p:txBody>
      </p:sp>
      <p:sp>
        <p:nvSpPr>
          <p:cNvPr id="16" name="Rectangle 15">
            <a:extLst>
              <a:ext uri="{FF2B5EF4-FFF2-40B4-BE49-F238E27FC236}">
                <a16:creationId xmlns:a16="http://schemas.microsoft.com/office/drawing/2014/main" id="{957E1FE4-1F71-4C9D-A167-E9BD391A7C3F}"/>
              </a:ext>
            </a:extLst>
          </p:cNvPr>
          <p:cNvSpPr>
            <a:spLocks noGrp="1"/>
          </p:cNvSpPr>
          <p:nvPr/>
        </p:nvSpPr>
        <p:spPr>
          <a:xfrm>
            <a:off x="6134100" y="3467100"/>
            <a:ext cx="1771650" cy="438150"/>
          </a:xfrm>
          <a:prstGeom prst="rect">
            <a:avLst/>
          </a:prstGeom>
        </p:spPr>
        <p:txBody>
          <a:bodyPr lIns="0" tIns="0" rIns="0" bIns="0"/>
          <a:lstStyle/>
          <a:p>
            <a:r>
              <a:rPr sz="923">
                <a:solidFill>
                  <a:srgbClr val="263845"/>
                </a:solidFill>
                <a:latin typeface="Arial"/>
                <a:ea typeface="Arial"/>
                <a:cs typeface="Arial"/>
              </a:rPr>
              <a:t>RT diagnostics should be reviewed again before thesis-level claims.</a:t>
            </a:r>
          </a:p>
        </p:txBody>
      </p:sp>
    </p:spTree>
    <p:extLst>
      <p:ext uri="{BB962C8B-B14F-4D97-AF65-F5344CB8AC3E}">
        <p14:creationId xmlns:p14="http://schemas.microsoft.com/office/powerpoint/2010/main" val="1826234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771DA8F-39F1-43BC-BF2D-44021C75A9A2}"/>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2F6D3310-2010-4048-B789-8FF803315260}"/>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23 | TASK QUALITY</a:t>
            </a:r>
          </a:p>
        </p:txBody>
      </p:sp>
      <p:sp>
        <p:nvSpPr>
          <p:cNvPr id="3" name="Rectangle 2">
            <a:extLst>
              <a:ext uri="{FF2B5EF4-FFF2-40B4-BE49-F238E27FC236}">
                <a16:creationId xmlns:a16="http://schemas.microsoft.com/office/drawing/2014/main" id="{61C75F43-8BA9-459C-9C42-BFA6B0023FF4}"/>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Accuracy and response QC suggest participants generally performed the task seriously.</a:t>
            </a:r>
          </a:p>
        </p:txBody>
      </p:sp>
      <p:sp>
        <p:nvSpPr>
          <p:cNvPr id="4" name="Rectangle 3">
            <a:extLst>
              <a:ext uri="{FF2B5EF4-FFF2-40B4-BE49-F238E27FC236}">
                <a16:creationId xmlns:a16="http://schemas.microsoft.com/office/drawing/2014/main" id="{B3A21A06-65E0-4E0D-A673-856A5A1EBA76}"/>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pic>
        <p:nvPicPr>
          <p:cNvPr id="27" name="Picture 26"/>
          <p:cNvPicPr>
            <a:picLocks noChangeAspect="1"/>
          </p:cNvPicPr>
          <p:nvPr/>
        </p:nvPicPr>
        <p:blipFill>
          <a:blip r:embed="rId3"/>
          <a:stretch/>
        </p:blipFill>
        <p:spPr>
          <a:xfrm>
            <a:off x="833438" y="1219200"/>
            <a:ext cx="3800475" cy="2714625"/>
          </a:xfrm>
          <a:prstGeom prst="rect">
            <a:avLst/>
          </a:prstGeom>
        </p:spPr>
      </p:pic>
      <p:sp>
        <p:nvSpPr>
          <p:cNvPr id="6" name="Rectangle 5">
            <a:extLst>
              <a:ext uri="{FF2B5EF4-FFF2-40B4-BE49-F238E27FC236}">
                <a16:creationId xmlns:a16="http://schemas.microsoft.com/office/drawing/2014/main" id="{3B984DE0-2E05-4D5C-BCAB-B75E3A46B8C0}"/>
              </a:ext>
            </a:extLst>
          </p:cNvPr>
          <p:cNvSpPr>
            <a:spLocks noGrp="1"/>
          </p:cNvSpPr>
          <p:nvPr/>
        </p:nvSpPr>
        <p:spPr>
          <a:xfrm>
            <a:off x="5334000" y="1352550"/>
            <a:ext cx="1238250" cy="685800"/>
          </a:xfrm>
          <a:prstGeom prst="rect">
            <a:avLst/>
          </a:prstGeom>
          <a:solidFill>
            <a:srgbClr val="DDECB3"/>
          </a:solidFill>
          <a:ln w="7620">
            <a:solidFill>
              <a:srgbClr val="003A61"/>
            </a:solidFill>
          </a:ln>
        </p:spPr>
      </p:sp>
      <p:sp>
        <p:nvSpPr>
          <p:cNvPr id="7" name="Rectangle 6">
            <a:extLst>
              <a:ext uri="{FF2B5EF4-FFF2-40B4-BE49-F238E27FC236}">
                <a16:creationId xmlns:a16="http://schemas.microsoft.com/office/drawing/2014/main" id="{AF91929F-5887-4E62-860F-2DC8E329185E}"/>
              </a:ext>
            </a:extLst>
          </p:cNvPr>
          <p:cNvSpPr>
            <a:spLocks noGrp="1"/>
          </p:cNvSpPr>
          <p:nvPr/>
        </p:nvSpPr>
        <p:spPr>
          <a:xfrm>
            <a:off x="5429250" y="1447800"/>
            <a:ext cx="1047750"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95.7%</a:t>
            </a:r>
          </a:p>
        </p:txBody>
      </p:sp>
      <p:sp>
        <p:nvSpPr>
          <p:cNvPr id="8" name="Rectangle 7">
            <a:extLst>
              <a:ext uri="{FF2B5EF4-FFF2-40B4-BE49-F238E27FC236}">
                <a16:creationId xmlns:a16="http://schemas.microsoft.com/office/drawing/2014/main" id="{F9B0580B-22C4-4284-A16C-9D3CD34EECAE}"/>
              </a:ext>
            </a:extLst>
          </p:cNvPr>
          <p:cNvSpPr>
            <a:spLocks noGrp="1"/>
          </p:cNvSpPr>
          <p:nvPr/>
        </p:nvSpPr>
        <p:spPr>
          <a:xfrm>
            <a:off x="5429250" y="1714500"/>
            <a:ext cx="1047750"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word accuracy</a:t>
            </a:r>
          </a:p>
        </p:txBody>
      </p:sp>
      <p:sp>
        <p:nvSpPr>
          <p:cNvPr id="9" name="Rectangle 8">
            <a:extLst>
              <a:ext uri="{FF2B5EF4-FFF2-40B4-BE49-F238E27FC236}">
                <a16:creationId xmlns:a16="http://schemas.microsoft.com/office/drawing/2014/main" id="{C6866DB8-32B6-4A63-B7BC-E9420B3BCBE3}"/>
              </a:ext>
            </a:extLst>
          </p:cNvPr>
          <p:cNvSpPr>
            <a:spLocks noGrp="1"/>
          </p:cNvSpPr>
          <p:nvPr/>
        </p:nvSpPr>
        <p:spPr>
          <a:xfrm>
            <a:off x="5429250" y="1885950"/>
            <a:ext cx="1047750"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main trials</a:t>
            </a:r>
          </a:p>
        </p:txBody>
      </p:sp>
      <p:sp>
        <p:nvSpPr>
          <p:cNvPr id="10" name="Rectangle 9">
            <a:extLst>
              <a:ext uri="{FF2B5EF4-FFF2-40B4-BE49-F238E27FC236}">
                <a16:creationId xmlns:a16="http://schemas.microsoft.com/office/drawing/2014/main" id="{D0FAD86E-603B-43C9-A0D9-05283DE71E07}"/>
              </a:ext>
            </a:extLst>
          </p:cNvPr>
          <p:cNvSpPr>
            <a:spLocks noGrp="1"/>
          </p:cNvSpPr>
          <p:nvPr/>
        </p:nvSpPr>
        <p:spPr>
          <a:xfrm>
            <a:off x="6858000" y="1352550"/>
            <a:ext cx="1238250" cy="685800"/>
          </a:xfrm>
          <a:prstGeom prst="rect">
            <a:avLst/>
          </a:prstGeom>
          <a:solidFill>
            <a:srgbClr val="EEF4F8"/>
          </a:solidFill>
          <a:ln w="7620">
            <a:solidFill>
              <a:srgbClr val="003A61"/>
            </a:solidFill>
          </a:ln>
        </p:spPr>
      </p:sp>
      <p:sp>
        <p:nvSpPr>
          <p:cNvPr id="11" name="Rectangle 10">
            <a:extLst>
              <a:ext uri="{FF2B5EF4-FFF2-40B4-BE49-F238E27FC236}">
                <a16:creationId xmlns:a16="http://schemas.microsoft.com/office/drawing/2014/main" id="{71592726-BFF5-473B-8736-75D56CAEC63F}"/>
              </a:ext>
            </a:extLst>
          </p:cNvPr>
          <p:cNvSpPr>
            <a:spLocks noGrp="1"/>
          </p:cNvSpPr>
          <p:nvPr/>
        </p:nvSpPr>
        <p:spPr>
          <a:xfrm>
            <a:off x="6953250" y="1447800"/>
            <a:ext cx="1047750"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82.0%</a:t>
            </a:r>
          </a:p>
        </p:txBody>
      </p:sp>
      <p:sp>
        <p:nvSpPr>
          <p:cNvPr id="12" name="Rectangle 11">
            <a:extLst>
              <a:ext uri="{FF2B5EF4-FFF2-40B4-BE49-F238E27FC236}">
                <a16:creationId xmlns:a16="http://schemas.microsoft.com/office/drawing/2014/main" id="{1F070D59-A800-4AD0-9FFB-E4A5757A4C85}"/>
              </a:ext>
            </a:extLst>
          </p:cNvPr>
          <p:cNvSpPr>
            <a:spLocks noGrp="1"/>
          </p:cNvSpPr>
          <p:nvPr/>
        </p:nvSpPr>
        <p:spPr>
          <a:xfrm>
            <a:off x="6953250" y="1714500"/>
            <a:ext cx="1047750"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pseudoword accuracy</a:t>
            </a:r>
          </a:p>
        </p:txBody>
      </p:sp>
      <p:sp>
        <p:nvSpPr>
          <p:cNvPr id="13" name="Rectangle 12">
            <a:extLst>
              <a:ext uri="{FF2B5EF4-FFF2-40B4-BE49-F238E27FC236}">
                <a16:creationId xmlns:a16="http://schemas.microsoft.com/office/drawing/2014/main" id="{658898EF-9965-4E20-BC45-252A3D64E363}"/>
              </a:ext>
            </a:extLst>
          </p:cNvPr>
          <p:cNvSpPr>
            <a:spLocks noGrp="1"/>
          </p:cNvSpPr>
          <p:nvPr/>
        </p:nvSpPr>
        <p:spPr>
          <a:xfrm>
            <a:off x="6953250" y="1924050"/>
            <a:ext cx="1047750" cy="114300"/>
          </a:xfrm>
          <a:prstGeom prst="rect">
            <a:avLst/>
          </a:prstGeom>
        </p:spPr>
        <p:txBody>
          <a:bodyPr lIns="0" tIns="0" rIns="0" bIns="0"/>
          <a:lstStyle/>
          <a:p>
            <a:pPr algn="ctr">
              <a:defRPr sz="623">
                <a:solidFill>
                  <a:srgbClr val="63717A"/>
                </a:solidFill>
                <a:latin typeface="Arial"/>
                <a:ea typeface="Arial"/>
                <a:cs typeface="Arial"/>
              </a:defRPr>
            </a:pPr>
            <a:r>
              <a:rPr sz="623" dirty="0">
                <a:solidFill>
                  <a:srgbClr val="63717A"/>
                </a:solidFill>
                <a:latin typeface="Arial"/>
                <a:ea typeface="Arial"/>
                <a:cs typeface="Arial"/>
              </a:rPr>
              <a:t>main trials</a:t>
            </a:r>
          </a:p>
        </p:txBody>
      </p:sp>
      <p:sp>
        <p:nvSpPr>
          <p:cNvPr id="14" name="Rectangle 13">
            <a:extLst>
              <a:ext uri="{FF2B5EF4-FFF2-40B4-BE49-F238E27FC236}">
                <a16:creationId xmlns:a16="http://schemas.microsoft.com/office/drawing/2014/main" id="{038592FD-A2B7-4403-80F6-90687752B2C0}"/>
              </a:ext>
            </a:extLst>
          </p:cNvPr>
          <p:cNvSpPr>
            <a:spLocks noGrp="1"/>
          </p:cNvSpPr>
          <p:nvPr/>
        </p:nvSpPr>
        <p:spPr>
          <a:xfrm>
            <a:off x="5334000" y="2381250"/>
            <a:ext cx="1238250" cy="685800"/>
          </a:xfrm>
          <a:prstGeom prst="rect">
            <a:avLst/>
          </a:prstGeom>
          <a:solidFill>
            <a:srgbClr val="F3F6F8"/>
          </a:solidFill>
          <a:ln w="7620">
            <a:solidFill>
              <a:srgbClr val="003A61"/>
            </a:solidFill>
          </a:ln>
        </p:spPr>
      </p:sp>
      <p:sp>
        <p:nvSpPr>
          <p:cNvPr id="15" name="Rectangle 14">
            <a:extLst>
              <a:ext uri="{FF2B5EF4-FFF2-40B4-BE49-F238E27FC236}">
                <a16:creationId xmlns:a16="http://schemas.microsoft.com/office/drawing/2014/main" id="{36F2C559-70BB-4D92-974B-FB7DED751831}"/>
              </a:ext>
            </a:extLst>
          </p:cNvPr>
          <p:cNvSpPr>
            <a:spLocks noGrp="1"/>
          </p:cNvSpPr>
          <p:nvPr/>
        </p:nvSpPr>
        <p:spPr>
          <a:xfrm>
            <a:off x="5429250" y="2476500"/>
            <a:ext cx="1047750"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0</a:t>
            </a:r>
          </a:p>
        </p:txBody>
      </p:sp>
      <p:sp>
        <p:nvSpPr>
          <p:cNvPr id="16" name="Rectangle 15">
            <a:extLst>
              <a:ext uri="{FF2B5EF4-FFF2-40B4-BE49-F238E27FC236}">
                <a16:creationId xmlns:a16="http://schemas.microsoft.com/office/drawing/2014/main" id="{EE6D91D1-4991-42FC-91B7-DF281C2975A9}"/>
              </a:ext>
            </a:extLst>
          </p:cNvPr>
          <p:cNvSpPr>
            <a:spLocks noGrp="1"/>
          </p:cNvSpPr>
          <p:nvPr/>
        </p:nvSpPr>
        <p:spPr>
          <a:xfrm>
            <a:off x="5429250" y="2743200"/>
            <a:ext cx="1047750"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participants</a:t>
            </a:r>
          </a:p>
        </p:txBody>
      </p:sp>
      <p:sp>
        <p:nvSpPr>
          <p:cNvPr id="17" name="Rectangle 16">
            <a:extLst>
              <a:ext uri="{FF2B5EF4-FFF2-40B4-BE49-F238E27FC236}">
                <a16:creationId xmlns:a16="http://schemas.microsoft.com/office/drawing/2014/main" id="{BD2B7489-15CE-4105-91AD-6E95C67ABCEB}"/>
              </a:ext>
            </a:extLst>
          </p:cNvPr>
          <p:cNvSpPr>
            <a:spLocks noGrp="1"/>
          </p:cNvSpPr>
          <p:nvPr/>
        </p:nvSpPr>
        <p:spPr>
          <a:xfrm>
            <a:off x="5429250" y="2914650"/>
            <a:ext cx="1047750"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flagged by QC</a:t>
            </a:r>
          </a:p>
        </p:txBody>
      </p:sp>
      <p:sp>
        <p:nvSpPr>
          <p:cNvPr id="18" name="Rectangle 17">
            <a:extLst>
              <a:ext uri="{FF2B5EF4-FFF2-40B4-BE49-F238E27FC236}">
                <a16:creationId xmlns:a16="http://schemas.microsoft.com/office/drawing/2014/main" id="{815A9EEB-C7AC-4B9C-BB55-A1B948AFD168}"/>
              </a:ext>
            </a:extLst>
          </p:cNvPr>
          <p:cNvSpPr>
            <a:spLocks noGrp="1"/>
          </p:cNvSpPr>
          <p:nvPr/>
        </p:nvSpPr>
        <p:spPr>
          <a:xfrm>
            <a:off x="6858000" y="2381250"/>
            <a:ext cx="1238250" cy="685800"/>
          </a:xfrm>
          <a:prstGeom prst="rect">
            <a:avLst/>
          </a:prstGeom>
          <a:solidFill>
            <a:srgbClr val="F3F6F8"/>
          </a:solidFill>
          <a:ln w="7620">
            <a:solidFill>
              <a:srgbClr val="003A61"/>
            </a:solidFill>
          </a:ln>
        </p:spPr>
      </p:sp>
      <p:sp>
        <p:nvSpPr>
          <p:cNvPr id="19" name="Rectangle 18">
            <a:extLst>
              <a:ext uri="{FF2B5EF4-FFF2-40B4-BE49-F238E27FC236}">
                <a16:creationId xmlns:a16="http://schemas.microsoft.com/office/drawing/2014/main" id="{183F4DB9-D972-4D6A-9C26-630890551BB3}"/>
              </a:ext>
            </a:extLst>
          </p:cNvPr>
          <p:cNvSpPr>
            <a:spLocks noGrp="1"/>
          </p:cNvSpPr>
          <p:nvPr/>
        </p:nvSpPr>
        <p:spPr>
          <a:xfrm>
            <a:off x="6953250" y="2476500"/>
            <a:ext cx="1047750" cy="247650"/>
          </a:xfrm>
          <a:prstGeom prst="rect">
            <a:avLst/>
          </a:prstGeom>
        </p:spPr>
        <p:txBody>
          <a:bodyPr lIns="0" tIns="0" rIns="0" bIns="0"/>
          <a:lstStyle/>
          <a:p>
            <a:pPr algn="ctr">
              <a:defRPr sz="1725" b="1">
                <a:solidFill>
                  <a:srgbClr val="003A61"/>
                </a:solidFill>
                <a:latin typeface="Arial"/>
                <a:ea typeface="Arial"/>
                <a:cs typeface="Arial"/>
              </a:defRPr>
            </a:pPr>
            <a:r>
              <a:rPr sz="1725" b="1">
                <a:solidFill>
                  <a:srgbClr val="003A61"/>
                </a:solidFill>
                <a:latin typeface="Arial"/>
                <a:ea typeface="Arial"/>
                <a:cs typeface="Arial"/>
              </a:rPr>
              <a:t>45</a:t>
            </a:r>
          </a:p>
        </p:txBody>
      </p:sp>
      <p:sp>
        <p:nvSpPr>
          <p:cNvPr id="20" name="Rectangle 19">
            <a:extLst>
              <a:ext uri="{FF2B5EF4-FFF2-40B4-BE49-F238E27FC236}">
                <a16:creationId xmlns:a16="http://schemas.microsoft.com/office/drawing/2014/main" id="{5C423F71-C5E6-4379-ABA6-2063841E89A7}"/>
              </a:ext>
            </a:extLst>
          </p:cNvPr>
          <p:cNvSpPr>
            <a:spLocks noGrp="1"/>
          </p:cNvSpPr>
          <p:nvPr/>
        </p:nvSpPr>
        <p:spPr>
          <a:xfrm>
            <a:off x="6953250" y="2743200"/>
            <a:ext cx="1047750" cy="171450"/>
          </a:xfrm>
          <a:prstGeom prst="rect">
            <a:avLst/>
          </a:prstGeom>
        </p:spPr>
        <p:txBody>
          <a:bodyPr lIns="0" tIns="0" rIns="0" bIns="0"/>
          <a:lstStyle/>
          <a:p>
            <a:pPr algn="ctr">
              <a:defRPr sz="788" b="1">
                <a:solidFill>
                  <a:srgbClr val="263845"/>
                </a:solidFill>
                <a:latin typeface="Arial"/>
                <a:ea typeface="Arial"/>
                <a:cs typeface="Arial"/>
              </a:defRPr>
            </a:pPr>
            <a:r>
              <a:rPr sz="788" b="1">
                <a:solidFill>
                  <a:srgbClr val="263845"/>
                </a:solidFill>
                <a:latin typeface="Arial"/>
                <a:ea typeface="Arial"/>
                <a:cs typeface="Arial"/>
              </a:rPr>
              <a:t>missing RTs</a:t>
            </a:r>
          </a:p>
        </p:txBody>
      </p:sp>
      <p:sp>
        <p:nvSpPr>
          <p:cNvPr id="21" name="Rectangle 20">
            <a:extLst>
              <a:ext uri="{FF2B5EF4-FFF2-40B4-BE49-F238E27FC236}">
                <a16:creationId xmlns:a16="http://schemas.microsoft.com/office/drawing/2014/main" id="{D2837FC9-0F5C-475A-A028-A0EEC749DA7D}"/>
              </a:ext>
            </a:extLst>
          </p:cNvPr>
          <p:cNvSpPr>
            <a:spLocks noGrp="1"/>
          </p:cNvSpPr>
          <p:nvPr/>
        </p:nvSpPr>
        <p:spPr>
          <a:xfrm>
            <a:off x="6953250" y="2914650"/>
            <a:ext cx="1047750" cy="114300"/>
          </a:xfrm>
          <a:prstGeom prst="rect">
            <a:avLst/>
          </a:prstGeom>
        </p:spPr>
        <p:txBody>
          <a:bodyPr lIns="0" tIns="0" rIns="0" bIns="0"/>
          <a:lstStyle/>
          <a:p>
            <a:pPr algn="ctr">
              <a:defRPr sz="623">
                <a:solidFill>
                  <a:srgbClr val="63717A"/>
                </a:solidFill>
                <a:latin typeface="Arial"/>
                <a:ea typeface="Arial"/>
                <a:cs typeface="Arial"/>
              </a:defRPr>
            </a:pPr>
            <a:r>
              <a:rPr sz="623">
                <a:solidFill>
                  <a:srgbClr val="63717A"/>
                </a:solidFill>
                <a:latin typeface="Arial"/>
                <a:ea typeface="Arial"/>
                <a:cs typeface="Arial"/>
              </a:rPr>
              <a:t>of 5,760 main trials</a:t>
            </a:r>
          </a:p>
        </p:txBody>
      </p:sp>
      <p:sp>
        <p:nvSpPr>
          <p:cNvPr id="22" name="Rectangle 21">
            <a:extLst>
              <a:ext uri="{FF2B5EF4-FFF2-40B4-BE49-F238E27FC236}">
                <a16:creationId xmlns:a16="http://schemas.microsoft.com/office/drawing/2014/main" id="{4C7060C1-CD13-43B9-B4B1-9EC8A46CF592}"/>
              </a:ext>
            </a:extLst>
          </p:cNvPr>
          <p:cNvSpPr>
            <a:spLocks noGrp="1"/>
          </p:cNvSpPr>
          <p:nvPr/>
        </p:nvSpPr>
        <p:spPr>
          <a:xfrm>
            <a:off x="5334000" y="3562350"/>
            <a:ext cx="2762250" cy="419100"/>
          </a:xfrm>
          <a:prstGeom prst="rect">
            <a:avLst/>
          </a:prstGeom>
        </p:spPr>
        <p:txBody>
          <a:bodyPr lIns="0" tIns="0" rIns="0" bIns="0"/>
          <a:lstStyle/>
          <a:p>
            <a:pPr algn="ctr">
              <a:defRPr sz="975" b="1">
                <a:solidFill>
                  <a:srgbClr val="003A61"/>
                </a:solidFill>
                <a:latin typeface="Arial"/>
                <a:ea typeface="Arial"/>
                <a:cs typeface="Arial"/>
              </a:defRPr>
            </a:pPr>
            <a:r>
              <a:rPr sz="975" b="1">
                <a:solidFill>
                  <a:srgbClr val="003A61"/>
                </a:solidFill>
                <a:latin typeface="Arial"/>
                <a:ea typeface="Arial"/>
                <a:cs typeface="Arial"/>
              </a:rPr>
              <a:t>Pseudoword accuracy is lower than word accuracy, but still high enough to show nonword discrimination.</a:t>
            </a:r>
          </a:p>
        </p:txBody>
      </p:sp>
    </p:spTree>
    <p:extLst>
      <p:ext uri="{BB962C8B-B14F-4D97-AF65-F5344CB8AC3E}">
        <p14:creationId xmlns:p14="http://schemas.microsoft.com/office/powerpoint/2010/main" val="1826234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1BA61FD-BADA-4040-A4F4-A34DD823D02D}"/>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B4B0E160-3330-4394-A8E2-D6FB41194ED3}"/>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24 | INTERPRETATION</a:t>
            </a:r>
          </a:p>
        </p:txBody>
      </p:sp>
      <p:sp>
        <p:nvSpPr>
          <p:cNvPr id="3" name="Rectangle 2">
            <a:extLst>
              <a:ext uri="{FF2B5EF4-FFF2-40B4-BE49-F238E27FC236}">
                <a16:creationId xmlns:a16="http://schemas.microsoft.com/office/drawing/2014/main" id="{16F88ED4-892F-41B2-A0FA-DFE9230C29EF}"/>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strongest preliminary story is frequency plus syllable length, with a tentative interaction.</a:t>
            </a:r>
          </a:p>
        </p:txBody>
      </p:sp>
      <p:sp>
        <p:nvSpPr>
          <p:cNvPr id="4" name="Rectangle 3">
            <a:extLst>
              <a:ext uri="{FF2B5EF4-FFF2-40B4-BE49-F238E27FC236}">
                <a16:creationId xmlns:a16="http://schemas.microsoft.com/office/drawing/2014/main" id="{7011A61D-23F6-44E0-A3BA-C380C2D81165}"/>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CDCC22D7-005D-4F53-84A7-7E6CD68E72E7}"/>
              </a:ext>
            </a:extLst>
          </p:cNvPr>
          <p:cNvSpPr>
            <a:spLocks noGrp="1"/>
          </p:cNvSpPr>
          <p:nvPr/>
        </p:nvSpPr>
        <p:spPr>
          <a:xfrm>
            <a:off x="476250" y="1481137"/>
            <a:ext cx="2238375" cy="123825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6" name="Rectangle 5">
            <a:extLst>
              <a:ext uri="{FF2B5EF4-FFF2-40B4-BE49-F238E27FC236}">
                <a16:creationId xmlns:a16="http://schemas.microsoft.com/office/drawing/2014/main" id="{C0707640-32CC-4835-95FF-03CF5BE5C7F6}"/>
              </a:ext>
            </a:extLst>
          </p:cNvPr>
          <p:cNvSpPr>
            <a:spLocks noGrp="1"/>
          </p:cNvSpPr>
          <p:nvPr/>
        </p:nvSpPr>
        <p:spPr>
          <a:xfrm>
            <a:off x="590550" y="1576387"/>
            <a:ext cx="2009775" cy="190500"/>
          </a:xfrm>
          <a:prstGeom prst="rect">
            <a:avLst/>
          </a:prstGeom>
        </p:spPr>
        <p:txBody>
          <a:bodyPr lIns="0" tIns="0" rIns="0" bIns="0"/>
          <a:lstStyle/>
          <a:p>
            <a:r>
              <a:rPr sz="900" b="1">
                <a:solidFill>
                  <a:srgbClr val="003A61"/>
                </a:solidFill>
                <a:latin typeface="Arial"/>
                <a:ea typeface="Arial"/>
                <a:cs typeface="Arial"/>
              </a:rPr>
              <a:t>1. Frequency</a:t>
            </a:r>
          </a:p>
        </p:txBody>
      </p:sp>
      <p:sp>
        <p:nvSpPr>
          <p:cNvPr id="7" name="Rectangle 6">
            <a:extLst>
              <a:ext uri="{FF2B5EF4-FFF2-40B4-BE49-F238E27FC236}">
                <a16:creationId xmlns:a16="http://schemas.microsoft.com/office/drawing/2014/main" id="{6584B5C9-E301-4AB2-894E-68CD7474E0F3}"/>
              </a:ext>
            </a:extLst>
          </p:cNvPr>
          <p:cNvSpPr>
            <a:spLocks noGrp="1"/>
          </p:cNvSpPr>
          <p:nvPr/>
        </p:nvSpPr>
        <p:spPr>
          <a:xfrm>
            <a:off x="590550" y="1804987"/>
            <a:ext cx="2009775" cy="838200"/>
          </a:xfrm>
          <a:prstGeom prst="rect">
            <a:avLst/>
          </a:prstGeom>
        </p:spPr>
        <p:txBody>
          <a:bodyPr lIns="0" tIns="0" rIns="0" bIns="0"/>
          <a:lstStyle/>
          <a:p>
            <a:r>
              <a:rPr sz="1050">
                <a:solidFill>
                  <a:srgbClr val="263845"/>
                </a:solidFill>
                <a:latin typeface="Arial"/>
                <a:ea typeface="Arial"/>
                <a:cs typeface="Arial"/>
              </a:rPr>
              <a:t>High-frequency words were responded to faster than low-frequency words.</a:t>
            </a:r>
          </a:p>
        </p:txBody>
      </p:sp>
      <p:sp>
        <p:nvSpPr>
          <p:cNvPr id="8" name="Rectangle 7">
            <a:extLst>
              <a:ext uri="{FF2B5EF4-FFF2-40B4-BE49-F238E27FC236}">
                <a16:creationId xmlns:a16="http://schemas.microsoft.com/office/drawing/2014/main" id="{9C2060F5-896B-4446-A47E-38A74637D944}"/>
              </a:ext>
            </a:extLst>
          </p:cNvPr>
          <p:cNvSpPr>
            <a:spLocks noGrp="1"/>
          </p:cNvSpPr>
          <p:nvPr/>
        </p:nvSpPr>
        <p:spPr>
          <a:xfrm>
            <a:off x="3181350" y="1481137"/>
            <a:ext cx="2238375" cy="12382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9" name="Rectangle 8">
            <a:extLst>
              <a:ext uri="{FF2B5EF4-FFF2-40B4-BE49-F238E27FC236}">
                <a16:creationId xmlns:a16="http://schemas.microsoft.com/office/drawing/2014/main" id="{75DDAD44-7AF2-475E-AF70-9DFF63E9422D}"/>
              </a:ext>
            </a:extLst>
          </p:cNvPr>
          <p:cNvSpPr>
            <a:spLocks noGrp="1"/>
          </p:cNvSpPr>
          <p:nvPr/>
        </p:nvSpPr>
        <p:spPr>
          <a:xfrm>
            <a:off x="3295650" y="1576387"/>
            <a:ext cx="2009775" cy="190500"/>
          </a:xfrm>
          <a:prstGeom prst="rect">
            <a:avLst/>
          </a:prstGeom>
        </p:spPr>
        <p:txBody>
          <a:bodyPr lIns="0" tIns="0" rIns="0" bIns="0"/>
          <a:lstStyle/>
          <a:p>
            <a:r>
              <a:rPr sz="900" b="1">
                <a:solidFill>
                  <a:srgbClr val="003A61"/>
                </a:solidFill>
                <a:latin typeface="Arial"/>
                <a:ea typeface="Arial"/>
                <a:cs typeface="Arial"/>
              </a:rPr>
              <a:t>2. Syllable length</a:t>
            </a:r>
          </a:p>
        </p:txBody>
      </p:sp>
      <p:sp>
        <p:nvSpPr>
          <p:cNvPr id="10" name="Rectangle 9">
            <a:extLst>
              <a:ext uri="{FF2B5EF4-FFF2-40B4-BE49-F238E27FC236}">
                <a16:creationId xmlns:a16="http://schemas.microsoft.com/office/drawing/2014/main" id="{BA85D898-C24B-4E42-87E5-89ABF6693949}"/>
              </a:ext>
            </a:extLst>
          </p:cNvPr>
          <p:cNvSpPr>
            <a:spLocks noGrp="1"/>
          </p:cNvSpPr>
          <p:nvPr/>
        </p:nvSpPr>
        <p:spPr>
          <a:xfrm>
            <a:off x="3295650" y="1804987"/>
            <a:ext cx="2009775" cy="838200"/>
          </a:xfrm>
          <a:prstGeom prst="rect">
            <a:avLst/>
          </a:prstGeom>
        </p:spPr>
        <p:txBody>
          <a:bodyPr lIns="0" tIns="0" rIns="0" bIns="0"/>
          <a:lstStyle/>
          <a:p>
            <a:r>
              <a:rPr sz="1050">
                <a:solidFill>
                  <a:srgbClr val="263845"/>
                </a:solidFill>
                <a:latin typeface="Arial"/>
                <a:ea typeface="Arial"/>
                <a:cs typeface="Arial"/>
              </a:rPr>
              <a:t>Mean RT increased from one-syllable to four-syllable words.</a:t>
            </a:r>
          </a:p>
        </p:txBody>
      </p:sp>
      <p:sp>
        <p:nvSpPr>
          <p:cNvPr id="11" name="Rectangle 10">
            <a:extLst>
              <a:ext uri="{FF2B5EF4-FFF2-40B4-BE49-F238E27FC236}">
                <a16:creationId xmlns:a16="http://schemas.microsoft.com/office/drawing/2014/main" id="{791DFE9A-81E0-4F25-8D82-7BE7F243A3D9}"/>
              </a:ext>
            </a:extLst>
          </p:cNvPr>
          <p:cNvSpPr>
            <a:spLocks noGrp="1"/>
          </p:cNvSpPr>
          <p:nvPr/>
        </p:nvSpPr>
        <p:spPr>
          <a:xfrm>
            <a:off x="5886450" y="1481137"/>
            <a:ext cx="1952625" cy="1238250"/>
          </a:xfrm>
          <a:prstGeom prst="rect">
            <a:avLst/>
          </a:prstGeom>
          <a:solidFill>
            <a:srgbClr val="F3F6F8"/>
          </a:solidFill>
        </p:spPr>
        <p:txBody>
          <a:bodyPr lIns="0" tIns="0" rIns="0" bIns="0"/>
          <a:lstStyle/>
          <a:p>
            <a:r>
              <a:rPr sz="100">
                <a:solidFill>
                  <a:srgbClr val="F3F6F8"/>
                </a:solidFill>
                <a:latin typeface="Arial"/>
                <a:ea typeface="Arial"/>
                <a:cs typeface="Arial"/>
              </a:rPr>
              <a:t>.</a:t>
            </a:r>
          </a:p>
        </p:txBody>
      </p:sp>
      <p:sp>
        <p:nvSpPr>
          <p:cNvPr id="12" name="Rectangle 11">
            <a:extLst>
              <a:ext uri="{FF2B5EF4-FFF2-40B4-BE49-F238E27FC236}">
                <a16:creationId xmlns:a16="http://schemas.microsoft.com/office/drawing/2014/main" id="{14CB3857-549E-420F-850F-49C83B2FD9E8}"/>
              </a:ext>
            </a:extLst>
          </p:cNvPr>
          <p:cNvSpPr>
            <a:spLocks noGrp="1"/>
          </p:cNvSpPr>
          <p:nvPr/>
        </p:nvSpPr>
        <p:spPr>
          <a:xfrm>
            <a:off x="6000750" y="1576387"/>
            <a:ext cx="1724025" cy="190500"/>
          </a:xfrm>
          <a:prstGeom prst="rect">
            <a:avLst/>
          </a:prstGeom>
        </p:spPr>
        <p:txBody>
          <a:bodyPr lIns="0" tIns="0" rIns="0" bIns="0"/>
          <a:lstStyle/>
          <a:p>
            <a:r>
              <a:rPr sz="900" b="1">
                <a:solidFill>
                  <a:srgbClr val="003A61"/>
                </a:solidFill>
                <a:latin typeface="Arial"/>
                <a:ea typeface="Arial"/>
                <a:cs typeface="Arial"/>
              </a:rPr>
              <a:t>3. Interaction</a:t>
            </a:r>
          </a:p>
        </p:txBody>
      </p:sp>
      <p:sp>
        <p:nvSpPr>
          <p:cNvPr id="13" name="Rectangle 12">
            <a:extLst>
              <a:ext uri="{FF2B5EF4-FFF2-40B4-BE49-F238E27FC236}">
                <a16:creationId xmlns:a16="http://schemas.microsoft.com/office/drawing/2014/main" id="{6CABA1E2-6464-463B-B8C2-73CC35E38F4D}"/>
              </a:ext>
            </a:extLst>
          </p:cNvPr>
          <p:cNvSpPr>
            <a:spLocks noGrp="1"/>
          </p:cNvSpPr>
          <p:nvPr/>
        </p:nvSpPr>
        <p:spPr>
          <a:xfrm>
            <a:off x="6000750" y="1804987"/>
            <a:ext cx="1724025" cy="838200"/>
          </a:xfrm>
          <a:prstGeom prst="rect">
            <a:avLst/>
          </a:prstGeom>
        </p:spPr>
        <p:txBody>
          <a:bodyPr lIns="0" tIns="0" rIns="0" bIns="0"/>
          <a:lstStyle/>
          <a:p>
            <a:r>
              <a:rPr sz="1013">
                <a:solidFill>
                  <a:srgbClr val="263845"/>
                </a:solidFill>
                <a:latin typeface="Arial"/>
                <a:ea typeface="Arial"/>
                <a:cs typeface="Arial"/>
              </a:rPr>
              <a:t>Possible variation in the frequency effect, but modest.</a:t>
            </a:r>
          </a:p>
        </p:txBody>
      </p:sp>
      <p:sp>
        <p:nvSpPr>
          <p:cNvPr id="14" name="Rectangle 13">
            <a:extLst>
              <a:ext uri="{FF2B5EF4-FFF2-40B4-BE49-F238E27FC236}">
                <a16:creationId xmlns:a16="http://schemas.microsoft.com/office/drawing/2014/main" id="{1F2578FD-7FC2-4625-8A82-6C7BB820F624}"/>
              </a:ext>
            </a:extLst>
          </p:cNvPr>
          <p:cNvSpPr>
            <a:spLocks noGrp="1"/>
          </p:cNvSpPr>
          <p:nvPr/>
        </p:nvSpPr>
        <p:spPr>
          <a:xfrm>
            <a:off x="1123950" y="3143250"/>
            <a:ext cx="6667500" cy="685800"/>
          </a:xfrm>
          <a:prstGeom prst="rect">
            <a:avLst/>
          </a:prstGeom>
          <a:solidFill>
            <a:srgbClr val="F3F6F8"/>
          </a:solidFill>
          <a:ln w="7620">
            <a:solidFill>
              <a:srgbClr val="003A61"/>
            </a:solidFill>
          </a:ln>
        </p:spPr>
        <p:txBody>
          <a:bodyPr lIns="0" tIns="0" rIns="0" bIns="0"/>
          <a:lstStyle/>
          <a:p>
            <a:r>
              <a:rPr sz="100">
                <a:solidFill>
                  <a:srgbClr val="F3F6F8"/>
                </a:solidFill>
                <a:latin typeface="Arial"/>
                <a:ea typeface="Arial"/>
                <a:cs typeface="Arial"/>
              </a:rPr>
              <a:t>.</a:t>
            </a:r>
          </a:p>
        </p:txBody>
      </p:sp>
      <p:sp>
        <p:nvSpPr>
          <p:cNvPr id="15" name="Rectangle 14">
            <a:extLst>
              <a:ext uri="{FF2B5EF4-FFF2-40B4-BE49-F238E27FC236}">
                <a16:creationId xmlns:a16="http://schemas.microsoft.com/office/drawing/2014/main" id="{43F1ABDB-DFFD-4D66-841B-E731F8753F64}"/>
              </a:ext>
            </a:extLst>
          </p:cNvPr>
          <p:cNvSpPr>
            <a:spLocks noGrp="1"/>
          </p:cNvSpPr>
          <p:nvPr/>
        </p:nvSpPr>
        <p:spPr>
          <a:xfrm>
            <a:off x="1371600" y="3314700"/>
            <a:ext cx="6172200" cy="361950"/>
          </a:xfrm>
          <a:prstGeom prst="rect">
            <a:avLst/>
          </a:prstGeom>
        </p:spPr>
        <p:txBody>
          <a:bodyPr lIns="0" tIns="0" rIns="0" bIns="0"/>
          <a:lstStyle/>
          <a:p>
            <a:pPr algn="ctr">
              <a:defRPr sz="1125" b="1">
                <a:solidFill>
                  <a:srgbClr val="003A61"/>
                </a:solidFill>
                <a:latin typeface="Arial"/>
                <a:ea typeface="Arial"/>
                <a:cs typeface="Arial"/>
              </a:defRPr>
            </a:pPr>
            <a:r>
              <a:rPr sz="1125" b="1">
                <a:solidFill>
                  <a:srgbClr val="003A61"/>
                </a:solidFill>
                <a:latin typeface="Arial"/>
                <a:ea typeface="Arial"/>
                <a:cs typeface="Arial"/>
              </a:rPr>
              <a:t>Cautious interpretation: lexical-decision RT reflects lexical processing plus task-decision processes, so the results should not be reduced to pure lexical access.</a:t>
            </a:r>
          </a:p>
        </p:txBody>
      </p:sp>
    </p:spTree>
    <p:extLst>
      <p:ext uri="{BB962C8B-B14F-4D97-AF65-F5344CB8AC3E}">
        <p14:creationId xmlns:p14="http://schemas.microsoft.com/office/powerpoint/2010/main" val="1826234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9B6EBF5-F03C-4DC6-A9B0-E90686EDA1B3}"/>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4D9893F5-8539-425F-8459-D181C2280E76}"/>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25 | LIMITATIONS</a:t>
            </a:r>
          </a:p>
        </p:txBody>
      </p:sp>
      <p:sp>
        <p:nvSpPr>
          <p:cNvPr id="3" name="Rectangle 2">
            <a:extLst>
              <a:ext uri="{FF2B5EF4-FFF2-40B4-BE49-F238E27FC236}">
                <a16:creationId xmlns:a16="http://schemas.microsoft.com/office/drawing/2014/main" id="{DA8FE931-4247-44C8-98D0-BD56AAF02E47}"/>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current analysis is ready for discussion, but not yet a final thesis conclusion.</a:t>
            </a:r>
          </a:p>
        </p:txBody>
      </p:sp>
      <p:sp>
        <p:nvSpPr>
          <p:cNvPr id="4" name="Rectangle 3">
            <a:extLst>
              <a:ext uri="{FF2B5EF4-FFF2-40B4-BE49-F238E27FC236}">
                <a16:creationId xmlns:a16="http://schemas.microsoft.com/office/drawing/2014/main" id="{C2ED6777-B059-4BF0-9B7E-CBF3A81A340E}"/>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2FED730A-4438-4272-A073-41612A9EA72C}"/>
              </a:ext>
            </a:extLst>
          </p:cNvPr>
          <p:cNvSpPr>
            <a:spLocks noGrp="1"/>
          </p:cNvSpPr>
          <p:nvPr/>
        </p:nvSpPr>
        <p:spPr>
          <a:xfrm>
            <a:off x="762000" y="1457325"/>
            <a:ext cx="57150" cy="57150"/>
          </a:xfrm>
          <a:prstGeom prst="rect">
            <a:avLst/>
          </a:prstGeom>
          <a:solidFill>
            <a:srgbClr val="8DB600"/>
          </a:solidFill>
        </p:spPr>
      </p:sp>
      <p:sp>
        <p:nvSpPr>
          <p:cNvPr id="6" name="Rectangle 5">
            <a:extLst>
              <a:ext uri="{FF2B5EF4-FFF2-40B4-BE49-F238E27FC236}">
                <a16:creationId xmlns:a16="http://schemas.microsoft.com/office/drawing/2014/main" id="{727DB682-9553-4D26-AAB3-C68C9D4FA492}"/>
              </a:ext>
            </a:extLst>
          </p:cNvPr>
          <p:cNvSpPr>
            <a:spLocks noGrp="1"/>
          </p:cNvSpPr>
          <p:nvPr/>
        </p:nvSpPr>
        <p:spPr>
          <a:xfrm>
            <a:off x="914400" y="1400175"/>
            <a:ext cx="6705600" cy="495300"/>
          </a:xfrm>
          <a:prstGeom prst="rect">
            <a:avLst/>
          </a:prstGeom>
        </p:spPr>
        <p:txBody>
          <a:bodyPr lIns="0" tIns="0" rIns="0" bIns="0"/>
          <a:lstStyle/>
          <a:p>
            <a:r>
              <a:rPr sz="1200">
                <a:solidFill>
                  <a:srgbClr val="263845"/>
                </a:solidFill>
                <a:latin typeface="Arial"/>
                <a:ea typeface="Arial"/>
                <a:cs typeface="Arial"/>
              </a:rPr>
              <a:t>N = 48 reaches the minimum target but is still a minimum sample.</a:t>
            </a:r>
          </a:p>
        </p:txBody>
      </p:sp>
      <p:sp>
        <p:nvSpPr>
          <p:cNvPr id="7" name="Rectangle 6">
            <a:extLst>
              <a:ext uri="{FF2B5EF4-FFF2-40B4-BE49-F238E27FC236}">
                <a16:creationId xmlns:a16="http://schemas.microsoft.com/office/drawing/2014/main" id="{F1E97A75-8E77-4A48-A522-DAAE4CF9978F}"/>
              </a:ext>
            </a:extLst>
          </p:cNvPr>
          <p:cNvSpPr>
            <a:spLocks noGrp="1"/>
          </p:cNvSpPr>
          <p:nvPr/>
        </p:nvSpPr>
        <p:spPr>
          <a:xfrm>
            <a:off x="762000" y="1914525"/>
            <a:ext cx="57150" cy="57150"/>
          </a:xfrm>
          <a:prstGeom prst="rect">
            <a:avLst/>
          </a:prstGeom>
          <a:solidFill>
            <a:srgbClr val="8DB600"/>
          </a:solidFill>
        </p:spPr>
      </p:sp>
      <p:sp>
        <p:nvSpPr>
          <p:cNvPr id="8" name="Rectangle 7">
            <a:extLst>
              <a:ext uri="{FF2B5EF4-FFF2-40B4-BE49-F238E27FC236}">
                <a16:creationId xmlns:a16="http://schemas.microsoft.com/office/drawing/2014/main" id="{F46D0DBA-9CC5-4213-A1F7-49D29C3EFF34}"/>
              </a:ext>
            </a:extLst>
          </p:cNvPr>
          <p:cNvSpPr>
            <a:spLocks noGrp="1"/>
          </p:cNvSpPr>
          <p:nvPr/>
        </p:nvSpPr>
        <p:spPr>
          <a:xfrm>
            <a:off x="914400" y="1857375"/>
            <a:ext cx="6705600" cy="495300"/>
          </a:xfrm>
          <a:prstGeom prst="rect">
            <a:avLst/>
          </a:prstGeom>
        </p:spPr>
        <p:txBody>
          <a:bodyPr lIns="0" tIns="0" rIns="0" bIns="0"/>
          <a:lstStyle/>
          <a:p>
            <a:r>
              <a:rPr sz="1200">
                <a:solidFill>
                  <a:srgbClr val="263845"/>
                </a:solidFill>
                <a:latin typeface="Arial"/>
                <a:ea typeface="Arial"/>
                <a:cs typeface="Arial"/>
              </a:rPr>
              <a:t>Pseudowords should be reviewed for plausibility and matching before final reporting.</a:t>
            </a:r>
          </a:p>
        </p:txBody>
      </p:sp>
      <p:sp>
        <p:nvSpPr>
          <p:cNvPr id="9" name="Rectangle 8">
            <a:extLst>
              <a:ext uri="{FF2B5EF4-FFF2-40B4-BE49-F238E27FC236}">
                <a16:creationId xmlns:a16="http://schemas.microsoft.com/office/drawing/2014/main" id="{2FDBB524-2020-4448-9854-D5BB03C3D4CC}"/>
              </a:ext>
            </a:extLst>
          </p:cNvPr>
          <p:cNvSpPr>
            <a:spLocks noGrp="1"/>
          </p:cNvSpPr>
          <p:nvPr/>
        </p:nvSpPr>
        <p:spPr>
          <a:xfrm>
            <a:off x="762000" y="2371725"/>
            <a:ext cx="57150" cy="57150"/>
          </a:xfrm>
          <a:prstGeom prst="rect">
            <a:avLst/>
          </a:prstGeom>
          <a:solidFill>
            <a:srgbClr val="8DB600"/>
          </a:solidFill>
        </p:spPr>
      </p:sp>
      <p:sp>
        <p:nvSpPr>
          <p:cNvPr id="10" name="Rectangle 9">
            <a:extLst>
              <a:ext uri="{FF2B5EF4-FFF2-40B4-BE49-F238E27FC236}">
                <a16:creationId xmlns:a16="http://schemas.microsoft.com/office/drawing/2014/main" id="{802BE763-4C64-4EFC-8F74-87AAF7FBC1B6}"/>
              </a:ext>
            </a:extLst>
          </p:cNvPr>
          <p:cNvSpPr>
            <a:spLocks noGrp="1"/>
          </p:cNvSpPr>
          <p:nvPr/>
        </p:nvSpPr>
        <p:spPr>
          <a:xfrm>
            <a:off x="914400" y="2314575"/>
            <a:ext cx="6705600" cy="495300"/>
          </a:xfrm>
          <a:prstGeom prst="rect">
            <a:avLst/>
          </a:prstGeom>
        </p:spPr>
        <p:txBody>
          <a:bodyPr lIns="0" tIns="0" rIns="0" bIns="0"/>
          <a:lstStyle/>
          <a:p>
            <a:r>
              <a:rPr sz="1200">
                <a:solidFill>
                  <a:srgbClr val="263845"/>
                </a:solidFill>
                <a:latin typeface="Arial"/>
                <a:ea typeface="Arial"/>
                <a:cs typeface="Arial"/>
              </a:rPr>
              <a:t>Frequency source and item matching may need dispersion/register checks.</a:t>
            </a:r>
          </a:p>
        </p:txBody>
      </p:sp>
      <p:sp>
        <p:nvSpPr>
          <p:cNvPr id="11" name="Rectangle 10">
            <a:extLst>
              <a:ext uri="{FF2B5EF4-FFF2-40B4-BE49-F238E27FC236}">
                <a16:creationId xmlns:a16="http://schemas.microsoft.com/office/drawing/2014/main" id="{369814FF-5790-4916-AF0F-0A86D5D3249F}"/>
              </a:ext>
            </a:extLst>
          </p:cNvPr>
          <p:cNvSpPr>
            <a:spLocks noGrp="1"/>
          </p:cNvSpPr>
          <p:nvPr/>
        </p:nvSpPr>
        <p:spPr>
          <a:xfrm>
            <a:off x="762000" y="2828925"/>
            <a:ext cx="57150" cy="57150"/>
          </a:xfrm>
          <a:prstGeom prst="rect">
            <a:avLst/>
          </a:prstGeom>
          <a:solidFill>
            <a:srgbClr val="8DB600"/>
          </a:solidFill>
        </p:spPr>
      </p:sp>
      <p:sp>
        <p:nvSpPr>
          <p:cNvPr id="12" name="Rectangle 11">
            <a:extLst>
              <a:ext uri="{FF2B5EF4-FFF2-40B4-BE49-F238E27FC236}">
                <a16:creationId xmlns:a16="http://schemas.microsoft.com/office/drawing/2014/main" id="{54882CBD-4511-4721-A4F3-2A82E8437179}"/>
              </a:ext>
            </a:extLst>
          </p:cNvPr>
          <p:cNvSpPr>
            <a:spLocks noGrp="1"/>
          </p:cNvSpPr>
          <p:nvPr/>
        </p:nvSpPr>
        <p:spPr>
          <a:xfrm>
            <a:off x="914400" y="2771775"/>
            <a:ext cx="6705600" cy="495300"/>
          </a:xfrm>
          <a:prstGeom prst="rect">
            <a:avLst/>
          </a:prstGeom>
        </p:spPr>
        <p:txBody>
          <a:bodyPr lIns="0" tIns="0" rIns="0" bIns="0"/>
          <a:lstStyle/>
          <a:p>
            <a:r>
              <a:rPr sz="1200">
                <a:solidFill>
                  <a:srgbClr val="263845"/>
                </a:solidFill>
                <a:latin typeface="Arial"/>
                <a:ea typeface="Arial"/>
                <a:cs typeface="Arial"/>
              </a:rPr>
              <a:t>The current model uses random intercepts; richer structures can be tested if stable.</a:t>
            </a:r>
          </a:p>
        </p:txBody>
      </p:sp>
      <p:sp>
        <p:nvSpPr>
          <p:cNvPr id="13" name="Rectangle 12">
            <a:extLst>
              <a:ext uri="{FF2B5EF4-FFF2-40B4-BE49-F238E27FC236}">
                <a16:creationId xmlns:a16="http://schemas.microsoft.com/office/drawing/2014/main" id="{479BF006-EA96-4B82-A727-6E8294478400}"/>
              </a:ext>
            </a:extLst>
          </p:cNvPr>
          <p:cNvSpPr>
            <a:spLocks noGrp="1"/>
          </p:cNvSpPr>
          <p:nvPr/>
        </p:nvSpPr>
        <p:spPr>
          <a:xfrm>
            <a:off x="762000" y="3286125"/>
            <a:ext cx="57150" cy="57150"/>
          </a:xfrm>
          <a:prstGeom prst="rect">
            <a:avLst/>
          </a:prstGeom>
          <a:solidFill>
            <a:srgbClr val="8DB600"/>
          </a:solidFill>
        </p:spPr>
      </p:sp>
      <p:sp>
        <p:nvSpPr>
          <p:cNvPr id="14" name="Rectangle 13">
            <a:extLst>
              <a:ext uri="{FF2B5EF4-FFF2-40B4-BE49-F238E27FC236}">
                <a16:creationId xmlns:a16="http://schemas.microsoft.com/office/drawing/2014/main" id="{0892C067-5952-4EBB-A5D4-464E45EDDBEE}"/>
              </a:ext>
            </a:extLst>
          </p:cNvPr>
          <p:cNvSpPr>
            <a:spLocks noGrp="1"/>
          </p:cNvSpPr>
          <p:nvPr/>
        </p:nvSpPr>
        <p:spPr>
          <a:xfrm>
            <a:off x="914400" y="3228975"/>
            <a:ext cx="6705600" cy="495300"/>
          </a:xfrm>
          <a:prstGeom prst="rect">
            <a:avLst/>
          </a:prstGeom>
        </p:spPr>
        <p:txBody>
          <a:bodyPr lIns="0" tIns="0" rIns="0" bIns="0"/>
          <a:lstStyle/>
          <a:p>
            <a:r>
              <a:rPr sz="1200">
                <a:solidFill>
                  <a:srgbClr val="263845"/>
                </a:solidFill>
                <a:latin typeface="Arial"/>
                <a:ea typeface="Arial"/>
                <a:cs typeface="Arial"/>
              </a:rPr>
              <a:t>The project does not solve full Vietnamese word segmentation.</a:t>
            </a:r>
          </a:p>
        </p:txBody>
      </p:sp>
      <p:sp>
        <p:nvSpPr>
          <p:cNvPr id="15" name="Rectangle 14">
            <a:extLst>
              <a:ext uri="{FF2B5EF4-FFF2-40B4-BE49-F238E27FC236}">
                <a16:creationId xmlns:a16="http://schemas.microsoft.com/office/drawing/2014/main" id="{9AADA550-F090-4920-A279-BEC2D4BC8C90}"/>
              </a:ext>
            </a:extLst>
          </p:cNvPr>
          <p:cNvSpPr>
            <a:spLocks noGrp="1"/>
          </p:cNvSpPr>
          <p:nvPr/>
        </p:nvSpPr>
        <p:spPr>
          <a:xfrm>
            <a:off x="857250" y="3762375"/>
            <a:ext cx="7048500" cy="685800"/>
          </a:xfrm>
          <a:prstGeom prst="rect">
            <a:avLst/>
          </a:prstGeom>
          <a:solidFill>
            <a:srgbClr val="DDECB3"/>
          </a:solidFill>
        </p:spPr>
        <p:txBody>
          <a:bodyPr lIns="0" tIns="0" rIns="0" bIns="0"/>
          <a:lstStyle/>
          <a:p>
            <a:r>
              <a:rPr sz="100">
                <a:solidFill>
                  <a:srgbClr val="DDECB3"/>
                </a:solidFill>
                <a:latin typeface="Arial"/>
                <a:ea typeface="Arial"/>
                <a:cs typeface="Arial"/>
              </a:rPr>
              <a:t>.</a:t>
            </a:r>
          </a:p>
        </p:txBody>
      </p:sp>
      <p:sp>
        <p:nvSpPr>
          <p:cNvPr id="16" name="Rectangle 15">
            <a:extLst>
              <a:ext uri="{FF2B5EF4-FFF2-40B4-BE49-F238E27FC236}">
                <a16:creationId xmlns:a16="http://schemas.microsoft.com/office/drawing/2014/main" id="{710C8250-F2E0-47E6-86CB-5F540DF69435}"/>
              </a:ext>
            </a:extLst>
          </p:cNvPr>
          <p:cNvSpPr>
            <a:spLocks noGrp="1"/>
          </p:cNvSpPr>
          <p:nvPr/>
        </p:nvSpPr>
        <p:spPr>
          <a:xfrm>
            <a:off x="971550" y="3857625"/>
            <a:ext cx="6819900" cy="190500"/>
          </a:xfrm>
          <a:prstGeom prst="rect">
            <a:avLst/>
          </a:prstGeom>
        </p:spPr>
        <p:txBody>
          <a:bodyPr lIns="0" tIns="0" rIns="0" bIns="0"/>
          <a:lstStyle/>
          <a:p>
            <a:r>
              <a:rPr sz="900" b="1">
                <a:solidFill>
                  <a:srgbClr val="003A61"/>
                </a:solidFill>
                <a:latin typeface="Arial"/>
                <a:ea typeface="Arial"/>
                <a:cs typeface="Arial"/>
              </a:rPr>
              <a:t>Next analytical step</a:t>
            </a:r>
          </a:p>
        </p:txBody>
      </p:sp>
      <p:sp>
        <p:nvSpPr>
          <p:cNvPr id="17" name="Rectangle 16">
            <a:extLst>
              <a:ext uri="{FF2B5EF4-FFF2-40B4-BE49-F238E27FC236}">
                <a16:creationId xmlns:a16="http://schemas.microsoft.com/office/drawing/2014/main" id="{C460B447-2EEC-460A-8C20-CA3649901BD0}"/>
              </a:ext>
            </a:extLst>
          </p:cNvPr>
          <p:cNvSpPr>
            <a:spLocks noGrp="1"/>
          </p:cNvSpPr>
          <p:nvPr/>
        </p:nvSpPr>
        <p:spPr>
          <a:xfrm>
            <a:off x="971550" y="4086225"/>
            <a:ext cx="6819900" cy="95250"/>
          </a:xfrm>
          <a:prstGeom prst="rect">
            <a:avLst/>
          </a:prstGeom>
        </p:spPr>
        <p:txBody>
          <a:bodyPr lIns="0" tIns="0" rIns="0" bIns="0"/>
          <a:lstStyle/>
          <a:p>
            <a:r>
              <a:rPr sz="960">
                <a:solidFill>
                  <a:srgbClr val="263845"/>
                </a:solidFill>
                <a:latin typeface="Arial"/>
                <a:ea typeface="Arial"/>
                <a:cs typeface="Arial"/>
              </a:rPr>
              <a:t>Review diagnostics, check sensitivity decisions, consider supplementary accuracy models, and refine the interaction interpretation.</a:t>
            </a:r>
          </a:p>
        </p:txBody>
      </p:sp>
    </p:spTree>
    <p:extLst>
      <p:ext uri="{BB962C8B-B14F-4D97-AF65-F5344CB8AC3E}">
        <p14:creationId xmlns:p14="http://schemas.microsoft.com/office/powerpoint/2010/main" val="1826234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8E7C9358-CBBF-4CCD-9738-12C29C3B9E4B}"/>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B6130917-9E51-4D39-9B06-B936688C0A80}"/>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26 | TIMELINE</a:t>
            </a:r>
          </a:p>
        </p:txBody>
      </p:sp>
      <p:sp>
        <p:nvSpPr>
          <p:cNvPr id="3" name="Rectangle 2">
            <a:extLst>
              <a:ext uri="{FF2B5EF4-FFF2-40B4-BE49-F238E27FC236}">
                <a16:creationId xmlns:a16="http://schemas.microsoft.com/office/drawing/2014/main" id="{DE3706F1-7BFD-4300-9AE9-0DBCB7E8AFC8}"/>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The six-month plan moves from design and data collection toward final modeling and write-up.</a:t>
            </a:r>
          </a:p>
        </p:txBody>
      </p:sp>
      <p:sp>
        <p:nvSpPr>
          <p:cNvPr id="4" name="Rectangle 3">
            <a:extLst>
              <a:ext uri="{FF2B5EF4-FFF2-40B4-BE49-F238E27FC236}">
                <a16:creationId xmlns:a16="http://schemas.microsoft.com/office/drawing/2014/main" id="{52C2D78A-0FD3-4CDA-8746-53DC24050675}"/>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008DDF4F-537C-4235-A875-EF7B736F836A}"/>
              </a:ext>
            </a:extLst>
          </p:cNvPr>
          <p:cNvSpPr>
            <a:spLocks noGrp="1"/>
          </p:cNvSpPr>
          <p:nvPr/>
        </p:nvSpPr>
        <p:spPr>
          <a:xfrm>
            <a:off x="1028700" y="2266950"/>
            <a:ext cx="6477000" cy="28575"/>
          </a:xfrm>
          <a:prstGeom prst="rect">
            <a:avLst/>
          </a:prstGeom>
          <a:solidFill>
            <a:srgbClr val="8DB600"/>
          </a:solidFill>
        </p:spPr>
      </p:sp>
      <p:sp>
        <p:nvSpPr>
          <p:cNvPr id="6" name="Rectangle 5">
            <a:extLst>
              <a:ext uri="{FF2B5EF4-FFF2-40B4-BE49-F238E27FC236}">
                <a16:creationId xmlns:a16="http://schemas.microsoft.com/office/drawing/2014/main" id="{A043B606-0ED7-4277-8292-E552FB08B29A}"/>
              </a:ext>
            </a:extLst>
          </p:cNvPr>
          <p:cNvSpPr>
            <a:spLocks noGrp="1"/>
          </p:cNvSpPr>
          <p:nvPr/>
        </p:nvSpPr>
        <p:spPr>
          <a:xfrm>
            <a:off x="1171575" y="2181225"/>
            <a:ext cx="171450" cy="171450"/>
          </a:xfrm>
          <a:prstGeom prst="rect">
            <a:avLst/>
          </a:prstGeom>
          <a:solidFill>
            <a:srgbClr val="8DB600"/>
          </a:solidFill>
          <a:ln w="11430">
            <a:solidFill>
              <a:srgbClr val="8DB600"/>
            </a:solidFill>
          </a:ln>
        </p:spPr>
      </p:sp>
      <p:sp>
        <p:nvSpPr>
          <p:cNvPr id="7" name="Rectangle 6">
            <a:extLst>
              <a:ext uri="{FF2B5EF4-FFF2-40B4-BE49-F238E27FC236}">
                <a16:creationId xmlns:a16="http://schemas.microsoft.com/office/drawing/2014/main" id="{B0D7F35F-F98A-46CD-91EA-1CCCB4ADAECC}"/>
              </a:ext>
            </a:extLst>
          </p:cNvPr>
          <p:cNvSpPr>
            <a:spLocks noGrp="1"/>
          </p:cNvSpPr>
          <p:nvPr/>
        </p:nvSpPr>
        <p:spPr>
          <a:xfrm>
            <a:off x="714375" y="1619250"/>
            <a:ext cx="1047750" cy="209550"/>
          </a:xfrm>
          <a:prstGeom prst="rect">
            <a:avLst/>
          </a:prstGeom>
        </p:spPr>
        <p:txBody>
          <a:bodyPr lIns="0" tIns="0" rIns="0" bIns="0"/>
          <a:lstStyle/>
          <a:p>
            <a:pPr algn="ctr">
              <a:defRPr sz="975" b="1">
                <a:solidFill>
                  <a:srgbClr val="003A61"/>
                </a:solidFill>
                <a:latin typeface="Arial"/>
                <a:ea typeface="Arial"/>
                <a:cs typeface="Arial"/>
              </a:defRPr>
            </a:pPr>
            <a:r>
              <a:rPr lang="en-US" sz="975" b="1" dirty="0">
                <a:solidFill>
                  <a:srgbClr val="003A61"/>
                </a:solidFill>
                <a:latin typeface="Arial"/>
                <a:ea typeface="Arial"/>
                <a:cs typeface="Arial"/>
              </a:rPr>
              <a:t>01/2026</a:t>
            </a:r>
            <a:endParaRPr sz="975" b="1" dirty="0">
              <a:solidFill>
                <a:srgbClr val="003A61"/>
              </a:solidFill>
              <a:latin typeface="Arial"/>
              <a:ea typeface="Arial"/>
              <a:cs typeface="Arial"/>
            </a:endParaRPr>
          </a:p>
        </p:txBody>
      </p:sp>
      <p:sp>
        <p:nvSpPr>
          <p:cNvPr id="8" name="Rectangle 7">
            <a:extLst>
              <a:ext uri="{FF2B5EF4-FFF2-40B4-BE49-F238E27FC236}">
                <a16:creationId xmlns:a16="http://schemas.microsoft.com/office/drawing/2014/main" id="{D1CE4C03-A0BD-4F3C-B164-B39A09143EC6}"/>
              </a:ext>
            </a:extLst>
          </p:cNvPr>
          <p:cNvSpPr>
            <a:spLocks noGrp="1"/>
          </p:cNvSpPr>
          <p:nvPr/>
        </p:nvSpPr>
        <p:spPr>
          <a:xfrm>
            <a:off x="714375" y="1885950"/>
            <a:ext cx="1047750" cy="419100"/>
          </a:xfrm>
          <a:prstGeom prst="rect">
            <a:avLst/>
          </a:prstGeom>
        </p:spPr>
        <p:txBody>
          <a:bodyPr lIns="0" tIns="0" rIns="0" bIns="0"/>
          <a:lstStyle/>
          <a:p>
            <a:pPr algn="ctr">
              <a:defRPr sz="825">
                <a:solidFill>
                  <a:srgbClr val="263845"/>
                </a:solidFill>
                <a:latin typeface="Arial"/>
                <a:ea typeface="Arial"/>
                <a:cs typeface="Arial"/>
              </a:defRPr>
            </a:pPr>
            <a:r>
              <a:rPr sz="825">
                <a:solidFill>
                  <a:srgbClr val="263845"/>
                </a:solidFill>
                <a:latin typeface="Arial"/>
                <a:ea typeface="Arial"/>
                <a:cs typeface="Arial"/>
              </a:rPr>
              <a:t>literature</a:t>
            </a:r>
          </a:p>
          <a:p>
            <a:pPr algn="ctr">
              <a:defRPr sz="825">
                <a:solidFill>
                  <a:srgbClr val="263845"/>
                </a:solidFill>
                <a:latin typeface="Arial"/>
                <a:ea typeface="Arial"/>
                <a:cs typeface="Arial"/>
              </a:defRPr>
            </a:pPr>
            <a:r>
              <a:rPr sz="825">
                <a:solidFill>
                  <a:srgbClr val="263845"/>
                </a:solidFill>
                <a:latin typeface="Arial"/>
                <a:ea typeface="Arial"/>
                <a:cs typeface="Arial"/>
              </a:rPr>
              <a:t>final RQ</a:t>
            </a:r>
          </a:p>
        </p:txBody>
      </p:sp>
      <p:sp>
        <p:nvSpPr>
          <p:cNvPr id="9" name="Rectangle 8">
            <a:extLst>
              <a:ext uri="{FF2B5EF4-FFF2-40B4-BE49-F238E27FC236}">
                <a16:creationId xmlns:a16="http://schemas.microsoft.com/office/drawing/2014/main" id="{16921898-0AD8-4116-BFC7-BB46BC6F396C}"/>
              </a:ext>
            </a:extLst>
          </p:cNvPr>
          <p:cNvSpPr>
            <a:spLocks noGrp="1"/>
          </p:cNvSpPr>
          <p:nvPr/>
        </p:nvSpPr>
        <p:spPr>
          <a:xfrm>
            <a:off x="714375" y="2571750"/>
            <a:ext cx="1047750" cy="171450"/>
          </a:xfrm>
          <a:prstGeom prst="rect">
            <a:avLst/>
          </a:prstGeom>
        </p:spPr>
        <p:txBody>
          <a:bodyPr lIns="0" tIns="0" rIns="0" bIns="0"/>
          <a:lstStyle/>
          <a:p>
            <a:pPr algn="ctr">
              <a:defRPr sz="713" b="1">
                <a:solidFill>
                  <a:srgbClr val="8DB600"/>
                </a:solidFill>
                <a:latin typeface="Arial"/>
                <a:ea typeface="Arial"/>
                <a:cs typeface="Arial"/>
              </a:defRPr>
            </a:pPr>
            <a:r>
              <a:rPr sz="713" b="1">
                <a:solidFill>
                  <a:srgbClr val="8DB600"/>
                </a:solidFill>
                <a:latin typeface="Arial"/>
                <a:ea typeface="Arial"/>
                <a:cs typeface="Arial"/>
              </a:rPr>
              <a:t>done / draft</a:t>
            </a:r>
          </a:p>
        </p:txBody>
      </p:sp>
      <p:sp>
        <p:nvSpPr>
          <p:cNvPr id="10" name="Rectangle 9">
            <a:extLst>
              <a:ext uri="{FF2B5EF4-FFF2-40B4-BE49-F238E27FC236}">
                <a16:creationId xmlns:a16="http://schemas.microsoft.com/office/drawing/2014/main" id="{F1BEF3EC-64BC-4B6B-AF97-568B26752DA6}"/>
              </a:ext>
            </a:extLst>
          </p:cNvPr>
          <p:cNvSpPr>
            <a:spLocks noGrp="1"/>
          </p:cNvSpPr>
          <p:nvPr/>
        </p:nvSpPr>
        <p:spPr>
          <a:xfrm>
            <a:off x="2457450" y="2181225"/>
            <a:ext cx="171450" cy="171450"/>
          </a:xfrm>
          <a:prstGeom prst="rect">
            <a:avLst/>
          </a:prstGeom>
          <a:solidFill>
            <a:srgbClr val="8DB600"/>
          </a:solidFill>
          <a:ln w="11430">
            <a:solidFill>
              <a:srgbClr val="8DB600"/>
            </a:solidFill>
          </a:ln>
        </p:spPr>
      </p:sp>
      <p:sp>
        <p:nvSpPr>
          <p:cNvPr id="11" name="Rectangle 10">
            <a:extLst>
              <a:ext uri="{FF2B5EF4-FFF2-40B4-BE49-F238E27FC236}">
                <a16:creationId xmlns:a16="http://schemas.microsoft.com/office/drawing/2014/main" id="{CAE4B081-8839-4E62-B093-C0A1D3FCA50A}"/>
              </a:ext>
            </a:extLst>
          </p:cNvPr>
          <p:cNvSpPr>
            <a:spLocks noGrp="1"/>
          </p:cNvSpPr>
          <p:nvPr/>
        </p:nvSpPr>
        <p:spPr>
          <a:xfrm>
            <a:off x="2000250" y="1619250"/>
            <a:ext cx="1047750" cy="209550"/>
          </a:xfrm>
          <a:prstGeom prst="rect">
            <a:avLst/>
          </a:prstGeom>
        </p:spPr>
        <p:txBody>
          <a:bodyPr lIns="0" tIns="0" rIns="0" bIns="0"/>
          <a:lstStyle/>
          <a:p>
            <a:pPr algn="ctr">
              <a:defRPr sz="975" b="1">
                <a:solidFill>
                  <a:srgbClr val="003A61"/>
                </a:solidFill>
                <a:latin typeface="Arial"/>
                <a:ea typeface="Arial"/>
                <a:cs typeface="Arial"/>
              </a:defRPr>
            </a:pPr>
            <a:r>
              <a:rPr lang="en-US" sz="975" b="1" dirty="0">
                <a:solidFill>
                  <a:srgbClr val="003A61"/>
                </a:solidFill>
                <a:latin typeface="Arial"/>
                <a:ea typeface="Arial"/>
                <a:cs typeface="Arial"/>
              </a:rPr>
              <a:t>02/2026</a:t>
            </a:r>
          </a:p>
        </p:txBody>
      </p:sp>
      <p:sp>
        <p:nvSpPr>
          <p:cNvPr id="12" name="Rectangle 11">
            <a:extLst>
              <a:ext uri="{FF2B5EF4-FFF2-40B4-BE49-F238E27FC236}">
                <a16:creationId xmlns:a16="http://schemas.microsoft.com/office/drawing/2014/main" id="{E8F0A588-3D48-4DD6-BBC1-9501B3DB79E8}"/>
              </a:ext>
            </a:extLst>
          </p:cNvPr>
          <p:cNvSpPr>
            <a:spLocks noGrp="1"/>
          </p:cNvSpPr>
          <p:nvPr/>
        </p:nvSpPr>
        <p:spPr>
          <a:xfrm>
            <a:off x="2000250" y="1885950"/>
            <a:ext cx="1047750" cy="419100"/>
          </a:xfrm>
          <a:prstGeom prst="rect">
            <a:avLst/>
          </a:prstGeom>
        </p:spPr>
        <p:txBody>
          <a:bodyPr lIns="0" tIns="0" rIns="0" bIns="0"/>
          <a:lstStyle/>
          <a:p>
            <a:pPr algn="ctr">
              <a:defRPr sz="825">
                <a:solidFill>
                  <a:srgbClr val="263845"/>
                </a:solidFill>
                <a:latin typeface="Arial"/>
                <a:ea typeface="Arial"/>
                <a:cs typeface="Arial"/>
              </a:defRPr>
            </a:pPr>
            <a:r>
              <a:rPr sz="825">
                <a:solidFill>
                  <a:srgbClr val="263845"/>
                </a:solidFill>
                <a:latin typeface="Arial"/>
                <a:ea typeface="Arial"/>
                <a:cs typeface="Arial"/>
              </a:rPr>
              <a:t>stimuli</a:t>
            </a:r>
          </a:p>
          <a:p>
            <a:pPr algn="ctr">
              <a:defRPr sz="825">
                <a:solidFill>
                  <a:srgbClr val="263845"/>
                </a:solidFill>
                <a:latin typeface="Arial"/>
                <a:ea typeface="Arial"/>
                <a:cs typeface="Arial"/>
              </a:defRPr>
            </a:pPr>
            <a:r>
              <a:rPr sz="825">
                <a:solidFill>
                  <a:srgbClr val="263845"/>
                </a:solidFill>
                <a:latin typeface="Arial"/>
                <a:ea typeface="Arial"/>
                <a:cs typeface="Arial"/>
              </a:rPr>
              <a:t>pseudowords</a:t>
            </a:r>
          </a:p>
        </p:txBody>
      </p:sp>
      <p:sp>
        <p:nvSpPr>
          <p:cNvPr id="13" name="Rectangle 12">
            <a:extLst>
              <a:ext uri="{FF2B5EF4-FFF2-40B4-BE49-F238E27FC236}">
                <a16:creationId xmlns:a16="http://schemas.microsoft.com/office/drawing/2014/main" id="{84F5F570-36A5-4654-8351-B54F4EE73E2B}"/>
              </a:ext>
            </a:extLst>
          </p:cNvPr>
          <p:cNvSpPr>
            <a:spLocks noGrp="1"/>
          </p:cNvSpPr>
          <p:nvPr/>
        </p:nvSpPr>
        <p:spPr>
          <a:xfrm>
            <a:off x="2000250" y="2571750"/>
            <a:ext cx="1047750" cy="171450"/>
          </a:xfrm>
          <a:prstGeom prst="rect">
            <a:avLst/>
          </a:prstGeom>
        </p:spPr>
        <p:txBody>
          <a:bodyPr lIns="0" tIns="0" rIns="0" bIns="0"/>
          <a:lstStyle/>
          <a:p>
            <a:pPr algn="ctr">
              <a:defRPr sz="713" b="1">
                <a:solidFill>
                  <a:srgbClr val="8DB600"/>
                </a:solidFill>
                <a:latin typeface="Arial"/>
                <a:ea typeface="Arial"/>
                <a:cs typeface="Arial"/>
              </a:defRPr>
            </a:pPr>
            <a:r>
              <a:rPr sz="713" b="1">
                <a:solidFill>
                  <a:srgbClr val="8DB600"/>
                </a:solidFill>
                <a:latin typeface="Arial"/>
                <a:ea typeface="Arial"/>
                <a:cs typeface="Arial"/>
              </a:rPr>
              <a:t>done / draft</a:t>
            </a:r>
          </a:p>
        </p:txBody>
      </p:sp>
      <p:sp>
        <p:nvSpPr>
          <p:cNvPr id="14" name="Rectangle 13">
            <a:extLst>
              <a:ext uri="{FF2B5EF4-FFF2-40B4-BE49-F238E27FC236}">
                <a16:creationId xmlns:a16="http://schemas.microsoft.com/office/drawing/2014/main" id="{1D0C7F5B-8897-464E-913A-66C243593064}"/>
              </a:ext>
            </a:extLst>
          </p:cNvPr>
          <p:cNvSpPr>
            <a:spLocks noGrp="1"/>
          </p:cNvSpPr>
          <p:nvPr/>
        </p:nvSpPr>
        <p:spPr>
          <a:xfrm>
            <a:off x="3743325" y="2181225"/>
            <a:ext cx="171450" cy="171450"/>
          </a:xfrm>
          <a:prstGeom prst="rect">
            <a:avLst/>
          </a:prstGeom>
          <a:solidFill>
            <a:srgbClr val="8DB600"/>
          </a:solidFill>
          <a:ln w="11430">
            <a:solidFill>
              <a:srgbClr val="8DB600"/>
            </a:solidFill>
          </a:ln>
        </p:spPr>
      </p:sp>
      <p:sp>
        <p:nvSpPr>
          <p:cNvPr id="15" name="Rectangle 14">
            <a:extLst>
              <a:ext uri="{FF2B5EF4-FFF2-40B4-BE49-F238E27FC236}">
                <a16:creationId xmlns:a16="http://schemas.microsoft.com/office/drawing/2014/main" id="{5D076E8B-929E-4AD9-A350-7C12391F0CF0}"/>
              </a:ext>
            </a:extLst>
          </p:cNvPr>
          <p:cNvSpPr>
            <a:spLocks noGrp="1"/>
          </p:cNvSpPr>
          <p:nvPr/>
        </p:nvSpPr>
        <p:spPr>
          <a:xfrm>
            <a:off x="3286125" y="1619250"/>
            <a:ext cx="1047750" cy="209550"/>
          </a:xfrm>
          <a:prstGeom prst="rect">
            <a:avLst/>
          </a:prstGeom>
        </p:spPr>
        <p:txBody>
          <a:bodyPr lIns="0" tIns="0" rIns="0" bIns="0"/>
          <a:lstStyle/>
          <a:p>
            <a:pPr algn="ctr">
              <a:defRPr sz="975" b="1">
                <a:solidFill>
                  <a:srgbClr val="003A61"/>
                </a:solidFill>
                <a:latin typeface="Arial"/>
                <a:ea typeface="Arial"/>
                <a:cs typeface="Arial"/>
              </a:defRPr>
            </a:pPr>
            <a:r>
              <a:rPr lang="en-US" sz="975" b="1" dirty="0">
                <a:solidFill>
                  <a:srgbClr val="003A61"/>
                </a:solidFill>
                <a:latin typeface="Arial"/>
                <a:ea typeface="Arial"/>
                <a:cs typeface="Arial"/>
              </a:rPr>
              <a:t>03/2026</a:t>
            </a:r>
          </a:p>
        </p:txBody>
      </p:sp>
      <p:sp>
        <p:nvSpPr>
          <p:cNvPr id="16" name="Rectangle 15">
            <a:extLst>
              <a:ext uri="{FF2B5EF4-FFF2-40B4-BE49-F238E27FC236}">
                <a16:creationId xmlns:a16="http://schemas.microsoft.com/office/drawing/2014/main" id="{030DC691-29B0-433E-B295-8B24FE8F1837}"/>
              </a:ext>
            </a:extLst>
          </p:cNvPr>
          <p:cNvSpPr>
            <a:spLocks noGrp="1"/>
          </p:cNvSpPr>
          <p:nvPr/>
        </p:nvSpPr>
        <p:spPr>
          <a:xfrm>
            <a:off x="3286125" y="1885950"/>
            <a:ext cx="1047750" cy="419100"/>
          </a:xfrm>
          <a:prstGeom prst="rect">
            <a:avLst/>
          </a:prstGeom>
        </p:spPr>
        <p:txBody>
          <a:bodyPr lIns="0" tIns="0" rIns="0" bIns="0"/>
          <a:lstStyle/>
          <a:p>
            <a:pPr algn="ctr">
              <a:defRPr sz="825">
                <a:solidFill>
                  <a:srgbClr val="263845"/>
                </a:solidFill>
                <a:latin typeface="Arial"/>
                <a:ea typeface="Arial"/>
                <a:cs typeface="Arial"/>
              </a:defRPr>
            </a:pPr>
            <a:r>
              <a:rPr sz="825">
                <a:solidFill>
                  <a:srgbClr val="263845"/>
                </a:solidFill>
                <a:latin typeface="Arial"/>
                <a:ea typeface="Arial"/>
                <a:cs typeface="Arial"/>
              </a:rPr>
              <a:t>PsychoPy /</a:t>
            </a:r>
          </a:p>
          <a:p>
            <a:pPr algn="ctr">
              <a:defRPr sz="825">
                <a:solidFill>
                  <a:srgbClr val="263845"/>
                </a:solidFill>
                <a:latin typeface="Arial"/>
                <a:ea typeface="Arial"/>
                <a:cs typeface="Arial"/>
              </a:defRPr>
            </a:pPr>
            <a:r>
              <a:rPr sz="825">
                <a:solidFill>
                  <a:srgbClr val="263845"/>
                </a:solidFill>
                <a:latin typeface="Arial"/>
                <a:ea typeface="Arial"/>
                <a:cs typeface="Arial"/>
              </a:rPr>
              <a:t>Pavlovia</a:t>
            </a:r>
          </a:p>
        </p:txBody>
      </p:sp>
      <p:sp>
        <p:nvSpPr>
          <p:cNvPr id="17" name="Rectangle 16">
            <a:extLst>
              <a:ext uri="{FF2B5EF4-FFF2-40B4-BE49-F238E27FC236}">
                <a16:creationId xmlns:a16="http://schemas.microsoft.com/office/drawing/2014/main" id="{02DFE63B-970E-42FE-906D-EF6A38EBBB84}"/>
              </a:ext>
            </a:extLst>
          </p:cNvPr>
          <p:cNvSpPr>
            <a:spLocks noGrp="1"/>
          </p:cNvSpPr>
          <p:nvPr/>
        </p:nvSpPr>
        <p:spPr>
          <a:xfrm>
            <a:off x="3286125" y="2571750"/>
            <a:ext cx="1047750" cy="171450"/>
          </a:xfrm>
          <a:prstGeom prst="rect">
            <a:avLst/>
          </a:prstGeom>
        </p:spPr>
        <p:txBody>
          <a:bodyPr lIns="0" tIns="0" rIns="0" bIns="0"/>
          <a:lstStyle/>
          <a:p>
            <a:pPr algn="ctr">
              <a:defRPr sz="713" b="1">
                <a:solidFill>
                  <a:srgbClr val="8DB600"/>
                </a:solidFill>
                <a:latin typeface="Arial"/>
                <a:ea typeface="Arial"/>
                <a:cs typeface="Arial"/>
              </a:defRPr>
            </a:pPr>
            <a:r>
              <a:rPr sz="713" b="1">
                <a:solidFill>
                  <a:srgbClr val="8DB600"/>
                </a:solidFill>
                <a:latin typeface="Arial"/>
                <a:ea typeface="Arial"/>
                <a:cs typeface="Arial"/>
              </a:rPr>
              <a:t>done / draft</a:t>
            </a:r>
          </a:p>
        </p:txBody>
      </p:sp>
      <p:sp>
        <p:nvSpPr>
          <p:cNvPr id="18" name="Rectangle 17">
            <a:extLst>
              <a:ext uri="{FF2B5EF4-FFF2-40B4-BE49-F238E27FC236}">
                <a16:creationId xmlns:a16="http://schemas.microsoft.com/office/drawing/2014/main" id="{9C10DB6C-4C03-4FB4-8B46-FC8040F02F1B}"/>
              </a:ext>
            </a:extLst>
          </p:cNvPr>
          <p:cNvSpPr>
            <a:spLocks noGrp="1"/>
          </p:cNvSpPr>
          <p:nvPr/>
        </p:nvSpPr>
        <p:spPr>
          <a:xfrm>
            <a:off x="5029200" y="2181225"/>
            <a:ext cx="171450" cy="171450"/>
          </a:xfrm>
          <a:prstGeom prst="rect">
            <a:avLst/>
          </a:prstGeom>
          <a:solidFill>
            <a:srgbClr val="8DB600"/>
          </a:solidFill>
          <a:ln w="11430">
            <a:solidFill>
              <a:srgbClr val="8DB600"/>
            </a:solidFill>
          </a:ln>
        </p:spPr>
      </p:sp>
      <p:sp>
        <p:nvSpPr>
          <p:cNvPr id="19" name="Rectangle 18">
            <a:extLst>
              <a:ext uri="{FF2B5EF4-FFF2-40B4-BE49-F238E27FC236}">
                <a16:creationId xmlns:a16="http://schemas.microsoft.com/office/drawing/2014/main" id="{92F35A77-8D82-4925-A231-D52B5B6197B3}"/>
              </a:ext>
            </a:extLst>
          </p:cNvPr>
          <p:cNvSpPr>
            <a:spLocks noGrp="1"/>
          </p:cNvSpPr>
          <p:nvPr/>
        </p:nvSpPr>
        <p:spPr>
          <a:xfrm>
            <a:off x="4572000" y="1619250"/>
            <a:ext cx="1047750" cy="209550"/>
          </a:xfrm>
          <a:prstGeom prst="rect">
            <a:avLst/>
          </a:prstGeom>
        </p:spPr>
        <p:txBody>
          <a:bodyPr lIns="0" tIns="0" rIns="0" bIns="0"/>
          <a:lstStyle/>
          <a:p>
            <a:pPr algn="ctr">
              <a:defRPr sz="975" b="1">
                <a:solidFill>
                  <a:srgbClr val="003A61"/>
                </a:solidFill>
                <a:latin typeface="Arial"/>
                <a:ea typeface="Arial"/>
                <a:cs typeface="Arial"/>
              </a:defRPr>
            </a:pPr>
            <a:r>
              <a:rPr lang="en-US" sz="975" b="1" dirty="0">
                <a:solidFill>
                  <a:srgbClr val="003A61"/>
                </a:solidFill>
                <a:latin typeface="Arial"/>
                <a:ea typeface="Arial"/>
                <a:cs typeface="Arial"/>
              </a:rPr>
              <a:t>04/2026</a:t>
            </a:r>
          </a:p>
        </p:txBody>
      </p:sp>
      <p:sp>
        <p:nvSpPr>
          <p:cNvPr id="20" name="Rectangle 19">
            <a:extLst>
              <a:ext uri="{FF2B5EF4-FFF2-40B4-BE49-F238E27FC236}">
                <a16:creationId xmlns:a16="http://schemas.microsoft.com/office/drawing/2014/main" id="{FA222BAD-BD9A-4839-B464-FB5F43A23DFB}"/>
              </a:ext>
            </a:extLst>
          </p:cNvPr>
          <p:cNvSpPr>
            <a:spLocks noGrp="1"/>
          </p:cNvSpPr>
          <p:nvPr/>
        </p:nvSpPr>
        <p:spPr>
          <a:xfrm>
            <a:off x="4572000" y="1885950"/>
            <a:ext cx="1047750" cy="419100"/>
          </a:xfrm>
          <a:prstGeom prst="rect">
            <a:avLst/>
          </a:prstGeom>
        </p:spPr>
        <p:txBody>
          <a:bodyPr lIns="0" tIns="0" rIns="0" bIns="0"/>
          <a:lstStyle/>
          <a:p>
            <a:pPr algn="ctr">
              <a:defRPr sz="825">
                <a:solidFill>
                  <a:srgbClr val="263845"/>
                </a:solidFill>
                <a:latin typeface="Arial"/>
                <a:ea typeface="Arial"/>
                <a:cs typeface="Arial"/>
              </a:defRPr>
            </a:pPr>
            <a:r>
              <a:rPr sz="825">
                <a:solidFill>
                  <a:srgbClr val="263845"/>
                </a:solidFill>
                <a:latin typeface="Arial"/>
                <a:ea typeface="Arial"/>
                <a:cs typeface="Arial"/>
              </a:rPr>
              <a:t>data</a:t>
            </a:r>
          </a:p>
          <a:p>
            <a:pPr algn="ctr">
              <a:defRPr sz="825">
                <a:solidFill>
                  <a:srgbClr val="263845"/>
                </a:solidFill>
                <a:latin typeface="Arial"/>
                <a:ea typeface="Arial"/>
                <a:cs typeface="Arial"/>
              </a:defRPr>
            </a:pPr>
            <a:r>
              <a:rPr sz="825">
                <a:solidFill>
                  <a:srgbClr val="263845"/>
                </a:solidFill>
                <a:latin typeface="Arial"/>
                <a:ea typeface="Arial"/>
                <a:cs typeface="Arial"/>
              </a:rPr>
              <a:t>collection</a:t>
            </a:r>
          </a:p>
        </p:txBody>
      </p:sp>
      <p:sp>
        <p:nvSpPr>
          <p:cNvPr id="21" name="Rectangle 20">
            <a:extLst>
              <a:ext uri="{FF2B5EF4-FFF2-40B4-BE49-F238E27FC236}">
                <a16:creationId xmlns:a16="http://schemas.microsoft.com/office/drawing/2014/main" id="{04A4F737-8917-4EEF-80B7-29943F103E92}"/>
              </a:ext>
            </a:extLst>
          </p:cNvPr>
          <p:cNvSpPr>
            <a:spLocks noGrp="1"/>
          </p:cNvSpPr>
          <p:nvPr/>
        </p:nvSpPr>
        <p:spPr>
          <a:xfrm>
            <a:off x="4572000" y="2571750"/>
            <a:ext cx="1047750" cy="171450"/>
          </a:xfrm>
          <a:prstGeom prst="rect">
            <a:avLst/>
          </a:prstGeom>
        </p:spPr>
        <p:txBody>
          <a:bodyPr lIns="0" tIns="0" rIns="0" bIns="0"/>
          <a:lstStyle/>
          <a:p>
            <a:pPr algn="ctr">
              <a:defRPr sz="713" b="1">
                <a:solidFill>
                  <a:srgbClr val="8DB600"/>
                </a:solidFill>
                <a:latin typeface="Arial"/>
                <a:ea typeface="Arial"/>
                <a:cs typeface="Arial"/>
              </a:defRPr>
            </a:pPr>
            <a:r>
              <a:rPr sz="713" b="1">
                <a:solidFill>
                  <a:srgbClr val="8DB600"/>
                </a:solidFill>
                <a:latin typeface="Arial"/>
                <a:ea typeface="Arial"/>
                <a:cs typeface="Arial"/>
              </a:rPr>
              <a:t>done / draft</a:t>
            </a:r>
          </a:p>
        </p:txBody>
      </p:sp>
      <p:sp>
        <p:nvSpPr>
          <p:cNvPr id="22" name="Rectangle 21">
            <a:extLst>
              <a:ext uri="{FF2B5EF4-FFF2-40B4-BE49-F238E27FC236}">
                <a16:creationId xmlns:a16="http://schemas.microsoft.com/office/drawing/2014/main" id="{A51D4B48-BEBC-45EF-8E19-9D32A0BF55E7}"/>
              </a:ext>
            </a:extLst>
          </p:cNvPr>
          <p:cNvSpPr>
            <a:spLocks noGrp="1"/>
          </p:cNvSpPr>
          <p:nvPr/>
        </p:nvSpPr>
        <p:spPr>
          <a:xfrm>
            <a:off x="6315075" y="2181225"/>
            <a:ext cx="171450" cy="171450"/>
          </a:xfrm>
          <a:prstGeom prst="rect">
            <a:avLst/>
          </a:prstGeom>
          <a:solidFill>
            <a:srgbClr val="8DB600"/>
          </a:solidFill>
          <a:ln w="11430">
            <a:solidFill>
              <a:srgbClr val="8DB600"/>
            </a:solidFill>
          </a:ln>
        </p:spPr>
      </p:sp>
      <p:sp>
        <p:nvSpPr>
          <p:cNvPr id="23" name="Rectangle 22">
            <a:extLst>
              <a:ext uri="{FF2B5EF4-FFF2-40B4-BE49-F238E27FC236}">
                <a16:creationId xmlns:a16="http://schemas.microsoft.com/office/drawing/2014/main" id="{E3A0B2D7-2922-4200-A914-C33F65880005}"/>
              </a:ext>
            </a:extLst>
          </p:cNvPr>
          <p:cNvSpPr>
            <a:spLocks noGrp="1"/>
          </p:cNvSpPr>
          <p:nvPr/>
        </p:nvSpPr>
        <p:spPr>
          <a:xfrm>
            <a:off x="5857875" y="1619250"/>
            <a:ext cx="1047750" cy="209550"/>
          </a:xfrm>
          <a:prstGeom prst="rect">
            <a:avLst/>
          </a:prstGeom>
        </p:spPr>
        <p:txBody>
          <a:bodyPr lIns="0" tIns="0" rIns="0" bIns="0"/>
          <a:lstStyle/>
          <a:p>
            <a:pPr algn="ctr">
              <a:defRPr sz="975" b="1">
                <a:solidFill>
                  <a:srgbClr val="003A61"/>
                </a:solidFill>
                <a:latin typeface="Arial"/>
                <a:ea typeface="Arial"/>
                <a:cs typeface="Arial"/>
              </a:defRPr>
            </a:pPr>
            <a:r>
              <a:rPr lang="en-US" sz="975" b="1" dirty="0">
                <a:solidFill>
                  <a:srgbClr val="003A61"/>
                </a:solidFill>
                <a:latin typeface="Arial"/>
                <a:ea typeface="Arial"/>
                <a:cs typeface="Arial"/>
              </a:rPr>
              <a:t>05/2026</a:t>
            </a:r>
          </a:p>
        </p:txBody>
      </p:sp>
      <p:sp>
        <p:nvSpPr>
          <p:cNvPr id="24" name="Rectangle 23">
            <a:extLst>
              <a:ext uri="{FF2B5EF4-FFF2-40B4-BE49-F238E27FC236}">
                <a16:creationId xmlns:a16="http://schemas.microsoft.com/office/drawing/2014/main" id="{AA8BF9D8-8700-4B7C-8A66-36C8F37620DF}"/>
              </a:ext>
            </a:extLst>
          </p:cNvPr>
          <p:cNvSpPr>
            <a:spLocks noGrp="1"/>
          </p:cNvSpPr>
          <p:nvPr/>
        </p:nvSpPr>
        <p:spPr>
          <a:xfrm>
            <a:off x="5857875" y="1885950"/>
            <a:ext cx="1047750" cy="419100"/>
          </a:xfrm>
          <a:prstGeom prst="rect">
            <a:avLst/>
          </a:prstGeom>
        </p:spPr>
        <p:txBody>
          <a:bodyPr lIns="0" tIns="0" rIns="0" bIns="0"/>
          <a:lstStyle/>
          <a:p>
            <a:pPr algn="ctr">
              <a:defRPr sz="825">
                <a:solidFill>
                  <a:srgbClr val="263845"/>
                </a:solidFill>
                <a:latin typeface="Arial"/>
                <a:ea typeface="Arial"/>
                <a:cs typeface="Arial"/>
              </a:defRPr>
            </a:pPr>
            <a:r>
              <a:rPr sz="825">
                <a:solidFill>
                  <a:srgbClr val="263845"/>
                </a:solidFill>
                <a:latin typeface="Arial"/>
                <a:ea typeface="Arial"/>
                <a:cs typeface="Arial"/>
              </a:rPr>
              <a:t>cleaning/QC</a:t>
            </a:r>
          </a:p>
          <a:p>
            <a:pPr algn="ctr">
              <a:defRPr sz="825">
                <a:solidFill>
                  <a:srgbClr val="263845"/>
                </a:solidFill>
                <a:latin typeface="Arial"/>
                <a:ea typeface="Arial"/>
                <a:cs typeface="Arial"/>
              </a:defRPr>
            </a:pPr>
            <a:r>
              <a:rPr sz="825">
                <a:solidFill>
                  <a:srgbClr val="263845"/>
                </a:solidFill>
                <a:latin typeface="Arial"/>
                <a:ea typeface="Arial"/>
                <a:cs typeface="Arial"/>
              </a:rPr>
              <a:t>R Markdown</a:t>
            </a:r>
          </a:p>
        </p:txBody>
      </p:sp>
      <p:sp>
        <p:nvSpPr>
          <p:cNvPr id="25" name="Rectangle 24">
            <a:extLst>
              <a:ext uri="{FF2B5EF4-FFF2-40B4-BE49-F238E27FC236}">
                <a16:creationId xmlns:a16="http://schemas.microsoft.com/office/drawing/2014/main" id="{E2056592-7C6E-481A-83AC-2E0D321B0515}"/>
              </a:ext>
            </a:extLst>
          </p:cNvPr>
          <p:cNvSpPr>
            <a:spLocks noGrp="1"/>
          </p:cNvSpPr>
          <p:nvPr/>
        </p:nvSpPr>
        <p:spPr>
          <a:xfrm>
            <a:off x="5857875" y="2571750"/>
            <a:ext cx="1047750" cy="171450"/>
          </a:xfrm>
          <a:prstGeom prst="rect">
            <a:avLst/>
          </a:prstGeom>
        </p:spPr>
        <p:txBody>
          <a:bodyPr lIns="0" tIns="0" rIns="0" bIns="0"/>
          <a:lstStyle/>
          <a:p>
            <a:pPr algn="ctr">
              <a:defRPr sz="713" b="1">
                <a:solidFill>
                  <a:srgbClr val="8DB600"/>
                </a:solidFill>
                <a:latin typeface="Arial"/>
                <a:ea typeface="Arial"/>
                <a:cs typeface="Arial"/>
              </a:defRPr>
            </a:pPr>
            <a:r>
              <a:rPr sz="713" b="1">
                <a:solidFill>
                  <a:srgbClr val="8DB600"/>
                </a:solidFill>
                <a:latin typeface="Arial"/>
                <a:ea typeface="Arial"/>
                <a:cs typeface="Arial"/>
              </a:rPr>
              <a:t>done / draft</a:t>
            </a:r>
          </a:p>
        </p:txBody>
      </p:sp>
      <p:sp>
        <p:nvSpPr>
          <p:cNvPr id="26" name="Rectangle 25">
            <a:extLst>
              <a:ext uri="{FF2B5EF4-FFF2-40B4-BE49-F238E27FC236}">
                <a16:creationId xmlns:a16="http://schemas.microsoft.com/office/drawing/2014/main" id="{86E4D590-E93B-41E9-B1D3-D7ACA87C7F03}"/>
              </a:ext>
            </a:extLst>
          </p:cNvPr>
          <p:cNvSpPr>
            <a:spLocks noGrp="1"/>
          </p:cNvSpPr>
          <p:nvPr/>
        </p:nvSpPr>
        <p:spPr>
          <a:xfrm>
            <a:off x="7600950" y="2181225"/>
            <a:ext cx="171450" cy="171450"/>
          </a:xfrm>
          <a:prstGeom prst="rect">
            <a:avLst/>
          </a:prstGeom>
          <a:solidFill>
            <a:srgbClr val="FFFFFF"/>
          </a:solidFill>
          <a:ln w="11430">
            <a:solidFill>
              <a:srgbClr val="8DB600"/>
            </a:solidFill>
          </a:ln>
        </p:spPr>
      </p:sp>
      <p:sp>
        <p:nvSpPr>
          <p:cNvPr id="27" name="Rectangle 26">
            <a:extLst>
              <a:ext uri="{FF2B5EF4-FFF2-40B4-BE49-F238E27FC236}">
                <a16:creationId xmlns:a16="http://schemas.microsoft.com/office/drawing/2014/main" id="{50EE3DF6-2D5F-4EED-AD73-749B7223C5EB}"/>
              </a:ext>
            </a:extLst>
          </p:cNvPr>
          <p:cNvSpPr>
            <a:spLocks noGrp="1"/>
          </p:cNvSpPr>
          <p:nvPr/>
        </p:nvSpPr>
        <p:spPr>
          <a:xfrm>
            <a:off x="7143750" y="1619250"/>
            <a:ext cx="1047750" cy="209550"/>
          </a:xfrm>
          <a:prstGeom prst="rect">
            <a:avLst/>
          </a:prstGeom>
        </p:spPr>
        <p:txBody>
          <a:bodyPr lIns="0" tIns="0" rIns="0" bIns="0"/>
          <a:lstStyle/>
          <a:p>
            <a:pPr algn="ctr">
              <a:defRPr sz="975" b="1">
                <a:solidFill>
                  <a:srgbClr val="003A61"/>
                </a:solidFill>
                <a:latin typeface="Arial"/>
                <a:ea typeface="Arial"/>
                <a:cs typeface="Arial"/>
              </a:defRPr>
            </a:pPr>
            <a:r>
              <a:rPr lang="en-US" sz="975" b="1" dirty="0">
                <a:solidFill>
                  <a:srgbClr val="003A61"/>
                </a:solidFill>
                <a:latin typeface="Arial"/>
                <a:ea typeface="Arial"/>
                <a:cs typeface="Arial"/>
              </a:rPr>
              <a:t>06/2026</a:t>
            </a:r>
          </a:p>
        </p:txBody>
      </p:sp>
      <p:sp>
        <p:nvSpPr>
          <p:cNvPr id="28" name="Rectangle 27">
            <a:extLst>
              <a:ext uri="{FF2B5EF4-FFF2-40B4-BE49-F238E27FC236}">
                <a16:creationId xmlns:a16="http://schemas.microsoft.com/office/drawing/2014/main" id="{84EBC589-BA79-414C-B4F9-B727646D3654}"/>
              </a:ext>
            </a:extLst>
          </p:cNvPr>
          <p:cNvSpPr>
            <a:spLocks noGrp="1"/>
          </p:cNvSpPr>
          <p:nvPr/>
        </p:nvSpPr>
        <p:spPr>
          <a:xfrm>
            <a:off x="7143750" y="1885950"/>
            <a:ext cx="1047750" cy="419100"/>
          </a:xfrm>
          <a:prstGeom prst="rect">
            <a:avLst/>
          </a:prstGeom>
        </p:spPr>
        <p:txBody>
          <a:bodyPr lIns="0" tIns="0" rIns="0" bIns="0"/>
          <a:lstStyle/>
          <a:p>
            <a:pPr algn="ctr">
              <a:defRPr sz="825">
                <a:solidFill>
                  <a:srgbClr val="263845"/>
                </a:solidFill>
                <a:latin typeface="Arial"/>
                <a:ea typeface="Arial"/>
                <a:cs typeface="Arial"/>
              </a:defRPr>
            </a:pPr>
            <a:r>
              <a:rPr sz="825">
                <a:solidFill>
                  <a:srgbClr val="263845"/>
                </a:solidFill>
                <a:latin typeface="Arial"/>
                <a:ea typeface="Arial"/>
                <a:cs typeface="Arial"/>
              </a:rPr>
              <a:t>final models</a:t>
            </a:r>
          </a:p>
          <a:p>
            <a:pPr algn="ctr">
              <a:defRPr sz="825">
                <a:solidFill>
                  <a:srgbClr val="263845"/>
                </a:solidFill>
                <a:latin typeface="Arial"/>
                <a:ea typeface="Arial"/>
                <a:cs typeface="Arial"/>
              </a:defRPr>
            </a:pPr>
            <a:r>
              <a:rPr sz="825">
                <a:solidFill>
                  <a:srgbClr val="263845"/>
                </a:solidFill>
                <a:latin typeface="Arial"/>
                <a:ea typeface="Arial"/>
                <a:cs typeface="Arial"/>
              </a:rPr>
              <a:t>write-up</a:t>
            </a:r>
          </a:p>
        </p:txBody>
      </p:sp>
      <p:sp>
        <p:nvSpPr>
          <p:cNvPr id="29" name="Rectangle 28">
            <a:extLst>
              <a:ext uri="{FF2B5EF4-FFF2-40B4-BE49-F238E27FC236}">
                <a16:creationId xmlns:a16="http://schemas.microsoft.com/office/drawing/2014/main" id="{4B058EA9-4A71-4AD9-97C2-D556CF7D479A}"/>
              </a:ext>
            </a:extLst>
          </p:cNvPr>
          <p:cNvSpPr>
            <a:spLocks noGrp="1"/>
          </p:cNvSpPr>
          <p:nvPr/>
        </p:nvSpPr>
        <p:spPr>
          <a:xfrm>
            <a:off x="7143750" y="2571750"/>
            <a:ext cx="1047750" cy="171450"/>
          </a:xfrm>
          <a:prstGeom prst="rect">
            <a:avLst/>
          </a:prstGeom>
        </p:spPr>
        <p:txBody>
          <a:bodyPr lIns="0" tIns="0" rIns="0" bIns="0"/>
          <a:lstStyle/>
          <a:p>
            <a:pPr algn="ctr">
              <a:defRPr sz="713" b="1">
                <a:solidFill>
                  <a:srgbClr val="63717A"/>
                </a:solidFill>
                <a:latin typeface="Arial"/>
                <a:ea typeface="Arial"/>
                <a:cs typeface="Arial"/>
              </a:defRPr>
            </a:pPr>
            <a:r>
              <a:rPr sz="713" b="1">
                <a:solidFill>
                  <a:srgbClr val="63717A"/>
                </a:solidFill>
                <a:latin typeface="Arial"/>
                <a:ea typeface="Arial"/>
                <a:cs typeface="Arial"/>
              </a:rPr>
              <a:t>next</a:t>
            </a:r>
          </a:p>
        </p:txBody>
      </p:sp>
      <p:sp>
        <p:nvSpPr>
          <p:cNvPr id="30" name="Rectangle 29">
            <a:extLst>
              <a:ext uri="{FF2B5EF4-FFF2-40B4-BE49-F238E27FC236}">
                <a16:creationId xmlns:a16="http://schemas.microsoft.com/office/drawing/2014/main" id="{82072C1E-0174-4117-9B25-42D77D297AC2}"/>
              </a:ext>
            </a:extLst>
          </p:cNvPr>
          <p:cNvSpPr>
            <a:spLocks noGrp="1"/>
          </p:cNvSpPr>
          <p:nvPr/>
        </p:nvSpPr>
        <p:spPr>
          <a:xfrm>
            <a:off x="1238250" y="3333750"/>
            <a:ext cx="6048375" cy="666750"/>
          </a:xfrm>
          <a:prstGeom prst="rect">
            <a:avLst/>
          </a:prstGeom>
          <a:solidFill>
            <a:srgbClr val="EEF4F8"/>
          </a:solidFill>
        </p:spPr>
        <p:txBody>
          <a:bodyPr lIns="0" tIns="0" rIns="0" bIns="0"/>
          <a:lstStyle/>
          <a:p>
            <a:r>
              <a:rPr sz="100">
                <a:solidFill>
                  <a:srgbClr val="EEF4F8"/>
                </a:solidFill>
                <a:latin typeface="Arial"/>
                <a:ea typeface="Arial"/>
                <a:cs typeface="Arial"/>
              </a:rPr>
              <a:t>.</a:t>
            </a:r>
          </a:p>
        </p:txBody>
      </p:sp>
      <p:sp>
        <p:nvSpPr>
          <p:cNvPr id="31" name="Rectangle 30">
            <a:extLst>
              <a:ext uri="{FF2B5EF4-FFF2-40B4-BE49-F238E27FC236}">
                <a16:creationId xmlns:a16="http://schemas.microsoft.com/office/drawing/2014/main" id="{D1EF703A-A089-4347-8C05-391372BE4616}"/>
              </a:ext>
            </a:extLst>
          </p:cNvPr>
          <p:cNvSpPr>
            <a:spLocks noGrp="1"/>
          </p:cNvSpPr>
          <p:nvPr/>
        </p:nvSpPr>
        <p:spPr>
          <a:xfrm>
            <a:off x="1352550" y="3429000"/>
            <a:ext cx="5819775" cy="190500"/>
          </a:xfrm>
          <a:prstGeom prst="rect">
            <a:avLst/>
          </a:prstGeom>
        </p:spPr>
        <p:txBody>
          <a:bodyPr lIns="0" tIns="0" rIns="0" bIns="0"/>
          <a:lstStyle/>
          <a:p>
            <a:r>
              <a:rPr sz="900" b="1">
                <a:solidFill>
                  <a:srgbClr val="003A61"/>
                </a:solidFill>
                <a:latin typeface="Arial"/>
                <a:ea typeface="Arial"/>
                <a:cs typeface="Arial"/>
              </a:rPr>
              <a:t>Current position</a:t>
            </a:r>
          </a:p>
        </p:txBody>
      </p:sp>
      <p:sp>
        <p:nvSpPr>
          <p:cNvPr id="32" name="Rectangle 31">
            <a:extLst>
              <a:ext uri="{FF2B5EF4-FFF2-40B4-BE49-F238E27FC236}">
                <a16:creationId xmlns:a16="http://schemas.microsoft.com/office/drawing/2014/main" id="{EE4E8DE7-A691-42BC-8D07-A12CBE355908}"/>
              </a:ext>
            </a:extLst>
          </p:cNvPr>
          <p:cNvSpPr>
            <a:spLocks noGrp="1"/>
          </p:cNvSpPr>
          <p:nvPr/>
        </p:nvSpPr>
        <p:spPr>
          <a:xfrm>
            <a:off x="1352550" y="3657600"/>
            <a:ext cx="5819775" cy="266700"/>
          </a:xfrm>
          <a:prstGeom prst="rect">
            <a:avLst/>
          </a:prstGeom>
        </p:spPr>
        <p:txBody>
          <a:bodyPr lIns="0" tIns="0" rIns="0" bIns="0"/>
          <a:lstStyle/>
          <a:p>
            <a:r>
              <a:rPr sz="975">
                <a:solidFill>
                  <a:srgbClr val="263845"/>
                </a:solidFill>
                <a:latin typeface="Arial"/>
                <a:ea typeface="Arial"/>
                <a:cs typeface="Arial"/>
              </a:rPr>
              <a:t>Data collection, cleaning, first R Markdown analysis, figures, tables, and diagnostics are ready. Final interpretation and write-up still need review.</a:t>
            </a:r>
          </a:p>
        </p:txBody>
      </p:sp>
    </p:spTree>
    <p:extLst>
      <p:ext uri="{BB962C8B-B14F-4D97-AF65-F5344CB8AC3E}">
        <p14:creationId xmlns:p14="http://schemas.microsoft.com/office/powerpoint/2010/main" val="18262340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FE90D0-ECDE-3863-6D8C-3D587E534171}"/>
              </a:ext>
            </a:extLst>
          </p:cNvPr>
          <p:cNvSpPr>
            <a:spLocks noGrp="1"/>
          </p:cNvSpPr>
          <p:nvPr>
            <p:ph type="ftr" idx="12"/>
          </p:nvPr>
        </p:nvSpPr>
        <p:spPr/>
        <p:txBody>
          <a:bodyPr/>
          <a:lstStyle/>
          <a:p>
            <a:r>
              <a:rPr lang="en-US" dirty="0"/>
              <a:t>Vietnamese Lexical decision task </a:t>
            </a:r>
            <a:r>
              <a:rPr lang="en-US" dirty="0" err="1"/>
              <a:t>github</a:t>
            </a:r>
            <a:endParaRPr lang="en-US" dirty="0"/>
          </a:p>
        </p:txBody>
      </p:sp>
      <p:sp>
        <p:nvSpPr>
          <p:cNvPr id="3" name="Slide Number Placeholder 2">
            <a:extLst>
              <a:ext uri="{FF2B5EF4-FFF2-40B4-BE49-F238E27FC236}">
                <a16:creationId xmlns:a16="http://schemas.microsoft.com/office/drawing/2014/main" id="{A2E91638-6E93-C783-1515-CF12DAE9821B}"/>
              </a:ext>
            </a:extLst>
          </p:cNvPr>
          <p:cNvSpPr>
            <a:spLocks noGrp="1"/>
          </p:cNvSpPr>
          <p:nvPr>
            <p:ph type="sldNum" idx="13"/>
          </p:nvPr>
        </p:nvSpPr>
        <p:spPr/>
        <p:txBody>
          <a:bodyPr/>
          <a:lstStyle/>
          <a:p>
            <a:fld id="{6C8FC03C-C266-4645-ABC5-645062898383}" type="slidenum">
              <a:rPr lang="en-US" smtClean="0"/>
              <a:t>27</a:t>
            </a:fld>
            <a:endParaRPr lang="en-US" dirty="0"/>
          </a:p>
        </p:txBody>
      </p:sp>
      <p:pic>
        <p:nvPicPr>
          <p:cNvPr id="7" name="Content Placeholder 6">
            <a:extLst>
              <a:ext uri="{FF2B5EF4-FFF2-40B4-BE49-F238E27FC236}">
                <a16:creationId xmlns:a16="http://schemas.microsoft.com/office/drawing/2014/main" id="{E27BB9C1-08C9-E144-398D-705BD5830C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2909" y="917575"/>
            <a:ext cx="7363508" cy="3367088"/>
          </a:xfrm>
          <a:prstGeom prst="rect">
            <a:avLst/>
          </a:prstGeom>
        </p:spPr>
      </p:pic>
      <p:sp>
        <p:nvSpPr>
          <p:cNvPr id="9" name="TextBox 8">
            <a:extLst>
              <a:ext uri="{FF2B5EF4-FFF2-40B4-BE49-F238E27FC236}">
                <a16:creationId xmlns:a16="http://schemas.microsoft.com/office/drawing/2014/main" id="{ACF86EBE-0335-BDF2-A089-C3C1DBDA1071}"/>
              </a:ext>
            </a:extLst>
          </p:cNvPr>
          <p:cNvSpPr txBox="1"/>
          <p:nvPr/>
        </p:nvSpPr>
        <p:spPr>
          <a:xfrm>
            <a:off x="576000" y="283500"/>
            <a:ext cx="8680567" cy="369332"/>
          </a:xfrm>
          <a:prstGeom prst="rect">
            <a:avLst/>
          </a:prstGeom>
          <a:noFill/>
        </p:spPr>
        <p:txBody>
          <a:bodyPr wrap="square">
            <a:spAutoFit/>
          </a:bodyPr>
          <a:lstStyle/>
          <a:p>
            <a:r>
              <a:rPr lang="en-US" dirty="0"/>
              <a:t>https://github.com/DangNhatQuang210801/vietnamese-lexical-decision-task.git</a:t>
            </a:r>
          </a:p>
        </p:txBody>
      </p:sp>
    </p:spTree>
    <p:extLst>
      <p:ext uri="{BB962C8B-B14F-4D97-AF65-F5344CB8AC3E}">
        <p14:creationId xmlns:p14="http://schemas.microsoft.com/office/powerpoint/2010/main" val="1152623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2891635-DCDA-4DE2-8A53-C137366887EF}"/>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EF48CC3F-C63C-4ACE-BFE9-E9573C1C9FC3}"/>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28 | REFERENCES I</a:t>
            </a:r>
          </a:p>
        </p:txBody>
      </p:sp>
      <p:sp>
        <p:nvSpPr>
          <p:cNvPr id="3" name="Rectangle 2">
            <a:extLst>
              <a:ext uri="{FF2B5EF4-FFF2-40B4-BE49-F238E27FC236}">
                <a16:creationId xmlns:a16="http://schemas.microsoft.com/office/drawing/2014/main" id="{5D9FB35E-EDAB-4B38-828B-8F208CB4020A}"/>
              </a:ext>
            </a:extLst>
          </p:cNvPr>
          <p:cNvSpPr>
            <a:spLocks noGrp="1"/>
          </p:cNvSpPr>
          <p:nvPr/>
        </p:nvSpPr>
        <p:spPr>
          <a:xfrm>
            <a:off x="476250" y="542925"/>
            <a:ext cx="7429500" cy="514350"/>
          </a:xfrm>
          <a:prstGeom prst="rect">
            <a:avLst/>
          </a:prstGeom>
        </p:spPr>
        <p:txBody>
          <a:bodyPr lIns="0" tIns="0" rIns="0" bIns="0"/>
          <a:lstStyle/>
          <a:p>
            <a:r>
              <a:rPr sz="2175" b="1">
                <a:solidFill>
                  <a:srgbClr val="003A61"/>
                </a:solidFill>
                <a:latin typeface="Arial"/>
                <a:ea typeface="Arial"/>
                <a:cs typeface="Arial"/>
              </a:rPr>
              <a:t>Selected sources for orthography, lexical decision, frequency, and methods.</a:t>
            </a:r>
          </a:p>
        </p:txBody>
      </p:sp>
      <p:sp>
        <p:nvSpPr>
          <p:cNvPr id="4" name="Rectangle 3">
            <a:extLst>
              <a:ext uri="{FF2B5EF4-FFF2-40B4-BE49-F238E27FC236}">
                <a16:creationId xmlns:a16="http://schemas.microsoft.com/office/drawing/2014/main" id="{86CDD25B-06D1-47AE-88C9-28F0F3E949F6}"/>
              </a:ext>
            </a:extLst>
          </p:cNvPr>
          <p:cNvSpPr>
            <a:spLocks noGrp="1"/>
          </p:cNvSpPr>
          <p:nvPr/>
        </p:nvSpPr>
        <p:spPr>
          <a:xfrm>
            <a:off x="476250" y="4762500"/>
            <a:ext cx="2571750" cy="142875"/>
          </a:xfrm>
          <a:prstGeom prst="rect">
            <a:avLst/>
          </a:prstGeom>
        </p:spPr>
        <p:txBody>
          <a:bodyPr lIns="0" tIns="0" rIns="0" bIns="0"/>
          <a:lstStyle/>
          <a:p>
            <a:r>
              <a:rPr sz="638">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DDD4161B-5695-4F02-957C-4A194FE7443B}"/>
              </a:ext>
            </a:extLst>
          </p:cNvPr>
          <p:cNvSpPr>
            <a:spLocks noGrp="1"/>
          </p:cNvSpPr>
          <p:nvPr/>
        </p:nvSpPr>
        <p:spPr>
          <a:xfrm>
            <a:off x="552450" y="1333500"/>
            <a:ext cx="3714750" cy="552450"/>
          </a:xfrm>
          <a:prstGeom prst="rect">
            <a:avLst/>
          </a:prstGeom>
        </p:spPr>
        <p:txBody>
          <a:bodyPr lIns="0" tIns="0" rIns="0" bIns="0"/>
          <a:lstStyle/>
          <a:p>
            <a:r>
              <a:rPr sz="1000" dirty="0" err="1">
                <a:solidFill>
                  <a:srgbClr val="263845"/>
                </a:solidFill>
                <a:latin typeface="Arial"/>
                <a:ea typeface="Arial"/>
                <a:cs typeface="Arial"/>
              </a:rPr>
              <a:t>Baayen</a:t>
            </a:r>
            <a:r>
              <a:rPr sz="1000" dirty="0">
                <a:solidFill>
                  <a:srgbClr val="263845"/>
                </a:solidFill>
                <a:latin typeface="Arial"/>
                <a:ea typeface="Arial"/>
                <a:cs typeface="Arial"/>
              </a:rPr>
              <a:t>, R. H. (2008). Analyzing linguistic data. Cambridge University Press. https://doi.org/10.1017/CBO9780511801686</a:t>
            </a:r>
          </a:p>
        </p:txBody>
      </p:sp>
      <p:sp>
        <p:nvSpPr>
          <p:cNvPr id="6" name="Rectangle 5">
            <a:extLst>
              <a:ext uri="{FF2B5EF4-FFF2-40B4-BE49-F238E27FC236}">
                <a16:creationId xmlns:a16="http://schemas.microsoft.com/office/drawing/2014/main" id="{A6089C06-5070-4FB1-94E4-458E444C979A}"/>
              </a:ext>
            </a:extLst>
          </p:cNvPr>
          <p:cNvSpPr>
            <a:spLocks noGrp="1"/>
          </p:cNvSpPr>
          <p:nvPr/>
        </p:nvSpPr>
        <p:spPr>
          <a:xfrm>
            <a:off x="552450" y="1828800"/>
            <a:ext cx="3714750" cy="552450"/>
          </a:xfrm>
          <a:prstGeom prst="rect">
            <a:avLst/>
          </a:prstGeom>
        </p:spPr>
        <p:txBody>
          <a:bodyPr lIns="0" tIns="0" rIns="0" bIns="0"/>
          <a:lstStyle/>
          <a:p>
            <a:r>
              <a:rPr sz="1000">
                <a:solidFill>
                  <a:srgbClr val="263845"/>
                </a:solidFill>
                <a:latin typeface="Arial"/>
                <a:ea typeface="Arial"/>
                <a:cs typeface="Arial"/>
              </a:rPr>
              <a:t>Baayen, R. H., Davidson, D. J., &amp; Bates, D. M. (2008). Mixed-effects modeling with crossed random effects. Journal of Memory and Language, 59(4), 390-412. https://doi.org/10.1016/j.jml.2007.12.005</a:t>
            </a:r>
          </a:p>
        </p:txBody>
      </p:sp>
      <p:sp>
        <p:nvSpPr>
          <p:cNvPr id="7" name="Rectangle 6">
            <a:extLst>
              <a:ext uri="{FF2B5EF4-FFF2-40B4-BE49-F238E27FC236}">
                <a16:creationId xmlns:a16="http://schemas.microsoft.com/office/drawing/2014/main" id="{24B27E0D-3553-482D-A5FA-C0B7AC67A045}"/>
              </a:ext>
            </a:extLst>
          </p:cNvPr>
          <p:cNvSpPr>
            <a:spLocks noGrp="1"/>
          </p:cNvSpPr>
          <p:nvPr/>
        </p:nvSpPr>
        <p:spPr>
          <a:xfrm>
            <a:off x="552450" y="2476500"/>
            <a:ext cx="3714750" cy="552450"/>
          </a:xfrm>
          <a:prstGeom prst="rect">
            <a:avLst/>
          </a:prstGeom>
        </p:spPr>
        <p:txBody>
          <a:bodyPr lIns="0" tIns="0" rIns="0" bIns="0"/>
          <a:lstStyle/>
          <a:p>
            <a:r>
              <a:rPr sz="1000">
                <a:solidFill>
                  <a:srgbClr val="263845"/>
                </a:solidFill>
                <a:latin typeface="Arial"/>
                <a:ea typeface="Arial"/>
                <a:cs typeface="Arial"/>
              </a:rPr>
              <a:t>Balota, D. A., &amp; Chumbley, J. I. (1984). Are lexical decisions a good measure of lexical access? JEP: HPP, 10(3), 340-357. https://doi.org/10.1037/0096-1523.10.3.340</a:t>
            </a:r>
          </a:p>
        </p:txBody>
      </p:sp>
      <p:sp>
        <p:nvSpPr>
          <p:cNvPr id="8" name="Rectangle 7">
            <a:extLst>
              <a:ext uri="{FF2B5EF4-FFF2-40B4-BE49-F238E27FC236}">
                <a16:creationId xmlns:a16="http://schemas.microsoft.com/office/drawing/2014/main" id="{78FDE310-7B77-4242-BB1D-3B2CDB90567C}"/>
              </a:ext>
            </a:extLst>
          </p:cNvPr>
          <p:cNvSpPr>
            <a:spLocks noGrp="1"/>
          </p:cNvSpPr>
          <p:nvPr/>
        </p:nvSpPr>
        <p:spPr>
          <a:xfrm>
            <a:off x="552450" y="3124200"/>
            <a:ext cx="3714750" cy="552450"/>
          </a:xfrm>
          <a:prstGeom prst="rect">
            <a:avLst/>
          </a:prstGeom>
        </p:spPr>
        <p:txBody>
          <a:bodyPr lIns="0" tIns="0" rIns="0" bIns="0"/>
          <a:lstStyle/>
          <a:p>
            <a:r>
              <a:rPr sz="1000">
                <a:solidFill>
                  <a:srgbClr val="263845"/>
                </a:solidFill>
                <a:latin typeface="Arial"/>
                <a:ea typeface="Arial"/>
                <a:cs typeface="Arial"/>
              </a:rPr>
              <a:t>Bates, D., Mächler, M., Bolker, B., &amp; Walker, S. (2015). Fitting linear mixed-effects models using lme4. Journal of Statistical Software, 67(1), 1-48. https://doi.org/10.18637/jss.v067.i01</a:t>
            </a:r>
          </a:p>
        </p:txBody>
      </p:sp>
      <p:sp>
        <p:nvSpPr>
          <p:cNvPr id="9" name="Rectangle 8">
            <a:extLst>
              <a:ext uri="{FF2B5EF4-FFF2-40B4-BE49-F238E27FC236}">
                <a16:creationId xmlns:a16="http://schemas.microsoft.com/office/drawing/2014/main" id="{73E3FF13-65A0-40D6-BD2B-78E9A747DF06}"/>
              </a:ext>
            </a:extLst>
          </p:cNvPr>
          <p:cNvSpPr>
            <a:spLocks noGrp="1"/>
          </p:cNvSpPr>
          <p:nvPr/>
        </p:nvSpPr>
        <p:spPr>
          <a:xfrm>
            <a:off x="552450" y="3771900"/>
            <a:ext cx="3714750" cy="552450"/>
          </a:xfrm>
          <a:prstGeom prst="rect">
            <a:avLst/>
          </a:prstGeom>
        </p:spPr>
        <p:txBody>
          <a:bodyPr lIns="0" tIns="0" rIns="0" bIns="0"/>
          <a:lstStyle/>
          <a:p>
            <a:r>
              <a:rPr sz="1000">
                <a:solidFill>
                  <a:srgbClr val="263845"/>
                </a:solidFill>
                <a:latin typeface="Arial"/>
                <a:ea typeface="Arial"/>
                <a:cs typeface="Arial"/>
              </a:rPr>
              <a:t>Brysbaert, M., Mandera, P., &amp; Keuleers, E. (2018). The word frequency effect in word processing. Current Directions in Psychological Science, 27(1), 45-50. https://doi.org/10.1177/0963721417727521</a:t>
            </a:r>
          </a:p>
        </p:txBody>
      </p:sp>
      <p:sp>
        <p:nvSpPr>
          <p:cNvPr id="10" name="Rectangle 9">
            <a:extLst>
              <a:ext uri="{FF2B5EF4-FFF2-40B4-BE49-F238E27FC236}">
                <a16:creationId xmlns:a16="http://schemas.microsoft.com/office/drawing/2014/main" id="{9A217CAA-10AC-4A78-BD13-0697DA0F2227}"/>
              </a:ext>
            </a:extLst>
          </p:cNvPr>
          <p:cNvSpPr>
            <a:spLocks noGrp="1"/>
          </p:cNvSpPr>
          <p:nvPr/>
        </p:nvSpPr>
        <p:spPr>
          <a:xfrm>
            <a:off x="4572000" y="1333500"/>
            <a:ext cx="3714750" cy="552450"/>
          </a:xfrm>
          <a:prstGeom prst="rect">
            <a:avLst/>
          </a:prstGeom>
        </p:spPr>
        <p:txBody>
          <a:bodyPr lIns="0" tIns="0" rIns="0" bIns="0"/>
          <a:lstStyle/>
          <a:p>
            <a:r>
              <a:rPr sz="1000" dirty="0">
                <a:solidFill>
                  <a:srgbClr val="263845"/>
                </a:solidFill>
                <a:latin typeface="Arial"/>
                <a:ea typeface="Arial"/>
                <a:cs typeface="Arial"/>
              </a:rPr>
              <a:t>DeFrancis, J. (1977). Colonialism and language policy in Viet Nam. De Gruyter Mouton. https://doi.org/10.1515/9783110802405</a:t>
            </a:r>
          </a:p>
        </p:txBody>
      </p:sp>
      <p:sp>
        <p:nvSpPr>
          <p:cNvPr id="11" name="Rectangle 10">
            <a:extLst>
              <a:ext uri="{FF2B5EF4-FFF2-40B4-BE49-F238E27FC236}">
                <a16:creationId xmlns:a16="http://schemas.microsoft.com/office/drawing/2014/main" id="{C6B5AFB4-619F-4178-8C33-5DB1D8E83CD3}"/>
              </a:ext>
            </a:extLst>
          </p:cNvPr>
          <p:cNvSpPr>
            <a:spLocks noGrp="1"/>
          </p:cNvSpPr>
          <p:nvPr/>
        </p:nvSpPr>
        <p:spPr>
          <a:xfrm>
            <a:off x="4552950" y="1828800"/>
            <a:ext cx="3714750" cy="552450"/>
          </a:xfrm>
          <a:prstGeom prst="rect">
            <a:avLst/>
          </a:prstGeom>
        </p:spPr>
        <p:txBody>
          <a:bodyPr lIns="0" tIns="0" rIns="0" bIns="0"/>
          <a:lstStyle/>
          <a:p>
            <a:r>
              <a:rPr sz="1000" dirty="0" err="1">
                <a:solidFill>
                  <a:srgbClr val="263845"/>
                </a:solidFill>
                <a:latin typeface="Arial"/>
                <a:ea typeface="Arial"/>
                <a:cs typeface="Arial"/>
              </a:rPr>
              <a:t>Encyclopaedia</a:t>
            </a:r>
            <a:r>
              <a:rPr sz="1000" dirty="0">
                <a:solidFill>
                  <a:srgbClr val="263845"/>
                </a:solidFill>
                <a:latin typeface="Arial"/>
                <a:ea typeface="Arial"/>
                <a:cs typeface="Arial"/>
              </a:rPr>
              <a:t> Britannica. (2026). Quoc-</a:t>
            </a:r>
            <a:r>
              <a:rPr sz="1000" dirty="0" err="1">
                <a:solidFill>
                  <a:srgbClr val="263845"/>
                </a:solidFill>
                <a:latin typeface="Arial"/>
                <a:ea typeface="Arial"/>
                <a:cs typeface="Arial"/>
              </a:rPr>
              <a:t>ngu</a:t>
            </a:r>
            <a:r>
              <a:rPr sz="1000" dirty="0">
                <a:solidFill>
                  <a:srgbClr val="263845"/>
                </a:solidFill>
                <a:latin typeface="Arial"/>
                <a:ea typeface="Arial"/>
                <a:cs typeface="Arial"/>
              </a:rPr>
              <a:t>. https://www.britannica.com/topic/Quoc-ngu</a:t>
            </a:r>
          </a:p>
        </p:txBody>
      </p:sp>
      <p:sp>
        <p:nvSpPr>
          <p:cNvPr id="12" name="Rectangle 11">
            <a:extLst>
              <a:ext uri="{FF2B5EF4-FFF2-40B4-BE49-F238E27FC236}">
                <a16:creationId xmlns:a16="http://schemas.microsoft.com/office/drawing/2014/main" id="{C90C8EA0-0C44-41C3-BE4C-5600FC346746}"/>
              </a:ext>
            </a:extLst>
          </p:cNvPr>
          <p:cNvSpPr>
            <a:spLocks noGrp="1"/>
          </p:cNvSpPr>
          <p:nvPr/>
        </p:nvSpPr>
        <p:spPr>
          <a:xfrm>
            <a:off x="4552950" y="2476500"/>
            <a:ext cx="3714750" cy="552450"/>
          </a:xfrm>
          <a:prstGeom prst="rect">
            <a:avLst/>
          </a:prstGeom>
        </p:spPr>
        <p:txBody>
          <a:bodyPr lIns="0" tIns="0" rIns="0" bIns="0"/>
          <a:lstStyle/>
          <a:p>
            <a:r>
              <a:rPr sz="1000" dirty="0">
                <a:solidFill>
                  <a:srgbClr val="263845"/>
                </a:solidFill>
                <a:latin typeface="Arial"/>
                <a:ea typeface="Arial"/>
                <a:cs typeface="Arial"/>
              </a:rPr>
              <a:t>Đinh, Q. T., Lê, H. P., Nguyễn, T. M. H., Nguyễn, C. T., Rossignol, M., &amp; Vũ, X. L. (2008). Word segmentation of Vietnamese texts: A comparison of approaches. LREC 2008. https://aclanthology.org/L08-1355/</a:t>
            </a:r>
          </a:p>
        </p:txBody>
      </p:sp>
      <p:sp>
        <p:nvSpPr>
          <p:cNvPr id="13" name="Rectangle 12">
            <a:extLst>
              <a:ext uri="{FF2B5EF4-FFF2-40B4-BE49-F238E27FC236}">
                <a16:creationId xmlns:a16="http://schemas.microsoft.com/office/drawing/2014/main" id="{1479B3E7-03C6-48D4-9DB7-3BB0ECDD3919}"/>
              </a:ext>
            </a:extLst>
          </p:cNvPr>
          <p:cNvSpPr>
            <a:spLocks noGrp="1"/>
          </p:cNvSpPr>
          <p:nvPr/>
        </p:nvSpPr>
        <p:spPr>
          <a:xfrm>
            <a:off x="4552950" y="3124200"/>
            <a:ext cx="3714750" cy="552450"/>
          </a:xfrm>
          <a:prstGeom prst="rect">
            <a:avLst/>
          </a:prstGeom>
        </p:spPr>
        <p:txBody>
          <a:bodyPr lIns="0" tIns="0" rIns="0" bIns="0"/>
          <a:lstStyle/>
          <a:p>
            <a:r>
              <a:rPr sz="1000">
                <a:solidFill>
                  <a:srgbClr val="263845"/>
                </a:solidFill>
                <a:latin typeface="Arial"/>
                <a:ea typeface="Arial"/>
                <a:cs typeface="Arial"/>
              </a:rPr>
              <a:t>Fernandes, G., &amp; Assunção, C. (2017). First codification of Vietnamese by 17th-century missionaries. Histoire Épistémologie Langage, 39(1), 155-176. https://doi.org/10.3406/hel.2017.3592</a:t>
            </a:r>
          </a:p>
        </p:txBody>
      </p:sp>
    </p:spTree>
    <p:extLst>
      <p:ext uri="{BB962C8B-B14F-4D97-AF65-F5344CB8AC3E}">
        <p14:creationId xmlns:p14="http://schemas.microsoft.com/office/powerpoint/2010/main" val="1826234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EBAB0A7-6D7A-414D-89E5-E2ADBCCDA22D}"/>
              </a:ext>
            </a:extLst>
          </p:cNvPr>
          <p:cNvSpPr>
            <a:spLocks noGrp="1"/>
          </p:cNvSpPr>
          <p:nvPr/>
        </p:nvSpPr>
        <p:spPr>
          <a:xfrm>
            <a:off x="476250" y="419100"/>
            <a:ext cx="209550" cy="38100"/>
          </a:xfrm>
          <a:prstGeom prst="rect">
            <a:avLst/>
          </a:prstGeom>
          <a:solidFill>
            <a:srgbClr val="8DB600"/>
          </a:solidFill>
        </p:spPr>
      </p:sp>
      <p:sp>
        <p:nvSpPr>
          <p:cNvPr id="2" name="Rectangle 1">
            <a:extLst>
              <a:ext uri="{FF2B5EF4-FFF2-40B4-BE49-F238E27FC236}">
                <a16:creationId xmlns:a16="http://schemas.microsoft.com/office/drawing/2014/main" id="{C0A0FFE4-E8F0-400C-A13C-413CCA492DE7}"/>
              </a:ext>
            </a:extLst>
          </p:cNvPr>
          <p:cNvSpPr>
            <a:spLocks noGrp="1"/>
          </p:cNvSpPr>
          <p:nvPr/>
        </p:nvSpPr>
        <p:spPr>
          <a:xfrm>
            <a:off x="762000" y="333375"/>
            <a:ext cx="5143500" cy="171450"/>
          </a:xfrm>
          <a:prstGeom prst="rect">
            <a:avLst/>
          </a:prstGeom>
        </p:spPr>
        <p:txBody>
          <a:bodyPr lIns="0" tIns="0" rIns="0" bIns="0"/>
          <a:lstStyle/>
          <a:p>
            <a:r>
              <a:rPr sz="750" b="1">
                <a:solidFill>
                  <a:srgbClr val="63717A"/>
                </a:solidFill>
                <a:latin typeface="Arial"/>
                <a:ea typeface="Arial"/>
                <a:cs typeface="Arial"/>
              </a:rPr>
              <a:t>29 | REFERENCES II</a:t>
            </a:r>
          </a:p>
        </p:txBody>
      </p:sp>
      <p:sp>
        <p:nvSpPr>
          <p:cNvPr id="3" name="Rectangle 2">
            <a:extLst>
              <a:ext uri="{FF2B5EF4-FFF2-40B4-BE49-F238E27FC236}">
                <a16:creationId xmlns:a16="http://schemas.microsoft.com/office/drawing/2014/main" id="{EE034602-7E74-4493-BAEF-EBD3FDFF8B53}"/>
              </a:ext>
            </a:extLst>
          </p:cNvPr>
          <p:cNvSpPr>
            <a:spLocks noGrp="1"/>
          </p:cNvSpPr>
          <p:nvPr/>
        </p:nvSpPr>
        <p:spPr>
          <a:xfrm>
            <a:off x="476250" y="542925"/>
            <a:ext cx="7429500" cy="514350"/>
          </a:xfrm>
          <a:prstGeom prst="rect">
            <a:avLst/>
          </a:prstGeom>
        </p:spPr>
        <p:txBody>
          <a:bodyPr lIns="0" tIns="0" rIns="0" bIns="0"/>
          <a:lstStyle/>
          <a:p>
            <a:r>
              <a:rPr sz="2175" b="1" dirty="0">
                <a:solidFill>
                  <a:srgbClr val="003A61"/>
                </a:solidFill>
                <a:latin typeface="Arial"/>
                <a:ea typeface="Arial"/>
                <a:cs typeface="Arial"/>
              </a:rPr>
              <a:t>Selected sources for pseudowords, software, and RT handling.</a:t>
            </a:r>
          </a:p>
        </p:txBody>
      </p:sp>
      <p:sp>
        <p:nvSpPr>
          <p:cNvPr id="4" name="Rectangle 3">
            <a:extLst>
              <a:ext uri="{FF2B5EF4-FFF2-40B4-BE49-F238E27FC236}">
                <a16:creationId xmlns:a16="http://schemas.microsoft.com/office/drawing/2014/main" id="{135D2212-53C6-4FF1-B93E-C196E26ACF23}"/>
              </a:ext>
            </a:extLst>
          </p:cNvPr>
          <p:cNvSpPr>
            <a:spLocks noGrp="1"/>
          </p:cNvSpPr>
          <p:nvPr/>
        </p:nvSpPr>
        <p:spPr>
          <a:xfrm>
            <a:off x="476250" y="4762500"/>
            <a:ext cx="2571750" cy="142875"/>
          </a:xfrm>
          <a:prstGeom prst="rect">
            <a:avLst/>
          </a:prstGeom>
        </p:spPr>
        <p:txBody>
          <a:bodyPr lIns="0" tIns="0" rIns="0" bIns="0"/>
          <a:lstStyle/>
          <a:p>
            <a:r>
              <a:rPr sz="638" dirty="0">
                <a:solidFill>
                  <a:srgbClr val="63717A"/>
                </a:solidFill>
                <a:latin typeface="Arial"/>
                <a:ea typeface="Arial"/>
                <a:cs typeface="Arial"/>
              </a:rPr>
              <a:t>Vietnamese LDT | RP2 Colloquium 2</a:t>
            </a:r>
          </a:p>
        </p:txBody>
      </p:sp>
      <p:sp>
        <p:nvSpPr>
          <p:cNvPr id="5" name="Rectangle 4">
            <a:extLst>
              <a:ext uri="{FF2B5EF4-FFF2-40B4-BE49-F238E27FC236}">
                <a16:creationId xmlns:a16="http://schemas.microsoft.com/office/drawing/2014/main" id="{7D0E206C-86EC-4531-918E-E26F69D7BC84}"/>
              </a:ext>
            </a:extLst>
          </p:cNvPr>
          <p:cNvSpPr>
            <a:spLocks noGrp="1"/>
          </p:cNvSpPr>
          <p:nvPr/>
        </p:nvSpPr>
        <p:spPr>
          <a:xfrm>
            <a:off x="552450" y="1238250"/>
            <a:ext cx="3762375" cy="400050"/>
          </a:xfrm>
          <a:prstGeom prst="rect">
            <a:avLst/>
          </a:prstGeom>
        </p:spPr>
        <p:txBody>
          <a:bodyPr lIns="0" tIns="0" rIns="0" bIns="0"/>
          <a:lstStyle/>
          <a:p>
            <a:r>
              <a:rPr sz="900" dirty="0">
                <a:solidFill>
                  <a:srgbClr val="263845"/>
                </a:solidFill>
                <a:latin typeface="Arial"/>
                <a:ea typeface="Arial"/>
                <a:cs typeface="Arial"/>
              </a:rPr>
              <a:t>Ha, L. A. (2003). A method for word segmentation in Vietnamese. Proceedings of Corpus Linguistics 2003, 282-287.</a:t>
            </a:r>
          </a:p>
        </p:txBody>
      </p:sp>
      <p:sp>
        <p:nvSpPr>
          <p:cNvPr id="6" name="Rectangle 5">
            <a:extLst>
              <a:ext uri="{FF2B5EF4-FFF2-40B4-BE49-F238E27FC236}">
                <a16:creationId xmlns:a16="http://schemas.microsoft.com/office/drawing/2014/main" id="{96CFA74B-A9F4-4D47-ACB9-C59AE33AF0F6}"/>
              </a:ext>
            </a:extLst>
          </p:cNvPr>
          <p:cNvSpPr>
            <a:spLocks noGrp="1"/>
          </p:cNvSpPr>
          <p:nvPr/>
        </p:nvSpPr>
        <p:spPr>
          <a:xfrm>
            <a:off x="552450" y="1600200"/>
            <a:ext cx="3762375" cy="400050"/>
          </a:xfrm>
          <a:prstGeom prst="rect">
            <a:avLst/>
          </a:prstGeom>
        </p:spPr>
        <p:txBody>
          <a:bodyPr lIns="0" tIns="0" rIns="0" bIns="0"/>
          <a:lstStyle/>
          <a:p>
            <a:r>
              <a:rPr sz="900">
                <a:solidFill>
                  <a:srgbClr val="263845"/>
                </a:solidFill>
                <a:latin typeface="Arial"/>
                <a:ea typeface="Arial"/>
                <a:cs typeface="Arial"/>
              </a:rPr>
              <a:t>Keuleers, E., &amp; Brysbaert, M. (2010). Wuggy: A multilingual pseudoword generator. Behavior Research Methods, 42(3), 627-633. https://doi.org/10.3758/BRM.42.3.627</a:t>
            </a:r>
          </a:p>
        </p:txBody>
      </p:sp>
      <p:sp>
        <p:nvSpPr>
          <p:cNvPr id="7" name="Rectangle 6">
            <a:extLst>
              <a:ext uri="{FF2B5EF4-FFF2-40B4-BE49-F238E27FC236}">
                <a16:creationId xmlns:a16="http://schemas.microsoft.com/office/drawing/2014/main" id="{819AA09E-B34F-4044-8B99-1503D0CED1BA}"/>
              </a:ext>
            </a:extLst>
          </p:cNvPr>
          <p:cNvSpPr>
            <a:spLocks noGrp="1"/>
          </p:cNvSpPr>
          <p:nvPr/>
        </p:nvSpPr>
        <p:spPr>
          <a:xfrm>
            <a:off x="552450" y="2076450"/>
            <a:ext cx="3762375" cy="400050"/>
          </a:xfrm>
          <a:prstGeom prst="rect">
            <a:avLst/>
          </a:prstGeom>
        </p:spPr>
        <p:txBody>
          <a:bodyPr lIns="0" tIns="0" rIns="0" bIns="0"/>
          <a:lstStyle/>
          <a:p>
            <a:r>
              <a:rPr sz="900">
                <a:solidFill>
                  <a:srgbClr val="263845"/>
                </a:solidFill>
                <a:latin typeface="Arial"/>
                <a:ea typeface="Arial"/>
                <a:cs typeface="Arial"/>
              </a:rPr>
              <a:t>McKinney, W. (2010). Data structures for statistical computing in Python. Proceedings of the 9th Python in Science Conference, 56-61. https://doi.org/10.25080/Majora-92bf1922-00a</a:t>
            </a:r>
          </a:p>
        </p:txBody>
      </p:sp>
      <p:sp>
        <p:nvSpPr>
          <p:cNvPr id="8" name="Rectangle 7">
            <a:extLst>
              <a:ext uri="{FF2B5EF4-FFF2-40B4-BE49-F238E27FC236}">
                <a16:creationId xmlns:a16="http://schemas.microsoft.com/office/drawing/2014/main" id="{02F6E103-FD8A-4F68-937F-40D1F29B866B}"/>
              </a:ext>
            </a:extLst>
          </p:cNvPr>
          <p:cNvSpPr>
            <a:spLocks noGrp="1"/>
          </p:cNvSpPr>
          <p:nvPr/>
        </p:nvSpPr>
        <p:spPr>
          <a:xfrm>
            <a:off x="552450" y="2552700"/>
            <a:ext cx="3762375" cy="400050"/>
          </a:xfrm>
          <a:prstGeom prst="rect">
            <a:avLst/>
          </a:prstGeom>
        </p:spPr>
        <p:txBody>
          <a:bodyPr lIns="0" tIns="0" rIns="0" bIns="0"/>
          <a:lstStyle/>
          <a:p>
            <a:r>
              <a:rPr sz="900">
                <a:solidFill>
                  <a:srgbClr val="263845"/>
                </a:solidFill>
                <a:latin typeface="Arial"/>
                <a:ea typeface="Arial"/>
                <a:cs typeface="Arial"/>
              </a:rPr>
              <a:t>Meyer, D. E., &amp; Schvaneveldt, R. W. (1971). Facilitation in recognizing pairs of words. Journal of Experimental Psychology, 90(2), 227-234. https://doi.org/10.1037/h0031564</a:t>
            </a:r>
          </a:p>
        </p:txBody>
      </p:sp>
      <p:sp>
        <p:nvSpPr>
          <p:cNvPr id="9" name="Rectangle 8">
            <a:extLst>
              <a:ext uri="{FF2B5EF4-FFF2-40B4-BE49-F238E27FC236}">
                <a16:creationId xmlns:a16="http://schemas.microsoft.com/office/drawing/2014/main" id="{7DA4F92D-DCA9-41AE-A6F1-A96F37BF471A}"/>
              </a:ext>
            </a:extLst>
          </p:cNvPr>
          <p:cNvSpPr>
            <a:spLocks noGrp="1"/>
          </p:cNvSpPr>
          <p:nvPr/>
        </p:nvSpPr>
        <p:spPr>
          <a:xfrm>
            <a:off x="552450" y="3028950"/>
            <a:ext cx="3762375" cy="400050"/>
          </a:xfrm>
          <a:prstGeom prst="rect">
            <a:avLst/>
          </a:prstGeom>
        </p:spPr>
        <p:txBody>
          <a:bodyPr lIns="0" tIns="0" rIns="0" bIns="0"/>
          <a:lstStyle/>
          <a:p>
            <a:r>
              <a:rPr sz="900">
                <a:solidFill>
                  <a:srgbClr val="263845"/>
                </a:solidFill>
                <a:latin typeface="Arial"/>
                <a:ea typeface="Arial"/>
                <a:cs typeface="Arial"/>
              </a:rPr>
              <a:t>New, B., Ferrand, L., Pallier, C., &amp; Brysbaert, M. (2006). Reexamining the word length effect. Psychonomic Bulletin &amp; Review, 13(1), 45-52. https://doi.org/10.3758/BF03193811</a:t>
            </a:r>
          </a:p>
        </p:txBody>
      </p:sp>
      <p:sp>
        <p:nvSpPr>
          <p:cNvPr id="10" name="Rectangle 9">
            <a:extLst>
              <a:ext uri="{FF2B5EF4-FFF2-40B4-BE49-F238E27FC236}">
                <a16:creationId xmlns:a16="http://schemas.microsoft.com/office/drawing/2014/main" id="{F5432E6F-4CC7-4CF7-A828-A3B100BC1489}"/>
              </a:ext>
            </a:extLst>
          </p:cNvPr>
          <p:cNvSpPr>
            <a:spLocks noGrp="1"/>
          </p:cNvSpPr>
          <p:nvPr/>
        </p:nvSpPr>
        <p:spPr>
          <a:xfrm>
            <a:off x="552450" y="3505200"/>
            <a:ext cx="3762375" cy="400050"/>
          </a:xfrm>
          <a:prstGeom prst="rect">
            <a:avLst/>
          </a:prstGeom>
        </p:spPr>
        <p:txBody>
          <a:bodyPr lIns="0" tIns="0" rIns="0" bIns="0"/>
          <a:lstStyle/>
          <a:p>
            <a:r>
              <a:rPr sz="900">
                <a:solidFill>
                  <a:srgbClr val="263845"/>
                </a:solidFill>
                <a:latin typeface="Arial"/>
                <a:ea typeface="Arial"/>
                <a:cs typeface="Arial"/>
              </a:rPr>
              <a:t>Peirce, J. W., Gray, J. R., Simpson, S., MacAskill, M. R., Höchenberger, R., Sogo, H., Kastman, E., &amp; Lindeløv, J. K. (2019). PsychoPy2. Behavior Research Methods, 51, 195-203. https://doi.org/10.3758/s13428-018-01193-y</a:t>
            </a:r>
          </a:p>
        </p:txBody>
      </p:sp>
      <p:sp>
        <p:nvSpPr>
          <p:cNvPr id="11" name="Rectangle 10">
            <a:extLst>
              <a:ext uri="{FF2B5EF4-FFF2-40B4-BE49-F238E27FC236}">
                <a16:creationId xmlns:a16="http://schemas.microsoft.com/office/drawing/2014/main" id="{AE001A4C-78CD-48AC-B8F4-D411117B1587}"/>
              </a:ext>
            </a:extLst>
          </p:cNvPr>
          <p:cNvSpPr>
            <a:spLocks noGrp="1"/>
          </p:cNvSpPr>
          <p:nvPr/>
        </p:nvSpPr>
        <p:spPr>
          <a:xfrm>
            <a:off x="552450" y="4162425"/>
            <a:ext cx="5682095" cy="400050"/>
          </a:xfrm>
          <a:prstGeom prst="rect">
            <a:avLst/>
          </a:prstGeom>
        </p:spPr>
        <p:txBody>
          <a:bodyPr lIns="0" tIns="0" rIns="0" bIns="0"/>
          <a:lstStyle/>
          <a:p>
            <a:r>
              <a:rPr sz="900" dirty="0">
                <a:solidFill>
                  <a:srgbClr val="263845"/>
                </a:solidFill>
                <a:latin typeface="Arial"/>
                <a:ea typeface="Arial"/>
                <a:cs typeface="Arial"/>
              </a:rPr>
              <a:t>Pham, H., &amp; </a:t>
            </a:r>
            <a:r>
              <a:rPr sz="900" dirty="0" err="1">
                <a:solidFill>
                  <a:srgbClr val="263845"/>
                </a:solidFill>
                <a:latin typeface="Arial"/>
                <a:ea typeface="Arial"/>
                <a:cs typeface="Arial"/>
              </a:rPr>
              <a:t>Baayen</a:t>
            </a:r>
            <a:r>
              <a:rPr sz="900" dirty="0">
                <a:solidFill>
                  <a:srgbClr val="263845"/>
                </a:solidFill>
                <a:latin typeface="Arial"/>
                <a:ea typeface="Arial"/>
                <a:cs typeface="Arial"/>
              </a:rPr>
              <a:t>, H. (2015). Vietnamese compounds show an anti-frequency effect in visual lexical decision. Language, Cognition and Neuroscience, 30(9), 1077-1095. https://doi.org/10.1080/23273798.2015.1054844</a:t>
            </a:r>
          </a:p>
        </p:txBody>
      </p:sp>
      <p:sp>
        <p:nvSpPr>
          <p:cNvPr id="12" name="Rectangle 11">
            <a:extLst>
              <a:ext uri="{FF2B5EF4-FFF2-40B4-BE49-F238E27FC236}">
                <a16:creationId xmlns:a16="http://schemas.microsoft.com/office/drawing/2014/main" id="{1E7E5BCB-B0F8-47CD-8C13-17B975928289}"/>
              </a:ext>
            </a:extLst>
          </p:cNvPr>
          <p:cNvSpPr>
            <a:spLocks noGrp="1"/>
          </p:cNvSpPr>
          <p:nvPr/>
        </p:nvSpPr>
        <p:spPr>
          <a:xfrm>
            <a:off x="4572000" y="1200150"/>
            <a:ext cx="3762375" cy="400050"/>
          </a:xfrm>
          <a:prstGeom prst="rect">
            <a:avLst/>
          </a:prstGeom>
        </p:spPr>
        <p:txBody>
          <a:bodyPr lIns="0" tIns="0" rIns="0" bIns="0"/>
          <a:lstStyle/>
          <a:p>
            <a:r>
              <a:rPr sz="900" dirty="0">
                <a:solidFill>
                  <a:srgbClr val="263845"/>
                </a:solidFill>
                <a:latin typeface="Arial"/>
                <a:ea typeface="Arial"/>
                <a:cs typeface="Arial"/>
              </a:rPr>
              <a:t>Pham, H., Tucker, B. V., &amp; </a:t>
            </a:r>
            <a:r>
              <a:rPr sz="900" dirty="0" err="1">
                <a:solidFill>
                  <a:srgbClr val="263845"/>
                </a:solidFill>
                <a:latin typeface="Arial"/>
                <a:ea typeface="Arial"/>
                <a:cs typeface="Arial"/>
              </a:rPr>
              <a:t>Baayen</a:t>
            </a:r>
            <a:r>
              <a:rPr sz="900" dirty="0">
                <a:solidFill>
                  <a:srgbClr val="263845"/>
                </a:solidFill>
                <a:latin typeface="Arial"/>
                <a:ea typeface="Arial"/>
                <a:cs typeface="Arial"/>
              </a:rPr>
              <a:t>, R. H. (2019). Constructing two Vietnamese corpora and building a lexical database. Language Resources and Evaluation, 53(3), 465-498. https://doi.org/10.1007/s10579-019-09451-x</a:t>
            </a:r>
          </a:p>
        </p:txBody>
      </p:sp>
      <p:sp>
        <p:nvSpPr>
          <p:cNvPr id="13" name="Rectangle 12">
            <a:extLst>
              <a:ext uri="{FF2B5EF4-FFF2-40B4-BE49-F238E27FC236}">
                <a16:creationId xmlns:a16="http://schemas.microsoft.com/office/drawing/2014/main" id="{B0F68D63-5E88-4A8E-B3AA-FCC94CD415E4}"/>
              </a:ext>
            </a:extLst>
          </p:cNvPr>
          <p:cNvSpPr>
            <a:spLocks noGrp="1"/>
          </p:cNvSpPr>
          <p:nvPr/>
        </p:nvSpPr>
        <p:spPr>
          <a:xfrm>
            <a:off x="4572000" y="1800225"/>
            <a:ext cx="3762375" cy="400050"/>
          </a:xfrm>
          <a:prstGeom prst="rect">
            <a:avLst/>
          </a:prstGeom>
        </p:spPr>
        <p:txBody>
          <a:bodyPr lIns="0" tIns="0" rIns="0" bIns="0"/>
          <a:lstStyle/>
          <a:p>
            <a:r>
              <a:rPr sz="900">
                <a:solidFill>
                  <a:srgbClr val="263845"/>
                </a:solidFill>
                <a:latin typeface="Arial"/>
                <a:ea typeface="Arial"/>
                <a:cs typeface="Arial"/>
              </a:rPr>
              <a:t>R Core Team. (2026). R: A language and environment for statistical computing. R Foundation for Statistical Computing. https://doi.org/10.32614/R.manuals</a:t>
            </a:r>
          </a:p>
        </p:txBody>
      </p:sp>
      <p:sp>
        <p:nvSpPr>
          <p:cNvPr id="14" name="Rectangle 13">
            <a:extLst>
              <a:ext uri="{FF2B5EF4-FFF2-40B4-BE49-F238E27FC236}">
                <a16:creationId xmlns:a16="http://schemas.microsoft.com/office/drawing/2014/main" id="{E8E80A1D-F70A-4723-826C-83C75FDCB7D4}"/>
              </a:ext>
            </a:extLst>
          </p:cNvPr>
          <p:cNvSpPr>
            <a:spLocks noGrp="1"/>
          </p:cNvSpPr>
          <p:nvPr/>
        </p:nvSpPr>
        <p:spPr>
          <a:xfrm>
            <a:off x="4572000" y="2276475"/>
            <a:ext cx="3762375" cy="400050"/>
          </a:xfrm>
          <a:prstGeom prst="rect">
            <a:avLst/>
          </a:prstGeom>
        </p:spPr>
        <p:txBody>
          <a:bodyPr lIns="0" tIns="0" rIns="0" bIns="0"/>
          <a:lstStyle/>
          <a:p>
            <a:r>
              <a:rPr sz="900">
                <a:solidFill>
                  <a:srgbClr val="263845"/>
                </a:solidFill>
                <a:latin typeface="Arial"/>
                <a:ea typeface="Arial"/>
                <a:cs typeface="Arial"/>
              </a:rPr>
              <a:t>Ratcliff, R. (1993). Methods for dealing with reaction time outliers. Psychological Bulletin, 114(3), 510-532. https://doi.org/10.1037/0033-2909.114.3.510</a:t>
            </a:r>
          </a:p>
        </p:txBody>
      </p:sp>
      <p:sp>
        <p:nvSpPr>
          <p:cNvPr id="15" name="Rectangle 14">
            <a:extLst>
              <a:ext uri="{FF2B5EF4-FFF2-40B4-BE49-F238E27FC236}">
                <a16:creationId xmlns:a16="http://schemas.microsoft.com/office/drawing/2014/main" id="{7702A1A6-69B2-4F1C-96B2-CEC9685E601A}"/>
              </a:ext>
            </a:extLst>
          </p:cNvPr>
          <p:cNvSpPr>
            <a:spLocks noGrp="1"/>
          </p:cNvSpPr>
          <p:nvPr/>
        </p:nvSpPr>
        <p:spPr>
          <a:xfrm>
            <a:off x="4572000" y="2752725"/>
            <a:ext cx="3762375" cy="400050"/>
          </a:xfrm>
          <a:prstGeom prst="rect">
            <a:avLst/>
          </a:prstGeom>
        </p:spPr>
        <p:txBody>
          <a:bodyPr lIns="0" tIns="0" rIns="0" bIns="0"/>
          <a:lstStyle/>
          <a:p>
            <a:r>
              <a:rPr sz="900">
                <a:solidFill>
                  <a:srgbClr val="263845"/>
                </a:solidFill>
                <a:latin typeface="Arial"/>
                <a:ea typeface="Arial"/>
                <a:cs typeface="Arial"/>
              </a:rPr>
              <a:t>Verdonschot, R. G., Hoàng, T. L. P., &amp; Tamaoka, K. (2022). Phonological encoding in Vietnamese. Quarterly Journal of Experimental Psychology, 75(7), 1355-1366. https://doi.org/10.1177/17470218211053244</a:t>
            </a:r>
          </a:p>
        </p:txBody>
      </p:sp>
      <p:sp>
        <p:nvSpPr>
          <p:cNvPr id="16" name="Rectangle 15">
            <a:extLst>
              <a:ext uri="{FF2B5EF4-FFF2-40B4-BE49-F238E27FC236}">
                <a16:creationId xmlns:a16="http://schemas.microsoft.com/office/drawing/2014/main" id="{54BF1CB8-EBF2-4A63-A733-77CDA0FFECEB}"/>
              </a:ext>
            </a:extLst>
          </p:cNvPr>
          <p:cNvSpPr>
            <a:spLocks noGrp="1"/>
          </p:cNvSpPr>
          <p:nvPr/>
        </p:nvSpPr>
        <p:spPr>
          <a:xfrm>
            <a:off x="4572000" y="3228975"/>
            <a:ext cx="3762375" cy="400050"/>
          </a:xfrm>
          <a:prstGeom prst="rect">
            <a:avLst/>
          </a:prstGeom>
        </p:spPr>
        <p:txBody>
          <a:bodyPr lIns="0" tIns="0" rIns="0" bIns="0"/>
          <a:lstStyle/>
          <a:p>
            <a:r>
              <a:rPr sz="900">
                <a:solidFill>
                  <a:srgbClr val="263845"/>
                </a:solidFill>
                <a:latin typeface="Arial"/>
                <a:ea typeface="Arial"/>
                <a:cs typeface="Arial"/>
              </a:rPr>
              <a:t>Whelan, R. (2008). Effective analysis of reaction time data. The Psychological Record, 58(3), 475-482. https://doi.org/10.1007/BF03395630</a:t>
            </a:r>
          </a:p>
        </p:txBody>
      </p:sp>
      <p:sp>
        <p:nvSpPr>
          <p:cNvPr id="17" name="Rectangle 16">
            <a:extLst>
              <a:ext uri="{FF2B5EF4-FFF2-40B4-BE49-F238E27FC236}">
                <a16:creationId xmlns:a16="http://schemas.microsoft.com/office/drawing/2014/main" id="{65E6DAD4-B272-4711-AB42-1A5A3DB9AB65}"/>
              </a:ext>
            </a:extLst>
          </p:cNvPr>
          <p:cNvSpPr>
            <a:spLocks noGrp="1"/>
          </p:cNvSpPr>
          <p:nvPr/>
        </p:nvSpPr>
        <p:spPr>
          <a:xfrm>
            <a:off x="4572000" y="3705225"/>
            <a:ext cx="3762375" cy="400050"/>
          </a:xfrm>
          <a:prstGeom prst="rect">
            <a:avLst/>
          </a:prstGeom>
        </p:spPr>
        <p:txBody>
          <a:bodyPr lIns="0" tIns="0" rIns="0" bIns="0"/>
          <a:lstStyle/>
          <a:p>
            <a:r>
              <a:rPr sz="900">
                <a:solidFill>
                  <a:srgbClr val="263845"/>
                </a:solidFill>
                <a:latin typeface="Arial"/>
                <a:ea typeface="Arial"/>
                <a:cs typeface="Arial"/>
              </a:rPr>
              <a:t>Yap, M. J., &amp; Balota, D. A. (2009). Visual word recognition of multisyllabic words. Journal of Memory and Language, 60(4), 502-529. https://doi.org/10.1016/j.jml.2009.02.001</a:t>
            </a:r>
          </a:p>
        </p:txBody>
      </p:sp>
    </p:spTree>
    <p:extLst>
      <p:ext uri="{BB962C8B-B14F-4D97-AF65-F5344CB8AC3E}">
        <p14:creationId xmlns:p14="http://schemas.microsoft.com/office/powerpoint/2010/main" val="1826234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D4769BA-FFCB-845D-4403-30EFA23192B3}"/>
              </a:ext>
            </a:extLst>
          </p:cNvPr>
          <p:cNvSpPr>
            <a:spLocks noGrp="1"/>
          </p:cNvSpPr>
          <p:nvPr>
            <p:ph type="ctrTitle"/>
          </p:nvPr>
        </p:nvSpPr>
        <p:spPr/>
        <p:txBody>
          <a:bodyPr/>
          <a:lstStyle/>
          <a:p>
            <a:r>
              <a:rPr lang="vi-VN" dirty="0" err="1"/>
              <a:t>30 | Thank</a:t>
            </a:r>
            <a:r>
              <a:rPr lang="en-US"/>
              <a:t> </a:t>
            </a:r>
            <a:r>
              <a:rPr lang="vi-VN"/>
              <a:t>you</a:t>
            </a:r>
            <a:r>
              <a:rPr lang="vi-VN" dirty="0"/>
              <a:t> </a:t>
            </a:r>
            <a:r>
              <a:rPr lang="vi-VN" dirty="0" err="1"/>
              <a:t>for</a:t>
            </a:r>
            <a:r>
              <a:rPr lang="vi-VN" dirty="0"/>
              <a:t> </a:t>
            </a:r>
            <a:r>
              <a:rPr lang="en-US" dirty="0"/>
              <a:t>your attention</a:t>
            </a:r>
          </a:p>
        </p:txBody>
      </p:sp>
      <p:sp>
        <p:nvSpPr>
          <p:cNvPr id="5" name="Subtitle 4">
            <a:extLst>
              <a:ext uri="{FF2B5EF4-FFF2-40B4-BE49-F238E27FC236}">
                <a16:creationId xmlns:a16="http://schemas.microsoft.com/office/drawing/2014/main" id="{C8D9C512-F900-3726-E1F9-8B246184DC45}"/>
              </a:ext>
            </a:extLst>
          </p:cNvPr>
          <p:cNvSpPr>
            <a:spLocks noGrp="1"/>
          </p:cNvSpPr>
          <p:nvPr>
            <p:ph type="subTitle" idx="1"/>
          </p:nvPr>
        </p:nvSpPr>
        <p:spPr>
          <a:xfrm>
            <a:off x="1619672" y="1287000"/>
            <a:ext cx="8517699" cy="365125"/>
          </a:xfrm>
        </p:spPr>
        <p:txBody>
          <a:bodyPr/>
          <a:lstStyle/>
          <a:p>
            <a:r>
              <a:rPr lang="en-US" b="1" dirty="0">
                <a:solidFill>
                  <a:srgbClr val="003A61"/>
                </a:solidFill>
                <a:latin typeface="Arial"/>
                <a:ea typeface="Arial"/>
                <a:cs typeface="Arial"/>
              </a:rPr>
              <a:t>Vietnamese Lexical Decision Task</a:t>
            </a:r>
          </a:p>
          <a:p>
            <a:endParaRPr lang="en-US" dirty="0"/>
          </a:p>
        </p:txBody>
      </p:sp>
      <p:sp>
        <p:nvSpPr>
          <p:cNvPr id="6" name="Text Placeholder 5">
            <a:extLst>
              <a:ext uri="{FF2B5EF4-FFF2-40B4-BE49-F238E27FC236}">
                <a16:creationId xmlns:a16="http://schemas.microsoft.com/office/drawing/2014/main" id="{A3F3C415-05CA-4403-2EAC-81FFC8D68A69}"/>
              </a:ext>
            </a:extLst>
          </p:cNvPr>
          <p:cNvSpPr>
            <a:spLocks noGrp="1"/>
          </p:cNvSpPr>
          <p:nvPr>
            <p:ph type="body" idx="13"/>
          </p:nvPr>
        </p:nvSpPr>
        <p:spPr/>
        <p:txBody>
          <a:bodyPr/>
          <a:lstStyle/>
          <a:p>
            <a:r>
              <a:rPr lang="en-US" dirty="0"/>
              <a:t>Nhat.Dang@edu.ruhr-uni-bochum.de</a:t>
            </a:r>
          </a:p>
        </p:txBody>
      </p:sp>
      <p:sp>
        <p:nvSpPr>
          <p:cNvPr id="7" name="Rectangle 6">
            <a:extLst>
              <a:ext uri="{FF2B5EF4-FFF2-40B4-BE49-F238E27FC236}">
                <a16:creationId xmlns:a16="http://schemas.microsoft.com/office/drawing/2014/main" id="{6CBE5776-CC84-FD13-9448-46F7CA86D158}"/>
              </a:ext>
            </a:extLst>
          </p:cNvPr>
          <p:cNvSpPr>
            <a:spLocks noGrp="1"/>
          </p:cNvSpPr>
          <p:nvPr/>
        </p:nvSpPr>
        <p:spPr>
          <a:xfrm>
            <a:off x="476250" y="4762500"/>
            <a:ext cx="2571750" cy="142875"/>
          </a:xfrm>
          <a:prstGeom prst="rect">
            <a:avLst/>
          </a:prstGeom>
        </p:spPr>
        <p:txBody>
          <a:bodyPr lIns="0" tIns="0" rIns="0" bIns="0"/>
          <a:lstStyle/>
          <a:p>
            <a:r>
              <a:rPr sz="638" dirty="0">
                <a:solidFill>
                  <a:srgbClr val="63717A"/>
                </a:solidFill>
                <a:latin typeface="Arial"/>
                <a:ea typeface="Arial"/>
                <a:cs typeface="Arial"/>
              </a:rPr>
              <a:t>Vietnamese LDT | RP2 Colloquium 2</a:t>
            </a:r>
          </a:p>
        </p:txBody>
      </p:sp>
    </p:spTree>
    <p:extLst>
      <p:ext uri="{BB962C8B-B14F-4D97-AF65-F5344CB8AC3E}">
        <p14:creationId xmlns:p14="http://schemas.microsoft.com/office/powerpoint/2010/main" val="1152897484"/>
      </p:ext>
    </p:extLst>
  </p:cSld>
  <p:clrMapOvr>
    <a:masterClrMapping/>
  </p:clrMapOvr>
</p:sld>
</file>

<file path=ppt/theme/theme1.xml><?xml version="1.0" encoding="utf-8"?>
<a:theme xmlns:a="http://schemas.openxmlformats.org/drawingml/2006/main" name="PowerPoint Master RUB">
  <a:themeElements>
    <a:clrScheme name="RUB">
      <a:dk1>
        <a:sysClr val="windowText" lastClr="000000"/>
      </a:dk1>
      <a:lt1>
        <a:sysClr val="window" lastClr="FFFFFF"/>
      </a:lt1>
      <a:dk2>
        <a:srgbClr val="003560"/>
      </a:dk2>
      <a:lt2>
        <a:srgbClr val="8DAE10"/>
      </a:lt2>
      <a:accent1>
        <a:srgbClr val="FFCC00"/>
      </a:accent1>
      <a:accent2>
        <a:srgbClr val="EE7203"/>
      </a:accent2>
      <a:accent3>
        <a:srgbClr val="E6332A"/>
      </a:accent3>
      <a:accent4>
        <a:srgbClr val="B71E3F"/>
      </a:accent4>
      <a:accent5>
        <a:srgbClr val="9C5516"/>
      </a:accent5>
      <a:accent6>
        <a:srgbClr val="59211C"/>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UB">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PowerPoint Master RUB">
  <a:themeElements>
    <a:clrScheme name="RUB">
      <a:dk1>
        <a:sysClr val="windowText" lastClr="000000"/>
      </a:dk1>
      <a:lt1>
        <a:sysClr val="window" lastClr="FFFFFF"/>
      </a:lt1>
      <a:dk2>
        <a:srgbClr val="003560"/>
      </a:dk2>
      <a:lt2>
        <a:srgbClr val="8DAE10"/>
      </a:lt2>
      <a:accent1>
        <a:srgbClr val="FFCC00"/>
      </a:accent1>
      <a:accent2>
        <a:srgbClr val="EE7203"/>
      </a:accent2>
      <a:accent3>
        <a:srgbClr val="E6332A"/>
      </a:accent3>
      <a:accent4>
        <a:srgbClr val="B71E3F"/>
      </a:accent4>
      <a:accent5>
        <a:srgbClr val="9C5516"/>
      </a:accent5>
      <a:accent6>
        <a:srgbClr val="59211C"/>
      </a:accent6>
      <a:hlink>
        <a:srgbClr val="000000"/>
      </a:hlink>
      <a:folHlink>
        <a:srgbClr val="00000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UB">
      <a:fillStyleLst>
        <a:solidFill>
          <a:schemeClr val="phClr"/>
        </a:solidFill>
        <a:solidFill>
          <a:schemeClr val="dk1"/>
        </a:solidFill>
        <a:solidFill>
          <a:schemeClr val="accent1"/>
        </a:soli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714</TotalTime>
  <Words>5051</Words>
  <Application>Microsoft Office PowerPoint</Application>
  <DocSecurity>0</DocSecurity>
  <PresentationFormat>On-screen Show (16:9)</PresentationFormat>
  <Paragraphs>676</Paragraphs>
  <Slides>30</Slides>
  <Notes>27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Arial</vt:lpstr>
      <vt:lpstr>RUB Scala MZ</vt:lpstr>
      <vt:lpstr>RubFlama</vt:lpstr>
      <vt:lpstr>PowerPoint Master RUB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30 | 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Đặng Nhật Quang</cp:lastModifiedBy>
  <cp:revision>50</cp:revision>
  <dcterms:created xsi:type="dcterms:W3CDTF">2026-06-21T12:20:28Z</dcterms:created>
  <dcterms:modified xsi:type="dcterms:W3CDTF">2026-07-07T06:46:06Z</dcterms:modified>
</cp:coreProperties>
</file>