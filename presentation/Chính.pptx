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4129" autoAdjust="0"/>
  </p:normalViewPr>
  <p:slideViewPr>
    <p:cSldViewPr snapToGrid="0">
      <p:cViewPr varScale="1">
        <p:scale>
          <a:sx n="44" d="100"/>
          <a:sy n="44" d="100"/>
        </p:scale>
        <p:origin x="1567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framing the project as a controlled lexical-decision study in Vietnamese. Emphasize that the talk focuses on the full research process, especially methodology and QC, not only 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gives the audience a map. The main story is: Vietnamese creates a real segmentation motivation, but the project narrows the question to frequency and syllable length in lexical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Answer the common question gently: it is not accurate to say that one French or Italian person created Quốc ngữ. The better version is a collaborative missionary history, with Portuguese influence and de Rhodes' 1651 publication, followed by colonial and Vietnamese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example sinh viên. Orthographically it has a space, but it is one lexical word. This motivates why syllable count and lexical-word status must be controlled rather than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scope slide protects the project from overclaiming. The broader tokenization problem motivates the work, but the actual experiment tests frequency and syllable-length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research question slowly. The hypotheses are directional for frequency and length, but the interaction is framed carefully as possible variation rather than a strong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within participant means each participant contributes responses across all conditions. The real-word manipulation is balanced, and pseudowords are added for the lexical-decision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one or two examples only when speaking. The point is not that pseudowords are perfect, but that they prevent participants from pressing word for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participant experience. Four practice trials come before the 120 main trials, and F/J responses allow keyboard timing without mouse movement.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defensibility slide. Avoid saying that F and J solve bias. The stronger claim is that the setup reduces motor delay and makes the response layout balanced, while QC monitors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here during the talk to play or insert the demo. Keep the spoken explanation short because the next section covers the full data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main methods pipeline. Emphasize that every step has an output: raw CSVs, cleaned datasets, QC summaries, R Markdown, tables, figures and model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cleaning steps as quality protection, not as technical detail for its own sake. The raw data were preserved; the script creates separate analysis copies.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show that the analysis is not based on uninspected files. The project has reached the minimum N, but keep the interpretation preliminary.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useful for questions about reproducibility. The key point is separation: raw data are preserved, cleaned copies are generated, and the R Markdown report can be rendered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log RT in simple terms: reaction times have a long right tail, so log transformation makes the model better behaved. Mixed effects are needed because observations are crossed by participant and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read every coefficient here. The purpose is to justify the model structure: fixed effects for the experimental predictors and random intercepts for participants and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descriptive. The pattern is clear: high-frequency words are faster, and reaction times increase with syllable length. The model comparison will handle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cautious language. The interaction is statistically borderline and should be described as possible variation in the frequency effect across lengths, not as the central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out the model sequence. Frequency improves over baseline; length strongly improves the model; the interaction is statistically present but modest.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slide is a bridge between statistics and caution. Diagnostics do not show a major singularity issue, but residual behavior and model assumptions still deserve final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accuracy to support task validity. Word accuracy is high; pseudoword accuracy is lower, which is expected, but participants were not simply pressing one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interpretation slide. Keep the conclusion defensible: frequency and length are the main patterns, interaction is tentative, and lexical decision includes a decision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make the project stronger, not weaker. They show what has been controlled and what still needs careful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to show project management. The project is already beyond design and data collection; the remaining work is interpretation, robustness and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 are included for academic completeness. Do not read this slide aloud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briefly and invite questions about the design, QC, or model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C162B93B-F3F1-49F7-BFB7-B03F37BDF4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4557" y="2841830"/>
            <a:ext cx="6408712" cy="324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  <a:latin typeface="RUB Scala MZ"/>
                <a:ea typeface="RUB Scala MZ"/>
                <a:cs typeface="RUB Scala MZ"/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9pPr>
          </a:lstStyle>
          <a:p>
            <a:pPr>
              <a:buNone/>
            </a:pPr>
            <a:r>
              <a:t>Subtitle / Author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6" y="1662477"/>
            <a:ext cx="6408711" cy="116855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None/>
              <a:defRPr sz="4000" b="1" cap="all">
                <a:latin typeface="RubFlama"/>
                <a:ea typeface="RubFlama"/>
                <a:cs typeface="RubFlama"/>
              </a:defRPr>
            </a:lvl1pPr>
          </a:lstStyle>
          <a:p>
            <a:pPr>
              <a:buNone/>
            </a:pPr>
            <a:r>
              <a:t>Mastertitelformat bearbeiten</a:t>
            </a:r>
          </a:p>
        </p:txBody>
      </p:sp>
      <p:pic>
        <p:nvPicPr>
          <p:cNvPr id="24" name="Grafik 8"/>
          <p:cNvPicPr>
            <a:picLocks noChangeAspect="1"/>
          </p:cNvPicPr>
          <p:nvPr/>
        </p:nvPicPr>
        <p:blipFill rotWithShape="1">
          <a:blip r:embed="rId2"/>
          <a:srcRect r="28060"/>
          <a:stretch/>
        </p:blipFill>
        <p:spPr>
          <a:xfrm>
            <a:off x="6876256" y="366333"/>
            <a:ext cx="2267744" cy="4554850"/>
          </a:xfrm>
          <a:prstGeom prst="rect">
            <a:avLst/>
          </a:prstGeom>
        </p:spPr>
      </p:pic>
      <p:pic>
        <p:nvPicPr>
          <p:cNvPr id="25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57" y="4380649"/>
            <a:ext cx="1089286" cy="456175"/>
          </a:xfrm>
          <a:prstGeom prst="rect">
            <a:avLst/>
          </a:prstGeom>
        </p:spPr>
      </p:pic>
      <p:pic>
        <p:nvPicPr>
          <p:cNvPr id="26" name="Grafik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521" y="4306028"/>
            <a:ext cx="1089287" cy="604355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6FF916D-1E24-9147-B308-6EF1EA4407D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74556" y="1334851"/>
            <a:ext cx="3455988" cy="284163"/>
          </a:xfrm>
          <a:prstGeom prst="rect">
            <a:avLst/>
          </a:prstGeom>
        </p:spPr>
        <p:txBody>
          <a:bodyPr/>
          <a:lstStyle>
            <a:lvl1pPr>
              <a:buNone/>
              <a:defRPr b="0" i="0">
                <a:latin typeface="RubFlama"/>
                <a:ea typeface="RubFlama"/>
                <a:cs typeface="RubFlama"/>
              </a:defRPr>
            </a:lvl1pPr>
          </a:lstStyle>
          <a:p>
            <a:pPr>
              <a:buNone/>
            </a:pPr>
            <a:r>
              <a:t>Type of presentation / Place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98C9846-10EA-584E-9393-A7E61E5FE5B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4663" y="3147814"/>
            <a:ext cx="6408737" cy="324001"/>
          </a:xfrm>
          <a:prstGeom prst="rect">
            <a:avLst/>
          </a:prstGeom>
        </p:spPr>
        <p:txBody>
          <a:bodyPr/>
          <a:lstStyle>
            <a:lvl1pPr>
              <a:buNone/>
              <a:defRPr sz="900" b="0" i="0">
                <a:latin typeface="RubFlama"/>
                <a:ea typeface="RubFlama"/>
                <a:cs typeface="RubFlama"/>
              </a:defRPr>
            </a:lvl1pPr>
          </a:lstStyle>
          <a:p>
            <a:pPr>
              <a:buNone/>
            </a:pPr>
            <a:r>
              <a:t>Date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1"/>
          <p:cNvPicPr>
            <a:picLocks noChangeAspect="1"/>
          </p:cNvPicPr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740469">
            <a:off x="823" y="703030"/>
            <a:ext cx="2123715" cy="2416642"/>
          </a:xfrm>
          <a:prstGeom prst="rect">
            <a:avLst/>
          </a:prstGeom>
        </p:spPr>
      </p:pic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Title | Section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C8FC03C-C266-4645-ABC5-645062898383}" type="slidenum">
              <a:t>‹#›</a:t>
            </a:fld>
            <a:fld id="{D6C92596-E737-FF90-EBB5-6AFD01EC4D29}" type="slidenum">
              <a:t>‹#›</a:t>
            </a:fld>
            <a:endParaRPr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126DC0A-0CAB-AB43-BA9F-FC6891F53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1203598"/>
            <a:ext cx="1727720" cy="1512168"/>
          </a:xfrm>
          <a:prstGeom prst="rect">
            <a:avLst/>
          </a:prstGeom>
        </p:spPr>
        <p:txBody>
          <a:bodyPr anchor="ctr"/>
          <a:lstStyle>
            <a:lvl1pPr>
              <a:buNone/>
              <a:defRPr/>
            </a:lvl1pPr>
          </a:lstStyle>
          <a:p>
            <a:r>
              <a:t>Section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1"/>
          <p:cNvPicPr>
            <a:picLocks noChangeAspect="1"/>
          </p:cNvPicPr>
          <p:nvPr/>
        </p:nvPicPr>
        <p:blipFill rotWithShape="1">
          <a:blip r:embed="rId2">
            <a:alphaModFix amt="43000"/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Title | Section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6C8FC03C-C266-4645-ABC5-645062898383}" type="slidenum">
              <a:t>‹#›</a:t>
            </a:fld>
            <a:fld id="{D6C92596-E737-FF90-EBB5-6AFD01EC4D29}" type="slidenum">
              <a:t>‹#›</a:t>
            </a:fld>
            <a:endParaRPr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5AFD21E-93DF-EF44-A4EC-A8CC429A71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005358" cy="468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KAPITEL | CHART-HEADLINE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474D2A3-CE0A-4E44-8F36-1E3F1FDB72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7632392" cy="3366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>
              <a:buNone/>
            </a:pPr>
            <a:r>
              <a:t>Subline first level</a:t>
            </a:r>
          </a:p>
          <a:p>
            <a:pPr>
              <a:buNone/>
            </a:pPr>
            <a:r>
              <a:t>Text</a:t>
            </a:r>
          </a:p>
          <a:p>
            <a:pPr>
              <a:buNone/>
            </a:pPr>
            <a:r>
              <a:t>Bullet 1</a:t>
            </a:r>
          </a:p>
          <a:p>
            <a:pPr>
              <a:buNone/>
            </a:pPr>
            <a:r>
              <a:t>Bullet 2</a:t>
            </a:r>
          </a:p>
          <a:p>
            <a:pPr>
              <a:buNone/>
            </a:pPr>
            <a:r>
              <a:t>Bullet 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9"/>
          <p:cNvPicPr>
            <a:picLocks noChangeAspect="1"/>
          </p:cNvPicPr>
          <p:nvPr/>
        </p:nvPicPr>
        <p:blipFill rotWithShape="1">
          <a:blip r:embed="rId2">
            <a:alphaModFix amt="43000"/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68000" y="954000"/>
            <a:ext cx="3960000" cy="2646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t>Add Image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Title | Section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6C8FC03C-C266-4645-ABC5-645062898383}" type="slidenum">
              <a:t>‹#›</a:t>
            </a:fld>
            <a:fld id="{D6C92596-E737-FF90-EBB5-6AFD01EC4D29}" type="slidenum">
              <a:t>‹#›</a:t>
            </a:fld>
            <a:endParaRPr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8000" y="3708000"/>
            <a:ext cx="3960000" cy="576000"/>
          </a:xfrm>
          <a:prstGeom prst="rect">
            <a:avLst/>
          </a:prstGeo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>
            <a:pPr>
              <a:buNone/>
            </a:pPr>
            <a:r>
              <a:t>Image title</a:t>
            </a:r>
          </a:p>
          <a:p>
            <a:pPr>
              <a:buNone/>
            </a:pPr>
            <a:r>
              <a:t>Explanation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680000" y="954000"/>
            <a:ext cx="3960000" cy="2646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t>Add Image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680000" y="3708000"/>
            <a:ext cx="3960000" cy="576000"/>
          </a:xfrm>
          <a:prstGeom prst="rect">
            <a:avLst/>
          </a:prstGeo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>
            <a:pPr>
              <a:buNone/>
            </a:pPr>
            <a:r>
              <a:t>Image title</a:t>
            </a:r>
          </a:p>
          <a:p>
            <a:pPr>
              <a:buNone/>
            </a:pPr>
            <a:r>
              <a:t>Explanation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Section | Section headline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0"/>
          <p:cNvPicPr>
            <a:picLocks noChangeAspect="1"/>
          </p:cNvPicPr>
          <p:nvPr/>
        </p:nvPicPr>
        <p:blipFill rotWithShape="1">
          <a:blip r:embed="rId2">
            <a:alphaModFix amt="43000"/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Titel | ggf. weitere Angaben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C8FC03C-C266-4645-ABC5-645062898383}" type="slidenum">
              <a:t>‹#›</a:t>
            </a:fld>
            <a:fld id="{D6C92596-E737-FF90-EBB5-6AFD01EC4D29}" type="slidenum">
              <a:t>‹#›</a:t>
            </a:fld>
            <a:endParaRPr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104000" y="954000"/>
            <a:ext cx="4536000" cy="3024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t>Add Image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A8D6956-691E-E04E-8C15-E1B520BBF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KAPITEL | CHART-HEADLINE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10"/>
          <p:cNvPicPr>
            <a:picLocks noChangeAspect="1"/>
          </p:cNvPicPr>
          <p:nvPr/>
        </p:nvPicPr>
        <p:blipFill rotWithShape="1">
          <a:blip r:embed="rId2">
            <a:alphaModFix amt="43000"/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87C5EEB-0C9B-48D4-B68B-ED5DAA3A41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KAPITEL | CHART-HEADLINE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Title | Chapter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C8FC03C-C266-4645-ABC5-645062898383}" type="slidenum">
              <a:t>‹#›</a:t>
            </a:fld>
            <a:fld id="{D6C92596-E737-FF90-EBB5-6AFD01EC4D29}" type="slidenum">
              <a:t>‹#›</a:t>
            </a:fld>
            <a:endParaRPr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680000" y="954000"/>
            <a:ext cx="3960000" cy="2646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t>Bild durch Klicken auf Symbol hinzufügen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t>Vollbild durch klicken einfügen.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2F6D41-300A-44A6-A773-F84C7424CD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Titel | ggf. weitere Angaben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C8FC03C-C266-4645-ABC5-645062898383}" type="slidenum">
              <a:t>‹#›</a:t>
            </a:fld>
            <a:fld id="{D6C92596-E737-FF90-EBB5-6AFD01EC4D29}" type="slidenum">
              <a:t>‹#›</a:t>
            </a:fld>
            <a:endParaRPr/>
          </a:p>
        </p:txBody>
      </p:sp>
      <p:pic>
        <p:nvPicPr>
          <p:cNvPr id="6" name="Grafik 6"/>
          <p:cNvPicPr>
            <a:picLocks noChangeAspect="1"/>
          </p:cNvPicPr>
          <p:nvPr/>
        </p:nvPicPr>
        <p:blipFill rotWithShape="1">
          <a:blip r:embed="rId2">
            <a:alphaModFix amt="67000"/>
          </a:blip>
          <a:srcRect l="38349" t="-1686" r="-40434" b="1686"/>
          <a:stretch/>
        </p:blipFill>
        <p:spPr>
          <a:xfrm>
            <a:off x="0" y="411510"/>
            <a:ext cx="2812691" cy="3981189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3B9F49EF-43AE-7A4F-B85A-0880A38620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19672" y="1744699"/>
            <a:ext cx="6892745" cy="1653568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4800" b="1" i="0">
                <a:solidFill>
                  <a:srgbClr val="1F3B51"/>
                </a:solidFill>
                <a:latin typeface="RubFlama"/>
                <a:ea typeface="RubFlama"/>
                <a:cs typeface="RubFlama"/>
              </a:defRPr>
            </a:lvl1pPr>
          </a:lstStyle>
          <a:p>
            <a:r>
              <a:t>Thank you for your attention</a:t>
            </a: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F62B29B8-A8FA-1C45-AD65-779582E09F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19672" y="1287000"/>
            <a:ext cx="6892745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latin typeface="RubFlama"/>
                <a:ea typeface="RubFlama"/>
                <a:cs typeface="RubFlam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Title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CB6DFADE-29F8-914E-9FD9-E144A4C9CD1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672" y="3483149"/>
            <a:ext cx="6892745" cy="312737"/>
          </a:xfrm>
          <a:prstGeom prst="rect">
            <a:avLst/>
          </a:prstGeom>
        </p:spPr>
        <p:txBody>
          <a:bodyPr/>
          <a:lstStyle>
            <a:lvl2pPr marL="457200" indent="0" algn="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RUB Scala MZ"/>
                <a:ea typeface="RUB Scala MZ"/>
                <a:cs typeface="RUB Scala MZ"/>
              </a:defRPr>
            </a:lvl2pPr>
          </a:lstStyle>
          <a:p>
            <a:pPr>
              <a:buNone/>
            </a:pPr>
            <a:r>
              <a:t>E-Mail - Autor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17"/>
          <p:cNvPicPr>
            <a:picLocks noChangeAspect="1"/>
          </p:cNvPicPr>
          <p:nvPr/>
        </p:nvPicPr>
        <p:blipFill rotWithShape="1">
          <a:blip r:embed="rId2">
            <a:alphaModFix amt="43000"/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576A311-4F08-4AFB-9C38-5CA9C7524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KAPITEL | CHART-HEADLINE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Titel | ggf. weitere Angaben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C8FC03C-C266-4645-ABC5-645062898383}" type="slidenum">
              <a:t>‹#›</a:t>
            </a:fld>
            <a:fld id="{D6C92596-E737-FF90-EBB5-6AFD01EC4D29}" type="slidenum">
              <a:t>‹#›</a:t>
            </a:fld>
            <a:endParaRPr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noGrp="1"/>
          </p:cNvSpPr>
          <p:nvPr>
            <p:ph type="tbl" idx="13"/>
          </p:nvPr>
        </p:nvSpPr>
        <p:spPr>
          <a:xfrm>
            <a:off x="468000" y="918000"/>
            <a:ext cx="8172000" cy="33660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t>Tabelle durch Klicken auf Symbol hinzufügen</a:t>
            </a:r>
          </a:p>
        </p:txBody>
      </p:sp>
      <p:sp>
        <p:nvSpPr>
          <p:cNvPr id="16" name="ListLeveln">
            <a:extLst>
              <a:ext uri="{FF2B5EF4-FFF2-40B4-BE49-F238E27FC236}">
                <a16:creationId xmlns:a16="http://schemas.microsoft.com/office/drawing/2014/main" id="{84A0104B-AA90-4DE7-ADAE-6959FBC15DB1}"/>
              </a:ext>
            </a:extLst>
          </p:cNvPr>
          <p:cNvSpPr>
            <a:spLocks noGrp="1"/>
          </p:cNvSpPr>
          <p:nvPr/>
        </p:nvSpPr>
        <p:spPr>
          <a:xfrm rot="10800000" flipH="1" flipV="1">
            <a:off x="-2628800" y="1368000"/>
            <a:ext cx="2520800" cy="1527786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0" rIns="0" bIns="0" anchor="t">
            <a:noAutofit/>
          </a:bodyPr>
          <a:lstStyle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Einfärbung einer Spalte/Zeile: </a:t>
            </a:r>
            <a:br/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Entwurf / Tabellentools &gt; Schattierung &gt;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Die gewünschte Farbe aus den Designfarben auswählen</a:t>
            </a:r>
          </a:p>
        </p:txBody>
      </p:sp>
      <p:sp>
        <p:nvSpPr>
          <p:cNvPr id="11" name="Hilfslinien">
            <a:extLst>
              <a:ext uri="{FF2B5EF4-FFF2-40B4-BE49-F238E27FC236}">
                <a16:creationId xmlns:a16="http://schemas.microsoft.com/office/drawing/2014/main" id="{38EA8585-E11F-4D10-9DAB-78E6756B2D63}"/>
              </a:ext>
            </a:extLst>
          </p:cNvPr>
          <p:cNvSpPr>
            <a:spLocks noGrp="1"/>
          </p:cNvSpPr>
          <p:nvPr/>
        </p:nvSpPr>
        <p:spPr>
          <a:xfrm rot="10800000" flipH="1" flipV="1">
            <a:off x="431801" y="-468000"/>
            <a:ext cx="8280400" cy="3600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0" rIns="0" bIns="0" anchor="b">
            <a:noAutofit/>
          </a:bodyPr>
          <a:lstStyle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Löschen einer Spalte/Zeile: </a:t>
            </a:r>
            <a:r>
              <a:rPr sz="1200" b="1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 Layout &gt; Löschen &gt; Spalte bzw. Zeile löschen</a:t>
            </a:r>
          </a:p>
        </p:txBody>
      </p:sp>
      <p:sp>
        <p:nvSpPr>
          <p:cNvPr id="13" name="Layoutwechsel">
            <a:extLst>
              <a:ext uri="{FF2B5EF4-FFF2-40B4-BE49-F238E27FC236}">
                <a16:creationId xmlns:a16="http://schemas.microsoft.com/office/drawing/2014/main" id="{6BCDAEA0-53BC-4E57-84CA-5C530F05A90E}"/>
              </a:ext>
            </a:extLst>
          </p:cNvPr>
          <p:cNvSpPr>
            <a:spLocks noGrp="1"/>
          </p:cNvSpPr>
          <p:nvPr/>
        </p:nvSpPr>
        <p:spPr>
          <a:xfrm rot="10800000" flipH="1" flipV="1">
            <a:off x="9252000" y="2283786"/>
            <a:ext cx="2952848" cy="104404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0" rIns="0" bIns="0" anchor="t">
            <a:noAutofit/>
          </a:bodyPr>
          <a:lstStyle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einer Spalte/Zeile:</a:t>
            </a:r>
          </a:p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 neben der eine weitere eingefügt werden soll:</a:t>
            </a:r>
          </a:p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Layout &gt; Hier die gewünschte Einfügeoption auswählen</a:t>
            </a:r>
          </a:p>
        </p:txBody>
      </p:sp>
      <p:sp>
        <p:nvSpPr>
          <p:cNvPr id="19" name="Gerader Verbinder 18">
            <a:extLst>
              <a:ext uri="{FF2B5EF4-FFF2-40B4-BE49-F238E27FC236}">
                <a16:creationId xmlns:a16="http://schemas.microsoft.com/office/drawing/2014/main" id="{098FEE7A-74D6-45A5-B581-B7E71AE302E5}"/>
              </a:ext>
            </a:extLst>
          </p:cNvPr>
          <p:cNvSpPr>
            <a:spLocks noGrp="1"/>
          </p:cNvSpPr>
          <p:nvPr/>
        </p:nv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2" name="Grafik 3"/>
          <p:cNvPicPr>
            <a:picLocks noChangeAspect="1"/>
          </p:cNvPicPr>
          <p:nvPr/>
        </p:nvPicPr>
        <p:blipFill rotWithShape="1">
          <a:blip r:embed="rId3"/>
          <a:srcRect b="4513"/>
          <a:stretch/>
        </p:blipFill>
        <p:spPr>
          <a:xfrm>
            <a:off x="9252000" y="3327773"/>
            <a:ext cx="2067213" cy="864158"/>
          </a:xfrm>
          <a:prstGeom prst="rect">
            <a:avLst/>
          </a:prstGeom>
        </p:spPr>
      </p:pic>
      <p:pic>
        <p:nvPicPr>
          <p:cNvPr id="23" name="Grafik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14" y="4571638"/>
            <a:ext cx="1089286" cy="45617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F4F7C7-BE10-4E7D-8B23-2EFDC7141F8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60000" y="5524114"/>
            <a:ext cx="4284008" cy="179984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EEA1ED-5C51-4627-98EA-C41A0F5004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20000" y="4752000"/>
            <a:ext cx="6300000" cy="1080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>
            <a:r>
              <a:t>Titel | ggf. weitere Angaben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A03226-6650-4CAB-AD5B-9473B9BEE5A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324000" y="4752000"/>
            <a:ext cx="252000" cy="1080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>
            <a:fld id="{6C8FC03C-C266-4645-ABC5-645062898383}" type="slidenum">
              <a:t>‹#›</a:t>
            </a:fld>
            <a:fld id="{D6C92596-E737-FF90-EBB5-6AFD01EC4D29}" type="slidenum">
              <a:t>‹#›</a:t>
            </a:fld>
            <a:endParaRPr/>
          </a:p>
        </p:txBody>
      </p:sp>
      <p:pic>
        <p:nvPicPr>
          <p:cNvPr id="26" name="Bild // ListLevel verringer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963360" y="3291874"/>
            <a:ext cx="855360" cy="396000"/>
          </a:xfrm>
          <a:prstGeom prst="rect">
            <a:avLst/>
          </a:prstGeom>
        </p:spPr>
      </p:pic>
      <p:pic>
        <p:nvPicPr>
          <p:cNvPr id="27" name="Bild // ListLevel erhöhe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963360" y="2787874"/>
            <a:ext cx="855360" cy="396000"/>
          </a:xfrm>
          <a:prstGeom prst="rect">
            <a:avLst/>
          </a:prstGeom>
        </p:spPr>
      </p:pic>
      <p:sp>
        <p:nvSpPr>
          <p:cNvPr id="17" name="Gerader Verbinder 16">
            <a:extLst>
              <a:ext uri="{FF2B5EF4-FFF2-40B4-BE49-F238E27FC236}">
                <a16:creationId xmlns:a16="http://schemas.microsoft.com/office/drawing/2014/main" id="{C13F3A2C-A8B8-4DAC-AF36-266A796EB663}"/>
              </a:ext>
            </a:extLst>
          </p:cNvPr>
          <p:cNvSpPr>
            <a:spLocks noGrp="1"/>
          </p:cNvSpPr>
          <p:nvPr/>
        </p:nv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33" name="Grafik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30714" y="4571638"/>
            <a:ext cx="1089286" cy="4561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marL="0" indent="0" algn="l">
        <a:lnSpc>
          <a:spcPct val="100000"/>
        </a:lnSpc>
        <a:spcBef>
          <a:spcPts val="0"/>
        </a:spcBef>
        <a:buNone/>
        <a:defRPr sz="2700" b="1">
          <a:solidFill>
            <a:schemeClr val="tx2"/>
          </a:solidFill>
          <a:latin typeface="RubFlama"/>
          <a:ea typeface="RubFlama"/>
          <a:cs typeface="RubFlama"/>
        </a:defRPr>
      </a:lvl1pPr>
    </p:titleStyle>
    <p:bodyStyle>
      <a:lvl1pPr marL="0" indent="0" algn="l">
        <a:lnSpc>
          <a:spcPts val="1800"/>
        </a:lnSpc>
        <a:spcBef>
          <a:spcPts val="0"/>
        </a:spcBef>
        <a:spcAft>
          <a:spcPts val="1200"/>
        </a:spcAft>
        <a:buNone/>
        <a:defRPr sz="1500" b="1">
          <a:solidFill>
            <a:schemeClr val="tx2"/>
          </a:solidFill>
          <a:latin typeface="RUB Scala MZ"/>
          <a:ea typeface="RUB Scala MZ"/>
          <a:cs typeface="RUB Scala MZ"/>
        </a:defRPr>
      </a:lvl1pPr>
      <a:lvl2pPr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2pPr>
      <a:lvl3pPr marL="234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3pPr>
      <a:lvl4pPr marL="468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4pPr>
      <a:lvl5pPr marL="702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5pPr>
      <a:lvl6pPr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6pPr>
      <a:lvl7pPr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7pPr>
      <a:lvl8pPr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8pPr>
      <a:lvl9pPr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9pPr>
    </p:bodyStyle>
    <p:otherStyle>
      <a:lvl1pPr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498604B-888D-47AF-94A2-5A8BC1A5502C}"/>
              </a:ext>
            </a:extLst>
          </p:cNvPr>
          <p:cNvSpPr>
            <a:spLocks noGrp="1"/>
          </p:cNvSpPr>
          <p:nvPr/>
        </p:nvSpPr>
        <p:spPr>
          <a:xfrm>
            <a:off x="476250" y="1390650"/>
            <a:ext cx="5334000" cy="10477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315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Vietnamese Lexical</a:t>
            </a:r>
          </a:p>
          <a:p>
            <a:r>
              <a:rPr sz="315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Decision Task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C836E6-7CBE-4D33-B4AD-6248DBF3B191}"/>
              </a:ext>
            </a:extLst>
          </p:cNvPr>
          <p:cNvSpPr>
            <a:spLocks noGrp="1"/>
          </p:cNvSpPr>
          <p:nvPr/>
        </p:nvSpPr>
        <p:spPr>
          <a:xfrm>
            <a:off x="504825" y="3451678"/>
            <a:ext cx="4381500" cy="5905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dirty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Dang Nhat Quang</a:t>
            </a:r>
          </a:p>
          <a:p>
            <a:r>
              <a:rPr sz="900" dirty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Supervisor: Prof. Dr. Tibor Kiss</a:t>
            </a:r>
          </a:p>
          <a:p>
            <a:r>
              <a:rPr sz="900" dirty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12 June 2026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671E3DB-1E39-4391-8B26-23AE3FDD4270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8024C8-C808-4C3A-8E3D-8EE82098BE49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02 | RESEARCH 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417634-6C6A-464C-90A3-3D409A37B118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talk follows the project from linguistic motivation to cautious preliminary results.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03CA0-8E3C-45B3-9009-A2FAF0B8C0A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7AAED1-E838-4099-8442-A2F178617837}"/>
              </a:ext>
            </a:extLst>
          </p:cNvPr>
          <p:cNvSpPr>
            <a:spLocks noGrp="1"/>
          </p:cNvSpPr>
          <p:nvPr/>
        </p:nvSpPr>
        <p:spPr>
          <a:xfrm>
            <a:off x="552450" y="1285875"/>
            <a:ext cx="1695450" cy="781050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6F7C47-F8DC-4152-8D4D-E0CE5BED5695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14668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Background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03D845-FF9E-4E2B-9A64-43FB35483259}"/>
              </a:ext>
            </a:extLst>
          </p:cNvPr>
          <p:cNvSpPr>
            <a:spLocks noGrp="1"/>
          </p:cNvSpPr>
          <p:nvPr/>
        </p:nvSpPr>
        <p:spPr>
          <a:xfrm>
            <a:off x="666750" y="1609725"/>
            <a:ext cx="1466850" cy="381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6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Vietnamese writing and spacing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79741-BDAB-4916-AFB2-F02EB74115B5}"/>
              </a:ext>
            </a:extLst>
          </p:cNvPr>
          <p:cNvSpPr>
            <a:spLocks noGrp="1"/>
          </p:cNvSpPr>
          <p:nvPr/>
        </p:nvSpPr>
        <p:spPr>
          <a:xfrm>
            <a:off x="2266950" y="155257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3B8466-2F54-46A7-AD31-C6104616FFEA}"/>
              </a:ext>
            </a:extLst>
          </p:cNvPr>
          <p:cNvSpPr>
            <a:spLocks noGrp="1"/>
          </p:cNvSpPr>
          <p:nvPr/>
        </p:nvSpPr>
        <p:spPr>
          <a:xfrm>
            <a:off x="2505075" y="1285875"/>
            <a:ext cx="1695450" cy="781050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D6C93-E810-437B-AFA7-17CB921CD2FE}"/>
              </a:ext>
            </a:extLst>
          </p:cNvPr>
          <p:cNvSpPr>
            <a:spLocks noGrp="1"/>
          </p:cNvSpPr>
          <p:nvPr/>
        </p:nvSpPr>
        <p:spPr>
          <a:xfrm>
            <a:off x="2619375" y="1381125"/>
            <a:ext cx="14668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Problem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01189B-51BB-446D-B4ED-4CCEEBD5F64E}"/>
              </a:ext>
            </a:extLst>
          </p:cNvPr>
          <p:cNvSpPr>
            <a:spLocks noGrp="1"/>
          </p:cNvSpPr>
          <p:nvPr/>
        </p:nvSpPr>
        <p:spPr>
          <a:xfrm>
            <a:off x="2619375" y="1609725"/>
            <a:ext cx="1466850" cy="381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6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syllables are spaced, lexical words may be multi-syllabic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EEA94D-D129-4386-9E4E-CC5A9A01B486}"/>
              </a:ext>
            </a:extLst>
          </p:cNvPr>
          <p:cNvSpPr>
            <a:spLocks noGrp="1"/>
          </p:cNvSpPr>
          <p:nvPr/>
        </p:nvSpPr>
        <p:spPr>
          <a:xfrm>
            <a:off x="4219575" y="155257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F67E92-DDF9-4CCF-A29E-2D9C43416890}"/>
              </a:ext>
            </a:extLst>
          </p:cNvPr>
          <p:cNvSpPr>
            <a:spLocks noGrp="1"/>
          </p:cNvSpPr>
          <p:nvPr/>
        </p:nvSpPr>
        <p:spPr>
          <a:xfrm>
            <a:off x="4457700" y="1285875"/>
            <a:ext cx="1695450" cy="781050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16D88E-965E-4BDF-A6BC-C8EEE0132CC8}"/>
              </a:ext>
            </a:extLst>
          </p:cNvPr>
          <p:cNvSpPr>
            <a:spLocks noGrp="1"/>
          </p:cNvSpPr>
          <p:nvPr/>
        </p:nvSpPr>
        <p:spPr>
          <a:xfrm>
            <a:off x="4572000" y="1381125"/>
            <a:ext cx="14668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Design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402C3D-18BF-4AEA-962F-04B08D59E77B}"/>
              </a:ext>
            </a:extLst>
          </p:cNvPr>
          <p:cNvSpPr>
            <a:spLocks noGrp="1"/>
          </p:cNvSpPr>
          <p:nvPr/>
        </p:nvSpPr>
        <p:spPr>
          <a:xfrm>
            <a:off x="4572000" y="1609725"/>
            <a:ext cx="1466850" cy="381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6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3 x 4 within-participant lexical decision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CA5CCC-EE1E-40BC-A456-E277B8B7E06F}"/>
              </a:ext>
            </a:extLst>
          </p:cNvPr>
          <p:cNvSpPr>
            <a:spLocks noGrp="1"/>
          </p:cNvSpPr>
          <p:nvPr/>
        </p:nvSpPr>
        <p:spPr>
          <a:xfrm>
            <a:off x="6172200" y="155257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563C5C-97D5-47D5-B146-A7C0A5358465}"/>
              </a:ext>
            </a:extLst>
          </p:cNvPr>
          <p:cNvSpPr>
            <a:spLocks noGrp="1"/>
          </p:cNvSpPr>
          <p:nvPr/>
        </p:nvSpPr>
        <p:spPr>
          <a:xfrm>
            <a:off x="6410325" y="1285875"/>
            <a:ext cx="1695450" cy="78105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0CBEFE-472B-4817-A912-821DD8A98568}"/>
              </a:ext>
            </a:extLst>
          </p:cNvPr>
          <p:cNvSpPr>
            <a:spLocks noGrp="1"/>
          </p:cNvSpPr>
          <p:nvPr/>
        </p:nvSpPr>
        <p:spPr>
          <a:xfrm>
            <a:off x="6524625" y="1381125"/>
            <a:ext cx="14668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Pipeline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BFA031-BF6C-441A-A4A0-ADD11C5F2EB7}"/>
              </a:ext>
            </a:extLst>
          </p:cNvPr>
          <p:cNvSpPr>
            <a:spLocks noGrp="1"/>
          </p:cNvSpPr>
          <p:nvPr/>
        </p:nvSpPr>
        <p:spPr>
          <a:xfrm>
            <a:off x="6524625" y="1609725"/>
            <a:ext cx="1466850" cy="381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6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PsychoPy/Pavlovia, Python/pandas, R Markdown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9C2995-65A4-4181-813C-EC96CD7B9B84}"/>
              </a:ext>
            </a:extLst>
          </p:cNvPr>
          <p:cNvSpPr>
            <a:spLocks noGrp="1"/>
          </p:cNvSpPr>
          <p:nvPr/>
        </p:nvSpPr>
        <p:spPr>
          <a:xfrm>
            <a:off x="552450" y="2428875"/>
            <a:ext cx="1695450" cy="78105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0E904B-0FD5-4D6B-96D6-2D0672A53E23}"/>
              </a:ext>
            </a:extLst>
          </p:cNvPr>
          <p:cNvSpPr>
            <a:spLocks noGrp="1"/>
          </p:cNvSpPr>
          <p:nvPr/>
        </p:nvSpPr>
        <p:spPr>
          <a:xfrm>
            <a:off x="666750" y="2524125"/>
            <a:ext cx="14668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QC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B1A784-5DFA-476F-8E71-D5F43E27B1C3}"/>
              </a:ext>
            </a:extLst>
          </p:cNvPr>
          <p:cNvSpPr>
            <a:spLocks noGrp="1"/>
          </p:cNvSpPr>
          <p:nvPr/>
        </p:nvSpPr>
        <p:spPr>
          <a:xfrm>
            <a:off x="666750" y="2752725"/>
            <a:ext cx="1466850" cy="381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6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participant, item, trial, RT, response checks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D56C68-2370-4250-A46B-49B053225E7C}"/>
              </a:ext>
            </a:extLst>
          </p:cNvPr>
          <p:cNvSpPr>
            <a:spLocks noGrp="1"/>
          </p:cNvSpPr>
          <p:nvPr/>
        </p:nvSpPr>
        <p:spPr>
          <a:xfrm>
            <a:off x="2266950" y="269557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0E0AAB-5E4A-4BFA-9F1E-522F2DEC2A82}"/>
              </a:ext>
            </a:extLst>
          </p:cNvPr>
          <p:cNvSpPr>
            <a:spLocks noGrp="1"/>
          </p:cNvSpPr>
          <p:nvPr/>
        </p:nvSpPr>
        <p:spPr>
          <a:xfrm>
            <a:off x="2505075" y="2428875"/>
            <a:ext cx="1695450" cy="78105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7AA0A5-8B4A-4182-8686-0618A3E271E0}"/>
              </a:ext>
            </a:extLst>
          </p:cNvPr>
          <p:cNvSpPr>
            <a:spLocks noGrp="1"/>
          </p:cNvSpPr>
          <p:nvPr/>
        </p:nvSpPr>
        <p:spPr>
          <a:xfrm>
            <a:off x="2619375" y="2524125"/>
            <a:ext cx="14668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Results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6A27C0-B8DC-4896-8FF8-066B67CB0AFA}"/>
              </a:ext>
            </a:extLst>
          </p:cNvPr>
          <p:cNvSpPr>
            <a:spLocks noGrp="1"/>
          </p:cNvSpPr>
          <p:nvPr/>
        </p:nvSpPr>
        <p:spPr>
          <a:xfrm>
            <a:off x="2619375" y="2752725"/>
            <a:ext cx="1466850" cy="381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6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frequency, length, interaction, diagnostics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BAE054-067E-45C6-B7DF-CC95258E8AE3}"/>
              </a:ext>
            </a:extLst>
          </p:cNvPr>
          <p:cNvSpPr>
            <a:spLocks noGrp="1"/>
          </p:cNvSpPr>
          <p:nvPr/>
        </p:nvSpPr>
        <p:spPr>
          <a:xfrm>
            <a:off x="4219575" y="269557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5EA792-3D71-4C93-A49C-917220609904}"/>
              </a:ext>
            </a:extLst>
          </p:cNvPr>
          <p:cNvSpPr>
            <a:spLocks noGrp="1"/>
          </p:cNvSpPr>
          <p:nvPr/>
        </p:nvSpPr>
        <p:spPr>
          <a:xfrm>
            <a:off x="4457700" y="2428875"/>
            <a:ext cx="1695450" cy="78105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EBEC40-1912-48A8-B2B7-8AEB2E124E3B}"/>
              </a:ext>
            </a:extLst>
          </p:cNvPr>
          <p:cNvSpPr>
            <a:spLocks noGrp="1"/>
          </p:cNvSpPr>
          <p:nvPr/>
        </p:nvSpPr>
        <p:spPr>
          <a:xfrm>
            <a:off x="4572000" y="2524125"/>
            <a:ext cx="14668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Next steps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619B88-5F75-4EBC-87A6-33D60615F8CB}"/>
              </a:ext>
            </a:extLst>
          </p:cNvPr>
          <p:cNvSpPr>
            <a:spLocks noGrp="1"/>
          </p:cNvSpPr>
          <p:nvPr/>
        </p:nvSpPr>
        <p:spPr>
          <a:xfrm>
            <a:off x="4572000" y="2752725"/>
            <a:ext cx="1466850" cy="381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6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limitations and six-month plan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7DABF2-5967-49D5-8B9A-BE01FFDE86B9}"/>
              </a:ext>
            </a:extLst>
          </p:cNvPr>
          <p:cNvSpPr>
            <a:spLocks noGrp="1"/>
          </p:cNvSpPr>
          <p:nvPr/>
        </p:nvSpPr>
        <p:spPr>
          <a:xfrm>
            <a:off x="552450" y="3857625"/>
            <a:ext cx="6858000" cy="4191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1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Aim for the presentation: show that the experiment is methodologically defensible, reproducible, and interpreted carefully.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7FBF14E-BC32-45FA-BE18-1A466446794E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AFE975-231B-428A-BE76-C4A60658D992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03 | BACKGROUND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52C54-4CE0-4631-92FD-9A8472B4F3E8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 dirty="0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Quốc </a:t>
            </a:r>
            <a:r>
              <a:rPr sz="2175" b="1" dirty="0" err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ngữ</a:t>
            </a:r>
            <a:r>
              <a:rPr sz="2175" b="1" dirty="0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 is the current endpoint of a layered writing history, not a single-inventor story.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38B272-4E10-4908-B5AC-C92352BB000E}"/>
              </a:ext>
            </a:extLst>
          </p:cNvPr>
          <p:cNvSpPr>
            <a:spLocks noGrp="1"/>
          </p:cNvSpPr>
          <p:nvPr/>
        </p:nvSpPr>
        <p:spPr>
          <a:xfrm>
            <a:off x="476250" y="4514850"/>
            <a:ext cx="6667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Sources: Fernandes &amp; Assunção, 2017; DeFrancis, 1977; Encyclopaedia Britannica,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579CD3-72F2-4993-B85D-DA61F492841D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95C54B-1BC5-49F9-99A6-F2068384DED9}"/>
              </a:ext>
            </a:extLst>
          </p:cNvPr>
          <p:cNvSpPr>
            <a:spLocks noGrp="1"/>
          </p:cNvSpPr>
          <p:nvPr/>
        </p:nvSpPr>
        <p:spPr>
          <a:xfrm>
            <a:off x="685800" y="1704975"/>
            <a:ext cx="1952625" cy="904875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F17BD-F437-4501-9213-0E61B792D285}"/>
              </a:ext>
            </a:extLst>
          </p:cNvPr>
          <p:cNvSpPr>
            <a:spLocks noGrp="1"/>
          </p:cNvSpPr>
          <p:nvPr/>
        </p:nvSpPr>
        <p:spPr>
          <a:xfrm>
            <a:off x="752475" y="1704975"/>
            <a:ext cx="178117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Chữ Hán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352D5A-D797-41D4-AD73-83B5960C0163}"/>
              </a:ext>
            </a:extLst>
          </p:cNvPr>
          <p:cNvSpPr>
            <a:spLocks noGrp="1"/>
          </p:cNvSpPr>
          <p:nvPr/>
        </p:nvSpPr>
        <p:spPr>
          <a:xfrm>
            <a:off x="752475" y="1914525"/>
            <a:ext cx="1781175" cy="5429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 dirty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Chinese characters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 dirty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administration, scholarship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E855EC-BAC8-4C7A-BF0F-C144DD084A07}"/>
              </a:ext>
            </a:extLst>
          </p:cNvPr>
          <p:cNvSpPr>
            <a:spLocks noGrp="1"/>
          </p:cNvSpPr>
          <p:nvPr/>
        </p:nvSpPr>
        <p:spPr>
          <a:xfrm>
            <a:off x="2733675" y="195262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953EA3-E4CD-4364-BCA5-B4A82A7EA533}"/>
              </a:ext>
            </a:extLst>
          </p:cNvPr>
          <p:cNvSpPr>
            <a:spLocks noGrp="1"/>
          </p:cNvSpPr>
          <p:nvPr/>
        </p:nvSpPr>
        <p:spPr>
          <a:xfrm>
            <a:off x="3286125" y="1619250"/>
            <a:ext cx="1952625" cy="904875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B8917B-A224-4049-9F06-09F862D7A75C}"/>
              </a:ext>
            </a:extLst>
          </p:cNvPr>
          <p:cNvSpPr>
            <a:spLocks noGrp="1"/>
          </p:cNvSpPr>
          <p:nvPr/>
        </p:nvSpPr>
        <p:spPr>
          <a:xfrm>
            <a:off x="3371850" y="1704975"/>
            <a:ext cx="178117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Chữ Nôm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DEDB6E-9593-4D7A-9CE7-F5C4CBC4D521}"/>
              </a:ext>
            </a:extLst>
          </p:cNvPr>
          <p:cNvSpPr>
            <a:spLocks noGrp="1"/>
          </p:cNvSpPr>
          <p:nvPr/>
        </p:nvSpPr>
        <p:spPr>
          <a:xfrm>
            <a:off x="3371850" y="1914525"/>
            <a:ext cx="1781175" cy="5429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vernacular Vietnamese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adapted/created characters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6B5E0-2BFC-4A2C-85A3-4F6DB60C2D1B}"/>
              </a:ext>
            </a:extLst>
          </p:cNvPr>
          <p:cNvSpPr>
            <a:spLocks noGrp="1"/>
          </p:cNvSpPr>
          <p:nvPr/>
        </p:nvSpPr>
        <p:spPr>
          <a:xfrm>
            <a:off x="5353050" y="195262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721E7A-C5DC-47CF-9863-E6B80A23FB6E}"/>
              </a:ext>
            </a:extLst>
          </p:cNvPr>
          <p:cNvSpPr>
            <a:spLocks noGrp="1"/>
          </p:cNvSpPr>
          <p:nvPr/>
        </p:nvSpPr>
        <p:spPr>
          <a:xfrm>
            <a:off x="5905500" y="1619250"/>
            <a:ext cx="1952625" cy="904875"/>
          </a:xfrm>
          <a:prstGeom prst="rect">
            <a:avLst/>
          </a:prstGeom>
          <a:solidFill>
            <a:srgbClr val="DDECB3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E9E66B-D75E-409F-B386-D2C1BE744E6B}"/>
              </a:ext>
            </a:extLst>
          </p:cNvPr>
          <p:cNvSpPr>
            <a:spLocks noGrp="1"/>
          </p:cNvSpPr>
          <p:nvPr/>
        </p:nvSpPr>
        <p:spPr>
          <a:xfrm>
            <a:off x="5991225" y="1704975"/>
            <a:ext cx="178117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Quốc ngữ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0D3E4C-FBAA-48F7-B3E2-385976BB25E7}"/>
              </a:ext>
            </a:extLst>
          </p:cNvPr>
          <p:cNvSpPr>
            <a:spLocks noGrp="1"/>
          </p:cNvSpPr>
          <p:nvPr/>
        </p:nvSpPr>
        <p:spPr>
          <a:xfrm>
            <a:off x="5991225" y="1914525"/>
            <a:ext cx="1781175" cy="5429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Latin-based Vietnamese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missionary codification, later mass adoption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060063-7A5F-4FFF-AE21-282B34244B35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7096125" cy="742950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7C495B-8AFD-40AD-88E7-1F6365E0D86C}"/>
              </a:ext>
            </a:extLst>
          </p:cNvPr>
          <p:cNvSpPr>
            <a:spLocks noGrp="1"/>
          </p:cNvSpPr>
          <p:nvPr/>
        </p:nvSpPr>
        <p:spPr>
          <a:xfrm>
            <a:off x="971550" y="3095625"/>
            <a:ext cx="68675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Clarification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1F1665-02B5-4169-AA03-B4AA6B0CEF1F}"/>
              </a:ext>
            </a:extLst>
          </p:cNvPr>
          <p:cNvSpPr>
            <a:spLocks noGrp="1"/>
          </p:cNvSpPr>
          <p:nvPr/>
        </p:nvSpPr>
        <p:spPr>
          <a:xfrm>
            <a:off x="971550" y="3324225"/>
            <a:ext cx="6867525" cy="3429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15" dirty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The modern script was shaped by several European missionaries. Portuguese Jesuits were central in early romanization; Alexandre de Rhodes published an influential Vietnamese-Portuguese-Latin dictionary in 1651. Later French colonial schooling/administration and Vietnamese print culture helped Quốc </a:t>
            </a:r>
            <a:r>
              <a:rPr sz="915" dirty="0" err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ngữ</a:t>
            </a:r>
            <a:r>
              <a:rPr sz="915" dirty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 spread.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4EE16C-68F9-42DA-89E0-201922942B78}"/>
              </a:ext>
            </a:extLst>
          </p:cNvPr>
          <p:cNvSpPr>
            <a:spLocks noGrp="1"/>
          </p:cNvSpPr>
          <p:nvPr/>
        </p:nvSpPr>
        <p:spPr>
          <a:xfrm>
            <a:off x="876300" y="3952875"/>
            <a:ext cx="6667500" cy="3048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05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Why this matters here: the modern script is alphabetic and spaced, but spacing does not make Vietnamese word boundaries simple.</a:t>
            </a:r>
          </a:p>
        </p:txBody>
      </p:sp>
      <p:pic>
        <p:nvPicPr>
          <p:cNvPr id="22" name="Picture 21" descr="1 Phương pháp luyện viết chữ Hán đẹp cho người mới bắt đầu – Thư Pháp Dụng  Phẩm">
            <a:extLst>
              <a:ext uri="{FF2B5EF4-FFF2-40B4-BE49-F238E27FC236}">
                <a16:creationId xmlns:a16="http://schemas.microsoft.com/office/drawing/2014/main" id="{B011B075-0F2B-347B-CA28-5222C7E4D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214" y="2264093"/>
            <a:ext cx="797696" cy="695325"/>
          </a:xfrm>
          <a:prstGeom prst="rect">
            <a:avLst/>
          </a:prstGeom>
        </p:spPr>
      </p:pic>
      <p:pic>
        <p:nvPicPr>
          <p:cNvPr id="23" name="Picture 22" descr="Chữ Nôm, Hán Nôm, and Chữ Quốc Ngữ: Addressing Common Misconceptions :  r/ChuNom">
            <a:extLst>
              <a:ext uri="{FF2B5EF4-FFF2-40B4-BE49-F238E27FC236}">
                <a16:creationId xmlns:a16="http://schemas.microsoft.com/office/drawing/2014/main" id="{9FC29C22-48DF-4C97-A247-03F5A07E6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769" y="2288858"/>
            <a:ext cx="711335" cy="742950"/>
          </a:xfrm>
          <a:prstGeom prst="rect">
            <a:avLst/>
          </a:prstGeom>
        </p:spPr>
      </p:pic>
      <p:pic>
        <p:nvPicPr>
          <p:cNvPr id="24" name="Picture 23" descr="Tại sao Bảng chữ cái tiếng Việt cần phải được “chuẩn hóa”? | Nghiên Cứu  Lịch Sử">
            <a:extLst>
              <a:ext uri="{FF2B5EF4-FFF2-40B4-BE49-F238E27FC236}">
                <a16:creationId xmlns:a16="http://schemas.microsoft.com/office/drawing/2014/main" id="{725EA368-6D08-F04C-B1CE-99449FA28D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513" y="2281238"/>
            <a:ext cx="656273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734935C-0573-45A0-887E-14D6049B04DF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2CFA01-B116-4A9A-9064-A3EFC1CF5DA8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04 | TOKENIZATION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20BE24-323E-4525-86C5-DD69C44422DC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Vietnamese spaces often separate syllables, while lexical words may contain several syllables.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B23364-312C-4339-BBE6-BBC127A80E97}"/>
              </a:ext>
            </a:extLst>
          </p:cNvPr>
          <p:cNvSpPr>
            <a:spLocks noGrp="1"/>
          </p:cNvSpPr>
          <p:nvPr/>
        </p:nvSpPr>
        <p:spPr>
          <a:xfrm>
            <a:off x="476250" y="4514850"/>
            <a:ext cx="6667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Sources: Ha, 2003; Đinh et al., 2008; Verdonschot et al., 2022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C67E5-A4B8-4DB8-9695-36C82D54FA7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9D55F2-9B79-4343-934E-3919E124ED3B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9050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Example string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98C90E-D35A-43DE-AA9E-FC473BE7E439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5238750" cy="381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25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sinh viên học tiếng Việt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280CDB-20EC-4E47-84E7-0F00395264B6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28600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Syllable-spaced orthography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CB566E-8870-4EDA-97E8-E999F7D210CA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914400" cy="41910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5FA80E-0B38-4573-8954-C34541ADCB9A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sinh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4AA07B-CCF8-41E1-810C-6FC3F07D7F04}"/>
              </a:ext>
            </a:extLst>
          </p:cNvPr>
          <p:cNvSpPr>
            <a:spLocks noGrp="1"/>
          </p:cNvSpPr>
          <p:nvPr/>
        </p:nvSpPr>
        <p:spPr>
          <a:xfrm>
            <a:off x="1847850" y="2476500"/>
            <a:ext cx="914400" cy="41910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06E85E-0432-4421-8009-C6510E20535A}"/>
              </a:ext>
            </a:extLst>
          </p:cNvPr>
          <p:cNvSpPr>
            <a:spLocks noGrp="1"/>
          </p:cNvSpPr>
          <p:nvPr/>
        </p:nvSpPr>
        <p:spPr>
          <a:xfrm>
            <a:off x="1847850" y="25908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viên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799DED-69AE-49B3-A18D-EDA697FB04B2}"/>
              </a:ext>
            </a:extLst>
          </p:cNvPr>
          <p:cNvSpPr>
            <a:spLocks noGrp="1"/>
          </p:cNvSpPr>
          <p:nvPr/>
        </p:nvSpPr>
        <p:spPr>
          <a:xfrm>
            <a:off x="3009900" y="2476500"/>
            <a:ext cx="914400" cy="41910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1C7702-7391-442F-976A-83680FFD9C65}"/>
              </a:ext>
            </a:extLst>
          </p:cNvPr>
          <p:cNvSpPr>
            <a:spLocks noGrp="1"/>
          </p:cNvSpPr>
          <p:nvPr/>
        </p:nvSpPr>
        <p:spPr>
          <a:xfrm>
            <a:off x="3009900" y="25908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học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C6DEE6-6ECC-42D4-864D-175C67956AC7}"/>
              </a:ext>
            </a:extLst>
          </p:cNvPr>
          <p:cNvSpPr>
            <a:spLocks noGrp="1"/>
          </p:cNvSpPr>
          <p:nvPr/>
        </p:nvSpPr>
        <p:spPr>
          <a:xfrm>
            <a:off x="4171950" y="2476500"/>
            <a:ext cx="914400" cy="41910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22A25A-81C9-4A8F-B006-93D2FC7EC193}"/>
              </a:ext>
            </a:extLst>
          </p:cNvPr>
          <p:cNvSpPr>
            <a:spLocks noGrp="1"/>
          </p:cNvSpPr>
          <p:nvPr/>
        </p:nvSpPr>
        <p:spPr>
          <a:xfrm>
            <a:off x="4171950" y="25908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tiếng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5147CD-0C52-49D9-BC1A-BB3CF9C0F004}"/>
              </a:ext>
            </a:extLst>
          </p:cNvPr>
          <p:cNvSpPr>
            <a:spLocks noGrp="1"/>
          </p:cNvSpPr>
          <p:nvPr/>
        </p:nvSpPr>
        <p:spPr>
          <a:xfrm>
            <a:off x="5334000" y="2476500"/>
            <a:ext cx="914400" cy="41910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247D93-E5AD-453C-810A-708B456A24AD}"/>
              </a:ext>
            </a:extLst>
          </p:cNvPr>
          <p:cNvSpPr>
            <a:spLocks noGrp="1"/>
          </p:cNvSpPr>
          <p:nvPr/>
        </p:nvSpPr>
        <p:spPr>
          <a:xfrm>
            <a:off x="5334000" y="2590800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Việt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00E0E2-E13F-4DBF-82D8-D66436B62177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228600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Lexical-word interpretation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40AAA7-ADCD-4066-AD9D-B9FE222F4FBC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2076450" cy="457200"/>
          </a:xfrm>
          <a:prstGeom prst="rect">
            <a:avLst/>
          </a:prstGeom>
          <a:solidFill>
            <a:srgbClr val="DDECB3"/>
          </a:solidFill>
          <a:ln w="9525">
            <a:solidFill>
              <a:srgbClr val="8DB600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810067-59C7-49A0-8BEB-C4C2A0B64D58}"/>
              </a:ext>
            </a:extLst>
          </p:cNvPr>
          <p:cNvSpPr>
            <a:spLocks noGrp="1"/>
          </p:cNvSpPr>
          <p:nvPr/>
        </p:nvSpPr>
        <p:spPr>
          <a:xfrm>
            <a:off x="685800" y="3609975"/>
            <a:ext cx="20764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sinh viên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AC9173-2E9B-443F-976C-1D4F62A2C248}"/>
              </a:ext>
            </a:extLst>
          </p:cNvPr>
          <p:cNvSpPr>
            <a:spLocks noGrp="1"/>
          </p:cNvSpPr>
          <p:nvPr/>
        </p:nvSpPr>
        <p:spPr>
          <a:xfrm>
            <a:off x="3000375" y="3486150"/>
            <a:ext cx="914400" cy="457200"/>
          </a:xfrm>
          <a:prstGeom prst="rect">
            <a:avLst/>
          </a:prstGeom>
          <a:solidFill>
            <a:srgbClr val="DDECB3"/>
          </a:solidFill>
          <a:ln w="9525">
            <a:solidFill>
              <a:srgbClr val="8DB600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8E35D9-2D06-4E8A-8FA8-DF1FD39CABA3}"/>
              </a:ext>
            </a:extLst>
          </p:cNvPr>
          <p:cNvSpPr>
            <a:spLocks noGrp="1"/>
          </p:cNvSpPr>
          <p:nvPr/>
        </p:nvSpPr>
        <p:spPr>
          <a:xfrm>
            <a:off x="3000375" y="3609975"/>
            <a:ext cx="914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học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9DA496-9726-4ED6-B863-58AA2BA31B9D}"/>
              </a:ext>
            </a:extLst>
          </p:cNvPr>
          <p:cNvSpPr>
            <a:spLocks noGrp="1"/>
          </p:cNvSpPr>
          <p:nvPr/>
        </p:nvSpPr>
        <p:spPr>
          <a:xfrm>
            <a:off x="4171950" y="3486150"/>
            <a:ext cx="2076450" cy="457200"/>
          </a:xfrm>
          <a:prstGeom prst="rect">
            <a:avLst/>
          </a:prstGeom>
          <a:solidFill>
            <a:srgbClr val="DDECB3"/>
          </a:solidFill>
          <a:ln w="9525">
            <a:solidFill>
              <a:srgbClr val="8DB600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9ED850-76D7-4265-8B8D-4B9C0EB62BAC}"/>
              </a:ext>
            </a:extLst>
          </p:cNvPr>
          <p:cNvSpPr>
            <a:spLocks noGrp="1"/>
          </p:cNvSpPr>
          <p:nvPr/>
        </p:nvSpPr>
        <p:spPr>
          <a:xfrm>
            <a:off x="4171950" y="3609975"/>
            <a:ext cx="20764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tiếng Việt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CCF865-DB53-4466-B933-FD1DA7BF8605}"/>
              </a:ext>
            </a:extLst>
          </p:cNvPr>
          <p:cNvSpPr>
            <a:spLocks noGrp="1"/>
          </p:cNvSpPr>
          <p:nvPr/>
        </p:nvSpPr>
        <p:spPr>
          <a:xfrm>
            <a:off x="6715125" y="1562100"/>
            <a:ext cx="1524000" cy="1714500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4B111E-50DE-4DF7-8657-D7FAA31FE864}"/>
              </a:ext>
            </a:extLst>
          </p:cNvPr>
          <p:cNvSpPr>
            <a:spLocks noGrp="1"/>
          </p:cNvSpPr>
          <p:nvPr/>
        </p:nvSpPr>
        <p:spPr>
          <a:xfrm>
            <a:off x="6829425" y="1657350"/>
            <a:ext cx="129540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Key point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59EC1F-25A2-4B00-9AC3-6329ED0C62B6}"/>
              </a:ext>
            </a:extLst>
          </p:cNvPr>
          <p:cNvSpPr>
            <a:spLocks noGrp="1"/>
          </p:cNvSpPr>
          <p:nvPr/>
        </p:nvSpPr>
        <p:spPr>
          <a:xfrm>
            <a:off x="6829425" y="1885950"/>
            <a:ext cx="1295400" cy="1314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space ≠ lexical word boundary</a:t>
            </a:r>
          </a:p>
          <a:p>
            <a:endParaRPr sz="975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This is why Vietnamese word segmentation is non-trivial for NLP and for stimulus selection.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D9B494B-D5A0-427D-AE59-ED8D44D53B03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73F8E1-D774-444E-8EB8-06B7CF18867B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05 | PROJECT SCOPE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15B307-C63D-4F86-8859-6CBDFA324FB7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project does not solve Vietnamese tokenization; it tests frequency and syllable length in lexical decision.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1D56E-0865-435B-BB97-049842D9BC3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DB5422-C959-480F-A197-2949DC4B34D6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2286000" cy="1524000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EDE0CE-AB66-4155-8009-B89CACD3D21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05740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Not the goal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EE3AD-7348-4F8C-B8E8-13D2E01F06AC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057400" cy="11239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Build a full Vietnamese word segmenter</a:t>
            </a:r>
          </a:p>
          <a:p>
            <a:endParaRPr sz="975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Resolve all lexical boundary ambiguity</a:t>
            </a:r>
          </a:p>
          <a:p>
            <a:endParaRPr sz="975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Classify every possible multi-syllable string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CE06AE-3536-4C74-AC06-E948B870476E}"/>
              </a:ext>
            </a:extLst>
          </p:cNvPr>
          <p:cNvSpPr>
            <a:spLocks noGrp="1"/>
          </p:cNvSpPr>
          <p:nvPr/>
        </p:nvSpPr>
        <p:spPr>
          <a:xfrm>
            <a:off x="3429000" y="1428750"/>
            <a:ext cx="2286000" cy="1524000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AE653-EF98-4284-9C56-F61701561339}"/>
              </a:ext>
            </a:extLst>
          </p:cNvPr>
          <p:cNvSpPr>
            <a:spLocks noGrp="1"/>
          </p:cNvSpPr>
          <p:nvPr/>
        </p:nvSpPr>
        <p:spPr>
          <a:xfrm>
            <a:off x="3543300" y="1524000"/>
            <a:ext cx="205740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Actual goal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9F57EF-9D44-4AEA-82CE-F1073E9C9AB1}"/>
              </a:ext>
            </a:extLst>
          </p:cNvPr>
          <p:cNvSpPr>
            <a:spLocks noGrp="1"/>
          </p:cNvSpPr>
          <p:nvPr/>
        </p:nvSpPr>
        <p:spPr>
          <a:xfrm>
            <a:off x="3543300" y="1752600"/>
            <a:ext cx="2057400" cy="11239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Use a controlled lexical decision task</a:t>
            </a:r>
          </a:p>
          <a:p>
            <a:endParaRPr sz="975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Manipulate frequency group and syllable length</a:t>
            </a:r>
          </a:p>
          <a:p>
            <a:endParaRPr sz="975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Measure RT and accuracy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A6D8C4-177B-43A3-93A8-C0DEBFEEE1A7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2000250" cy="152400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570429-2B3F-4247-A760-C02484207494}"/>
              </a:ext>
            </a:extLst>
          </p:cNvPr>
          <p:cNvSpPr>
            <a:spLocks noGrp="1"/>
          </p:cNvSpPr>
          <p:nvPr/>
        </p:nvSpPr>
        <p:spPr>
          <a:xfrm>
            <a:off x="6400800" y="1524000"/>
            <a:ext cx="17716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Contribution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E9F7CA-BF52-43EA-9DA1-2CDC4427F8C6}"/>
              </a:ext>
            </a:extLst>
          </p:cNvPr>
          <p:cNvSpPr>
            <a:spLocks noGrp="1"/>
          </p:cNvSpPr>
          <p:nvPr/>
        </p:nvSpPr>
        <p:spPr>
          <a:xfrm>
            <a:off x="6400800" y="1752600"/>
            <a:ext cx="1771650" cy="11239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A clean psycholinguistic test case for Vietnamese visual word recognition.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EE0910-13E6-4B70-9EEB-77815A493D4A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6858000" cy="1905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7F1B12-04DB-4A27-AC83-18B7FAA331F3}"/>
              </a:ext>
            </a:extLst>
          </p:cNvPr>
          <p:cNvSpPr>
            <a:spLocks noGrp="1"/>
          </p:cNvSpPr>
          <p:nvPr/>
        </p:nvSpPr>
        <p:spPr>
          <a:xfrm>
            <a:off x="1047750" y="3638550"/>
            <a:ext cx="66675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Core predictor structure: frequency group (low / mid / high) x syllable length (1 / 2 / 3 / 4)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F29ED04-C23D-4C35-BA8C-67F4F80DE998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A9B076-AD3F-4F16-ACF2-53756996BD63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06 | RESEARCH QUESTION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EA8033-2B31-4E00-B397-EAE2041F181E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Do frequency group and syllable length predict Vietnamese lexical-decision response times?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2C0AC-652B-42F8-8807-5601606B8E5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032D01-3995-498E-B516-523151534D9D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7524750" cy="70485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5CEE1C-6CAC-4D92-AE96-01DF6DF40745}"/>
              </a:ext>
            </a:extLst>
          </p:cNvPr>
          <p:cNvSpPr>
            <a:spLocks noGrp="1"/>
          </p:cNvSpPr>
          <p:nvPr/>
        </p:nvSpPr>
        <p:spPr>
          <a:xfrm>
            <a:off x="914400" y="1438275"/>
            <a:ext cx="70294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How do corpus frequency group and syllable length affect log reaction time for correct Vietnamese real-word responses?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534EF6-6357-49F8-BACA-E4FCF0A8A3FB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2190750" cy="1200150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E0724-8ED1-48C2-8473-EB3AFCA93C30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19621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H1: frequency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2A40BD-80EF-497B-B762-6517AD12465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1962150" cy="8001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High-frequency words should be recognized faster than low-frequency words.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7858F-AD9C-46DB-B977-28C613DB0D56}"/>
              </a:ext>
            </a:extLst>
          </p:cNvPr>
          <p:cNvSpPr>
            <a:spLocks noGrp="1"/>
          </p:cNvSpPr>
          <p:nvPr/>
        </p:nvSpPr>
        <p:spPr>
          <a:xfrm>
            <a:off x="3343275" y="2400300"/>
            <a:ext cx="2190750" cy="1200150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A73EB-EE8B-4649-9A50-AEA1B75DD3F9}"/>
              </a:ext>
            </a:extLst>
          </p:cNvPr>
          <p:cNvSpPr>
            <a:spLocks noGrp="1"/>
          </p:cNvSpPr>
          <p:nvPr/>
        </p:nvSpPr>
        <p:spPr>
          <a:xfrm>
            <a:off x="3457575" y="2495550"/>
            <a:ext cx="19621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H2: length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7CE24D-C0FF-43EE-BFD7-657CCDD470F7}"/>
              </a:ext>
            </a:extLst>
          </p:cNvPr>
          <p:cNvSpPr>
            <a:spLocks noGrp="1"/>
          </p:cNvSpPr>
          <p:nvPr/>
        </p:nvSpPr>
        <p:spPr>
          <a:xfrm>
            <a:off x="3457575" y="2724150"/>
            <a:ext cx="1962150" cy="8001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Longer syllable length should increase RT because longer words require more visual/lexical processing.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0B8556-B643-43F7-8254-639C0649D1B4}"/>
              </a:ext>
            </a:extLst>
          </p:cNvPr>
          <p:cNvSpPr>
            <a:spLocks noGrp="1"/>
          </p:cNvSpPr>
          <p:nvPr/>
        </p:nvSpPr>
        <p:spPr>
          <a:xfrm>
            <a:off x="5962650" y="2400300"/>
            <a:ext cx="2190750" cy="120015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F44B42-D26D-408D-9BE2-CA0B3734A3AF}"/>
              </a:ext>
            </a:extLst>
          </p:cNvPr>
          <p:cNvSpPr>
            <a:spLocks noGrp="1"/>
          </p:cNvSpPr>
          <p:nvPr/>
        </p:nvSpPr>
        <p:spPr>
          <a:xfrm>
            <a:off x="6076950" y="2495550"/>
            <a:ext cx="19621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H3: interaction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DD4097-B7CB-43F4-934C-1402CA165E27}"/>
              </a:ext>
            </a:extLst>
          </p:cNvPr>
          <p:cNvSpPr>
            <a:spLocks noGrp="1"/>
          </p:cNvSpPr>
          <p:nvPr/>
        </p:nvSpPr>
        <p:spPr>
          <a:xfrm>
            <a:off x="6076950" y="2724150"/>
            <a:ext cx="1962150" cy="8001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The size of the frequency effect may vary across syllable lengths.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9CC970-5C7D-46E8-9B4F-83AD16A2EB81}"/>
              </a:ext>
            </a:extLst>
          </p:cNvPr>
          <p:cNvSpPr>
            <a:spLocks noGrp="1"/>
          </p:cNvSpPr>
          <p:nvPr/>
        </p:nvSpPr>
        <p:spPr>
          <a:xfrm>
            <a:off x="762000" y="3952875"/>
            <a:ext cx="7239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013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013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Interpretation rule: interaction evidence will be treated as preliminary unless it is stable across diagnostics and follow-up checks.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A3E92F8D-4424-444B-837A-7C834D87DF22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704980-F30C-4280-A91B-2AF1D8072ACE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07 | EXPERIMENTAL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4B3B0-8C4B-40A0-9972-9124D1B35C14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real-word design is balanced: 3 frequency groups x 4 syllable lengths, within participant.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A9E312-8AA9-4FE9-9E22-1A214A91222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25AB16-9FE1-4717-966D-7CEB35224016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000125" cy="4572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30BB4-36CF-44FC-A7AE-1EC5635AA702}"/>
              </a:ext>
            </a:extLst>
          </p:cNvPr>
          <p:cNvSpPr>
            <a:spLocks noGrp="1"/>
          </p:cNvSpPr>
          <p:nvPr/>
        </p:nvSpPr>
        <p:spPr>
          <a:xfrm>
            <a:off x="838200" y="1438275"/>
            <a:ext cx="885825" cy="381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Frequency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737298-3313-42EA-A35C-C382C39B7ACE}"/>
              </a:ext>
            </a:extLst>
          </p:cNvPr>
          <p:cNvSpPr>
            <a:spLocks noGrp="1"/>
          </p:cNvSpPr>
          <p:nvPr/>
        </p:nvSpPr>
        <p:spPr>
          <a:xfrm>
            <a:off x="1781175" y="1381125"/>
            <a:ext cx="1143000" cy="4572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BD71D9-BF26-4BE9-8267-2D4A25131470}"/>
              </a:ext>
            </a:extLst>
          </p:cNvPr>
          <p:cNvSpPr>
            <a:spLocks noGrp="1"/>
          </p:cNvSpPr>
          <p:nvPr/>
        </p:nvSpPr>
        <p:spPr>
          <a:xfrm>
            <a:off x="1838325" y="14382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 syll.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C1AA77-846F-41A3-B96A-EE2ADD25FFA2}"/>
              </a:ext>
            </a:extLst>
          </p:cNvPr>
          <p:cNvSpPr>
            <a:spLocks noGrp="1"/>
          </p:cNvSpPr>
          <p:nvPr/>
        </p:nvSpPr>
        <p:spPr>
          <a:xfrm>
            <a:off x="2924175" y="1381125"/>
            <a:ext cx="1143000" cy="4572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48EE41-3993-467D-915A-7DCE20C5790B}"/>
              </a:ext>
            </a:extLst>
          </p:cNvPr>
          <p:cNvSpPr>
            <a:spLocks noGrp="1"/>
          </p:cNvSpPr>
          <p:nvPr/>
        </p:nvSpPr>
        <p:spPr>
          <a:xfrm>
            <a:off x="2981325" y="14382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 syll.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271DE1-9D6D-4CCE-B6B4-F81898876ACE}"/>
              </a:ext>
            </a:extLst>
          </p:cNvPr>
          <p:cNvSpPr>
            <a:spLocks noGrp="1"/>
          </p:cNvSpPr>
          <p:nvPr/>
        </p:nvSpPr>
        <p:spPr>
          <a:xfrm>
            <a:off x="4067175" y="1381125"/>
            <a:ext cx="1143000" cy="4572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2055C9-1D8E-4410-B2B1-D4A238771449}"/>
              </a:ext>
            </a:extLst>
          </p:cNvPr>
          <p:cNvSpPr>
            <a:spLocks noGrp="1"/>
          </p:cNvSpPr>
          <p:nvPr/>
        </p:nvSpPr>
        <p:spPr>
          <a:xfrm>
            <a:off x="4124325" y="14382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 syll.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7518A1-5D30-4319-9B5A-8F78916092E4}"/>
              </a:ext>
            </a:extLst>
          </p:cNvPr>
          <p:cNvSpPr>
            <a:spLocks noGrp="1"/>
          </p:cNvSpPr>
          <p:nvPr/>
        </p:nvSpPr>
        <p:spPr>
          <a:xfrm>
            <a:off x="5210175" y="1381125"/>
            <a:ext cx="1143000" cy="4572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39E2FE-5BFC-4789-B109-3A7812359ED2}"/>
              </a:ext>
            </a:extLst>
          </p:cNvPr>
          <p:cNvSpPr>
            <a:spLocks noGrp="1"/>
          </p:cNvSpPr>
          <p:nvPr/>
        </p:nvSpPr>
        <p:spPr>
          <a:xfrm>
            <a:off x="5267325" y="14382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 syll.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BAE955-DA60-4E90-91E8-D41EA68BC786}"/>
              </a:ext>
            </a:extLst>
          </p:cNvPr>
          <p:cNvSpPr>
            <a:spLocks noGrp="1"/>
          </p:cNvSpPr>
          <p:nvPr/>
        </p:nvSpPr>
        <p:spPr>
          <a:xfrm>
            <a:off x="781050" y="1838325"/>
            <a:ext cx="100012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6F4716-66A9-4281-A52F-B35EE450FA90}"/>
              </a:ext>
            </a:extLst>
          </p:cNvPr>
          <p:cNvSpPr>
            <a:spLocks noGrp="1"/>
          </p:cNvSpPr>
          <p:nvPr/>
        </p:nvSpPr>
        <p:spPr>
          <a:xfrm>
            <a:off x="838200" y="1895475"/>
            <a:ext cx="885825" cy="381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EDC50-7463-405E-818F-A8546FC697F4}"/>
              </a:ext>
            </a:extLst>
          </p:cNvPr>
          <p:cNvSpPr>
            <a:spLocks noGrp="1"/>
          </p:cNvSpPr>
          <p:nvPr/>
        </p:nvSpPr>
        <p:spPr>
          <a:xfrm>
            <a:off x="1781175" y="18383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7F5E85-2A8F-4A5B-8F3F-1FF9A7CB0C4E}"/>
              </a:ext>
            </a:extLst>
          </p:cNvPr>
          <p:cNvSpPr>
            <a:spLocks noGrp="1"/>
          </p:cNvSpPr>
          <p:nvPr/>
        </p:nvSpPr>
        <p:spPr>
          <a:xfrm>
            <a:off x="1838325" y="18954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6BDDB9-D39A-4734-901E-37DB056E988E}"/>
              </a:ext>
            </a:extLst>
          </p:cNvPr>
          <p:cNvSpPr>
            <a:spLocks noGrp="1"/>
          </p:cNvSpPr>
          <p:nvPr/>
        </p:nvSpPr>
        <p:spPr>
          <a:xfrm>
            <a:off x="2924175" y="18383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B44054-B781-4ED6-B39D-0A3ECB3CD9EF}"/>
              </a:ext>
            </a:extLst>
          </p:cNvPr>
          <p:cNvSpPr>
            <a:spLocks noGrp="1"/>
          </p:cNvSpPr>
          <p:nvPr/>
        </p:nvSpPr>
        <p:spPr>
          <a:xfrm>
            <a:off x="2981325" y="18954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05DEA4-9A25-4F08-867E-C54505E8CD45}"/>
              </a:ext>
            </a:extLst>
          </p:cNvPr>
          <p:cNvSpPr>
            <a:spLocks noGrp="1"/>
          </p:cNvSpPr>
          <p:nvPr/>
        </p:nvSpPr>
        <p:spPr>
          <a:xfrm>
            <a:off x="4067175" y="18383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CBBB55-1482-4CAF-8F68-3E2527BB409A}"/>
              </a:ext>
            </a:extLst>
          </p:cNvPr>
          <p:cNvSpPr>
            <a:spLocks noGrp="1"/>
          </p:cNvSpPr>
          <p:nvPr/>
        </p:nvSpPr>
        <p:spPr>
          <a:xfrm>
            <a:off x="4124325" y="18954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1C420F-7C6E-428A-B840-87A865B88914}"/>
              </a:ext>
            </a:extLst>
          </p:cNvPr>
          <p:cNvSpPr>
            <a:spLocks noGrp="1"/>
          </p:cNvSpPr>
          <p:nvPr/>
        </p:nvSpPr>
        <p:spPr>
          <a:xfrm>
            <a:off x="5210175" y="18383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51EFEB-521F-4120-B96F-5E545B2CCFA3}"/>
              </a:ext>
            </a:extLst>
          </p:cNvPr>
          <p:cNvSpPr>
            <a:spLocks noGrp="1"/>
          </p:cNvSpPr>
          <p:nvPr/>
        </p:nvSpPr>
        <p:spPr>
          <a:xfrm>
            <a:off x="5267325" y="18954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773754-112B-4B70-9C94-1FE51A7CD777}"/>
              </a:ext>
            </a:extLst>
          </p:cNvPr>
          <p:cNvSpPr>
            <a:spLocks noGrp="1"/>
          </p:cNvSpPr>
          <p:nvPr/>
        </p:nvSpPr>
        <p:spPr>
          <a:xfrm>
            <a:off x="781050" y="2295525"/>
            <a:ext cx="100012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C05EDE-FCAB-4F26-AC83-3D58844D6EB1}"/>
              </a:ext>
            </a:extLst>
          </p:cNvPr>
          <p:cNvSpPr>
            <a:spLocks noGrp="1"/>
          </p:cNvSpPr>
          <p:nvPr/>
        </p:nvSpPr>
        <p:spPr>
          <a:xfrm>
            <a:off x="838200" y="2352675"/>
            <a:ext cx="885825" cy="381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mid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B9F809-9C6F-43E8-A531-B0D09BE53899}"/>
              </a:ext>
            </a:extLst>
          </p:cNvPr>
          <p:cNvSpPr>
            <a:spLocks noGrp="1"/>
          </p:cNvSpPr>
          <p:nvPr/>
        </p:nvSpPr>
        <p:spPr>
          <a:xfrm>
            <a:off x="1781175" y="22955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74B627-4F25-4E66-9F5A-6830CC4CD119}"/>
              </a:ext>
            </a:extLst>
          </p:cNvPr>
          <p:cNvSpPr>
            <a:spLocks noGrp="1"/>
          </p:cNvSpPr>
          <p:nvPr/>
        </p:nvSpPr>
        <p:spPr>
          <a:xfrm>
            <a:off x="1838325" y="23526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7FE17B-C734-4FF5-8149-AEC1AE415BCF}"/>
              </a:ext>
            </a:extLst>
          </p:cNvPr>
          <p:cNvSpPr>
            <a:spLocks noGrp="1"/>
          </p:cNvSpPr>
          <p:nvPr/>
        </p:nvSpPr>
        <p:spPr>
          <a:xfrm>
            <a:off x="2924175" y="22955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82D2E2-89C3-4D4E-BE6D-E5AB91F88621}"/>
              </a:ext>
            </a:extLst>
          </p:cNvPr>
          <p:cNvSpPr>
            <a:spLocks noGrp="1"/>
          </p:cNvSpPr>
          <p:nvPr/>
        </p:nvSpPr>
        <p:spPr>
          <a:xfrm>
            <a:off x="2981325" y="23526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80CFD7-3234-49DA-937E-1FB67FCB332A}"/>
              </a:ext>
            </a:extLst>
          </p:cNvPr>
          <p:cNvSpPr>
            <a:spLocks noGrp="1"/>
          </p:cNvSpPr>
          <p:nvPr/>
        </p:nvSpPr>
        <p:spPr>
          <a:xfrm>
            <a:off x="4067175" y="22955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B10A70-BA71-4E21-9BB4-CD457E9D3942}"/>
              </a:ext>
            </a:extLst>
          </p:cNvPr>
          <p:cNvSpPr>
            <a:spLocks noGrp="1"/>
          </p:cNvSpPr>
          <p:nvPr/>
        </p:nvSpPr>
        <p:spPr>
          <a:xfrm>
            <a:off x="4124325" y="23526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1BB8A7-9217-4089-BD01-3365CD10C8C6}"/>
              </a:ext>
            </a:extLst>
          </p:cNvPr>
          <p:cNvSpPr>
            <a:spLocks noGrp="1"/>
          </p:cNvSpPr>
          <p:nvPr/>
        </p:nvSpPr>
        <p:spPr>
          <a:xfrm>
            <a:off x="5210175" y="22955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4B3866-C30F-42A9-900F-8F559D28F396}"/>
              </a:ext>
            </a:extLst>
          </p:cNvPr>
          <p:cNvSpPr>
            <a:spLocks noGrp="1"/>
          </p:cNvSpPr>
          <p:nvPr/>
        </p:nvSpPr>
        <p:spPr>
          <a:xfrm>
            <a:off x="5267325" y="23526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9FB3A6-C3F0-4EB5-B5E5-1AB8B3E86D67}"/>
              </a:ext>
            </a:extLst>
          </p:cNvPr>
          <p:cNvSpPr>
            <a:spLocks noGrp="1"/>
          </p:cNvSpPr>
          <p:nvPr/>
        </p:nvSpPr>
        <p:spPr>
          <a:xfrm>
            <a:off x="781050" y="2752725"/>
            <a:ext cx="100012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0036E6-8383-408A-9E9C-24EB0576C52B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885825" cy="381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high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7CC3D2-6D69-4AF7-BA6B-9224B169388A}"/>
              </a:ext>
            </a:extLst>
          </p:cNvPr>
          <p:cNvSpPr>
            <a:spLocks noGrp="1"/>
          </p:cNvSpPr>
          <p:nvPr/>
        </p:nvSpPr>
        <p:spPr>
          <a:xfrm>
            <a:off x="1781175" y="27527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0B06CE-9D9B-4665-8003-9E1496BBB4EA}"/>
              </a:ext>
            </a:extLst>
          </p:cNvPr>
          <p:cNvSpPr>
            <a:spLocks noGrp="1"/>
          </p:cNvSpPr>
          <p:nvPr/>
        </p:nvSpPr>
        <p:spPr>
          <a:xfrm>
            <a:off x="1838325" y="28098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832AA3-01F4-4FBA-81B7-C3B009713D7F}"/>
              </a:ext>
            </a:extLst>
          </p:cNvPr>
          <p:cNvSpPr>
            <a:spLocks noGrp="1"/>
          </p:cNvSpPr>
          <p:nvPr/>
        </p:nvSpPr>
        <p:spPr>
          <a:xfrm>
            <a:off x="2924175" y="27527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530CCC-D378-41C3-A171-F3775DB9F91E}"/>
              </a:ext>
            </a:extLst>
          </p:cNvPr>
          <p:cNvSpPr>
            <a:spLocks noGrp="1"/>
          </p:cNvSpPr>
          <p:nvPr/>
        </p:nvSpPr>
        <p:spPr>
          <a:xfrm>
            <a:off x="2981325" y="28098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9ABDA0D-3631-4903-A466-8347BFF0B10E}"/>
              </a:ext>
            </a:extLst>
          </p:cNvPr>
          <p:cNvSpPr>
            <a:spLocks noGrp="1"/>
          </p:cNvSpPr>
          <p:nvPr/>
        </p:nvSpPr>
        <p:spPr>
          <a:xfrm>
            <a:off x="4067175" y="27527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6706C5-4BF6-4F74-9C50-3DFD866C7400}"/>
              </a:ext>
            </a:extLst>
          </p:cNvPr>
          <p:cNvSpPr>
            <a:spLocks noGrp="1"/>
          </p:cNvSpPr>
          <p:nvPr/>
        </p:nvSpPr>
        <p:spPr>
          <a:xfrm>
            <a:off x="4124325" y="28098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D88AED-1CEA-40B0-97B8-B3E22058A3C5}"/>
              </a:ext>
            </a:extLst>
          </p:cNvPr>
          <p:cNvSpPr>
            <a:spLocks noGrp="1"/>
          </p:cNvSpPr>
          <p:nvPr/>
        </p:nvSpPr>
        <p:spPr>
          <a:xfrm>
            <a:off x="5210175" y="2752725"/>
            <a:ext cx="1143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200FC6-EF2C-4551-9679-D510059A2240}"/>
              </a:ext>
            </a:extLst>
          </p:cNvPr>
          <p:cNvSpPr>
            <a:spLocks noGrp="1"/>
          </p:cNvSpPr>
          <p:nvPr/>
        </p:nvSpPr>
        <p:spPr>
          <a:xfrm>
            <a:off x="5267325" y="2809875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CAA19D6-5752-41C3-9CB5-3162B4779C32}"/>
              </a:ext>
            </a:extLst>
          </p:cNvPr>
          <p:cNvSpPr>
            <a:spLocks noGrp="1"/>
          </p:cNvSpPr>
          <p:nvPr/>
        </p:nvSpPr>
        <p:spPr>
          <a:xfrm>
            <a:off x="1905000" y="3400425"/>
            <a:ext cx="3429000" cy="1524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cell value = number of real-word items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A25C95E-B8A4-4695-8A18-6A6637BCEC14}"/>
              </a:ext>
            </a:extLst>
          </p:cNvPr>
          <p:cNvSpPr>
            <a:spLocks noGrp="1"/>
          </p:cNvSpPr>
          <p:nvPr/>
        </p:nvSpPr>
        <p:spPr>
          <a:xfrm>
            <a:off x="6429375" y="1352550"/>
            <a:ext cx="1428750" cy="685800"/>
          </a:xfrm>
          <a:prstGeom prst="rect">
            <a:avLst/>
          </a:prstGeom>
          <a:solidFill>
            <a:srgbClr val="DDECB3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7C33094-AD02-477F-8764-DE9D9517ECBE}"/>
              </a:ext>
            </a:extLst>
          </p:cNvPr>
          <p:cNvSpPr>
            <a:spLocks noGrp="1"/>
          </p:cNvSpPr>
          <p:nvPr/>
        </p:nvSpPr>
        <p:spPr>
          <a:xfrm>
            <a:off x="6524625" y="1447800"/>
            <a:ext cx="12382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72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5108D4-ACA6-4DF3-B091-E021CA2AD455}"/>
              </a:ext>
            </a:extLst>
          </p:cNvPr>
          <p:cNvSpPr>
            <a:spLocks noGrp="1"/>
          </p:cNvSpPr>
          <p:nvPr/>
        </p:nvSpPr>
        <p:spPr>
          <a:xfrm>
            <a:off x="6524625" y="1714500"/>
            <a:ext cx="12382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real words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0ECB05-B021-4F53-AA1A-E8A7C202741D}"/>
              </a:ext>
            </a:extLst>
          </p:cNvPr>
          <p:cNvSpPr>
            <a:spLocks noGrp="1"/>
          </p:cNvSpPr>
          <p:nvPr/>
        </p:nvSpPr>
        <p:spPr>
          <a:xfrm>
            <a:off x="6524625" y="1885950"/>
            <a:ext cx="1238250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6 per real-word cell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0E763E2-617B-437C-AA38-13C6085975F5}"/>
              </a:ext>
            </a:extLst>
          </p:cNvPr>
          <p:cNvSpPr>
            <a:spLocks noGrp="1"/>
          </p:cNvSpPr>
          <p:nvPr/>
        </p:nvSpPr>
        <p:spPr>
          <a:xfrm>
            <a:off x="6429375" y="2190750"/>
            <a:ext cx="1428750" cy="68580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B526749-45E8-4D77-8FEE-2F219FC08605}"/>
              </a:ext>
            </a:extLst>
          </p:cNvPr>
          <p:cNvSpPr>
            <a:spLocks noGrp="1"/>
          </p:cNvSpPr>
          <p:nvPr/>
        </p:nvSpPr>
        <p:spPr>
          <a:xfrm>
            <a:off x="6524625" y="2286000"/>
            <a:ext cx="12382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48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4A496D8-4B04-436F-B5CD-59C22A6FA42C}"/>
              </a:ext>
            </a:extLst>
          </p:cNvPr>
          <p:cNvSpPr>
            <a:spLocks noGrp="1"/>
          </p:cNvSpPr>
          <p:nvPr/>
        </p:nvSpPr>
        <p:spPr>
          <a:xfrm>
            <a:off x="6524625" y="2552700"/>
            <a:ext cx="12382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pseudowords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759332B-C352-4B21-8A62-2568D88F3CE2}"/>
              </a:ext>
            </a:extLst>
          </p:cNvPr>
          <p:cNvSpPr>
            <a:spLocks noGrp="1"/>
          </p:cNvSpPr>
          <p:nvPr/>
        </p:nvSpPr>
        <p:spPr>
          <a:xfrm>
            <a:off x="6524625" y="2724150"/>
            <a:ext cx="1238250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12 per length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0D36B7-5A85-4B8B-B8B9-F7BDB9AAA639}"/>
              </a:ext>
            </a:extLst>
          </p:cNvPr>
          <p:cNvSpPr>
            <a:spLocks noGrp="1"/>
          </p:cNvSpPr>
          <p:nvPr/>
        </p:nvSpPr>
        <p:spPr>
          <a:xfrm>
            <a:off x="6429375" y="3028950"/>
            <a:ext cx="1428750" cy="685800"/>
          </a:xfrm>
          <a:prstGeom prst="rect">
            <a:avLst/>
          </a:prstGeom>
          <a:solidFill>
            <a:srgbClr val="F3F6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E7A3EBF-149B-4563-948A-5501226B8656}"/>
              </a:ext>
            </a:extLst>
          </p:cNvPr>
          <p:cNvSpPr>
            <a:spLocks noGrp="1"/>
          </p:cNvSpPr>
          <p:nvPr/>
        </p:nvSpPr>
        <p:spPr>
          <a:xfrm>
            <a:off x="6524625" y="3124200"/>
            <a:ext cx="12382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120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E88D505-BF0B-48C5-A4A4-9ACD0F4C894C}"/>
              </a:ext>
            </a:extLst>
          </p:cNvPr>
          <p:cNvSpPr>
            <a:spLocks noGrp="1"/>
          </p:cNvSpPr>
          <p:nvPr/>
        </p:nvSpPr>
        <p:spPr>
          <a:xfrm>
            <a:off x="6524625" y="3390900"/>
            <a:ext cx="12382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main trials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CB5A3F9-A3D6-47D5-9968-F66D0875834F}"/>
              </a:ext>
            </a:extLst>
          </p:cNvPr>
          <p:cNvSpPr>
            <a:spLocks noGrp="1"/>
          </p:cNvSpPr>
          <p:nvPr/>
        </p:nvSpPr>
        <p:spPr>
          <a:xfrm>
            <a:off x="6524625" y="3562350"/>
            <a:ext cx="1238250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per participant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79CA5F-4F0C-4904-A4F8-D68E8E9A6A81}"/>
              </a:ext>
            </a:extLst>
          </p:cNvPr>
          <p:cNvSpPr>
            <a:spLocks noGrp="1"/>
          </p:cNvSpPr>
          <p:nvPr/>
        </p:nvSpPr>
        <p:spPr>
          <a:xfrm>
            <a:off x="952500" y="3867150"/>
            <a:ext cx="4762500" cy="2286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1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All participants see all main trials in randomized order.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65C4D851-75E1-48B0-A013-DB6C7AC13BB0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CA21A9-2D50-4238-A69B-E0C2756BCADC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08 | STIMULI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9BED62-CE91-47C6-A5FD-B599B0730240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Pseudowords keep the task genuinely lexical: participants must distinguish words from nonwords.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209A66-9811-4F89-A929-51C4C0943DB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051E63-D8EA-4795-AF62-6AE62CFDEE8B}"/>
              </a:ext>
            </a:extLst>
          </p:cNvPr>
          <p:cNvSpPr>
            <a:spLocks noGrp="1"/>
          </p:cNvSpPr>
          <p:nvPr/>
        </p:nvSpPr>
        <p:spPr>
          <a:xfrm>
            <a:off x="552450" y="1285875"/>
            <a:ext cx="1428750" cy="3619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1E3256-574D-4F3E-BEF3-13CFBADE5350}"/>
              </a:ext>
            </a:extLst>
          </p:cNvPr>
          <p:cNvSpPr>
            <a:spLocks noGrp="1"/>
          </p:cNvSpPr>
          <p:nvPr/>
        </p:nvSpPr>
        <p:spPr>
          <a:xfrm>
            <a:off x="609600" y="1343025"/>
            <a:ext cx="13144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BAE77-CA06-4B05-B474-FCEA32222BA4}"/>
              </a:ext>
            </a:extLst>
          </p:cNvPr>
          <p:cNvSpPr>
            <a:spLocks noGrp="1"/>
          </p:cNvSpPr>
          <p:nvPr/>
        </p:nvSpPr>
        <p:spPr>
          <a:xfrm>
            <a:off x="1981200" y="1285875"/>
            <a:ext cx="1123950" cy="3619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C2C54A-C797-4EFC-B898-AF346F8B37F6}"/>
              </a:ext>
            </a:extLst>
          </p:cNvPr>
          <p:cNvSpPr>
            <a:spLocks noGrp="1"/>
          </p:cNvSpPr>
          <p:nvPr/>
        </p:nvSpPr>
        <p:spPr>
          <a:xfrm>
            <a:off x="2038350" y="134302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Length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3771C6-BD75-4E4A-A7C6-F999AC153426}"/>
              </a:ext>
            </a:extLst>
          </p:cNvPr>
          <p:cNvSpPr>
            <a:spLocks noGrp="1"/>
          </p:cNvSpPr>
          <p:nvPr/>
        </p:nvSpPr>
        <p:spPr>
          <a:xfrm>
            <a:off x="3105150" y="1285875"/>
            <a:ext cx="1123950" cy="3619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5BC796-A3A3-40C9-BED9-94EDD36F5CE7}"/>
              </a:ext>
            </a:extLst>
          </p:cNvPr>
          <p:cNvSpPr>
            <a:spLocks noGrp="1"/>
          </p:cNvSpPr>
          <p:nvPr/>
        </p:nvSpPr>
        <p:spPr>
          <a:xfrm>
            <a:off x="3162300" y="134302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Length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9AB0F6-8488-48F2-AC8E-C8F022127F59}"/>
              </a:ext>
            </a:extLst>
          </p:cNvPr>
          <p:cNvSpPr>
            <a:spLocks noGrp="1"/>
          </p:cNvSpPr>
          <p:nvPr/>
        </p:nvSpPr>
        <p:spPr>
          <a:xfrm>
            <a:off x="4229100" y="1285875"/>
            <a:ext cx="1123950" cy="3619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AA1535-E2B9-4CCA-A430-9ABF7FFF6123}"/>
              </a:ext>
            </a:extLst>
          </p:cNvPr>
          <p:cNvSpPr>
            <a:spLocks noGrp="1"/>
          </p:cNvSpPr>
          <p:nvPr/>
        </p:nvSpPr>
        <p:spPr>
          <a:xfrm>
            <a:off x="4286250" y="134302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Length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5CF9E-FCFC-4CB4-9472-E440954DFF50}"/>
              </a:ext>
            </a:extLst>
          </p:cNvPr>
          <p:cNvSpPr>
            <a:spLocks noGrp="1"/>
          </p:cNvSpPr>
          <p:nvPr/>
        </p:nvSpPr>
        <p:spPr>
          <a:xfrm>
            <a:off x="5353050" y="1285875"/>
            <a:ext cx="1123950" cy="3619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BF9374-0CB6-4388-887E-FC9581AF51AB}"/>
              </a:ext>
            </a:extLst>
          </p:cNvPr>
          <p:cNvSpPr>
            <a:spLocks noGrp="1"/>
          </p:cNvSpPr>
          <p:nvPr/>
        </p:nvSpPr>
        <p:spPr>
          <a:xfrm>
            <a:off x="5410200" y="134302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Length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1A8F6F-2D5A-477E-B154-71DF998D6C2D}"/>
              </a:ext>
            </a:extLst>
          </p:cNvPr>
          <p:cNvSpPr>
            <a:spLocks noGrp="1"/>
          </p:cNvSpPr>
          <p:nvPr/>
        </p:nvSpPr>
        <p:spPr>
          <a:xfrm>
            <a:off x="552450" y="1647825"/>
            <a:ext cx="1428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35294A-3247-4B6E-B92E-CA262D768A39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3144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real words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72E54C-EAFF-4A5B-ABA8-94941F4005FF}"/>
              </a:ext>
            </a:extLst>
          </p:cNvPr>
          <p:cNvSpPr>
            <a:spLocks noGrp="1"/>
          </p:cNvSpPr>
          <p:nvPr/>
        </p:nvSpPr>
        <p:spPr>
          <a:xfrm>
            <a:off x="1981200" y="164782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112577-608C-48EF-BEB9-71E94D06B2B1}"/>
              </a:ext>
            </a:extLst>
          </p:cNvPr>
          <p:cNvSpPr>
            <a:spLocks noGrp="1"/>
          </p:cNvSpPr>
          <p:nvPr/>
        </p:nvSpPr>
        <p:spPr>
          <a:xfrm>
            <a:off x="2038350" y="170497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37DE5F-B6B3-4B77-A10E-0BE3D560B4FE}"/>
              </a:ext>
            </a:extLst>
          </p:cNvPr>
          <p:cNvSpPr>
            <a:spLocks noGrp="1"/>
          </p:cNvSpPr>
          <p:nvPr/>
        </p:nvSpPr>
        <p:spPr>
          <a:xfrm>
            <a:off x="3105150" y="164782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9263BD-DDE0-4443-AC62-7BE00A0FD6AF}"/>
              </a:ext>
            </a:extLst>
          </p:cNvPr>
          <p:cNvSpPr>
            <a:spLocks noGrp="1"/>
          </p:cNvSpPr>
          <p:nvPr/>
        </p:nvSpPr>
        <p:spPr>
          <a:xfrm>
            <a:off x="3162300" y="170497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13C5E4-1127-486C-9737-E3B9E9ACF2F4}"/>
              </a:ext>
            </a:extLst>
          </p:cNvPr>
          <p:cNvSpPr>
            <a:spLocks noGrp="1"/>
          </p:cNvSpPr>
          <p:nvPr/>
        </p:nvSpPr>
        <p:spPr>
          <a:xfrm>
            <a:off x="4229100" y="164782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0BE7FA-272A-4D64-A13B-3794B42BAA40}"/>
              </a:ext>
            </a:extLst>
          </p:cNvPr>
          <p:cNvSpPr>
            <a:spLocks noGrp="1"/>
          </p:cNvSpPr>
          <p:nvPr/>
        </p:nvSpPr>
        <p:spPr>
          <a:xfrm>
            <a:off x="4286250" y="170497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866DDF-101B-4EAD-B638-22795FA7CDCD}"/>
              </a:ext>
            </a:extLst>
          </p:cNvPr>
          <p:cNvSpPr>
            <a:spLocks noGrp="1"/>
          </p:cNvSpPr>
          <p:nvPr/>
        </p:nvSpPr>
        <p:spPr>
          <a:xfrm>
            <a:off x="5353050" y="164782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F37A1A-F6DE-498D-ACB4-053686915751}"/>
              </a:ext>
            </a:extLst>
          </p:cNvPr>
          <p:cNvSpPr>
            <a:spLocks noGrp="1"/>
          </p:cNvSpPr>
          <p:nvPr/>
        </p:nvSpPr>
        <p:spPr>
          <a:xfrm>
            <a:off x="5410200" y="170497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AB5DF3-96C1-4C12-A81A-CFA0F8D40449}"/>
              </a:ext>
            </a:extLst>
          </p:cNvPr>
          <p:cNvSpPr>
            <a:spLocks noGrp="1"/>
          </p:cNvSpPr>
          <p:nvPr/>
        </p:nvSpPr>
        <p:spPr>
          <a:xfrm>
            <a:off x="552450" y="2009775"/>
            <a:ext cx="1428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4E87F2-51AC-43FB-B551-E922F440CF15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13144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pseudowords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2A58B2-249F-40F5-82BB-820180B4F1BF}"/>
              </a:ext>
            </a:extLst>
          </p:cNvPr>
          <p:cNvSpPr>
            <a:spLocks noGrp="1"/>
          </p:cNvSpPr>
          <p:nvPr/>
        </p:nvSpPr>
        <p:spPr>
          <a:xfrm>
            <a:off x="1981200" y="200977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6ECB4B-CA00-469B-BD7C-EAA270346BAF}"/>
              </a:ext>
            </a:extLst>
          </p:cNvPr>
          <p:cNvSpPr>
            <a:spLocks noGrp="1"/>
          </p:cNvSpPr>
          <p:nvPr/>
        </p:nvSpPr>
        <p:spPr>
          <a:xfrm>
            <a:off x="2038350" y="206692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FEAEBC-3361-4880-B10E-E7621EFDC896}"/>
              </a:ext>
            </a:extLst>
          </p:cNvPr>
          <p:cNvSpPr>
            <a:spLocks noGrp="1"/>
          </p:cNvSpPr>
          <p:nvPr/>
        </p:nvSpPr>
        <p:spPr>
          <a:xfrm>
            <a:off x="3105150" y="200977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9B32BF-7638-41BB-8BBD-2FF2E380FE6A}"/>
              </a:ext>
            </a:extLst>
          </p:cNvPr>
          <p:cNvSpPr>
            <a:spLocks noGrp="1"/>
          </p:cNvSpPr>
          <p:nvPr/>
        </p:nvSpPr>
        <p:spPr>
          <a:xfrm>
            <a:off x="3162300" y="206692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48C562-06C6-4A3B-B75E-F00B76BBA5D5}"/>
              </a:ext>
            </a:extLst>
          </p:cNvPr>
          <p:cNvSpPr>
            <a:spLocks noGrp="1"/>
          </p:cNvSpPr>
          <p:nvPr/>
        </p:nvSpPr>
        <p:spPr>
          <a:xfrm>
            <a:off x="4229100" y="200977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77B48F-7D55-42B3-B6E7-E4A48BE09AAE}"/>
              </a:ext>
            </a:extLst>
          </p:cNvPr>
          <p:cNvSpPr>
            <a:spLocks noGrp="1"/>
          </p:cNvSpPr>
          <p:nvPr/>
        </p:nvSpPr>
        <p:spPr>
          <a:xfrm>
            <a:off x="4286250" y="206692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CF0E42-2884-456C-89EC-EA7D2255E840}"/>
              </a:ext>
            </a:extLst>
          </p:cNvPr>
          <p:cNvSpPr>
            <a:spLocks noGrp="1"/>
          </p:cNvSpPr>
          <p:nvPr/>
        </p:nvSpPr>
        <p:spPr>
          <a:xfrm>
            <a:off x="5353050" y="200977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AFCF2D-5260-4DDD-A0AD-965692CDA164}"/>
              </a:ext>
            </a:extLst>
          </p:cNvPr>
          <p:cNvSpPr>
            <a:spLocks noGrp="1"/>
          </p:cNvSpPr>
          <p:nvPr/>
        </p:nvSpPr>
        <p:spPr>
          <a:xfrm>
            <a:off x="5410200" y="206692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0443B6-4871-4BCF-A545-151E0336D65A}"/>
              </a:ext>
            </a:extLst>
          </p:cNvPr>
          <p:cNvSpPr>
            <a:spLocks noGrp="1"/>
          </p:cNvSpPr>
          <p:nvPr/>
        </p:nvSpPr>
        <p:spPr>
          <a:xfrm>
            <a:off x="552450" y="2371725"/>
            <a:ext cx="1428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A69181-F672-42C3-8233-D20F01498E5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13144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total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D0824B-E098-429B-B212-02DE2F427E1B}"/>
              </a:ext>
            </a:extLst>
          </p:cNvPr>
          <p:cNvSpPr>
            <a:spLocks noGrp="1"/>
          </p:cNvSpPr>
          <p:nvPr/>
        </p:nvSpPr>
        <p:spPr>
          <a:xfrm>
            <a:off x="1981200" y="237172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7C26C50-E2B1-4082-971F-9F179B112645}"/>
              </a:ext>
            </a:extLst>
          </p:cNvPr>
          <p:cNvSpPr>
            <a:spLocks noGrp="1"/>
          </p:cNvSpPr>
          <p:nvPr/>
        </p:nvSpPr>
        <p:spPr>
          <a:xfrm>
            <a:off x="2038350" y="242887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30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7BDD3C6-E00C-452F-9634-B8BB6E42EAC2}"/>
              </a:ext>
            </a:extLst>
          </p:cNvPr>
          <p:cNvSpPr>
            <a:spLocks noGrp="1"/>
          </p:cNvSpPr>
          <p:nvPr/>
        </p:nvSpPr>
        <p:spPr>
          <a:xfrm>
            <a:off x="3105150" y="237172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FD1E3F-C9C9-4BB5-8119-E4A28FDA640A}"/>
              </a:ext>
            </a:extLst>
          </p:cNvPr>
          <p:cNvSpPr>
            <a:spLocks noGrp="1"/>
          </p:cNvSpPr>
          <p:nvPr/>
        </p:nvSpPr>
        <p:spPr>
          <a:xfrm>
            <a:off x="3162300" y="242887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30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E41C7B7-42BD-4E15-8C9E-FBD0C2EC8A93}"/>
              </a:ext>
            </a:extLst>
          </p:cNvPr>
          <p:cNvSpPr>
            <a:spLocks noGrp="1"/>
          </p:cNvSpPr>
          <p:nvPr/>
        </p:nvSpPr>
        <p:spPr>
          <a:xfrm>
            <a:off x="4229100" y="237172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8846689-7F0D-4AA0-A794-060F7F17A357}"/>
              </a:ext>
            </a:extLst>
          </p:cNvPr>
          <p:cNvSpPr>
            <a:spLocks noGrp="1"/>
          </p:cNvSpPr>
          <p:nvPr/>
        </p:nvSpPr>
        <p:spPr>
          <a:xfrm>
            <a:off x="4286250" y="242887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30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44FC44A-5CF7-4C9C-ABBA-7AA82998193C}"/>
              </a:ext>
            </a:extLst>
          </p:cNvPr>
          <p:cNvSpPr>
            <a:spLocks noGrp="1"/>
          </p:cNvSpPr>
          <p:nvPr/>
        </p:nvSpPr>
        <p:spPr>
          <a:xfrm>
            <a:off x="5353050" y="2371725"/>
            <a:ext cx="11239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1714963-4583-4B19-8D67-2810DA9511FD}"/>
              </a:ext>
            </a:extLst>
          </p:cNvPr>
          <p:cNvSpPr>
            <a:spLocks noGrp="1"/>
          </p:cNvSpPr>
          <p:nvPr/>
        </p:nvSpPr>
        <p:spPr>
          <a:xfrm>
            <a:off x="5410200" y="2428875"/>
            <a:ext cx="1009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30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C16F53A-B75C-48AA-B6A2-08EF78D78ABF}"/>
              </a:ext>
            </a:extLst>
          </p:cNvPr>
          <p:cNvSpPr>
            <a:spLocks noGrp="1"/>
          </p:cNvSpPr>
          <p:nvPr/>
        </p:nvSpPr>
        <p:spPr>
          <a:xfrm>
            <a:off x="5905500" y="1285875"/>
            <a:ext cx="2095500" cy="114300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522F01B-7B3F-4D16-BDC6-6C43D977DA3E}"/>
              </a:ext>
            </a:extLst>
          </p:cNvPr>
          <p:cNvSpPr>
            <a:spLocks noGrp="1"/>
          </p:cNvSpPr>
          <p:nvPr/>
        </p:nvSpPr>
        <p:spPr>
          <a:xfrm>
            <a:off x="6019800" y="1381125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Example real words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771B8B0-7D85-4ACA-9509-82D0EF725164}"/>
              </a:ext>
            </a:extLst>
          </p:cNvPr>
          <p:cNvSpPr>
            <a:spLocks noGrp="1"/>
          </p:cNvSpPr>
          <p:nvPr/>
        </p:nvSpPr>
        <p:spPr>
          <a:xfrm>
            <a:off x="6019800" y="1609725"/>
            <a:ext cx="1866900" cy="7429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05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núi</a:t>
            </a:r>
          </a:p>
          <a:p>
            <a:r>
              <a:rPr sz="105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loại sản phẩm</a:t>
            </a:r>
          </a:p>
          <a:p>
            <a:r>
              <a:rPr sz="105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điện thoại di động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423C630-A320-4F41-829E-E6C3EBB90247}"/>
              </a:ext>
            </a:extLst>
          </p:cNvPr>
          <p:cNvSpPr>
            <a:spLocks noGrp="1"/>
          </p:cNvSpPr>
          <p:nvPr/>
        </p:nvSpPr>
        <p:spPr>
          <a:xfrm>
            <a:off x="5905500" y="2647950"/>
            <a:ext cx="2095500" cy="1162050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610945-34CE-40D5-8AC4-6C0F243ADB72}"/>
              </a:ext>
            </a:extLst>
          </p:cNvPr>
          <p:cNvSpPr>
            <a:spLocks noGrp="1"/>
          </p:cNvSpPr>
          <p:nvPr/>
        </p:nvSpPr>
        <p:spPr>
          <a:xfrm>
            <a:off x="6019800" y="274320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Example pseudowords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6E1E68C-D3DE-41DB-9838-3B97E5303487}"/>
              </a:ext>
            </a:extLst>
          </p:cNvPr>
          <p:cNvSpPr>
            <a:spLocks noGrp="1"/>
          </p:cNvSpPr>
          <p:nvPr/>
        </p:nvSpPr>
        <p:spPr>
          <a:xfrm>
            <a:off x="6019800" y="2971800"/>
            <a:ext cx="1866900" cy="762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bệc viện ← bệnh viện</a:t>
            </a:r>
          </a:p>
          <a:p>
            <a:r>
              <a:rPr sz="9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mối quan hế ← mối quan hệ</a:t>
            </a:r>
          </a:p>
          <a:p>
            <a:r>
              <a:rPr sz="9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trính độ học vấn ← trình độ học vấn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CE90128-278B-4D0C-9554-5286305F0EE1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572000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1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Pseudoword construction changes a syllable while keeping the item Vietnamese-like enough for the task.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DCE19EC-E7D1-45D1-8514-1C17B13F1167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57150" cy="5715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E48C866-8513-430F-809B-16A6EA021038}"/>
              </a:ext>
            </a:extLst>
          </p:cNvPr>
          <p:cNvSpPr>
            <a:spLocks noGrp="1"/>
          </p:cNvSpPr>
          <p:nvPr/>
        </p:nvSpPr>
        <p:spPr>
          <a:xfrm>
            <a:off x="1028700" y="3848100"/>
            <a:ext cx="3276600" cy="2667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38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tone changes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E0BC96-BCD0-4419-BA7C-A4353A030B73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57150" cy="5715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FC542DD-46DE-43A9-AA0A-AD4E564143D9}"/>
              </a:ext>
            </a:extLst>
          </p:cNvPr>
          <p:cNvSpPr>
            <a:spLocks noGrp="1"/>
          </p:cNvSpPr>
          <p:nvPr/>
        </p:nvSpPr>
        <p:spPr>
          <a:xfrm>
            <a:off x="1028700" y="4076700"/>
            <a:ext cx="3276600" cy="2667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38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vowel changes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17291C8-D59C-41EE-A747-84BC8E46A011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57150" cy="5715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D4BC2C3-A7BB-40F0-A40C-33103DB799DD}"/>
              </a:ext>
            </a:extLst>
          </p:cNvPr>
          <p:cNvSpPr>
            <a:spLocks noGrp="1"/>
          </p:cNvSpPr>
          <p:nvPr/>
        </p:nvSpPr>
        <p:spPr>
          <a:xfrm>
            <a:off x="1028700" y="4305300"/>
            <a:ext cx="3276600" cy="2667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38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final-consonant changes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FC2440D-6F4E-4147-98F2-97CC1524EDA2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93E565-3BCB-4E30-AC35-B2E528BE9095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09 | TASK PROCEDURE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A27BA-7CEF-4AEE-9E7F-8F7735155F91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procedure is short, randomized, and keyboard-based to keep lexical decisions clean.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48F6F-FC46-4B73-B85F-08F1602698F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E37B87-AFAF-4BE0-931E-60B5CD108DEC}"/>
              </a:ext>
            </a:extLst>
          </p:cNvPr>
          <p:cNvSpPr>
            <a:spLocks noGrp="1"/>
          </p:cNvSpPr>
          <p:nvPr/>
        </p:nvSpPr>
        <p:spPr>
          <a:xfrm>
            <a:off x="523875" y="1619250"/>
            <a:ext cx="1285875" cy="93345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72593D-C0F5-4F5C-969C-E0B00ECB5A01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1144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Instructions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1C658B-A951-4548-9987-C3AE6FD3DE88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1114425" cy="571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 = word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J = nonword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23C7A4-7604-41B7-810E-393B6D2D90B2}"/>
              </a:ext>
            </a:extLst>
          </p:cNvPr>
          <p:cNvSpPr>
            <a:spLocks noGrp="1"/>
          </p:cNvSpPr>
          <p:nvPr/>
        </p:nvSpPr>
        <p:spPr>
          <a:xfrm>
            <a:off x="1838325" y="195262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E82770-C8DF-4D24-A2F7-F4D143BDE8AF}"/>
              </a:ext>
            </a:extLst>
          </p:cNvPr>
          <p:cNvSpPr>
            <a:spLocks noGrp="1"/>
          </p:cNvSpPr>
          <p:nvPr/>
        </p:nvSpPr>
        <p:spPr>
          <a:xfrm>
            <a:off x="2143125" y="1619250"/>
            <a:ext cx="1285875" cy="93345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A5B196-97CE-43DD-BF84-C099289838D4}"/>
              </a:ext>
            </a:extLst>
          </p:cNvPr>
          <p:cNvSpPr>
            <a:spLocks noGrp="1"/>
          </p:cNvSpPr>
          <p:nvPr/>
        </p:nvSpPr>
        <p:spPr>
          <a:xfrm>
            <a:off x="2228850" y="1704975"/>
            <a:ext cx="11144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Practice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969E98-2033-4D30-BF02-A064C684C6A9}"/>
              </a:ext>
            </a:extLst>
          </p:cNvPr>
          <p:cNvSpPr>
            <a:spLocks noGrp="1"/>
          </p:cNvSpPr>
          <p:nvPr/>
        </p:nvSpPr>
        <p:spPr>
          <a:xfrm>
            <a:off x="2228850" y="1914525"/>
            <a:ext cx="1114425" cy="571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4 trials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with feedback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1EFCD2-C5D1-4B98-81D4-D933960C17DD}"/>
              </a:ext>
            </a:extLst>
          </p:cNvPr>
          <p:cNvSpPr>
            <a:spLocks noGrp="1"/>
          </p:cNvSpPr>
          <p:nvPr/>
        </p:nvSpPr>
        <p:spPr>
          <a:xfrm>
            <a:off x="3457575" y="195262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01C377-FB6C-4084-BBC1-D3985269B69A}"/>
              </a:ext>
            </a:extLst>
          </p:cNvPr>
          <p:cNvSpPr>
            <a:spLocks noGrp="1"/>
          </p:cNvSpPr>
          <p:nvPr/>
        </p:nvSpPr>
        <p:spPr>
          <a:xfrm>
            <a:off x="3762375" y="1619250"/>
            <a:ext cx="1285875" cy="933450"/>
          </a:xfrm>
          <a:prstGeom prst="rect">
            <a:avLst/>
          </a:prstGeom>
          <a:solidFill>
            <a:srgbClr val="DDECB3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0CFF0F-F013-452A-96AC-D213CB0EE776}"/>
              </a:ext>
            </a:extLst>
          </p:cNvPr>
          <p:cNvSpPr>
            <a:spLocks noGrp="1"/>
          </p:cNvSpPr>
          <p:nvPr/>
        </p:nvSpPr>
        <p:spPr>
          <a:xfrm>
            <a:off x="3848100" y="1704975"/>
            <a:ext cx="11144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Main task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6B0BC-7E79-4C29-BAF0-162B0FFE2989}"/>
              </a:ext>
            </a:extLst>
          </p:cNvPr>
          <p:cNvSpPr>
            <a:spLocks noGrp="1"/>
          </p:cNvSpPr>
          <p:nvPr/>
        </p:nvSpPr>
        <p:spPr>
          <a:xfrm>
            <a:off x="3848100" y="1914525"/>
            <a:ext cx="1114425" cy="571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120 trials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randomized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2E0D53-246F-46D3-8D2D-52F4A5BD69B9}"/>
              </a:ext>
            </a:extLst>
          </p:cNvPr>
          <p:cNvSpPr>
            <a:spLocks noGrp="1"/>
          </p:cNvSpPr>
          <p:nvPr/>
        </p:nvSpPr>
        <p:spPr>
          <a:xfrm>
            <a:off x="5076825" y="195262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DE39AE-7D5D-48E7-B6AE-B150F4E17275}"/>
              </a:ext>
            </a:extLst>
          </p:cNvPr>
          <p:cNvSpPr>
            <a:spLocks noGrp="1"/>
          </p:cNvSpPr>
          <p:nvPr/>
        </p:nvSpPr>
        <p:spPr>
          <a:xfrm>
            <a:off x="5381625" y="1619250"/>
            <a:ext cx="1285875" cy="93345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2B6051-0757-4C69-B5FC-EA5DDFDEB0B8}"/>
              </a:ext>
            </a:extLst>
          </p:cNvPr>
          <p:cNvSpPr>
            <a:spLocks noGrp="1"/>
          </p:cNvSpPr>
          <p:nvPr/>
        </p:nvSpPr>
        <p:spPr>
          <a:xfrm>
            <a:off x="5467350" y="1704975"/>
            <a:ext cx="11144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Response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E262D7-228E-4CED-9337-3AD89D0A5AFE}"/>
              </a:ext>
            </a:extLst>
          </p:cNvPr>
          <p:cNvSpPr>
            <a:spLocks noGrp="1"/>
          </p:cNvSpPr>
          <p:nvPr/>
        </p:nvSpPr>
        <p:spPr>
          <a:xfrm>
            <a:off x="5467350" y="1914525"/>
            <a:ext cx="1114425" cy="571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keyboard RT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accuracy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54E0B6-2AB1-49A6-B7E3-889BEFA915A8}"/>
              </a:ext>
            </a:extLst>
          </p:cNvPr>
          <p:cNvSpPr>
            <a:spLocks noGrp="1"/>
          </p:cNvSpPr>
          <p:nvPr/>
        </p:nvSpPr>
        <p:spPr>
          <a:xfrm>
            <a:off x="6696075" y="195262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1CB8A6-2D94-490D-AB7F-FF143E5D1DCD}"/>
              </a:ext>
            </a:extLst>
          </p:cNvPr>
          <p:cNvSpPr>
            <a:spLocks noGrp="1"/>
          </p:cNvSpPr>
          <p:nvPr/>
        </p:nvSpPr>
        <p:spPr>
          <a:xfrm>
            <a:off x="7000875" y="1619250"/>
            <a:ext cx="1285875" cy="93345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80ADAC-1E78-4A2E-BD84-81AF97EB2EA3}"/>
              </a:ext>
            </a:extLst>
          </p:cNvPr>
          <p:cNvSpPr>
            <a:spLocks noGrp="1"/>
          </p:cNvSpPr>
          <p:nvPr/>
        </p:nvSpPr>
        <p:spPr>
          <a:xfrm>
            <a:off x="7086600" y="1704975"/>
            <a:ext cx="11144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Export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4D6841-6B18-4C19-9B45-7A8B9FCDBD1D}"/>
              </a:ext>
            </a:extLst>
          </p:cNvPr>
          <p:cNvSpPr>
            <a:spLocks noGrp="1"/>
          </p:cNvSpPr>
          <p:nvPr/>
        </p:nvSpPr>
        <p:spPr>
          <a:xfrm>
            <a:off x="7086600" y="1914525"/>
            <a:ext cx="1114425" cy="571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CSV files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per participant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928A74-9573-44B2-866E-A86BD273B956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3714750" cy="2667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2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Main-trial order is randomized for each participant.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066673-7BDD-4F68-8E6A-8203B8A0ABA7}"/>
              </a:ext>
            </a:extLst>
          </p:cNvPr>
          <p:cNvSpPr>
            <a:spLocks noGrp="1"/>
          </p:cNvSpPr>
          <p:nvPr/>
        </p:nvSpPr>
        <p:spPr>
          <a:xfrm>
            <a:off x="5143500" y="2971800"/>
            <a:ext cx="2590800" cy="819150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3E6E10-FC16-434E-9098-9FFEDC3608BD}"/>
              </a:ext>
            </a:extLst>
          </p:cNvPr>
          <p:cNvSpPr>
            <a:spLocks noGrp="1"/>
          </p:cNvSpPr>
          <p:nvPr/>
        </p:nvSpPr>
        <p:spPr>
          <a:xfrm>
            <a:off x="5257800" y="3067050"/>
            <a:ext cx="236220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Response mapping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A1B08E-2712-417E-9345-3649FBFE6818}"/>
              </a:ext>
            </a:extLst>
          </p:cNvPr>
          <p:cNvSpPr>
            <a:spLocks noGrp="1"/>
          </p:cNvSpPr>
          <p:nvPr/>
        </p:nvSpPr>
        <p:spPr>
          <a:xfrm>
            <a:off x="5257800" y="3295650"/>
            <a:ext cx="2362200" cy="4191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20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 key: word</a:t>
            </a:r>
          </a:p>
          <a:p>
            <a:r>
              <a:rPr sz="120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J key: nonword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F5FA397-34B7-4FEB-BE9E-1FB40A34E746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34F1F7-B13D-453A-A38B-884C7F84EE9A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10 | BIAS CONTROLS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68042E-765E-4744-A538-437A66FE188E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design reduces common task artifacts and monitors the ones it cannot remove.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3E056-F56A-4ADD-B0DF-6AFE4C3CCDE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6FBD18-E566-45C7-BA8F-20538789C302}"/>
              </a:ext>
            </a:extLst>
          </p:cNvPr>
          <p:cNvSpPr>
            <a:spLocks noGrp="1"/>
          </p:cNvSpPr>
          <p:nvPr/>
        </p:nvSpPr>
        <p:spPr>
          <a:xfrm>
            <a:off x="590550" y="1285875"/>
            <a:ext cx="1809750" cy="5334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724ED-88E7-4C2E-9179-C056E6E949C0}"/>
              </a:ext>
            </a:extLst>
          </p:cNvPr>
          <p:cNvSpPr>
            <a:spLocks noGrp="1"/>
          </p:cNvSpPr>
          <p:nvPr/>
        </p:nvSpPr>
        <p:spPr>
          <a:xfrm>
            <a:off x="647700" y="1343025"/>
            <a:ext cx="169545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Potential issue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AA703E-9795-4D01-87A3-45BDCA079344}"/>
              </a:ext>
            </a:extLst>
          </p:cNvPr>
          <p:cNvSpPr>
            <a:spLocks noGrp="1"/>
          </p:cNvSpPr>
          <p:nvPr/>
        </p:nvSpPr>
        <p:spPr>
          <a:xfrm>
            <a:off x="2400300" y="1285875"/>
            <a:ext cx="5905500" cy="5334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E663DA-4B85-4D6A-96A6-4BD23436BEB3}"/>
              </a:ext>
            </a:extLst>
          </p:cNvPr>
          <p:cNvSpPr>
            <a:spLocks noGrp="1"/>
          </p:cNvSpPr>
          <p:nvPr/>
        </p:nvSpPr>
        <p:spPr>
          <a:xfrm>
            <a:off x="2457450" y="1343025"/>
            <a:ext cx="57912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Control / monitoring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A0FC41-3155-4C80-A564-4173DC35F07C}"/>
              </a:ext>
            </a:extLst>
          </p:cNvPr>
          <p:cNvSpPr>
            <a:spLocks noGrp="1"/>
          </p:cNvSpPr>
          <p:nvPr/>
        </p:nvSpPr>
        <p:spPr>
          <a:xfrm>
            <a:off x="590550" y="1819275"/>
            <a:ext cx="180975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45CB6E-7184-4537-910C-43AC29966761}"/>
              </a:ext>
            </a:extLst>
          </p:cNvPr>
          <p:cNvSpPr>
            <a:spLocks noGrp="1"/>
          </p:cNvSpPr>
          <p:nvPr/>
        </p:nvSpPr>
        <p:spPr>
          <a:xfrm>
            <a:off x="647700" y="1876425"/>
            <a:ext cx="169545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Practice / learning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FF31A8-62D4-4F1D-A1BA-8459D0AA853B}"/>
              </a:ext>
            </a:extLst>
          </p:cNvPr>
          <p:cNvSpPr>
            <a:spLocks noGrp="1"/>
          </p:cNvSpPr>
          <p:nvPr/>
        </p:nvSpPr>
        <p:spPr>
          <a:xfrm>
            <a:off x="2400300" y="1819275"/>
            <a:ext cx="590550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CF6757-472A-46EF-B13C-121F77C72F3F}"/>
              </a:ext>
            </a:extLst>
          </p:cNvPr>
          <p:cNvSpPr>
            <a:spLocks noGrp="1"/>
          </p:cNvSpPr>
          <p:nvPr/>
        </p:nvSpPr>
        <p:spPr>
          <a:xfrm>
            <a:off x="2457450" y="1876425"/>
            <a:ext cx="57912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Practice trials before the main task; randomized main trials.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53E370-F5DC-4012-A25D-352B18B2CA8F}"/>
              </a:ext>
            </a:extLst>
          </p:cNvPr>
          <p:cNvSpPr>
            <a:spLocks noGrp="1"/>
          </p:cNvSpPr>
          <p:nvPr/>
        </p:nvSpPr>
        <p:spPr>
          <a:xfrm>
            <a:off x="590550" y="2352675"/>
            <a:ext cx="180975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09CE00-DD6C-4D84-AB0B-6CFB33C87E2B}"/>
              </a:ext>
            </a:extLst>
          </p:cNvPr>
          <p:cNvSpPr>
            <a:spLocks noGrp="1"/>
          </p:cNvSpPr>
          <p:nvPr/>
        </p:nvSpPr>
        <p:spPr>
          <a:xfrm>
            <a:off x="647700" y="2409825"/>
            <a:ext cx="169545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Response bias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506651-44F3-40D9-9A34-49A8AE6D3E3C}"/>
              </a:ext>
            </a:extLst>
          </p:cNvPr>
          <p:cNvSpPr>
            <a:spLocks noGrp="1"/>
          </p:cNvSpPr>
          <p:nvPr/>
        </p:nvSpPr>
        <p:spPr>
          <a:xfrm>
            <a:off x="2400300" y="2352675"/>
            <a:ext cx="590550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65A6D-258C-4447-A4D8-C5A821AC0A32}"/>
              </a:ext>
            </a:extLst>
          </p:cNvPr>
          <p:cNvSpPr>
            <a:spLocks noGrp="1"/>
          </p:cNvSpPr>
          <p:nvPr/>
        </p:nvSpPr>
        <p:spPr>
          <a:xfrm>
            <a:off x="2457450" y="2409825"/>
            <a:ext cx="57912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Pseudowords require word/nonword discrimination; QC checks one-key overuse.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0291FC-F6F6-4AF3-8475-1FC85E6CBBF1}"/>
              </a:ext>
            </a:extLst>
          </p:cNvPr>
          <p:cNvSpPr>
            <a:spLocks noGrp="1"/>
          </p:cNvSpPr>
          <p:nvPr/>
        </p:nvSpPr>
        <p:spPr>
          <a:xfrm>
            <a:off x="590550" y="2886075"/>
            <a:ext cx="180975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3623B1-3705-444C-A7B1-FE96A6129BD0}"/>
              </a:ext>
            </a:extLst>
          </p:cNvPr>
          <p:cNvSpPr>
            <a:spLocks noGrp="1"/>
          </p:cNvSpPr>
          <p:nvPr/>
        </p:nvSpPr>
        <p:spPr>
          <a:xfrm>
            <a:off x="647700" y="2943225"/>
            <a:ext cx="169545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Key / side bias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EAE96B-B9B1-4ADF-9846-86004B69CA1D}"/>
              </a:ext>
            </a:extLst>
          </p:cNvPr>
          <p:cNvSpPr>
            <a:spLocks noGrp="1"/>
          </p:cNvSpPr>
          <p:nvPr/>
        </p:nvSpPr>
        <p:spPr>
          <a:xfrm>
            <a:off x="2400300" y="2886075"/>
            <a:ext cx="590550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E0647C-E7A3-4B12-B92E-783505E5CF16}"/>
              </a:ext>
            </a:extLst>
          </p:cNvPr>
          <p:cNvSpPr>
            <a:spLocks noGrp="1"/>
          </p:cNvSpPr>
          <p:nvPr/>
        </p:nvSpPr>
        <p:spPr>
          <a:xfrm>
            <a:off x="2457450" y="2943225"/>
            <a:ext cx="57912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F/J supports balanced keyboard responding, but does not fully eliminate side bias.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78167F-31F2-4B15-8C33-786FFDEE79C8}"/>
              </a:ext>
            </a:extLst>
          </p:cNvPr>
          <p:cNvSpPr>
            <a:spLocks noGrp="1"/>
          </p:cNvSpPr>
          <p:nvPr/>
        </p:nvSpPr>
        <p:spPr>
          <a:xfrm>
            <a:off x="590550" y="3419475"/>
            <a:ext cx="180975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2B91F4-8675-4C5B-84CC-38B20B90CC1B}"/>
              </a:ext>
            </a:extLst>
          </p:cNvPr>
          <p:cNvSpPr>
            <a:spLocks noGrp="1"/>
          </p:cNvSpPr>
          <p:nvPr/>
        </p:nvSpPr>
        <p:spPr>
          <a:xfrm>
            <a:off x="647700" y="3476625"/>
            <a:ext cx="169545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Fatigue / automatic pressing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BB3FF8-E481-4EE5-9FE1-14AAB9E6D6A3}"/>
              </a:ext>
            </a:extLst>
          </p:cNvPr>
          <p:cNvSpPr>
            <a:spLocks noGrp="1"/>
          </p:cNvSpPr>
          <p:nvPr/>
        </p:nvSpPr>
        <p:spPr>
          <a:xfrm>
            <a:off x="2400300" y="3419475"/>
            <a:ext cx="590550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CACC60-BF08-4AF9-9F07-EE5FAF6F12F1}"/>
              </a:ext>
            </a:extLst>
          </p:cNvPr>
          <p:cNvSpPr>
            <a:spLocks noGrp="1"/>
          </p:cNvSpPr>
          <p:nvPr/>
        </p:nvSpPr>
        <p:spPr>
          <a:xfrm>
            <a:off x="2457450" y="3476625"/>
            <a:ext cx="57912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Monitor accuracy, missing RTs, unusually fast RTs, and one-key patterns.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B09149-3EFC-4FC3-A829-69A234219A8C}"/>
              </a:ext>
            </a:extLst>
          </p:cNvPr>
          <p:cNvSpPr>
            <a:spLocks noGrp="1"/>
          </p:cNvSpPr>
          <p:nvPr/>
        </p:nvSpPr>
        <p:spPr>
          <a:xfrm>
            <a:off x="762000" y="4171950"/>
            <a:ext cx="7286625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013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013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Important wording: F/J helps reduce motor-response delay and makes responses more balanced; it does not completely remove bias.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BE161E-6C72-4064-9FE8-E479F75EC539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79B6CB-0499-4246-BA52-4C812E8A4C58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11 | EXPERIMENT DEMO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D4896-B5E7-4E0C-AFEB-43E55AE0D05E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A short PsychoPy video can show the task more clearly than more procedure text.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75C540-466E-456C-B0FC-1EF4B471B7D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pic>
        <p:nvPicPr>
          <p:cNvPr id="11" name="Demo">
            <a:hlinkClick r:id="" action="ppaction://media"/>
            <a:extLst>
              <a:ext uri="{FF2B5EF4-FFF2-40B4-BE49-F238E27FC236}">
                <a16:creationId xmlns:a16="http://schemas.microsoft.com/office/drawing/2014/main" id="{4E569175-8AF0-6740-3FB8-79ADA9DC2FA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16669" y="1210703"/>
            <a:ext cx="6110661" cy="324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5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63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08BAC81-B76E-4E27-96F0-56A37DD5CF3C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E5EEE0-11AE-4FFB-A029-FB0904780471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12 | METHODOLOGY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D040B2-5E8E-40B4-9E4C-A93A64C9FA8A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project is reproducible from experiment implementation through R Markdown modeling.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F93E4B-BD8D-40EC-BBD5-539C534A461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57587-51CB-470B-A0F0-BA441933D5E6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10668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561924"/>
            <a:ext cx="647700" cy="2099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BE04AB-C57C-4715-BE25-85A09EDC6ADB}"/>
              </a:ext>
            </a:extLst>
          </p:cNvPr>
          <p:cNvSpPr>
            <a:spLocks noGrp="1"/>
          </p:cNvSpPr>
          <p:nvPr/>
        </p:nvSpPr>
        <p:spPr>
          <a:xfrm>
            <a:off x="647700" y="1952625"/>
            <a:ext cx="8763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5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PsychoPy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081EDD-35E5-4903-B9AA-EC3BED4765BA}"/>
              </a:ext>
            </a:extLst>
          </p:cNvPr>
          <p:cNvSpPr>
            <a:spLocks noGrp="1"/>
          </p:cNvSpPr>
          <p:nvPr/>
        </p:nvSpPr>
        <p:spPr>
          <a:xfrm>
            <a:off x="1647825" y="166687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26FCD9-F0D3-4A9C-BF83-E1DE32A6DDAD}"/>
              </a:ext>
            </a:extLst>
          </p:cNvPr>
          <p:cNvSpPr>
            <a:spLocks noGrp="1"/>
          </p:cNvSpPr>
          <p:nvPr/>
        </p:nvSpPr>
        <p:spPr>
          <a:xfrm>
            <a:off x="1952625" y="1352550"/>
            <a:ext cx="10668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93277" y="1466850"/>
            <a:ext cx="585496" cy="4000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5DD9C8-576F-4357-AD24-4D01B1B0FF2B}"/>
              </a:ext>
            </a:extLst>
          </p:cNvPr>
          <p:cNvSpPr>
            <a:spLocks noGrp="1"/>
          </p:cNvSpPr>
          <p:nvPr/>
        </p:nvSpPr>
        <p:spPr>
          <a:xfrm>
            <a:off x="2047875" y="1952625"/>
            <a:ext cx="8763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5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Pavlovia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9DE576-ED67-4185-B776-EAF05A8238D2}"/>
              </a:ext>
            </a:extLst>
          </p:cNvPr>
          <p:cNvSpPr>
            <a:spLocks noGrp="1"/>
          </p:cNvSpPr>
          <p:nvPr/>
        </p:nvSpPr>
        <p:spPr>
          <a:xfrm>
            <a:off x="3048000" y="166687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0EA591-85FB-4E92-99B7-D57FBC1D3775}"/>
              </a:ext>
            </a:extLst>
          </p:cNvPr>
          <p:cNvSpPr>
            <a:spLocks noGrp="1"/>
          </p:cNvSpPr>
          <p:nvPr/>
        </p:nvSpPr>
        <p:spPr>
          <a:xfrm>
            <a:off x="3352800" y="1352550"/>
            <a:ext cx="10668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686175" y="1466850"/>
            <a:ext cx="400050" cy="4000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12B37E7-AE67-4529-AC37-266DFBD8F91C}"/>
              </a:ext>
            </a:extLst>
          </p:cNvPr>
          <p:cNvSpPr>
            <a:spLocks noGrp="1"/>
          </p:cNvSpPr>
          <p:nvPr/>
        </p:nvSpPr>
        <p:spPr>
          <a:xfrm>
            <a:off x="3448050" y="1952625"/>
            <a:ext cx="8763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5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69E5A7-F4D7-4F0A-93B2-3C7BFA25BBEE}"/>
              </a:ext>
            </a:extLst>
          </p:cNvPr>
          <p:cNvSpPr>
            <a:spLocks noGrp="1"/>
          </p:cNvSpPr>
          <p:nvPr/>
        </p:nvSpPr>
        <p:spPr>
          <a:xfrm>
            <a:off x="4448175" y="166687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CA3044-8856-4D2B-9F6A-3F8305E19B1C}"/>
              </a:ext>
            </a:extLst>
          </p:cNvPr>
          <p:cNvSpPr>
            <a:spLocks noGrp="1"/>
          </p:cNvSpPr>
          <p:nvPr/>
        </p:nvSpPr>
        <p:spPr>
          <a:xfrm>
            <a:off x="4752975" y="1352550"/>
            <a:ext cx="10668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962525" y="1535684"/>
            <a:ext cx="647700" cy="26238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6D4C59D-8172-46FC-B40B-5F210F8ECD7C}"/>
              </a:ext>
            </a:extLst>
          </p:cNvPr>
          <p:cNvSpPr>
            <a:spLocks noGrp="1"/>
          </p:cNvSpPr>
          <p:nvPr/>
        </p:nvSpPr>
        <p:spPr>
          <a:xfrm>
            <a:off x="4848225" y="1952625"/>
            <a:ext cx="8763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5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pandas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832211-2451-4542-9A69-5B6BB2F88E42}"/>
              </a:ext>
            </a:extLst>
          </p:cNvPr>
          <p:cNvSpPr>
            <a:spLocks noGrp="1"/>
          </p:cNvSpPr>
          <p:nvPr/>
        </p:nvSpPr>
        <p:spPr>
          <a:xfrm>
            <a:off x="5848350" y="1666875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2781B4-7201-4B1E-9522-FCD2F3386261}"/>
              </a:ext>
            </a:extLst>
          </p:cNvPr>
          <p:cNvSpPr>
            <a:spLocks noGrp="1"/>
          </p:cNvSpPr>
          <p:nvPr/>
        </p:nvSpPr>
        <p:spPr>
          <a:xfrm>
            <a:off x="6153150" y="1352550"/>
            <a:ext cx="10668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CB3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428407" y="1466850"/>
            <a:ext cx="516286" cy="4000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BD42536-C1AA-4C74-81C2-E67CEE5B69B1}"/>
              </a:ext>
            </a:extLst>
          </p:cNvPr>
          <p:cNvSpPr>
            <a:spLocks noGrp="1"/>
          </p:cNvSpPr>
          <p:nvPr/>
        </p:nvSpPr>
        <p:spPr>
          <a:xfrm>
            <a:off x="6248400" y="1952625"/>
            <a:ext cx="8763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50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FC549C-E186-4F09-A84C-8C1D4BC8C54D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1285875" cy="66675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6752F0-32E0-4581-A549-4420AC68A844}"/>
              </a:ext>
            </a:extLst>
          </p:cNvPr>
          <p:cNvSpPr>
            <a:spLocks noGrp="1"/>
          </p:cNvSpPr>
          <p:nvPr/>
        </p:nvSpPr>
        <p:spPr>
          <a:xfrm>
            <a:off x="828675" y="2943225"/>
            <a:ext cx="11144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Experiment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DB03F0-B1CD-433B-8C1E-3F406C800837}"/>
              </a:ext>
            </a:extLst>
          </p:cNvPr>
          <p:cNvSpPr>
            <a:spLocks noGrp="1"/>
          </p:cNvSpPr>
          <p:nvPr/>
        </p:nvSpPr>
        <p:spPr>
          <a:xfrm>
            <a:off x="828675" y="3152775"/>
            <a:ext cx="1114425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PsychoPy / Pavlovia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5F288F-96A1-49C4-9227-FB797F83EAC4}"/>
              </a:ext>
            </a:extLst>
          </p:cNvPr>
          <p:cNvSpPr>
            <a:spLocks noGrp="1"/>
          </p:cNvSpPr>
          <p:nvPr/>
        </p:nvSpPr>
        <p:spPr>
          <a:xfrm>
            <a:off x="2095500" y="3067050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287CF2-F797-4660-8659-76CE4389801E}"/>
              </a:ext>
            </a:extLst>
          </p:cNvPr>
          <p:cNvSpPr>
            <a:spLocks noGrp="1"/>
          </p:cNvSpPr>
          <p:nvPr/>
        </p:nvSpPr>
        <p:spPr>
          <a:xfrm>
            <a:off x="2381250" y="2857500"/>
            <a:ext cx="1238250" cy="666750"/>
          </a:xfrm>
          <a:prstGeom prst="rect">
            <a:avLst/>
          </a:prstGeom>
          <a:solidFill>
            <a:srgbClr val="F3F6F8"/>
          </a:solidFill>
          <a:ln w="7620">
            <a:solidFill>
              <a:srgbClr val="003A61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D0EE78-0A84-45A7-8D1D-2C2C83D6DAD4}"/>
              </a:ext>
            </a:extLst>
          </p:cNvPr>
          <p:cNvSpPr>
            <a:spLocks noGrp="1"/>
          </p:cNvSpPr>
          <p:nvPr/>
        </p:nvSpPr>
        <p:spPr>
          <a:xfrm>
            <a:off x="2466975" y="2943225"/>
            <a:ext cx="10668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Raw CSV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9381A6-E9BE-4468-8D5A-4BBB9C87EE99}"/>
              </a:ext>
            </a:extLst>
          </p:cNvPr>
          <p:cNvSpPr>
            <a:spLocks noGrp="1"/>
          </p:cNvSpPr>
          <p:nvPr/>
        </p:nvSpPr>
        <p:spPr>
          <a:xfrm>
            <a:off x="2466975" y="3152775"/>
            <a:ext cx="10668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participant files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8F4A83-3C61-46A8-94E1-439AF581F5DE}"/>
              </a:ext>
            </a:extLst>
          </p:cNvPr>
          <p:cNvSpPr>
            <a:spLocks noGrp="1"/>
          </p:cNvSpPr>
          <p:nvPr/>
        </p:nvSpPr>
        <p:spPr>
          <a:xfrm>
            <a:off x="3676650" y="3067050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5850B5-94AC-4655-827A-1055B9D17807}"/>
              </a:ext>
            </a:extLst>
          </p:cNvPr>
          <p:cNvSpPr>
            <a:spLocks noGrp="1"/>
          </p:cNvSpPr>
          <p:nvPr/>
        </p:nvSpPr>
        <p:spPr>
          <a:xfrm>
            <a:off x="3952875" y="2857500"/>
            <a:ext cx="1428750" cy="666750"/>
          </a:xfrm>
          <a:prstGeom prst="rect">
            <a:avLst/>
          </a:prstGeom>
          <a:solidFill>
            <a:srgbClr val="DDECB3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04F75A7-61C2-494E-948F-C78EC9615AAC}"/>
              </a:ext>
            </a:extLst>
          </p:cNvPr>
          <p:cNvSpPr>
            <a:spLocks noGrp="1"/>
          </p:cNvSpPr>
          <p:nvPr/>
        </p:nvSpPr>
        <p:spPr>
          <a:xfrm>
            <a:off x="4038600" y="2943225"/>
            <a:ext cx="12573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Cleaning/QC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D0AD8D-F9C8-47B7-840E-2E479BE70940}"/>
              </a:ext>
            </a:extLst>
          </p:cNvPr>
          <p:cNvSpPr>
            <a:spLocks noGrp="1"/>
          </p:cNvSpPr>
          <p:nvPr/>
        </p:nvSpPr>
        <p:spPr>
          <a:xfrm>
            <a:off x="4038600" y="3152775"/>
            <a:ext cx="12573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Python + pandas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538146-ABEC-4673-BFFC-DAD686CF73AD}"/>
              </a:ext>
            </a:extLst>
          </p:cNvPr>
          <p:cNvSpPr>
            <a:spLocks noGrp="1"/>
          </p:cNvSpPr>
          <p:nvPr/>
        </p:nvSpPr>
        <p:spPr>
          <a:xfrm>
            <a:off x="5448300" y="3067050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3C16A9-4508-4CE6-80A8-4EBCAEBC8E92}"/>
              </a:ext>
            </a:extLst>
          </p:cNvPr>
          <p:cNvSpPr>
            <a:spLocks noGrp="1"/>
          </p:cNvSpPr>
          <p:nvPr/>
        </p:nvSpPr>
        <p:spPr>
          <a:xfrm>
            <a:off x="5715000" y="2857500"/>
            <a:ext cx="1571625" cy="66675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086B4D-0108-465E-8321-0F37A4DA209F}"/>
              </a:ext>
            </a:extLst>
          </p:cNvPr>
          <p:cNvSpPr>
            <a:spLocks noGrp="1"/>
          </p:cNvSpPr>
          <p:nvPr/>
        </p:nvSpPr>
        <p:spPr>
          <a:xfrm>
            <a:off x="5800725" y="2943225"/>
            <a:ext cx="140017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Analysis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054EC9-6075-45FA-8825-BF5E5C336A8D}"/>
              </a:ext>
            </a:extLst>
          </p:cNvPr>
          <p:cNvSpPr>
            <a:spLocks noGrp="1"/>
          </p:cNvSpPr>
          <p:nvPr/>
        </p:nvSpPr>
        <p:spPr>
          <a:xfrm>
            <a:off x="5800725" y="3152775"/>
            <a:ext cx="1400175" cy="3048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 Markdown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lme4 / lmerTest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209021A-367A-4621-8D22-DA3FCFBB5ED7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FFA9F0-5EC5-4A50-AD26-A62F9EBD712E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13 | CLEANING AND QC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FC38D3-A018-4D64-AB9A-2D5600A52444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Cleaning was designed to preserve raw data while making analysis copies auditable.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CCFB3-ED97-41FB-886B-A0E3C16177B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B0F1B8-AD3E-41E1-AADE-AE41EF75C09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86125" cy="523875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AF9404-5A17-423C-BBC2-178BD71E37A9}"/>
              </a:ext>
            </a:extLst>
          </p:cNvPr>
          <p:cNvSpPr>
            <a:spLocks noGrp="1"/>
          </p:cNvSpPr>
          <p:nvPr/>
        </p:nvSpPr>
        <p:spPr>
          <a:xfrm>
            <a:off x="723900" y="1314450"/>
            <a:ext cx="30575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88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Read participant CSVs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C248C8-9213-416D-A05F-8FBD03E7ABE2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3057525" cy="12382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0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multiple encodings: utf-8-sig, utf-8, cp1258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503D60-E185-4B89-930F-085183341BC5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3286125" cy="523875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276F5C-CDAB-4369-81BD-671A7A821CB5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30575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88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Validate IDs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223871-19D5-4B60-A536-BFE74528C05D}"/>
              </a:ext>
            </a:extLst>
          </p:cNvPr>
          <p:cNvSpPr>
            <a:spLocks noGrp="1"/>
          </p:cNvSpPr>
          <p:nvPr/>
        </p:nvSpPr>
        <p:spPr>
          <a:xfrm>
            <a:off x="723900" y="2228850"/>
            <a:ext cx="3057525" cy="12382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0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participant ID in filename and file content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D89C3F-9925-41BE-A2B8-668221D1FE7D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3286125" cy="523875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349A71-7766-43BA-A9A2-588352B7D8CA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30575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88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Check trial counts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1F3854-2A0F-4F21-B8E8-FB9A103A758D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3057525" cy="12382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0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4 practice + 120 main trials per participant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B416C6-A1B6-4D91-9FA6-57A6A6C183BB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3286125" cy="523875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E86217-3B39-4F2C-B316-A2E68CEC16F2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30575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88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Check response mapping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FBE15E-3D5F-4546-BF64-8EA5BBEA8D71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3057525" cy="12382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0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F/J labels and accuracy recomputed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A44162-E1DE-4309-8899-7D38061CBC65}"/>
              </a:ext>
            </a:extLst>
          </p:cNvPr>
          <p:cNvSpPr>
            <a:spLocks noGrp="1"/>
          </p:cNvSpPr>
          <p:nvPr/>
        </p:nvSpPr>
        <p:spPr>
          <a:xfrm>
            <a:off x="4467225" y="1219200"/>
            <a:ext cx="3286125" cy="523875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4BD08B-21B1-4D92-B54E-B9C029A2B461}"/>
              </a:ext>
            </a:extLst>
          </p:cNvPr>
          <p:cNvSpPr>
            <a:spLocks noGrp="1"/>
          </p:cNvSpPr>
          <p:nvPr/>
        </p:nvSpPr>
        <p:spPr>
          <a:xfrm>
            <a:off x="4581525" y="1314450"/>
            <a:ext cx="30575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88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Convert 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57DD2F-D121-406D-B294-B40B8D1829DC}"/>
              </a:ext>
            </a:extLst>
          </p:cNvPr>
          <p:cNvSpPr>
            <a:spLocks noGrp="1"/>
          </p:cNvSpPr>
          <p:nvPr/>
        </p:nvSpPr>
        <p:spPr>
          <a:xfrm>
            <a:off x="4581525" y="1543050"/>
            <a:ext cx="3057525" cy="12382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0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numeric RT, log_rt, missing/timeout flags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392EFB-39C8-4475-992C-E97B41C1A0DF}"/>
              </a:ext>
            </a:extLst>
          </p:cNvPr>
          <p:cNvSpPr>
            <a:spLocks noGrp="1"/>
          </p:cNvSpPr>
          <p:nvPr/>
        </p:nvSpPr>
        <p:spPr>
          <a:xfrm>
            <a:off x="4467225" y="1905000"/>
            <a:ext cx="3286125" cy="523875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CA6A46-D8B5-4B62-9FB2-6DF42D789509}"/>
              </a:ext>
            </a:extLst>
          </p:cNvPr>
          <p:cNvSpPr>
            <a:spLocks noGrp="1"/>
          </p:cNvSpPr>
          <p:nvPr/>
        </p:nvSpPr>
        <p:spPr>
          <a:xfrm>
            <a:off x="4581525" y="2000250"/>
            <a:ext cx="30575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88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Validate stimuli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D03A3A-A242-4CBE-A149-E08494A9EFD2}"/>
              </a:ext>
            </a:extLst>
          </p:cNvPr>
          <p:cNvSpPr>
            <a:spLocks noGrp="1"/>
          </p:cNvSpPr>
          <p:nvPr/>
        </p:nvSpPr>
        <p:spPr>
          <a:xfrm>
            <a:off x="4581525" y="2228850"/>
            <a:ext cx="3057525" cy="12382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0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trial_id and stimulus list matched against final design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F0033A-40C8-4B88-83F0-4B56B486E691}"/>
              </a:ext>
            </a:extLst>
          </p:cNvPr>
          <p:cNvSpPr>
            <a:spLocks noGrp="1"/>
          </p:cNvSpPr>
          <p:nvPr/>
        </p:nvSpPr>
        <p:spPr>
          <a:xfrm>
            <a:off x="4467225" y="2590800"/>
            <a:ext cx="3286125" cy="523875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262383-F586-4F6B-9505-8BAF08C9D186}"/>
              </a:ext>
            </a:extLst>
          </p:cNvPr>
          <p:cNvSpPr>
            <a:spLocks noGrp="1"/>
          </p:cNvSpPr>
          <p:nvPr/>
        </p:nvSpPr>
        <p:spPr>
          <a:xfrm>
            <a:off x="4581525" y="2686050"/>
            <a:ext cx="30575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88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Create outputs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894DA2-1E91-4574-940F-C46A0923E565}"/>
              </a:ext>
            </a:extLst>
          </p:cNvPr>
          <p:cNvSpPr>
            <a:spLocks noGrp="1"/>
          </p:cNvSpPr>
          <p:nvPr/>
        </p:nvSpPr>
        <p:spPr>
          <a:xfrm>
            <a:off x="4581525" y="2914650"/>
            <a:ext cx="3057525" cy="12382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0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cleaned datasets + participant/item/design QC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8851D0-12E6-4298-B650-7BCF77E34EC6}"/>
              </a:ext>
            </a:extLst>
          </p:cNvPr>
          <p:cNvSpPr>
            <a:spLocks noGrp="1"/>
          </p:cNvSpPr>
          <p:nvPr/>
        </p:nvSpPr>
        <p:spPr>
          <a:xfrm>
            <a:off x="4467225" y="3276600"/>
            <a:ext cx="3286125" cy="523875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FC4BD-AF03-45BA-B8E3-2663E2922614}"/>
              </a:ext>
            </a:extLst>
          </p:cNvPr>
          <p:cNvSpPr>
            <a:spLocks noGrp="1"/>
          </p:cNvSpPr>
          <p:nvPr/>
        </p:nvSpPr>
        <p:spPr>
          <a:xfrm>
            <a:off x="4581525" y="3371850"/>
            <a:ext cx="30575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88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Preserve raw files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4ACB75-1E25-4697-962C-7032D28EC2A0}"/>
              </a:ext>
            </a:extLst>
          </p:cNvPr>
          <p:cNvSpPr>
            <a:spLocks noGrp="1"/>
          </p:cNvSpPr>
          <p:nvPr/>
        </p:nvSpPr>
        <p:spPr>
          <a:xfrm>
            <a:off x="4581525" y="3600450"/>
            <a:ext cx="3057525" cy="12382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80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raw CSVs are read, not modified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3D90971-2ACC-4B61-AE6D-EBB372E211E3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7C8DB0-1A7B-41C8-9081-750B9E2996C3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14 | QC STATUS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C1702-CA18-4103-9A7C-088CE5ED1EFB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current dataset passes the main participant, trial, and stimulus-validation checks.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0483C7-E8AA-47BF-8A8C-09A2C50449A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2C3098-E5BA-41C1-9D95-BBDB24668E6E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1381125" cy="68580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26007-8520-4CEB-A18B-D592F5AFD8F8}"/>
              </a:ext>
            </a:extLst>
          </p:cNvPr>
          <p:cNvSpPr>
            <a:spLocks noGrp="1"/>
          </p:cNvSpPr>
          <p:nvPr/>
        </p:nvSpPr>
        <p:spPr>
          <a:xfrm>
            <a:off x="619125" y="1409700"/>
            <a:ext cx="1190625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48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FC9912-4489-4CCA-8098-0D84B84A9236}"/>
              </a:ext>
            </a:extLst>
          </p:cNvPr>
          <p:cNvSpPr>
            <a:spLocks noGrp="1"/>
          </p:cNvSpPr>
          <p:nvPr/>
        </p:nvSpPr>
        <p:spPr>
          <a:xfrm>
            <a:off x="619125" y="1676400"/>
            <a:ext cx="11906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files read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055F7E-88B2-41C4-A14E-609399E44197}"/>
              </a:ext>
            </a:extLst>
          </p:cNvPr>
          <p:cNvSpPr>
            <a:spLocks noGrp="1"/>
          </p:cNvSpPr>
          <p:nvPr/>
        </p:nvSpPr>
        <p:spPr>
          <a:xfrm>
            <a:off x="619125" y="1847850"/>
            <a:ext cx="1190625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participant CSVs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A3BD76-DBB7-4050-B919-A1215E6A6109}"/>
              </a:ext>
            </a:extLst>
          </p:cNvPr>
          <p:cNvSpPr>
            <a:spLocks noGrp="1"/>
          </p:cNvSpPr>
          <p:nvPr/>
        </p:nvSpPr>
        <p:spPr>
          <a:xfrm>
            <a:off x="2190750" y="1314450"/>
            <a:ext cx="1381125" cy="685800"/>
          </a:xfrm>
          <a:prstGeom prst="rect">
            <a:avLst/>
          </a:prstGeom>
          <a:solidFill>
            <a:srgbClr val="F3F6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17674D-6E8B-4901-B474-C85073CB32CD}"/>
              </a:ext>
            </a:extLst>
          </p:cNvPr>
          <p:cNvSpPr>
            <a:spLocks noGrp="1"/>
          </p:cNvSpPr>
          <p:nvPr/>
        </p:nvSpPr>
        <p:spPr>
          <a:xfrm>
            <a:off x="2286000" y="1409700"/>
            <a:ext cx="1190625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48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92913-1668-47EF-BE1E-68925319114B}"/>
              </a:ext>
            </a:extLst>
          </p:cNvPr>
          <p:cNvSpPr>
            <a:spLocks noGrp="1"/>
          </p:cNvSpPr>
          <p:nvPr/>
        </p:nvSpPr>
        <p:spPr>
          <a:xfrm>
            <a:off x="2286000" y="1676400"/>
            <a:ext cx="11906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participants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22AAA8-06F7-48F4-BB68-61FB49DCFB08}"/>
              </a:ext>
            </a:extLst>
          </p:cNvPr>
          <p:cNvSpPr>
            <a:spLocks noGrp="1"/>
          </p:cNvSpPr>
          <p:nvPr/>
        </p:nvSpPr>
        <p:spPr>
          <a:xfrm>
            <a:off x="2286000" y="1847850"/>
            <a:ext cx="1190625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unique IDs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E3D98D-6805-468C-AAD1-0061C7510B83}"/>
              </a:ext>
            </a:extLst>
          </p:cNvPr>
          <p:cNvSpPr>
            <a:spLocks noGrp="1"/>
          </p:cNvSpPr>
          <p:nvPr/>
        </p:nvSpPr>
        <p:spPr>
          <a:xfrm>
            <a:off x="3857625" y="1314450"/>
            <a:ext cx="1381125" cy="68580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D1078B-3784-4A00-8FF7-E39165E48B58}"/>
              </a:ext>
            </a:extLst>
          </p:cNvPr>
          <p:cNvSpPr>
            <a:spLocks noGrp="1"/>
          </p:cNvSpPr>
          <p:nvPr/>
        </p:nvSpPr>
        <p:spPr>
          <a:xfrm>
            <a:off x="3952875" y="1409700"/>
            <a:ext cx="1190625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C66BF9-B578-415A-A437-93617919BD04}"/>
              </a:ext>
            </a:extLst>
          </p:cNvPr>
          <p:cNvSpPr>
            <a:spLocks noGrp="1"/>
          </p:cNvSpPr>
          <p:nvPr/>
        </p:nvSpPr>
        <p:spPr>
          <a:xfrm>
            <a:off x="3952875" y="1676400"/>
            <a:ext cx="11906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flagged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8BAA7E-CD0D-487B-80AD-D0CD32A0356E}"/>
              </a:ext>
            </a:extLst>
          </p:cNvPr>
          <p:cNvSpPr>
            <a:spLocks noGrp="1"/>
          </p:cNvSpPr>
          <p:nvPr/>
        </p:nvSpPr>
        <p:spPr>
          <a:xfrm>
            <a:off x="3952875" y="1847850"/>
            <a:ext cx="1190625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participant QC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7D2811-B2B4-4256-B751-526DDD5A6318}"/>
              </a:ext>
            </a:extLst>
          </p:cNvPr>
          <p:cNvSpPr>
            <a:spLocks noGrp="1"/>
          </p:cNvSpPr>
          <p:nvPr/>
        </p:nvSpPr>
        <p:spPr>
          <a:xfrm>
            <a:off x="523875" y="2190750"/>
            <a:ext cx="1381125" cy="685800"/>
          </a:xfrm>
          <a:prstGeom prst="rect">
            <a:avLst/>
          </a:prstGeom>
          <a:solidFill>
            <a:srgbClr val="F3F6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55E943-F7FB-47C4-8A60-F746CE0F53DC}"/>
              </a:ext>
            </a:extLst>
          </p:cNvPr>
          <p:cNvSpPr>
            <a:spLocks noGrp="1"/>
          </p:cNvSpPr>
          <p:nvPr/>
        </p:nvSpPr>
        <p:spPr>
          <a:xfrm>
            <a:off x="619125" y="2286000"/>
            <a:ext cx="1190625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5,760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610A68-CE51-43AF-8CAD-8538428808FA}"/>
              </a:ext>
            </a:extLst>
          </p:cNvPr>
          <p:cNvSpPr>
            <a:spLocks noGrp="1"/>
          </p:cNvSpPr>
          <p:nvPr/>
        </p:nvSpPr>
        <p:spPr>
          <a:xfrm>
            <a:off x="619125" y="2552700"/>
            <a:ext cx="11906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main trials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A58201-30A7-4784-900F-6AF35D67BFD1}"/>
              </a:ext>
            </a:extLst>
          </p:cNvPr>
          <p:cNvSpPr>
            <a:spLocks noGrp="1"/>
          </p:cNvSpPr>
          <p:nvPr/>
        </p:nvSpPr>
        <p:spPr>
          <a:xfrm>
            <a:off x="619125" y="2724150"/>
            <a:ext cx="1190625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48 x 120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A88B9D-06B0-4C36-8688-EA038FE68415}"/>
              </a:ext>
            </a:extLst>
          </p:cNvPr>
          <p:cNvSpPr>
            <a:spLocks noGrp="1"/>
          </p:cNvSpPr>
          <p:nvPr/>
        </p:nvSpPr>
        <p:spPr>
          <a:xfrm>
            <a:off x="2190750" y="2190750"/>
            <a:ext cx="1381125" cy="68580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B95F2B-FFB3-4FDB-AB2E-D54E52313EA6}"/>
              </a:ext>
            </a:extLst>
          </p:cNvPr>
          <p:cNvSpPr>
            <a:spLocks noGrp="1"/>
          </p:cNvSpPr>
          <p:nvPr/>
        </p:nvSpPr>
        <p:spPr>
          <a:xfrm>
            <a:off x="2286000" y="2286000"/>
            <a:ext cx="1190625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5,715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4C159F-34FC-4A9F-AB78-B89639719E9B}"/>
              </a:ext>
            </a:extLst>
          </p:cNvPr>
          <p:cNvSpPr>
            <a:spLocks noGrp="1"/>
          </p:cNvSpPr>
          <p:nvPr/>
        </p:nvSpPr>
        <p:spPr>
          <a:xfrm>
            <a:off x="2286000" y="2552700"/>
            <a:ext cx="11906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valid RTs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791D78-C06C-47F3-B4CF-CAF7B60DA8FF}"/>
              </a:ext>
            </a:extLst>
          </p:cNvPr>
          <p:cNvSpPr>
            <a:spLocks noGrp="1"/>
          </p:cNvSpPr>
          <p:nvPr/>
        </p:nvSpPr>
        <p:spPr>
          <a:xfrm>
            <a:off x="2286000" y="2724150"/>
            <a:ext cx="1190625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main trials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51177-C754-45C2-8D74-3857BECCBBE7}"/>
              </a:ext>
            </a:extLst>
          </p:cNvPr>
          <p:cNvSpPr>
            <a:spLocks noGrp="1"/>
          </p:cNvSpPr>
          <p:nvPr/>
        </p:nvSpPr>
        <p:spPr>
          <a:xfrm>
            <a:off x="3857625" y="2190750"/>
            <a:ext cx="1381125" cy="685800"/>
          </a:xfrm>
          <a:prstGeom prst="rect">
            <a:avLst/>
          </a:prstGeom>
          <a:solidFill>
            <a:srgbClr val="F3F6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EEFEFE-4D20-46B9-A56F-A2E440F198C7}"/>
              </a:ext>
            </a:extLst>
          </p:cNvPr>
          <p:cNvSpPr>
            <a:spLocks noGrp="1"/>
          </p:cNvSpPr>
          <p:nvPr/>
        </p:nvSpPr>
        <p:spPr>
          <a:xfrm>
            <a:off x="3952875" y="2286000"/>
            <a:ext cx="1190625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3,306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88265C-7E6C-462D-91D5-7728EB234665}"/>
              </a:ext>
            </a:extLst>
          </p:cNvPr>
          <p:cNvSpPr>
            <a:spLocks noGrp="1"/>
          </p:cNvSpPr>
          <p:nvPr/>
        </p:nvSpPr>
        <p:spPr>
          <a:xfrm>
            <a:off x="3952875" y="2552700"/>
            <a:ext cx="11906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RT model rows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043440-D658-4342-AB3C-C59235328612}"/>
              </a:ext>
            </a:extLst>
          </p:cNvPr>
          <p:cNvSpPr>
            <a:spLocks noGrp="1"/>
          </p:cNvSpPr>
          <p:nvPr/>
        </p:nvSpPr>
        <p:spPr>
          <a:xfrm>
            <a:off x="3952875" y="2724150"/>
            <a:ext cx="1190625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correct real words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300312-60DF-4A8D-AEB4-6FDC74E6E9D0}"/>
              </a:ext>
            </a:extLst>
          </p:cNvPr>
          <p:cNvSpPr>
            <a:spLocks noGrp="1"/>
          </p:cNvSpPr>
          <p:nvPr/>
        </p:nvSpPr>
        <p:spPr>
          <a:xfrm>
            <a:off x="5905500" y="1381125"/>
            <a:ext cx="2190750" cy="200025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C2EF8A-19A7-4E83-95B1-83EF44BB386A}"/>
              </a:ext>
            </a:extLst>
          </p:cNvPr>
          <p:cNvSpPr>
            <a:spLocks noGrp="1"/>
          </p:cNvSpPr>
          <p:nvPr/>
        </p:nvSpPr>
        <p:spPr>
          <a:xfrm>
            <a:off x="6019800" y="1476375"/>
            <a:ext cx="19621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Validation passed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756090-D854-45CE-A309-24E12C4D5DE1}"/>
              </a:ext>
            </a:extLst>
          </p:cNvPr>
          <p:cNvSpPr>
            <a:spLocks noGrp="1"/>
          </p:cNvSpPr>
          <p:nvPr/>
        </p:nvSpPr>
        <p:spPr>
          <a:xfrm>
            <a:off x="6019800" y="1704975"/>
            <a:ext cx="1962150" cy="16002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2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Stimulus file readable</a:t>
            </a:r>
          </a:p>
          <a:p>
            <a:r>
              <a:rPr sz="92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120 unique main trial IDs</a:t>
            </a:r>
          </a:p>
          <a:p>
            <a:r>
              <a:rPr sz="92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72 real words, 48 pseudowords</a:t>
            </a:r>
          </a:p>
          <a:p>
            <a:r>
              <a:rPr sz="92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Every trial_id has 48 presentations</a:t>
            </a:r>
          </a:p>
          <a:p>
            <a:r>
              <a:rPr sz="92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No unexpected trial IDs</a:t>
            </a:r>
          </a:p>
          <a:p>
            <a:r>
              <a:rPr sz="92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Raw data were not modified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DD26D0-B674-430C-89DC-83685C337024}"/>
              </a:ext>
            </a:extLst>
          </p:cNvPr>
          <p:cNvSpPr>
            <a:spLocks noGrp="1"/>
          </p:cNvSpPr>
          <p:nvPr/>
        </p:nvSpPr>
        <p:spPr>
          <a:xfrm>
            <a:off x="819150" y="3943350"/>
            <a:ext cx="6858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Current stage: ready for Colloquium 2 presentation, but results remain preliminary.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62D0C2D-003C-4AC9-B804-574F43513621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662DAD-C2AA-4A18-908E-DCB232F51BA5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15 | REPRODUCIBILITY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0E3905-D4E9-43E6-A808-0EDAE3CD858E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workflow keeps raw data, cleaned analysis copies, QC outputs, and the analysis report separate.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92E019-FF4B-41B4-AE52-9DAFBAD77DD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C8E27-FBCE-4495-AB10-738FF3E88B27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2000250" cy="742950"/>
          </a:xfrm>
          <a:prstGeom prst="rect">
            <a:avLst/>
          </a:prstGeom>
          <a:solidFill>
            <a:srgbClr val="F3F6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A826BE-8BA0-4368-A548-37061433C65C}"/>
              </a:ext>
            </a:extLst>
          </p:cNvPr>
          <p:cNvSpPr>
            <a:spLocks noGrp="1"/>
          </p:cNvSpPr>
          <p:nvPr/>
        </p:nvSpPr>
        <p:spPr>
          <a:xfrm>
            <a:off x="657225" y="1400175"/>
            <a:ext cx="18288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Raw PsychoPy CSVs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DD8CDF-1A95-4C3F-8D16-241E65B7604C}"/>
              </a:ext>
            </a:extLst>
          </p:cNvPr>
          <p:cNvSpPr>
            <a:spLocks noGrp="1"/>
          </p:cNvSpPr>
          <p:nvPr/>
        </p:nvSpPr>
        <p:spPr>
          <a:xfrm>
            <a:off x="657225" y="1609725"/>
            <a:ext cx="18288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data/experiment_results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read only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216242-F205-4DF1-ABEB-6803A96C2560}"/>
              </a:ext>
            </a:extLst>
          </p:cNvPr>
          <p:cNvSpPr>
            <a:spLocks noGrp="1"/>
          </p:cNvSpPr>
          <p:nvPr/>
        </p:nvSpPr>
        <p:spPr>
          <a:xfrm>
            <a:off x="2609850" y="1562100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E61997-0A69-47FB-BAED-FBEDAC713B32}"/>
              </a:ext>
            </a:extLst>
          </p:cNvPr>
          <p:cNvSpPr>
            <a:spLocks noGrp="1"/>
          </p:cNvSpPr>
          <p:nvPr/>
        </p:nvSpPr>
        <p:spPr>
          <a:xfrm>
            <a:off x="3143250" y="1314450"/>
            <a:ext cx="2000250" cy="74295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2CA7E2-5131-4819-8B34-9674E8393BEA}"/>
              </a:ext>
            </a:extLst>
          </p:cNvPr>
          <p:cNvSpPr>
            <a:spLocks noGrp="1"/>
          </p:cNvSpPr>
          <p:nvPr/>
        </p:nvSpPr>
        <p:spPr>
          <a:xfrm>
            <a:off x="3228975" y="1400175"/>
            <a:ext cx="18288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Cleaning script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50F6EB-934C-4683-B657-295F88248B56}"/>
              </a:ext>
            </a:extLst>
          </p:cNvPr>
          <p:cNvSpPr>
            <a:spLocks noGrp="1"/>
          </p:cNvSpPr>
          <p:nvPr/>
        </p:nvSpPr>
        <p:spPr>
          <a:xfrm>
            <a:off x="3228975" y="1609725"/>
            <a:ext cx="18288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analysis/01_prepare_clean_data.py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63D4B9-9C64-4668-8212-862CCFED17EC}"/>
              </a:ext>
            </a:extLst>
          </p:cNvPr>
          <p:cNvSpPr>
            <a:spLocks noGrp="1"/>
          </p:cNvSpPr>
          <p:nvPr/>
        </p:nvSpPr>
        <p:spPr>
          <a:xfrm>
            <a:off x="5181600" y="1562100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D2663D-B002-4D9E-8BA4-0953085B7248}"/>
              </a:ext>
            </a:extLst>
          </p:cNvPr>
          <p:cNvSpPr>
            <a:spLocks noGrp="1"/>
          </p:cNvSpPr>
          <p:nvPr/>
        </p:nvSpPr>
        <p:spPr>
          <a:xfrm>
            <a:off x="5715000" y="1314450"/>
            <a:ext cx="2000250" cy="74295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F83D54-2952-4CAD-81E8-BDDBB073E23C}"/>
              </a:ext>
            </a:extLst>
          </p:cNvPr>
          <p:cNvSpPr>
            <a:spLocks noGrp="1"/>
          </p:cNvSpPr>
          <p:nvPr/>
        </p:nvSpPr>
        <p:spPr>
          <a:xfrm>
            <a:off x="5800725" y="1400175"/>
            <a:ext cx="18288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Cleaned datasets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31D34D-1105-4090-B134-F19D81F25838}"/>
              </a:ext>
            </a:extLst>
          </p:cNvPr>
          <p:cNvSpPr>
            <a:spLocks noGrp="1"/>
          </p:cNvSpPr>
          <p:nvPr/>
        </p:nvSpPr>
        <p:spPr>
          <a:xfrm>
            <a:off x="5800725" y="1609725"/>
            <a:ext cx="18288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all_trials_clean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main_trials_clean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rt_realword_correct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6628B7-136B-4D2B-864D-06B4AC4F7F66}"/>
              </a:ext>
            </a:extLst>
          </p:cNvPr>
          <p:cNvSpPr>
            <a:spLocks noGrp="1"/>
          </p:cNvSpPr>
          <p:nvPr/>
        </p:nvSpPr>
        <p:spPr>
          <a:xfrm>
            <a:off x="571500" y="2438400"/>
            <a:ext cx="2000250" cy="74295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DEDCD-F9A1-4794-A02E-821C02B29077}"/>
              </a:ext>
            </a:extLst>
          </p:cNvPr>
          <p:cNvSpPr>
            <a:spLocks noGrp="1"/>
          </p:cNvSpPr>
          <p:nvPr/>
        </p:nvSpPr>
        <p:spPr>
          <a:xfrm>
            <a:off x="657225" y="2524125"/>
            <a:ext cx="18288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QC outputs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0E3F26-86DA-4378-8DEF-074B3C3D1A16}"/>
              </a:ext>
            </a:extLst>
          </p:cNvPr>
          <p:cNvSpPr>
            <a:spLocks noGrp="1"/>
          </p:cNvSpPr>
          <p:nvPr/>
        </p:nvSpPr>
        <p:spPr>
          <a:xfrm>
            <a:off x="657225" y="2733675"/>
            <a:ext cx="18288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participant/item/design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stimulus validation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07F701-A639-41EB-A4D4-B4458BF82444}"/>
              </a:ext>
            </a:extLst>
          </p:cNvPr>
          <p:cNvSpPr>
            <a:spLocks noGrp="1"/>
          </p:cNvSpPr>
          <p:nvPr/>
        </p:nvSpPr>
        <p:spPr>
          <a:xfrm>
            <a:off x="2609850" y="2686050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629712-9CC5-44DC-BFB0-DE8286D76864}"/>
              </a:ext>
            </a:extLst>
          </p:cNvPr>
          <p:cNvSpPr>
            <a:spLocks noGrp="1"/>
          </p:cNvSpPr>
          <p:nvPr/>
        </p:nvSpPr>
        <p:spPr>
          <a:xfrm>
            <a:off x="3143250" y="2438400"/>
            <a:ext cx="2000250" cy="742950"/>
          </a:xfrm>
          <a:prstGeom prst="rect">
            <a:avLst/>
          </a:prstGeom>
          <a:solidFill>
            <a:srgbClr val="DDECB3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FBD10E-819D-45C6-B52A-D65F72C2CC96}"/>
              </a:ext>
            </a:extLst>
          </p:cNvPr>
          <p:cNvSpPr>
            <a:spLocks noGrp="1"/>
          </p:cNvSpPr>
          <p:nvPr/>
        </p:nvSpPr>
        <p:spPr>
          <a:xfrm>
            <a:off x="3228975" y="2524125"/>
            <a:ext cx="18288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 Markdown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C97FCF-D630-44E3-A113-6618F7F87937}"/>
              </a:ext>
            </a:extLst>
          </p:cNvPr>
          <p:cNvSpPr>
            <a:spLocks noGrp="1"/>
          </p:cNvSpPr>
          <p:nvPr/>
        </p:nvSpPr>
        <p:spPr>
          <a:xfrm>
            <a:off x="3228975" y="2733675"/>
            <a:ext cx="18288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analysis/RP2_final_analysis_v2.Rmd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CB1EBB-891C-4276-ABCC-DF5734A00D5D}"/>
              </a:ext>
            </a:extLst>
          </p:cNvPr>
          <p:cNvSpPr>
            <a:spLocks noGrp="1"/>
          </p:cNvSpPr>
          <p:nvPr/>
        </p:nvSpPr>
        <p:spPr>
          <a:xfrm>
            <a:off x="5181600" y="2686050"/>
            <a:ext cx="247650" cy="238125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2E0834-0B41-483A-9C37-35800534DCED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2000250" cy="74295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D453D5-9E05-4ED6-B526-EC6376012FE6}"/>
              </a:ext>
            </a:extLst>
          </p:cNvPr>
          <p:cNvSpPr>
            <a:spLocks noGrp="1"/>
          </p:cNvSpPr>
          <p:nvPr/>
        </p:nvSpPr>
        <p:spPr>
          <a:xfrm>
            <a:off x="5800725" y="2524125"/>
            <a:ext cx="18288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Analysis outputs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CBDBD4-1348-4071-A39A-93FC9253BE32}"/>
              </a:ext>
            </a:extLst>
          </p:cNvPr>
          <p:cNvSpPr>
            <a:spLocks noGrp="1"/>
          </p:cNvSpPr>
          <p:nvPr/>
        </p:nvSpPr>
        <p:spPr>
          <a:xfrm>
            <a:off x="5800725" y="2733675"/>
            <a:ext cx="18288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figures, tables,</a:t>
            </a:r>
          </a:p>
          <a:p>
            <a:pPr algn="ctr">
              <a:defRPr sz="713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model summaries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B88E2C-2D9D-4FE0-8D99-474768EAC761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6667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Reproducibility principle: every transformation has a named script or output file.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807E64B-B638-4CBA-BF4B-A5B3B6AD9BE1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3469A3-9547-4160-A8A4-B0E5CA692FB8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16 | ANALYSIS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C05766-A9AA-48C9-A10B-FDB0228F02E8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Log RT and mixed-effects models match the structure of repeated lexical-decision data.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6277D4-B5A1-4DF5-9C35-835D827DC543}"/>
              </a:ext>
            </a:extLst>
          </p:cNvPr>
          <p:cNvSpPr>
            <a:spLocks noGrp="1"/>
          </p:cNvSpPr>
          <p:nvPr/>
        </p:nvSpPr>
        <p:spPr>
          <a:xfrm>
            <a:off x="476250" y="4514850"/>
            <a:ext cx="6667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Sources: Baayen et al., 2008; Bates et al., 2015; Ratcliff, 1993; Whelan, 2008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E397B0-CC49-4CCF-90E3-62071BC6502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D19410-5B44-4562-B8D9-7153AF0ED3E0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2333625" cy="1714500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FA6033-962D-43A6-A549-6F2E92299348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21050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Why log RT?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D3EF33-82DD-4097-9F28-E963CBE99AF4}"/>
              </a:ext>
            </a:extLst>
          </p:cNvPr>
          <p:cNvSpPr>
            <a:spLocks noGrp="1"/>
          </p:cNvSpPr>
          <p:nvPr/>
        </p:nvSpPr>
        <p:spPr>
          <a:xfrm>
            <a:off x="781050" y="1609725"/>
            <a:ext cx="2105025" cy="1314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Reaction-time data are typically right-skewed.</a:t>
            </a:r>
          </a:p>
          <a:p>
            <a:endParaRPr sz="975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Using log_rt reduces skew and makes linear-model assumptions more plausible.</a:t>
            </a:r>
          </a:p>
          <a:p>
            <a:endParaRPr sz="975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Diagnostics are still checked.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613C56-112E-4DED-B026-7EE71BF723AB}"/>
              </a:ext>
            </a:extLst>
          </p:cNvPr>
          <p:cNvSpPr>
            <a:spLocks noGrp="1"/>
          </p:cNvSpPr>
          <p:nvPr/>
        </p:nvSpPr>
        <p:spPr>
          <a:xfrm>
            <a:off x="3400425" y="1285875"/>
            <a:ext cx="2333625" cy="171450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E8CF72-80ED-4BA7-A86E-69B2B3F2198A}"/>
              </a:ext>
            </a:extLst>
          </p:cNvPr>
          <p:cNvSpPr>
            <a:spLocks noGrp="1"/>
          </p:cNvSpPr>
          <p:nvPr/>
        </p:nvSpPr>
        <p:spPr>
          <a:xfrm>
            <a:off x="3514725" y="1381125"/>
            <a:ext cx="21050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Why mixed effects?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971A7F-3662-4C3A-8A50-0191D45008CA}"/>
              </a:ext>
            </a:extLst>
          </p:cNvPr>
          <p:cNvSpPr>
            <a:spLocks noGrp="1"/>
          </p:cNvSpPr>
          <p:nvPr/>
        </p:nvSpPr>
        <p:spPr>
          <a:xfrm>
            <a:off x="3514725" y="1609725"/>
            <a:ext cx="2105025" cy="1314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Each participant sees many items.</a:t>
            </a:r>
          </a:p>
          <a:p>
            <a:endParaRPr sz="975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Each item is seen by many participants.</a:t>
            </a:r>
          </a:p>
          <a:p>
            <a:endParaRPr sz="975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Random intercepts account for participant and item variability.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5C7D68-FBE0-40D3-B7DF-1A259FA21275}"/>
              </a:ext>
            </a:extLst>
          </p:cNvPr>
          <p:cNvSpPr>
            <a:spLocks noGrp="1"/>
          </p:cNvSpPr>
          <p:nvPr/>
        </p:nvSpPr>
        <p:spPr>
          <a:xfrm>
            <a:off x="6143625" y="1285875"/>
            <a:ext cx="2047875" cy="1714500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25493A-EE09-4676-A915-24C2560412B4}"/>
              </a:ext>
            </a:extLst>
          </p:cNvPr>
          <p:cNvSpPr>
            <a:spLocks noGrp="1"/>
          </p:cNvSpPr>
          <p:nvPr/>
        </p:nvSpPr>
        <p:spPr>
          <a:xfrm>
            <a:off x="6257925" y="1381125"/>
            <a:ext cx="181927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RT model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48D343-D88D-4442-95F1-AD0C6DCFA0AB}"/>
              </a:ext>
            </a:extLst>
          </p:cNvPr>
          <p:cNvSpPr>
            <a:spLocks noGrp="1"/>
          </p:cNvSpPr>
          <p:nvPr/>
        </p:nvSpPr>
        <p:spPr>
          <a:xfrm>
            <a:off x="6257925" y="1609725"/>
            <a:ext cx="1819275" cy="1314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Correct real-word main trials only</a:t>
            </a:r>
          </a:p>
          <a:p>
            <a:endParaRPr sz="975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n = 3,306</a:t>
            </a: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participants = 48</a:t>
            </a: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items = 72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26A10B-F64C-45FB-8367-873A05F7D212}"/>
              </a:ext>
            </a:extLst>
          </p:cNvPr>
          <p:cNvSpPr>
            <a:spLocks noGrp="1"/>
          </p:cNvSpPr>
          <p:nvPr/>
        </p:nvSpPr>
        <p:spPr>
          <a:xfrm>
            <a:off x="809625" y="3600450"/>
            <a:ext cx="70485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088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088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Accuracy is summarized separately because pseudowords are central for task quality but not part of the real-word RT model.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1311FFC-1BF1-4CC2-B531-DB402CEFF406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DC994F-6AAD-4F7E-A0D5-D630BC47DB48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17 |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3DBABD-53BD-482E-AD09-8802552844B9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main model estimates frequency, syllable length, and their interaction with participant and item intercepts.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DF7E3C-7DE0-42D3-B53D-932AE920207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3B934B-8835-4FF6-B24A-C1387AC67B5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7524750" cy="742950"/>
          </a:xfrm>
          <a:prstGeom prst="rect">
            <a:avLst/>
          </a:prstGeom>
          <a:solidFill>
            <a:srgbClr val="F3F6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852BA1-1812-401D-ABDA-C426CD4159E3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7105650" cy="4000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003A6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03A61"/>
                </a:solidFill>
                <a:latin typeface="Consolas"/>
                <a:ea typeface="Consolas"/>
                <a:cs typeface="Consolas"/>
              </a:rPr>
              <a:t>log_rt ~ frequency_group * syllable_length +</a:t>
            </a:r>
          </a:p>
          <a:p>
            <a:pPr algn="ctr">
              <a:defRPr sz="1350" b="1">
                <a:solidFill>
                  <a:srgbClr val="003A6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03A61"/>
                </a:solidFill>
                <a:latin typeface="Consolas"/>
                <a:ea typeface="Consolas"/>
                <a:cs typeface="Consolas"/>
              </a:rPr>
              <a:t>(1 | participant_id) + (1 | trial_id)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8E6723-C08D-4EDF-BFA9-1731AFC5CA23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1952625" cy="3238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BB4B26-1036-4AC9-9E6F-CFBA845BB264}"/>
              </a:ext>
            </a:extLst>
          </p:cNvPr>
          <p:cNvSpPr>
            <a:spLocks noGrp="1"/>
          </p:cNvSpPr>
          <p:nvPr/>
        </p:nvSpPr>
        <p:spPr>
          <a:xfrm>
            <a:off x="933450" y="2438400"/>
            <a:ext cx="1838325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Random effect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7F2805-DED9-4C41-8E0C-64235AAA4AB2}"/>
              </a:ext>
            </a:extLst>
          </p:cNvPr>
          <p:cNvSpPr>
            <a:spLocks noGrp="1"/>
          </p:cNvSpPr>
          <p:nvPr/>
        </p:nvSpPr>
        <p:spPr>
          <a:xfrm>
            <a:off x="2828925" y="2381250"/>
            <a:ext cx="1333500" cy="3238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AAF752-8EDE-4A86-BB5A-781B012AA9B6}"/>
              </a:ext>
            </a:extLst>
          </p:cNvPr>
          <p:cNvSpPr>
            <a:spLocks noGrp="1"/>
          </p:cNvSpPr>
          <p:nvPr/>
        </p:nvSpPr>
        <p:spPr>
          <a:xfrm>
            <a:off x="2886075" y="2438400"/>
            <a:ext cx="12192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Variance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E40E82-9FAA-4AAA-BA2F-43FF037A022D}"/>
              </a:ext>
            </a:extLst>
          </p:cNvPr>
          <p:cNvSpPr>
            <a:spLocks noGrp="1"/>
          </p:cNvSpPr>
          <p:nvPr/>
        </p:nvSpPr>
        <p:spPr>
          <a:xfrm>
            <a:off x="4162425" y="2381250"/>
            <a:ext cx="1333500" cy="3238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C79480-4211-48E4-964E-B5F3CEB55765}"/>
              </a:ext>
            </a:extLst>
          </p:cNvPr>
          <p:cNvSpPr>
            <a:spLocks noGrp="1"/>
          </p:cNvSpPr>
          <p:nvPr/>
        </p:nvSpPr>
        <p:spPr>
          <a:xfrm>
            <a:off x="4219575" y="2438400"/>
            <a:ext cx="12192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Std. dev.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D01F4C-644B-4111-A941-3DA7F90C823F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1952625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C67858-2697-471D-8077-A8910870597E}"/>
              </a:ext>
            </a:extLst>
          </p:cNvPr>
          <p:cNvSpPr>
            <a:spLocks noGrp="1"/>
          </p:cNvSpPr>
          <p:nvPr/>
        </p:nvSpPr>
        <p:spPr>
          <a:xfrm>
            <a:off x="933450" y="2762250"/>
            <a:ext cx="1838325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participant_id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DCB986-DFAC-4685-A0BA-B2E2FADEC953}"/>
              </a:ext>
            </a:extLst>
          </p:cNvPr>
          <p:cNvSpPr>
            <a:spLocks noGrp="1"/>
          </p:cNvSpPr>
          <p:nvPr/>
        </p:nvSpPr>
        <p:spPr>
          <a:xfrm>
            <a:off x="2828925" y="2705100"/>
            <a:ext cx="133350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C391BD-CE6D-40E5-91E8-AED4D92EA0FE}"/>
              </a:ext>
            </a:extLst>
          </p:cNvPr>
          <p:cNvSpPr>
            <a:spLocks noGrp="1"/>
          </p:cNvSpPr>
          <p:nvPr/>
        </p:nvSpPr>
        <p:spPr>
          <a:xfrm>
            <a:off x="2886075" y="2762250"/>
            <a:ext cx="12192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0.0148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C24EEC-9A73-49C5-8493-78E4A04319E9}"/>
              </a:ext>
            </a:extLst>
          </p:cNvPr>
          <p:cNvSpPr>
            <a:spLocks noGrp="1"/>
          </p:cNvSpPr>
          <p:nvPr/>
        </p:nvSpPr>
        <p:spPr>
          <a:xfrm>
            <a:off x="4162425" y="2705100"/>
            <a:ext cx="133350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375F0D-89A9-4967-BD44-E0B085674E4B}"/>
              </a:ext>
            </a:extLst>
          </p:cNvPr>
          <p:cNvSpPr>
            <a:spLocks noGrp="1"/>
          </p:cNvSpPr>
          <p:nvPr/>
        </p:nvSpPr>
        <p:spPr>
          <a:xfrm>
            <a:off x="4219575" y="2762250"/>
            <a:ext cx="12192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0.1217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1CB840-BB4C-4823-B5D2-FD2A618C73AF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1952625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0061A7-D021-4AC5-85DE-F9D9281FC3D1}"/>
              </a:ext>
            </a:extLst>
          </p:cNvPr>
          <p:cNvSpPr>
            <a:spLocks noGrp="1"/>
          </p:cNvSpPr>
          <p:nvPr/>
        </p:nvSpPr>
        <p:spPr>
          <a:xfrm>
            <a:off x="933450" y="3086100"/>
            <a:ext cx="1838325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trial_id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52C11F-3D08-436C-83A8-35E93766DE59}"/>
              </a:ext>
            </a:extLst>
          </p:cNvPr>
          <p:cNvSpPr>
            <a:spLocks noGrp="1"/>
          </p:cNvSpPr>
          <p:nvPr/>
        </p:nvSpPr>
        <p:spPr>
          <a:xfrm>
            <a:off x="2828925" y="3028950"/>
            <a:ext cx="133350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1B036B-1482-4D78-93BB-4C034FE30324}"/>
              </a:ext>
            </a:extLst>
          </p:cNvPr>
          <p:cNvSpPr>
            <a:spLocks noGrp="1"/>
          </p:cNvSpPr>
          <p:nvPr/>
        </p:nvSpPr>
        <p:spPr>
          <a:xfrm>
            <a:off x="2886075" y="3086100"/>
            <a:ext cx="12192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0.0008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C42792-8DA5-4427-8163-BE556672AFE0}"/>
              </a:ext>
            </a:extLst>
          </p:cNvPr>
          <p:cNvSpPr>
            <a:spLocks noGrp="1"/>
          </p:cNvSpPr>
          <p:nvPr/>
        </p:nvSpPr>
        <p:spPr>
          <a:xfrm>
            <a:off x="4162425" y="3028950"/>
            <a:ext cx="133350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35A068-1DB0-465D-AE4E-30827D3E749F}"/>
              </a:ext>
            </a:extLst>
          </p:cNvPr>
          <p:cNvSpPr>
            <a:spLocks noGrp="1"/>
          </p:cNvSpPr>
          <p:nvPr/>
        </p:nvSpPr>
        <p:spPr>
          <a:xfrm>
            <a:off x="4219575" y="3086100"/>
            <a:ext cx="12192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0.0291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4547FA-D466-4A07-97D6-818EE39F64E9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1952625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0511B5-2F4F-447D-A641-AA2FAC56AD49}"/>
              </a:ext>
            </a:extLst>
          </p:cNvPr>
          <p:cNvSpPr>
            <a:spLocks noGrp="1"/>
          </p:cNvSpPr>
          <p:nvPr/>
        </p:nvSpPr>
        <p:spPr>
          <a:xfrm>
            <a:off x="933450" y="3409950"/>
            <a:ext cx="1838325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residual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56E64F-2F00-49BB-92BF-6281AC2E5447}"/>
              </a:ext>
            </a:extLst>
          </p:cNvPr>
          <p:cNvSpPr>
            <a:spLocks noGrp="1"/>
          </p:cNvSpPr>
          <p:nvPr/>
        </p:nvSpPr>
        <p:spPr>
          <a:xfrm>
            <a:off x="2828925" y="3352800"/>
            <a:ext cx="133350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C09253-4F35-4C8F-888D-1D2A4DECA8AF}"/>
              </a:ext>
            </a:extLst>
          </p:cNvPr>
          <p:cNvSpPr>
            <a:spLocks noGrp="1"/>
          </p:cNvSpPr>
          <p:nvPr/>
        </p:nvSpPr>
        <p:spPr>
          <a:xfrm>
            <a:off x="2886075" y="3409950"/>
            <a:ext cx="12192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0.0469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AB9F37-6367-4E5A-B453-C27A7CEC827E}"/>
              </a:ext>
            </a:extLst>
          </p:cNvPr>
          <p:cNvSpPr>
            <a:spLocks noGrp="1"/>
          </p:cNvSpPr>
          <p:nvPr/>
        </p:nvSpPr>
        <p:spPr>
          <a:xfrm>
            <a:off x="4162425" y="3352800"/>
            <a:ext cx="133350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64CED9-76D4-44D1-B0EF-70F0A3699D15}"/>
              </a:ext>
            </a:extLst>
          </p:cNvPr>
          <p:cNvSpPr>
            <a:spLocks noGrp="1"/>
          </p:cNvSpPr>
          <p:nvPr/>
        </p:nvSpPr>
        <p:spPr>
          <a:xfrm>
            <a:off x="4219575" y="3409950"/>
            <a:ext cx="12192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0.2165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B78012-3532-453E-BFD6-45B38427F692}"/>
              </a:ext>
            </a:extLst>
          </p:cNvPr>
          <p:cNvSpPr>
            <a:spLocks noGrp="1"/>
          </p:cNvSpPr>
          <p:nvPr/>
        </p:nvSpPr>
        <p:spPr>
          <a:xfrm>
            <a:off x="5857875" y="2400300"/>
            <a:ext cx="2095500" cy="112395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A21B69-78DF-45BA-8D0B-F99D16A82526}"/>
              </a:ext>
            </a:extLst>
          </p:cNvPr>
          <p:cNvSpPr>
            <a:spLocks noGrp="1"/>
          </p:cNvSpPr>
          <p:nvPr/>
        </p:nvSpPr>
        <p:spPr>
          <a:xfrm>
            <a:off x="5972175" y="2495550"/>
            <a:ext cx="186690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Model status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4AABB2-8422-428B-9CC5-00D69B9ACA62}"/>
              </a:ext>
            </a:extLst>
          </p:cNvPr>
          <p:cNvSpPr>
            <a:spLocks noGrp="1"/>
          </p:cNvSpPr>
          <p:nvPr/>
        </p:nvSpPr>
        <p:spPr>
          <a:xfrm>
            <a:off x="5972175" y="2724150"/>
            <a:ext cx="1866900" cy="7239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9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Observations: 3,306</a:t>
            </a:r>
          </a:p>
          <a:p>
            <a:r>
              <a:rPr sz="99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Participants: 48</a:t>
            </a:r>
          </a:p>
          <a:p>
            <a:r>
              <a:rPr sz="99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Items: 72</a:t>
            </a:r>
          </a:p>
          <a:p>
            <a:r>
              <a:rPr sz="99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Singular fit: false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D19327-0578-478B-9A4E-C5508DE36867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6572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This structure avoids treating 3,306 rows as fully independent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F2D7753D-C68E-484A-B78F-604DC03B2BB6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4CFCD4-EEB2-4788-A0D8-76CFC7FC3F76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18 | PRELIMINARY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A0E0F0-9D7D-4D6F-9EE9-E9AA325C8ED9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Descriptively, high-frequency words are faster and longer words are slower.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887383-C996-47B0-BEFE-992D549938BE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219200"/>
            <a:ext cx="3467100" cy="2476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19600" y="1219200"/>
            <a:ext cx="3467100" cy="2476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94B2E3-D649-436F-9023-0DA4C2F27AF4}"/>
              </a:ext>
            </a:extLst>
          </p:cNvPr>
          <p:cNvSpPr>
            <a:spLocks noGrp="1"/>
          </p:cNvSpPr>
          <p:nvPr/>
        </p:nvSpPr>
        <p:spPr>
          <a:xfrm>
            <a:off x="762000" y="3829050"/>
            <a:ext cx="914400" cy="2667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FA6B62-981C-4E13-8D6D-E1F42FB9671F}"/>
              </a:ext>
            </a:extLst>
          </p:cNvPr>
          <p:cNvSpPr>
            <a:spLocks noGrp="1"/>
          </p:cNvSpPr>
          <p:nvPr/>
        </p:nvSpPr>
        <p:spPr>
          <a:xfrm>
            <a:off x="819150" y="3886200"/>
            <a:ext cx="800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Frequency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E1B0A-A3EF-4A51-801B-FF33B2FF407F}"/>
              </a:ext>
            </a:extLst>
          </p:cNvPr>
          <p:cNvSpPr>
            <a:spLocks noGrp="1"/>
          </p:cNvSpPr>
          <p:nvPr/>
        </p:nvSpPr>
        <p:spPr>
          <a:xfrm>
            <a:off x="1676400" y="3829050"/>
            <a:ext cx="819150" cy="2667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2C3E5A-7C86-4FFC-AA3A-D91CDF1A2CBB}"/>
              </a:ext>
            </a:extLst>
          </p:cNvPr>
          <p:cNvSpPr>
            <a:spLocks noGrp="1"/>
          </p:cNvSpPr>
          <p:nvPr/>
        </p:nvSpPr>
        <p:spPr>
          <a:xfrm>
            <a:off x="1733550" y="3886200"/>
            <a:ext cx="7048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667399-C3AB-4C07-942C-B98E1FF6A521}"/>
              </a:ext>
            </a:extLst>
          </p:cNvPr>
          <p:cNvSpPr>
            <a:spLocks noGrp="1"/>
          </p:cNvSpPr>
          <p:nvPr/>
        </p:nvSpPr>
        <p:spPr>
          <a:xfrm>
            <a:off x="2495550" y="3829050"/>
            <a:ext cx="819150" cy="2667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F556A-4C35-4A3D-B0C8-6531921069CB}"/>
              </a:ext>
            </a:extLst>
          </p:cNvPr>
          <p:cNvSpPr>
            <a:spLocks noGrp="1"/>
          </p:cNvSpPr>
          <p:nvPr/>
        </p:nvSpPr>
        <p:spPr>
          <a:xfrm>
            <a:off x="2552700" y="3886200"/>
            <a:ext cx="7048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173969-EC94-45F1-B7E4-F4DC3BD5D3A0}"/>
              </a:ext>
            </a:extLst>
          </p:cNvPr>
          <p:cNvSpPr>
            <a:spLocks noGrp="1"/>
          </p:cNvSpPr>
          <p:nvPr/>
        </p:nvSpPr>
        <p:spPr>
          <a:xfrm>
            <a:off x="3314700" y="3829050"/>
            <a:ext cx="819150" cy="2667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CA0555-FD2D-4B12-AFAE-44EDE714256D}"/>
              </a:ext>
            </a:extLst>
          </p:cNvPr>
          <p:cNvSpPr>
            <a:spLocks noGrp="1"/>
          </p:cNvSpPr>
          <p:nvPr/>
        </p:nvSpPr>
        <p:spPr>
          <a:xfrm>
            <a:off x="3371850" y="3886200"/>
            <a:ext cx="7048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high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FEC11D-D5D0-4954-87A2-CC85DE5121A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914400" cy="2667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97B6F4-C68F-4E89-BFE9-88CCE7D6E2AB}"/>
              </a:ext>
            </a:extLst>
          </p:cNvPr>
          <p:cNvSpPr>
            <a:spLocks noGrp="1"/>
          </p:cNvSpPr>
          <p:nvPr/>
        </p:nvSpPr>
        <p:spPr>
          <a:xfrm>
            <a:off x="819150" y="4152900"/>
            <a:ext cx="800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Mean 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FD7C6-6C6D-4419-B9FA-463056E5A162}"/>
              </a:ext>
            </a:extLst>
          </p:cNvPr>
          <p:cNvSpPr>
            <a:spLocks noGrp="1"/>
          </p:cNvSpPr>
          <p:nvPr/>
        </p:nvSpPr>
        <p:spPr>
          <a:xfrm>
            <a:off x="1676400" y="4095750"/>
            <a:ext cx="819150" cy="2667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BD6B6C-56CE-4D6F-82E1-E6CF0D5D893D}"/>
              </a:ext>
            </a:extLst>
          </p:cNvPr>
          <p:cNvSpPr>
            <a:spLocks noGrp="1"/>
          </p:cNvSpPr>
          <p:nvPr/>
        </p:nvSpPr>
        <p:spPr>
          <a:xfrm>
            <a:off x="1733550" y="4152900"/>
            <a:ext cx="7048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0.668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0A945B-2CD8-4136-9643-56FFBA85278F}"/>
              </a:ext>
            </a:extLst>
          </p:cNvPr>
          <p:cNvSpPr>
            <a:spLocks noGrp="1"/>
          </p:cNvSpPr>
          <p:nvPr/>
        </p:nvSpPr>
        <p:spPr>
          <a:xfrm>
            <a:off x="2495550" y="4095750"/>
            <a:ext cx="819150" cy="2667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A6ABCB-37D1-43D2-9D9E-67EBA1895702}"/>
              </a:ext>
            </a:extLst>
          </p:cNvPr>
          <p:cNvSpPr>
            <a:spLocks noGrp="1"/>
          </p:cNvSpPr>
          <p:nvPr/>
        </p:nvSpPr>
        <p:spPr>
          <a:xfrm>
            <a:off x="2552700" y="4152900"/>
            <a:ext cx="7048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0.618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FC2A8F-32AE-444A-8EF9-64D3594849A0}"/>
              </a:ext>
            </a:extLst>
          </p:cNvPr>
          <p:cNvSpPr>
            <a:spLocks noGrp="1"/>
          </p:cNvSpPr>
          <p:nvPr/>
        </p:nvSpPr>
        <p:spPr>
          <a:xfrm>
            <a:off x="3314700" y="4095750"/>
            <a:ext cx="819150" cy="2667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886822-BDE4-450A-AAB8-9083DBBDBA90}"/>
              </a:ext>
            </a:extLst>
          </p:cNvPr>
          <p:cNvSpPr>
            <a:spLocks noGrp="1"/>
          </p:cNvSpPr>
          <p:nvPr/>
        </p:nvSpPr>
        <p:spPr>
          <a:xfrm>
            <a:off x="3371850" y="4152900"/>
            <a:ext cx="7048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0.510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9EFA86-EAE3-4B8F-9E05-DB39C3008FCE}"/>
              </a:ext>
            </a:extLst>
          </p:cNvPr>
          <p:cNvSpPr>
            <a:spLocks noGrp="1"/>
          </p:cNvSpPr>
          <p:nvPr/>
        </p:nvSpPr>
        <p:spPr>
          <a:xfrm>
            <a:off x="4333875" y="3829050"/>
            <a:ext cx="914400" cy="2667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25F0F7-1181-4CBF-B010-281E6502F1D2}"/>
              </a:ext>
            </a:extLst>
          </p:cNvPr>
          <p:cNvSpPr>
            <a:spLocks noGrp="1"/>
          </p:cNvSpPr>
          <p:nvPr/>
        </p:nvSpPr>
        <p:spPr>
          <a:xfrm>
            <a:off x="4391025" y="3886200"/>
            <a:ext cx="800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Length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94B7B5-1731-4C5D-BED1-E1E1298B786E}"/>
              </a:ext>
            </a:extLst>
          </p:cNvPr>
          <p:cNvSpPr>
            <a:spLocks noGrp="1"/>
          </p:cNvSpPr>
          <p:nvPr/>
        </p:nvSpPr>
        <p:spPr>
          <a:xfrm>
            <a:off x="5248275" y="3829050"/>
            <a:ext cx="666750" cy="2667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C28C6B-5E14-4CB1-92D0-144747656BC7}"/>
              </a:ext>
            </a:extLst>
          </p:cNvPr>
          <p:cNvSpPr>
            <a:spLocks noGrp="1"/>
          </p:cNvSpPr>
          <p:nvPr/>
        </p:nvSpPr>
        <p:spPr>
          <a:xfrm>
            <a:off x="5305425" y="3886200"/>
            <a:ext cx="552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CDE280-F980-4ABD-8796-6E9F6003B45E}"/>
              </a:ext>
            </a:extLst>
          </p:cNvPr>
          <p:cNvSpPr>
            <a:spLocks noGrp="1"/>
          </p:cNvSpPr>
          <p:nvPr/>
        </p:nvSpPr>
        <p:spPr>
          <a:xfrm>
            <a:off x="5915025" y="3829050"/>
            <a:ext cx="666750" cy="2667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4B4D7A-87BC-45F2-8E65-E93C8F5E0F94}"/>
              </a:ext>
            </a:extLst>
          </p:cNvPr>
          <p:cNvSpPr>
            <a:spLocks noGrp="1"/>
          </p:cNvSpPr>
          <p:nvPr/>
        </p:nvSpPr>
        <p:spPr>
          <a:xfrm>
            <a:off x="5972175" y="3886200"/>
            <a:ext cx="552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F21321-600E-4BA0-9C9C-42A1DB2BB800}"/>
              </a:ext>
            </a:extLst>
          </p:cNvPr>
          <p:cNvSpPr>
            <a:spLocks noGrp="1"/>
          </p:cNvSpPr>
          <p:nvPr/>
        </p:nvSpPr>
        <p:spPr>
          <a:xfrm>
            <a:off x="6581775" y="3829050"/>
            <a:ext cx="666750" cy="2667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C3465D-2ECF-4F77-AC3F-B68D32C57345}"/>
              </a:ext>
            </a:extLst>
          </p:cNvPr>
          <p:cNvSpPr>
            <a:spLocks noGrp="1"/>
          </p:cNvSpPr>
          <p:nvPr/>
        </p:nvSpPr>
        <p:spPr>
          <a:xfrm>
            <a:off x="6638925" y="3886200"/>
            <a:ext cx="552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044109-ECAA-4BA1-8D1D-2D9F697C029B}"/>
              </a:ext>
            </a:extLst>
          </p:cNvPr>
          <p:cNvSpPr>
            <a:spLocks noGrp="1"/>
          </p:cNvSpPr>
          <p:nvPr/>
        </p:nvSpPr>
        <p:spPr>
          <a:xfrm>
            <a:off x="7248525" y="3829050"/>
            <a:ext cx="666750" cy="26670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46096D-00D8-48A1-8E48-D0E09EC0D4DD}"/>
              </a:ext>
            </a:extLst>
          </p:cNvPr>
          <p:cNvSpPr>
            <a:spLocks noGrp="1"/>
          </p:cNvSpPr>
          <p:nvPr/>
        </p:nvSpPr>
        <p:spPr>
          <a:xfrm>
            <a:off x="7305675" y="3886200"/>
            <a:ext cx="552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F9B760-45BD-4BFB-831A-32674A64C47A}"/>
              </a:ext>
            </a:extLst>
          </p:cNvPr>
          <p:cNvSpPr>
            <a:spLocks noGrp="1"/>
          </p:cNvSpPr>
          <p:nvPr/>
        </p:nvSpPr>
        <p:spPr>
          <a:xfrm>
            <a:off x="4333875" y="4095750"/>
            <a:ext cx="914400" cy="2667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BD9714-FFBD-4FC0-85C2-A6719C85423B}"/>
              </a:ext>
            </a:extLst>
          </p:cNvPr>
          <p:cNvSpPr>
            <a:spLocks noGrp="1"/>
          </p:cNvSpPr>
          <p:nvPr/>
        </p:nvSpPr>
        <p:spPr>
          <a:xfrm>
            <a:off x="4391025" y="4152900"/>
            <a:ext cx="800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Mean RT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38A1FFE-9D3A-4B2E-83A5-A41203E24264}"/>
              </a:ext>
            </a:extLst>
          </p:cNvPr>
          <p:cNvSpPr>
            <a:spLocks noGrp="1"/>
          </p:cNvSpPr>
          <p:nvPr/>
        </p:nvSpPr>
        <p:spPr>
          <a:xfrm>
            <a:off x="5248275" y="4095750"/>
            <a:ext cx="666750" cy="2667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76580A-1B7B-408E-BFD7-433D10B9A9EC}"/>
              </a:ext>
            </a:extLst>
          </p:cNvPr>
          <p:cNvSpPr>
            <a:spLocks noGrp="1"/>
          </p:cNvSpPr>
          <p:nvPr/>
        </p:nvSpPr>
        <p:spPr>
          <a:xfrm>
            <a:off x="5305425" y="4152900"/>
            <a:ext cx="552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0.441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FAA644-E74C-44F3-BDBC-EEBA29BD65F1}"/>
              </a:ext>
            </a:extLst>
          </p:cNvPr>
          <p:cNvSpPr>
            <a:spLocks noGrp="1"/>
          </p:cNvSpPr>
          <p:nvPr/>
        </p:nvSpPr>
        <p:spPr>
          <a:xfrm>
            <a:off x="5915025" y="4095750"/>
            <a:ext cx="666750" cy="2667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771EFC-5702-4456-A082-2003296C7666}"/>
              </a:ext>
            </a:extLst>
          </p:cNvPr>
          <p:cNvSpPr>
            <a:spLocks noGrp="1"/>
          </p:cNvSpPr>
          <p:nvPr/>
        </p:nvSpPr>
        <p:spPr>
          <a:xfrm>
            <a:off x="5972175" y="4152900"/>
            <a:ext cx="552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0.528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F4E648-FA20-44FD-8047-0C152DB7C2E2}"/>
              </a:ext>
            </a:extLst>
          </p:cNvPr>
          <p:cNvSpPr>
            <a:spLocks noGrp="1"/>
          </p:cNvSpPr>
          <p:nvPr/>
        </p:nvSpPr>
        <p:spPr>
          <a:xfrm>
            <a:off x="6581775" y="4095750"/>
            <a:ext cx="666750" cy="2667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68877FD-88E1-4CC2-9C21-208F54AE5925}"/>
              </a:ext>
            </a:extLst>
          </p:cNvPr>
          <p:cNvSpPr>
            <a:spLocks noGrp="1"/>
          </p:cNvSpPr>
          <p:nvPr/>
        </p:nvSpPr>
        <p:spPr>
          <a:xfrm>
            <a:off x="6638925" y="4152900"/>
            <a:ext cx="552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0.684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82CE53-CD62-4CAE-837D-9EA1B33F29D7}"/>
              </a:ext>
            </a:extLst>
          </p:cNvPr>
          <p:cNvSpPr>
            <a:spLocks noGrp="1"/>
          </p:cNvSpPr>
          <p:nvPr/>
        </p:nvSpPr>
        <p:spPr>
          <a:xfrm>
            <a:off x="7248525" y="4095750"/>
            <a:ext cx="666750" cy="2667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8A6518-A34E-4CAD-AD32-14F16F6DC227}"/>
              </a:ext>
            </a:extLst>
          </p:cNvPr>
          <p:cNvSpPr>
            <a:spLocks noGrp="1"/>
          </p:cNvSpPr>
          <p:nvPr/>
        </p:nvSpPr>
        <p:spPr>
          <a:xfrm>
            <a:off x="7305675" y="4152900"/>
            <a:ext cx="5524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0.748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F48C85-C067-4891-8EC8-37FA2A7EA120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91ED67-665E-412A-9BF1-9E2228AC7A2E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19 | INTERACTION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1433E0-43FC-4CD0-854E-DE1071BD9CB7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frequency advantage may vary by syllable length, but the interaction is modest.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62C9F8-B933-42BA-830C-4D6CDBF11C33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600" y="1143000"/>
            <a:ext cx="4800600" cy="3429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7594CE-FFC9-46E9-BCA9-46D38C32D9D8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1695450" cy="156210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211370-6981-4BFC-A5C2-1106106E3F32}"/>
              </a:ext>
            </a:extLst>
          </p:cNvPr>
          <p:cNvSpPr>
            <a:spLocks noGrp="1"/>
          </p:cNvSpPr>
          <p:nvPr/>
        </p:nvSpPr>
        <p:spPr>
          <a:xfrm>
            <a:off x="6496050" y="1619250"/>
            <a:ext cx="14668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Cautious read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1802E-ED3B-4904-BDE7-777457FCA60A}"/>
              </a:ext>
            </a:extLst>
          </p:cNvPr>
          <p:cNvSpPr>
            <a:spLocks noGrp="1"/>
          </p:cNvSpPr>
          <p:nvPr/>
        </p:nvSpPr>
        <p:spPr>
          <a:xfrm>
            <a:off x="6496050" y="1847850"/>
            <a:ext cx="1466850" cy="1162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7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Interaction model improves fit over the additive model.</a:t>
            </a:r>
          </a:p>
          <a:p>
            <a:endParaRPr sz="907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07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Likelihood-ratio p = .0449.</a:t>
            </a:r>
          </a:p>
          <a:p>
            <a:endParaRPr sz="907">
              <a:solidFill>
                <a:srgbClr val="263845"/>
              </a:solidFill>
              <a:latin typeface="Poppins"/>
              <a:ea typeface="Poppins"/>
              <a:cs typeface="Poppins"/>
            </a:endParaRPr>
          </a:p>
          <a:p>
            <a:r>
              <a:rPr sz="907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Treat as evidence of possible variation, not a large final conclusion.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0596C9-00BE-4071-AB3F-2C68E30EE418}"/>
              </a:ext>
            </a:extLst>
          </p:cNvPr>
          <p:cNvSpPr>
            <a:spLocks noGrp="1"/>
          </p:cNvSpPr>
          <p:nvPr/>
        </p:nvSpPr>
        <p:spPr>
          <a:xfrm>
            <a:off x="6381750" y="3429000"/>
            <a:ext cx="1714500" cy="4381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7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Result wording: frequency and length effects are clearer than the interaction.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B2FF1D7C-E27E-483F-A7A3-2C21035B7EAE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0EB9B-27AB-455B-B4F3-74B43E3C372B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20 | MODEL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8D581B-61FC-423C-BBDA-0D804321F861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Adding frequency and syllable length improves model fit; the interaction adds only a small increment.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B20F08-E6E0-42F7-B812-7276D1BDB23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95265-8286-43E6-9961-12975570F7E0}"/>
              </a:ext>
            </a:extLst>
          </p:cNvPr>
          <p:cNvSpPr>
            <a:spLocks noGrp="1"/>
          </p:cNvSpPr>
          <p:nvPr/>
        </p:nvSpPr>
        <p:spPr>
          <a:xfrm>
            <a:off x="704850" y="1333500"/>
            <a:ext cx="952500" cy="4000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CC493D-CD8D-472E-8A90-909B5BD489E1}"/>
              </a:ext>
            </a:extLst>
          </p:cNvPr>
          <p:cNvSpPr>
            <a:spLocks noGrp="1"/>
          </p:cNvSpPr>
          <p:nvPr/>
        </p:nvSpPr>
        <p:spPr>
          <a:xfrm>
            <a:off x="762000" y="1390650"/>
            <a:ext cx="8382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4EB3EC-21AB-4E12-BA7F-59BA2D1422E1}"/>
              </a:ext>
            </a:extLst>
          </p:cNvPr>
          <p:cNvSpPr>
            <a:spLocks noGrp="1"/>
          </p:cNvSpPr>
          <p:nvPr/>
        </p:nvSpPr>
        <p:spPr>
          <a:xfrm>
            <a:off x="1657350" y="1333500"/>
            <a:ext cx="1000125" cy="4000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2026D-7FE0-4E51-843A-A4FEDCDC374A}"/>
              </a:ext>
            </a:extLst>
          </p:cNvPr>
          <p:cNvSpPr>
            <a:spLocks noGrp="1"/>
          </p:cNvSpPr>
          <p:nvPr/>
        </p:nvSpPr>
        <p:spPr>
          <a:xfrm>
            <a:off x="1714500" y="13906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npar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A6D414-16E7-4A69-9867-34487982FB0E}"/>
              </a:ext>
            </a:extLst>
          </p:cNvPr>
          <p:cNvSpPr>
            <a:spLocks noGrp="1"/>
          </p:cNvSpPr>
          <p:nvPr/>
        </p:nvSpPr>
        <p:spPr>
          <a:xfrm>
            <a:off x="2657475" y="1333500"/>
            <a:ext cx="1000125" cy="4000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1EB97-702B-4F39-9938-0533F5175322}"/>
              </a:ext>
            </a:extLst>
          </p:cNvPr>
          <p:cNvSpPr>
            <a:spLocks noGrp="1"/>
          </p:cNvSpPr>
          <p:nvPr/>
        </p:nvSpPr>
        <p:spPr>
          <a:xfrm>
            <a:off x="2714625" y="13906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D8D977-AD43-41B2-A180-C0DC8D9F6DF0}"/>
              </a:ext>
            </a:extLst>
          </p:cNvPr>
          <p:cNvSpPr>
            <a:spLocks noGrp="1"/>
          </p:cNvSpPr>
          <p:nvPr/>
        </p:nvSpPr>
        <p:spPr>
          <a:xfrm>
            <a:off x="3657600" y="1333500"/>
            <a:ext cx="1000125" cy="4000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C2505-2A9D-44EB-80E6-CC2E868F1FF5}"/>
              </a:ext>
            </a:extLst>
          </p:cNvPr>
          <p:cNvSpPr>
            <a:spLocks noGrp="1"/>
          </p:cNvSpPr>
          <p:nvPr/>
        </p:nvSpPr>
        <p:spPr>
          <a:xfrm>
            <a:off x="3714750" y="13906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D06172-8A5B-4785-BD3E-E7482E4DFBD8}"/>
              </a:ext>
            </a:extLst>
          </p:cNvPr>
          <p:cNvSpPr>
            <a:spLocks noGrp="1"/>
          </p:cNvSpPr>
          <p:nvPr/>
        </p:nvSpPr>
        <p:spPr>
          <a:xfrm>
            <a:off x="4657725" y="1333500"/>
            <a:ext cx="1000125" cy="4000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00C00B-6F11-4FED-9061-AED67A85D97A}"/>
              </a:ext>
            </a:extLst>
          </p:cNvPr>
          <p:cNvSpPr>
            <a:spLocks noGrp="1"/>
          </p:cNvSpPr>
          <p:nvPr/>
        </p:nvSpPr>
        <p:spPr>
          <a:xfrm>
            <a:off x="4714875" y="13906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Chisq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41D1D5-BA9B-4365-9991-46CE58C2D705}"/>
              </a:ext>
            </a:extLst>
          </p:cNvPr>
          <p:cNvSpPr>
            <a:spLocks noGrp="1"/>
          </p:cNvSpPr>
          <p:nvPr/>
        </p:nvSpPr>
        <p:spPr>
          <a:xfrm>
            <a:off x="5657850" y="1333500"/>
            <a:ext cx="1143000" cy="400050"/>
          </a:xfrm>
          <a:prstGeom prst="rect">
            <a:avLst/>
          </a:prstGeom>
          <a:solidFill>
            <a:srgbClr val="003A61"/>
          </a:solidFill>
          <a:ln w="7620">
            <a:solidFill>
              <a:srgbClr val="003A61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757240-F67A-4CC9-AE15-DB1751C68705}"/>
              </a:ext>
            </a:extLst>
          </p:cNvPr>
          <p:cNvSpPr>
            <a:spLocks noGrp="1"/>
          </p:cNvSpPr>
          <p:nvPr/>
        </p:nvSpPr>
        <p:spPr>
          <a:xfrm>
            <a:off x="5715000" y="1390650"/>
            <a:ext cx="10287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2B8CA3-B87C-41D7-A331-EE9D22D6AE57}"/>
              </a:ext>
            </a:extLst>
          </p:cNvPr>
          <p:cNvSpPr>
            <a:spLocks noGrp="1"/>
          </p:cNvSpPr>
          <p:nvPr/>
        </p:nvSpPr>
        <p:spPr>
          <a:xfrm>
            <a:off x="704850" y="1733550"/>
            <a:ext cx="95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1C29E-C72F-46D3-A0A7-72F32376FEF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8382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model0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7DCE13-ACF8-48E3-A593-8B8375188C7A}"/>
              </a:ext>
            </a:extLst>
          </p:cNvPr>
          <p:cNvSpPr>
            <a:spLocks noGrp="1"/>
          </p:cNvSpPr>
          <p:nvPr/>
        </p:nvSpPr>
        <p:spPr>
          <a:xfrm>
            <a:off x="1657350" y="173355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3FF7C9-A051-40D5-B95D-65DA4BCF191D}"/>
              </a:ext>
            </a:extLst>
          </p:cNvPr>
          <p:cNvSpPr>
            <a:spLocks noGrp="1"/>
          </p:cNvSpPr>
          <p:nvPr/>
        </p:nvSpPr>
        <p:spPr>
          <a:xfrm>
            <a:off x="1714500" y="179070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5BAA17-20C8-41D3-8EDB-D7FFFD9D2631}"/>
              </a:ext>
            </a:extLst>
          </p:cNvPr>
          <p:cNvSpPr>
            <a:spLocks noGrp="1"/>
          </p:cNvSpPr>
          <p:nvPr/>
        </p:nvSpPr>
        <p:spPr>
          <a:xfrm>
            <a:off x="2657475" y="173355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A30DA6-5A49-4B97-9A63-6FF337414E56}"/>
              </a:ext>
            </a:extLst>
          </p:cNvPr>
          <p:cNvSpPr>
            <a:spLocks noGrp="1"/>
          </p:cNvSpPr>
          <p:nvPr/>
        </p:nvSpPr>
        <p:spPr>
          <a:xfrm>
            <a:off x="2714625" y="179070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-286.3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49430C-0D67-4DB9-9760-28C47903019C}"/>
              </a:ext>
            </a:extLst>
          </p:cNvPr>
          <p:cNvSpPr>
            <a:spLocks noGrp="1"/>
          </p:cNvSpPr>
          <p:nvPr/>
        </p:nvSpPr>
        <p:spPr>
          <a:xfrm>
            <a:off x="3657600" y="173355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BF6E20-2779-4DA0-A01E-54891419EDA3}"/>
              </a:ext>
            </a:extLst>
          </p:cNvPr>
          <p:cNvSpPr>
            <a:spLocks noGrp="1"/>
          </p:cNvSpPr>
          <p:nvPr/>
        </p:nvSpPr>
        <p:spPr>
          <a:xfrm>
            <a:off x="3714750" y="179070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-261.9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8C6369-16EE-47FC-9535-10F235947F86}"/>
              </a:ext>
            </a:extLst>
          </p:cNvPr>
          <p:cNvSpPr>
            <a:spLocks noGrp="1"/>
          </p:cNvSpPr>
          <p:nvPr/>
        </p:nvSpPr>
        <p:spPr>
          <a:xfrm>
            <a:off x="4657725" y="173355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AE59A8-6FC9-4C49-B9C0-16BA91B90B26}"/>
              </a:ext>
            </a:extLst>
          </p:cNvPr>
          <p:cNvSpPr>
            <a:spLocks noGrp="1"/>
          </p:cNvSpPr>
          <p:nvPr/>
        </p:nvSpPr>
        <p:spPr>
          <a:xfrm>
            <a:off x="4714875" y="179070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-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D65122-BDAA-4AB1-80E2-C2DD903C90ED}"/>
              </a:ext>
            </a:extLst>
          </p:cNvPr>
          <p:cNvSpPr>
            <a:spLocks noGrp="1"/>
          </p:cNvSpPr>
          <p:nvPr/>
        </p:nvSpPr>
        <p:spPr>
          <a:xfrm>
            <a:off x="5657850" y="1733550"/>
            <a:ext cx="11430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53F192-5A37-4F43-9296-38889BF0B402}"/>
              </a:ext>
            </a:extLst>
          </p:cNvPr>
          <p:cNvSpPr>
            <a:spLocks noGrp="1"/>
          </p:cNvSpPr>
          <p:nvPr/>
        </p:nvSpPr>
        <p:spPr>
          <a:xfrm>
            <a:off x="5715000" y="1790700"/>
            <a:ext cx="10287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-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B3C11B-52DF-43DD-8C64-2E9748CE1787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95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28A102-E7A0-4528-AA74-45C97FFFF232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8382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model1 + freq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663285-DC02-4EB3-9163-FDA08C4F1CD0}"/>
              </a:ext>
            </a:extLst>
          </p:cNvPr>
          <p:cNvSpPr>
            <a:spLocks noGrp="1"/>
          </p:cNvSpPr>
          <p:nvPr/>
        </p:nvSpPr>
        <p:spPr>
          <a:xfrm>
            <a:off x="1657350" y="213360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C25036-591A-4281-88D9-EB53A5A8DD94}"/>
              </a:ext>
            </a:extLst>
          </p:cNvPr>
          <p:cNvSpPr>
            <a:spLocks noGrp="1"/>
          </p:cNvSpPr>
          <p:nvPr/>
        </p:nvSpPr>
        <p:spPr>
          <a:xfrm>
            <a:off x="1714500" y="21907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DFAA5C-4D10-4D4A-B341-202169B911BC}"/>
              </a:ext>
            </a:extLst>
          </p:cNvPr>
          <p:cNvSpPr>
            <a:spLocks noGrp="1"/>
          </p:cNvSpPr>
          <p:nvPr/>
        </p:nvSpPr>
        <p:spPr>
          <a:xfrm>
            <a:off x="2657475" y="213360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37FFC2-C15C-4591-99C5-B966BC19C869}"/>
              </a:ext>
            </a:extLst>
          </p:cNvPr>
          <p:cNvSpPr>
            <a:spLocks noGrp="1"/>
          </p:cNvSpPr>
          <p:nvPr/>
        </p:nvSpPr>
        <p:spPr>
          <a:xfrm>
            <a:off x="2714625" y="21907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-299.2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2AA17AE-5690-4606-A7A9-AEBB04358602}"/>
              </a:ext>
            </a:extLst>
          </p:cNvPr>
          <p:cNvSpPr>
            <a:spLocks noGrp="1"/>
          </p:cNvSpPr>
          <p:nvPr/>
        </p:nvSpPr>
        <p:spPr>
          <a:xfrm>
            <a:off x="3657600" y="213360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350A47-7E8F-41AA-B98D-EC97463C96D3}"/>
              </a:ext>
            </a:extLst>
          </p:cNvPr>
          <p:cNvSpPr>
            <a:spLocks noGrp="1"/>
          </p:cNvSpPr>
          <p:nvPr/>
        </p:nvSpPr>
        <p:spPr>
          <a:xfrm>
            <a:off x="3714750" y="21907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-262.6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D4A367-05A4-4658-8834-B748EDDE11FF}"/>
              </a:ext>
            </a:extLst>
          </p:cNvPr>
          <p:cNvSpPr>
            <a:spLocks noGrp="1"/>
          </p:cNvSpPr>
          <p:nvPr/>
        </p:nvSpPr>
        <p:spPr>
          <a:xfrm>
            <a:off x="4657725" y="213360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E8CA21-ADD6-40A1-82F4-530346376DBF}"/>
              </a:ext>
            </a:extLst>
          </p:cNvPr>
          <p:cNvSpPr>
            <a:spLocks noGrp="1"/>
          </p:cNvSpPr>
          <p:nvPr/>
        </p:nvSpPr>
        <p:spPr>
          <a:xfrm>
            <a:off x="4714875" y="21907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16.95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B7A0D7-3B2B-4C3B-94A7-51BABDAAA31C}"/>
              </a:ext>
            </a:extLst>
          </p:cNvPr>
          <p:cNvSpPr>
            <a:spLocks noGrp="1"/>
          </p:cNvSpPr>
          <p:nvPr/>
        </p:nvSpPr>
        <p:spPr>
          <a:xfrm>
            <a:off x="5657850" y="2133600"/>
            <a:ext cx="11430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52BC5BA-66D3-4F36-8E15-F88E7D3D39B4}"/>
              </a:ext>
            </a:extLst>
          </p:cNvPr>
          <p:cNvSpPr>
            <a:spLocks noGrp="1"/>
          </p:cNvSpPr>
          <p:nvPr/>
        </p:nvSpPr>
        <p:spPr>
          <a:xfrm>
            <a:off x="5715000" y="2190750"/>
            <a:ext cx="10287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&lt; .001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E09680-672A-4678-A053-58838196A8C2}"/>
              </a:ext>
            </a:extLst>
          </p:cNvPr>
          <p:cNvSpPr>
            <a:spLocks noGrp="1"/>
          </p:cNvSpPr>
          <p:nvPr/>
        </p:nvSpPr>
        <p:spPr>
          <a:xfrm>
            <a:off x="704850" y="2533650"/>
            <a:ext cx="95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591DB2-F597-4F8C-BCC1-0072B5BBF6B1}"/>
              </a:ext>
            </a:extLst>
          </p:cNvPr>
          <p:cNvSpPr>
            <a:spLocks noGrp="1"/>
          </p:cNvSpPr>
          <p:nvPr/>
        </p:nvSpPr>
        <p:spPr>
          <a:xfrm>
            <a:off x="762000" y="2590800"/>
            <a:ext cx="8382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model2 + length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B236250-A602-44DC-A3A3-112ECD7162BC}"/>
              </a:ext>
            </a:extLst>
          </p:cNvPr>
          <p:cNvSpPr>
            <a:spLocks noGrp="1"/>
          </p:cNvSpPr>
          <p:nvPr/>
        </p:nvSpPr>
        <p:spPr>
          <a:xfrm>
            <a:off x="1657350" y="253365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98C034-2E1E-4301-9FDD-B7F2C1053880}"/>
              </a:ext>
            </a:extLst>
          </p:cNvPr>
          <p:cNvSpPr>
            <a:spLocks noGrp="1"/>
          </p:cNvSpPr>
          <p:nvPr/>
        </p:nvSpPr>
        <p:spPr>
          <a:xfrm>
            <a:off x="1714500" y="259080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9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9FDED2-61FF-411E-BC3A-31B106747971}"/>
              </a:ext>
            </a:extLst>
          </p:cNvPr>
          <p:cNvSpPr>
            <a:spLocks noGrp="1"/>
          </p:cNvSpPr>
          <p:nvPr/>
        </p:nvSpPr>
        <p:spPr>
          <a:xfrm>
            <a:off x="2657475" y="253365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6ED2384-08C1-424F-84D3-0FD8BBB15F8B}"/>
              </a:ext>
            </a:extLst>
          </p:cNvPr>
          <p:cNvSpPr>
            <a:spLocks noGrp="1"/>
          </p:cNvSpPr>
          <p:nvPr/>
        </p:nvSpPr>
        <p:spPr>
          <a:xfrm>
            <a:off x="2714625" y="259080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-511.0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871139C-F171-4397-9714-744B71EF35A9}"/>
              </a:ext>
            </a:extLst>
          </p:cNvPr>
          <p:cNvSpPr>
            <a:spLocks noGrp="1"/>
          </p:cNvSpPr>
          <p:nvPr/>
        </p:nvSpPr>
        <p:spPr>
          <a:xfrm>
            <a:off x="3657600" y="253365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15526C0-1D32-4D96-BEA0-29E0BAEF250F}"/>
              </a:ext>
            </a:extLst>
          </p:cNvPr>
          <p:cNvSpPr>
            <a:spLocks noGrp="1"/>
          </p:cNvSpPr>
          <p:nvPr/>
        </p:nvSpPr>
        <p:spPr>
          <a:xfrm>
            <a:off x="3714750" y="259080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-456.1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3987D93-AAA9-4062-BC10-804B3A1AD2F6}"/>
              </a:ext>
            </a:extLst>
          </p:cNvPr>
          <p:cNvSpPr>
            <a:spLocks noGrp="1"/>
          </p:cNvSpPr>
          <p:nvPr/>
        </p:nvSpPr>
        <p:spPr>
          <a:xfrm>
            <a:off x="4657725" y="253365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A772E87-B985-40B1-8769-FD739DF0057F}"/>
              </a:ext>
            </a:extLst>
          </p:cNvPr>
          <p:cNvSpPr>
            <a:spLocks noGrp="1"/>
          </p:cNvSpPr>
          <p:nvPr/>
        </p:nvSpPr>
        <p:spPr>
          <a:xfrm>
            <a:off x="4714875" y="259080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217.80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65C24E0-4BCE-4D8D-9235-FD3FFC0E7228}"/>
              </a:ext>
            </a:extLst>
          </p:cNvPr>
          <p:cNvSpPr>
            <a:spLocks noGrp="1"/>
          </p:cNvSpPr>
          <p:nvPr/>
        </p:nvSpPr>
        <p:spPr>
          <a:xfrm>
            <a:off x="5657850" y="2533650"/>
            <a:ext cx="11430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6D8543-3DB3-4E68-A3DC-7E45141AFA26}"/>
              </a:ext>
            </a:extLst>
          </p:cNvPr>
          <p:cNvSpPr>
            <a:spLocks noGrp="1"/>
          </p:cNvSpPr>
          <p:nvPr/>
        </p:nvSpPr>
        <p:spPr>
          <a:xfrm>
            <a:off x="5715000" y="2590800"/>
            <a:ext cx="10287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&lt; .001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081AA49-3B52-4CAF-9424-0DC3E868863B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95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38B974-D22E-43EB-B4AD-0A81EE44C878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8382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690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model3 + interaction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088C636-3BF5-4F37-BFB8-19408FB0B597}"/>
              </a:ext>
            </a:extLst>
          </p:cNvPr>
          <p:cNvSpPr>
            <a:spLocks noGrp="1"/>
          </p:cNvSpPr>
          <p:nvPr/>
        </p:nvSpPr>
        <p:spPr>
          <a:xfrm>
            <a:off x="1657350" y="293370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784BEF5-7B21-4437-8333-541DE86BC9D6}"/>
              </a:ext>
            </a:extLst>
          </p:cNvPr>
          <p:cNvSpPr>
            <a:spLocks noGrp="1"/>
          </p:cNvSpPr>
          <p:nvPr/>
        </p:nvSpPr>
        <p:spPr>
          <a:xfrm>
            <a:off x="1714500" y="29908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11ADF1E-2541-4BF9-A24B-EBA8A7299AE5}"/>
              </a:ext>
            </a:extLst>
          </p:cNvPr>
          <p:cNvSpPr>
            <a:spLocks noGrp="1"/>
          </p:cNvSpPr>
          <p:nvPr/>
        </p:nvSpPr>
        <p:spPr>
          <a:xfrm>
            <a:off x="2657475" y="293370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1D50981-6800-4B51-8B50-24CF9D27628F}"/>
              </a:ext>
            </a:extLst>
          </p:cNvPr>
          <p:cNvSpPr>
            <a:spLocks noGrp="1"/>
          </p:cNvSpPr>
          <p:nvPr/>
        </p:nvSpPr>
        <p:spPr>
          <a:xfrm>
            <a:off x="2714625" y="29908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-511.9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5187A79-3B22-4014-8009-A31F9E5C79B2}"/>
              </a:ext>
            </a:extLst>
          </p:cNvPr>
          <p:cNvSpPr>
            <a:spLocks noGrp="1"/>
          </p:cNvSpPr>
          <p:nvPr/>
        </p:nvSpPr>
        <p:spPr>
          <a:xfrm>
            <a:off x="3657600" y="293370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21B9DCF-886B-41AE-AE82-6B08E1130F44}"/>
              </a:ext>
            </a:extLst>
          </p:cNvPr>
          <p:cNvSpPr>
            <a:spLocks noGrp="1"/>
          </p:cNvSpPr>
          <p:nvPr/>
        </p:nvSpPr>
        <p:spPr>
          <a:xfrm>
            <a:off x="3714750" y="29908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-420.4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13CB393-4270-4426-BB9D-CD9E46F9218B}"/>
              </a:ext>
            </a:extLst>
          </p:cNvPr>
          <p:cNvSpPr>
            <a:spLocks noGrp="1"/>
          </p:cNvSpPr>
          <p:nvPr/>
        </p:nvSpPr>
        <p:spPr>
          <a:xfrm>
            <a:off x="4657725" y="2933700"/>
            <a:ext cx="1000125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DA6B89-C8A1-44C7-80C8-DF4B031A42A9}"/>
              </a:ext>
            </a:extLst>
          </p:cNvPr>
          <p:cNvSpPr>
            <a:spLocks noGrp="1"/>
          </p:cNvSpPr>
          <p:nvPr/>
        </p:nvSpPr>
        <p:spPr>
          <a:xfrm>
            <a:off x="4714875" y="2990850"/>
            <a:ext cx="885825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12.89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B6DD5FA-E45C-49C4-B63A-8505303E7D34}"/>
              </a:ext>
            </a:extLst>
          </p:cNvPr>
          <p:cNvSpPr>
            <a:spLocks noGrp="1"/>
          </p:cNvSpPr>
          <p:nvPr/>
        </p:nvSpPr>
        <p:spPr>
          <a:xfrm>
            <a:off x="5657850" y="2933700"/>
            <a:ext cx="11430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DECB3"/>
            </a:solidFill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C8BA7A-2649-4647-872E-064CA9D3F33A}"/>
              </a:ext>
            </a:extLst>
          </p:cNvPr>
          <p:cNvSpPr>
            <a:spLocks noGrp="1"/>
          </p:cNvSpPr>
          <p:nvPr/>
        </p:nvSpPr>
        <p:spPr>
          <a:xfrm>
            <a:off x="5715000" y="2990850"/>
            <a:ext cx="10287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90" b="0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.0449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19B07E3-BB39-4D57-B2D7-05107FCF35B5}"/>
              </a:ext>
            </a:extLst>
          </p:cNvPr>
          <p:cNvSpPr>
            <a:spLocks noGrp="1"/>
          </p:cNvSpPr>
          <p:nvPr/>
        </p:nvSpPr>
        <p:spPr>
          <a:xfrm>
            <a:off x="6143625" y="1428750"/>
            <a:ext cx="1952625" cy="110490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E0969C7-26C8-471C-8061-10912C42AAB9}"/>
              </a:ext>
            </a:extLst>
          </p:cNvPr>
          <p:cNvSpPr>
            <a:spLocks noGrp="1"/>
          </p:cNvSpPr>
          <p:nvPr/>
        </p:nvSpPr>
        <p:spPr>
          <a:xfrm>
            <a:off x="6257925" y="1524000"/>
            <a:ext cx="17240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Largest step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A41D7FA-4AF9-4C40-B14C-B40F85687DE2}"/>
              </a:ext>
            </a:extLst>
          </p:cNvPr>
          <p:cNvSpPr>
            <a:spLocks noGrp="1"/>
          </p:cNvSpPr>
          <p:nvPr/>
        </p:nvSpPr>
        <p:spPr>
          <a:xfrm>
            <a:off x="6257925" y="1752600"/>
            <a:ext cx="1724025" cy="7048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Adding syllable length gives the biggest model-fit improvement.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349E882-CF1D-4D1E-8015-F5C2473002C8}"/>
              </a:ext>
            </a:extLst>
          </p:cNvPr>
          <p:cNvSpPr>
            <a:spLocks noGrp="1"/>
          </p:cNvSpPr>
          <p:nvPr/>
        </p:nvSpPr>
        <p:spPr>
          <a:xfrm>
            <a:off x="6143625" y="2800350"/>
            <a:ext cx="1952625" cy="1104900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5ACE75A-AB98-43F4-89E5-985D1C5E4285}"/>
              </a:ext>
            </a:extLst>
          </p:cNvPr>
          <p:cNvSpPr>
            <a:spLocks noGrp="1"/>
          </p:cNvSpPr>
          <p:nvPr/>
        </p:nvSpPr>
        <p:spPr>
          <a:xfrm>
            <a:off x="6257925" y="2895600"/>
            <a:ext cx="17240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Small step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6C57081-3CDD-4E81-A682-05166DB850D9}"/>
              </a:ext>
            </a:extLst>
          </p:cNvPr>
          <p:cNvSpPr>
            <a:spLocks noGrp="1"/>
          </p:cNvSpPr>
          <p:nvPr/>
        </p:nvSpPr>
        <p:spPr>
          <a:xfrm>
            <a:off x="6257925" y="3124200"/>
            <a:ext cx="1724025" cy="7048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3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The interaction improves fit, but weakly. It should guide follow-up checks rather than stand alone.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64E34A5-2A7A-4F5B-8467-837AE70780DF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A7FCE9-EEF9-44F2-A47E-9BB9DF3080F5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21 | DIAGNOSTICS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DD63C2-A823-47D5-B2BD-AA232D1BDBE1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Model checks support cautious reporting, not overconfident final claims.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CF2448-68FB-4EC0-B22B-CD3FFBE4C476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5788" y="1190625"/>
            <a:ext cx="2266950" cy="1619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62288" y="1190625"/>
            <a:ext cx="2266950" cy="16192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538788" y="1190625"/>
            <a:ext cx="2266950" cy="16192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C619E01-1708-4DBC-BE13-3FC4D08056A0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000250" cy="83820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7B7F1-E64D-4E61-A2AB-E4E05DECCE4F}"/>
              </a:ext>
            </a:extLst>
          </p:cNvPr>
          <p:cNvSpPr>
            <a:spLocks noGrp="1"/>
          </p:cNvSpPr>
          <p:nvPr/>
        </p:nvSpPr>
        <p:spPr>
          <a:xfrm>
            <a:off x="952500" y="3238500"/>
            <a:ext cx="17716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Singularity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C27A05-70C4-4F4D-9456-84C70EE33EA7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1771650" cy="4381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model0, model1, model2, model3:</a:t>
            </a:r>
          </a:p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FALSE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A0B6A2-25FC-4454-8C48-D99646940CF8}"/>
              </a:ext>
            </a:extLst>
          </p:cNvPr>
          <p:cNvSpPr>
            <a:spLocks noGrp="1"/>
          </p:cNvSpPr>
          <p:nvPr/>
        </p:nvSpPr>
        <p:spPr>
          <a:xfrm>
            <a:off x="3429000" y="3143250"/>
            <a:ext cx="2000250" cy="838200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393D85-E923-4F6C-B1EE-FE10C3C772EA}"/>
              </a:ext>
            </a:extLst>
          </p:cNvPr>
          <p:cNvSpPr>
            <a:spLocks noGrp="1"/>
          </p:cNvSpPr>
          <p:nvPr/>
        </p:nvSpPr>
        <p:spPr>
          <a:xfrm>
            <a:off x="3543300" y="3238500"/>
            <a:ext cx="17716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VIF check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F7ABB4-2D90-481D-9F50-A25DCB5DF6A2}"/>
              </a:ext>
            </a:extLst>
          </p:cNvPr>
          <p:cNvSpPr>
            <a:spLocks noGrp="1"/>
          </p:cNvSpPr>
          <p:nvPr/>
        </p:nvSpPr>
        <p:spPr>
          <a:xfrm>
            <a:off x="3543300" y="3467100"/>
            <a:ext cx="1771650" cy="4381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2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Adjusted GVIF values remain below common concern thresholds.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6E886-05A8-4185-879F-E2D901839511}"/>
              </a:ext>
            </a:extLst>
          </p:cNvPr>
          <p:cNvSpPr>
            <a:spLocks noGrp="1"/>
          </p:cNvSpPr>
          <p:nvPr/>
        </p:nvSpPr>
        <p:spPr>
          <a:xfrm>
            <a:off x="6019800" y="3143250"/>
            <a:ext cx="2000250" cy="838200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2AA2D8-4560-4CB9-952D-4DAADB557C99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177165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Remaining caution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293C5B-EE72-41F5-B3B8-022A9440D229}"/>
              </a:ext>
            </a:extLst>
          </p:cNvPr>
          <p:cNvSpPr>
            <a:spLocks noGrp="1"/>
          </p:cNvSpPr>
          <p:nvPr/>
        </p:nvSpPr>
        <p:spPr>
          <a:xfrm>
            <a:off x="6134100" y="3467100"/>
            <a:ext cx="1771650" cy="4381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2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RT diagnostics should be reviewed again before thesis-level claims.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AC82D23-2884-470F-9663-F1A8F00F0A7F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2E9744-7E0B-42E8-A906-FC1BC145E5A8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22 | TASK QUALITY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2494E-CAD0-45B5-BFBF-E11D484ACE68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Accuracy and response QC suggest participants generally performed the task seriously.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B180D2-DE15-4E2B-AA57-0106DABCFFD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3438" y="1219200"/>
            <a:ext cx="3800475" cy="27146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F56CE6-81D2-47C4-811F-FADC1A951757}"/>
              </a:ext>
            </a:extLst>
          </p:cNvPr>
          <p:cNvSpPr>
            <a:spLocks noGrp="1"/>
          </p:cNvSpPr>
          <p:nvPr/>
        </p:nvSpPr>
        <p:spPr>
          <a:xfrm>
            <a:off x="5334000" y="1352550"/>
            <a:ext cx="1238250" cy="685800"/>
          </a:xfrm>
          <a:prstGeom prst="rect">
            <a:avLst/>
          </a:prstGeom>
          <a:solidFill>
            <a:srgbClr val="DDECB3"/>
          </a:solidFill>
          <a:ln w="7620">
            <a:solidFill>
              <a:srgbClr val="003A61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89F591-71C1-4364-A287-E6DE968928CA}"/>
              </a:ext>
            </a:extLst>
          </p:cNvPr>
          <p:cNvSpPr>
            <a:spLocks noGrp="1"/>
          </p:cNvSpPr>
          <p:nvPr/>
        </p:nvSpPr>
        <p:spPr>
          <a:xfrm>
            <a:off x="5429250" y="1447800"/>
            <a:ext cx="10477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95.7%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977203-DFFE-4670-98E8-B1AC84054AAD}"/>
              </a:ext>
            </a:extLst>
          </p:cNvPr>
          <p:cNvSpPr>
            <a:spLocks noGrp="1"/>
          </p:cNvSpPr>
          <p:nvPr/>
        </p:nvSpPr>
        <p:spPr>
          <a:xfrm>
            <a:off x="5429250" y="1714500"/>
            <a:ext cx="1047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word accuracy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93977A-DA73-44B5-9ACC-29C97E44D54F}"/>
              </a:ext>
            </a:extLst>
          </p:cNvPr>
          <p:cNvSpPr>
            <a:spLocks noGrp="1"/>
          </p:cNvSpPr>
          <p:nvPr/>
        </p:nvSpPr>
        <p:spPr>
          <a:xfrm>
            <a:off x="5429250" y="1885950"/>
            <a:ext cx="1047750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main trials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B3192B-610E-4624-88BE-1091E4C092AA}"/>
              </a:ext>
            </a:extLst>
          </p:cNvPr>
          <p:cNvSpPr>
            <a:spLocks noGrp="1"/>
          </p:cNvSpPr>
          <p:nvPr/>
        </p:nvSpPr>
        <p:spPr>
          <a:xfrm>
            <a:off x="6858000" y="1352550"/>
            <a:ext cx="1238250" cy="685800"/>
          </a:xfrm>
          <a:prstGeom prst="rect">
            <a:avLst/>
          </a:prstGeom>
          <a:solidFill>
            <a:srgbClr val="EEF4F8"/>
          </a:solidFill>
          <a:ln w="7620">
            <a:solidFill>
              <a:srgbClr val="003A61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227EBF-056C-40C1-B206-5626F7823791}"/>
              </a:ext>
            </a:extLst>
          </p:cNvPr>
          <p:cNvSpPr>
            <a:spLocks noGrp="1"/>
          </p:cNvSpPr>
          <p:nvPr/>
        </p:nvSpPr>
        <p:spPr>
          <a:xfrm>
            <a:off x="6953250" y="1447800"/>
            <a:ext cx="10477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82.0%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52CA10-D3AA-4368-B5BC-B83A3B7F94AD}"/>
              </a:ext>
            </a:extLst>
          </p:cNvPr>
          <p:cNvSpPr>
            <a:spLocks noGrp="1"/>
          </p:cNvSpPr>
          <p:nvPr/>
        </p:nvSpPr>
        <p:spPr>
          <a:xfrm>
            <a:off x="6953250" y="1714500"/>
            <a:ext cx="1047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pseudoword accuracy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8EDFA7-D9EA-4DAA-88D4-29BF2C73E6A7}"/>
              </a:ext>
            </a:extLst>
          </p:cNvPr>
          <p:cNvSpPr>
            <a:spLocks noGrp="1"/>
          </p:cNvSpPr>
          <p:nvPr/>
        </p:nvSpPr>
        <p:spPr>
          <a:xfrm>
            <a:off x="6953250" y="1885950"/>
            <a:ext cx="1047750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main trials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2C62E7-D5CA-4472-A4CD-D9B7C815747D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1238250" cy="685800"/>
          </a:xfrm>
          <a:prstGeom prst="rect">
            <a:avLst/>
          </a:prstGeom>
          <a:solidFill>
            <a:srgbClr val="F3F6F8"/>
          </a:solidFill>
          <a:ln w="7620">
            <a:solidFill>
              <a:srgbClr val="003A61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5BEEAC-3641-4970-ADCE-1DFB05FAD032}"/>
              </a:ext>
            </a:extLst>
          </p:cNvPr>
          <p:cNvSpPr>
            <a:spLocks noGrp="1"/>
          </p:cNvSpPr>
          <p:nvPr/>
        </p:nvSpPr>
        <p:spPr>
          <a:xfrm>
            <a:off x="5429250" y="2476500"/>
            <a:ext cx="10477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C51F95-4A31-4158-878B-AA0230C3AA09}"/>
              </a:ext>
            </a:extLst>
          </p:cNvPr>
          <p:cNvSpPr>
            <a:spLocks noGrp="1"/>
          </p:cNvSpPr>
          <p:nvPr/>
        </p:nvSpPr>
        <p:spPr>
          <a:xfrm>
            <a:off x="5429250" y="2743200"/>
            <a:ext cx="1047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participants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415C30-A76C-45A7-BAD2-5902A03F0B8D}"/>
              </a:ext>
            </a:extLst>
          </p:cNvPr>
          <p:cNvSpPr>
            <a:spLocks noGrp="1"/>
          </p:cNvSpPr>
          <p:nvPr/>
        </p:nvSpPr>
        <p:spPr>
          <a:xfrm>
            <a:off x="5429250" y="2914650"/>
            <a:ext cx="1047750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flagged by QC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002C74-4ED6-4CFC-93D1-B364B7FD7B56}"/>
              </a:ext>
            </a:extLst>
          </p:cNvPr>
          <p:cNvSpPr>
            <a:spLocks noGrp="1"/>
          </p:cNvSpPr>
          <p:nvPr/>
        </p:nvSpPr>
        <p:spPr>
          <a:xfrm>
            <a:off x="6858000" y="2381250"/>
            <a:ext cx="1238250" cy="685800"/>
          </a:xfrm>
          <a:prstGeom prst="rect">
            <a:avLst/>
          </a:prstGeom>
          <a:solidFill>
            <a:srgbClr val="F3F6F8"/>
          </a:solidFill>
          <a:ln w="7620">
            <a:solidFill>
              <a:srgbClr val="003A61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33C29-8AC9-47DB-B8FC-DD67CA2E7BD9}"/>
              </a:ext>
            </a:extLst>
          </p:cNvPr>
          <p:cNvSpPr>
            <a:spLocks noGrp="1"/>
          </p:cNvSpPr>
          <p:nvPr/>
        </p:nvSpPr>
        <p:spPr>
          <a:xfrm>
            <a:off x="6953250" y="2476500"/>
            <a:ext cx="10477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45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C9C999-F9D1-407D-B4BD-1EDF6161533D}"/>
              </a:ext>
            </a:extLst>
          </p:cNvPr>
          <p:cNvSpPr>
            <a:spLocks noGrp="1"/>
          </p:cNvSpPr>
          <p:nvPr/>
        </p:nvSpPr>
        <p:spPr>
          <a:xfrm>
            <a:off x="6953250" y="2743200"/>
            <a:ext cx="1047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missing RTs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4BB9DA-6115-431A-9556-A24F0596A821}"/>
              </a:ext>
            </a:extLst>
          </p:cNvPr>
          <p:cNvSpPr>
            <a:spLocks noGrp="1"/>
          </p:cNvSpPr>
          <p:nvPr/>
        </p:nvSpPr>
        <p:spPr>
          <a:xfrm>
            <a:off x="6953250" y="2914650"/>
            <a:ext cx="1047750" cy="114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623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623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of 5,760 main trials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B5D33F-8B57-4233-8F4C-22DC34BF2228}"/>
              </a:ext>
            </a:extLst>
          </p:cNvPr>
          <p:cNvSpPr>
            <a:spLocks noGrp="1"/>
          </p:cNvSpPr>
          <p:nvPr/>
        </p:nvSpPr>
        <p:spPr>
          <a:xfrm>
            <a:off x="5334000" y="356235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7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Pseudoword accuracy is lower than word accuracy, but still high enough to show nonword discrimination.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172C8F6-696C-422F-B4D4-6E2C778BBBDC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102F50-653A-4091-A935-5BD5B15EE76F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23 | INTERPRETATION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4E525F-D456-47AF-8F5E-8A1267554868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strongest preliminary story is frequency plus syllable length, with a tentative interaction.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9EC9E2-2801-424E-8201-5D9966213E7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6D09BC-98A4-4A6B-9D5E-9B883D1C1742}"/>
              </a:ext>
            </a:extLst>
          </p:cNvPr>
          <p:cNvSpPr>
            <a:spLocks noGrp="1"/>
          </p:cNvSpPr>
          <p:nvPr/>
        </p:nvSpPr>
        <p:spPr>
          <a:xfrm>
            <a:off x="723900" y="1352550"/>
            <a:ext cx="2238375" cy="123825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555130-6FCF-41F2-81DE-677E66E4041B}"/>
              </a:ext>
            </a:extLst>
          </p:cNvPr>
          <p:cNvSpPr>
            <a:spLocks noGrp="1"/>
          </p:cNvSpPr>
          <p:nvPr/>
        </p:nvSpPr>
        <p:spPr>
          <a:xfrm>
            <a:off x="838200" y="1447800"/>
            <a:ext cx="200977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1. Frequency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9D6948-295D-4A3D-90D9-8929EFBC89D2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2009775" cy="8382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05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High-frequency words were responded to faster than low-frequency words.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678CEA-FE06-4335-8760-DB2D22BFD110}"/>
              </a:ext>
            </a:extLst>
          </p:cNvPr>
          <p:cNvSpPr>
            <a:spLocks noGrp="1"/>
          </p:cNvSpPr>
          <p:nvPr/>
        </p:nvSpPr>
        <p:spPr>
          <a:xfrm>
            <a:off x="3429000" y="1352550"/>
            <a:ext cx="2238375" cy="1238250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280317-A87B-497A-A0F7-CE593373AABC}"/>
              </a:ext>
            </a:extLst>
          </p:cNvPr>
          <p:cNvSpPr>
            <a:spLocks noGrp="1"/>
          </p:cNvSpPr>
          <p:nvPr/>
        </p:nvSpPr>
        <p:spPr>
          <a:xfrm>
            <a:off x="3543300" y="1447800"/>
            <a:ext cx="200977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2. Syllable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17221C-775E-4833-A2BA-4F62ED3FAFDB}"/>
              </a:ext>
            </a:extLst>
          </p:cNvPr>
          <p:cNvSpPr>
            <a:spLocks noGrp="1"/>
          </p:cNvSpPr>
          <p:nvPr/>
        </p:nvSpPr>
        <p:spPr>
          <a:xfrm>
            <a:off x="3543300" y="1676400"/>
            <a:ext cx="2009775" cy="8382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05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Mean RT increased from one-syllable to four-syllable words.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E38D75-8CD0-47E8-8FED-7EE87ED20EBA}"/>
              </a:ext>
            </a:extLst>
          </p:cNvPr>
          <p:cNvSpPr>
            <a:spLocks noGrp="1"/>
          </p:cNvSpPr>
          <p:nvPr/>
        </p:nvSpPr>
        <p:spPr>
          <a:xfrm>
            <a:off x="6134100" y="1352550"/>
            <a:ext cx="1952625" cy="1238250"/>
          </a:xfrm>
          <a:prstGeom prst="rect">
            <a:avLst/>
          </a:prstGeom>
          <a:solidFill>
            <a:srgbClr val="F3F6F8"/>
          </a:solidFill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58FC2-FA70-4E32-9305-4583EF70B09D}"/>
              </a:ext>
            </a:extLst>
          </p:cNvPr>
          <p:cNvSpPr>
            <a:spLocks noGrp="1"/>
          </p:cNvSpPr>
          <p:nvPr/>
        </p:nvSpPr>
        <p:spPr>
          <a:xfrm>
            <a:off x="6248400" y="1447800"/>
            <a:ext cx="172402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3. Interaction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335662-12E4-485F-BEFA-DBBDCC72C16B}"/>
              </a:ext>
            </a:extLst>
          </p:cNvPr>
          <p:cNvSpPr>
            <a:spLocks noGrp="1"/>
          </p:cNvSpPr>
          <p:nvPr/>
        </p:nvSpPr>
        <p:spPr>
          <a:xfrm>
            <a:off x="6248400" y="1676400"/>
            <a:ext cx="1724025" cy="8382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013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Possible variation in the frequency effect, but modest.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70C59D-0DB0-49EA-B81F-E8A12524B9A6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6667500" cy="685800"/>
          </a:xfrm>
          <a:prstGeom prst="rect">
            <a:avLst/>
          </a:prstGeom>
          <a:solidFill>
            <a:srgbClr val="F3F6F8"/>
          </a:solidFill>
          <a:ln w="7620">
            <a:solidFill>
              <a:srgbClr val="003A61"/>
            </a:solidFill>
          </a:ln>
        </p:spPr>
        <p:txBody>
          <a:bodyPr lIns="0" tIns="0" rIns="0" bIns="0"/>
          <a:lstStyle/>
          <a:p>
            <a:r>
              <a:rPr sz="100">
                <a:solidFill>
                  <a:srgbClr val="F3F6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3345AA-89F1-4E03-81DC-34B962980E9E}"/>
              </a:ext>
            </a:extLst>
          </p:cNvPr>
          <p:cNvSpPr>
            <a:spLocks noGrp="1"/>
          </p:cNvSpPr>
          <p:nvPr/>
        </p:nvSpPr>
        <p:spPr>
          <a:xfrm>
            <a:off x="1371600" y="3314700"/>
            <a:ext cx="6172200" cy="3619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Cautious interpretation: lexical-decision RT reflects lexical processing plus task-decision processes, so the results should not be reduced to pure lexical access.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D6EEA9A-7D98-4BC2-A2CA-EBBF77F8388A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9CC6C0-51CE-4C15-ADF9-826C727EE27B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24 | LIMITATIONS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C2A025-28A1-43CD-A383-80348B1190D8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current analysis is ready for discussion, but not yet a final thesis conclusion.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4AA344-596F-4FA2-AC08-3EB9F579088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ABA33E-B7E7-4395-80E2-E09CD5F55478}"/>
              </a:ext>
            </a:extLst>
          </p:cNvPr>
          <p:cNvSpPr>
            <a:spLocks noGrp="1"/>
          </p:cNvSpPr>
          <p:nvPr/>
        </p:nvSpPr>
        <p:spPr>
          <a:xfrm>
            <a:off x="723900" y="1314450"/>
            <a:ext cx="57150" cy="5715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09246D-E44A-4E90-9E9A-819A2618F43F}"/>
              </a:ext>
            </a:extLst>
          </p:cNvPr>
          <p:cNvSpPr>
            <a:spLocks noGrp="1"/>
          </p:cNvSpPr>
          <p:nvPr/>
        </p:nvSpPr>
        <p:spPr>
          <a:xfrm>
            <a:off x="876300" y="1257300"/>
            <a:ext cx="6705600" cy="495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00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N = 48 reaches the minimum target but is still a minimum sample.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50720-2F02-4A3E-B3DA-C2D1E03CDEEA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57150" cy="5715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95681B-22FF-4891-9925-2BCB0EC1DB67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6705600" cy="495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00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Pseudowords should be reviewed for plausibility and matching before final reporting.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89ECF-49FF-485C-B3B2-09DA23CF005A}"/>
              </a:ext>
            </a:extLst>
          </p:cNvPr>
          <p:cNvSpPr>
            <a:spLocks noGrp="1"/>
          </p:cNvSpPr>
          <p:nvPr/>
        </p:nvSpPr>
        <p:spPr>
          <a:xfrm>
            <a:off x="723900" y="2228850"/>
            <a:ext cx="57150" cy="5715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5D0378-7074-4B06-B29A-CAE0E6122537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6705600" cy="495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00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Frequency source and item matching may need dispersion/register checks.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E6806-1E22-4AC4-8005-24404CF5C54A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57150" cy="5715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7D2F18-52B4-40B4-9778-37E7C5E13E98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6705600" cy="495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00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The current model uses random intercepts; richer structures can be tested if stable.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A9E9A3-A020-4272-8342-4C9284B2E0D8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57150" cy="5715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955CC-0B5E-4237-8B9E-14946E314E30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6705600" cy="495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100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The project does not solve full Vietnamese word segmentation.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4C3B40-32C8-4312-AA35-0C05A9667E5D}"/>
              </a:ext>
            </a:extLst>
          </p:cNvPr>
          <p:cNvSpPr>
            <a:spLocks noGrp="1"/>
          </p:cNvSpPr>
          <p:nvPr/>
        </p:nvSpPr>
        <p:spPr>
          <a:xfrm>
            <a:off x="857250" y="3762375"/>
            <a:ext cx="7048500" cy="495300"/>
          </a:xfrm>
          <a:prstGeom prst="rect">
            <a:avLst/>
          </a:prstGeom>
          <a:solidFill>
            <a:srgbClr val="DDECB3"/>
          </a:solidFill>
        </p:spPr>
        <p:txBody>
          <a:bodyPr lIns="0" tIns="0" rIns="0" bIns="0"/>
          <a:lstStyle/>
          <a:p>
            <a:r>
              <a:rPr sz="100">
                <a:solidFill>
                  <a:srgbClr val="DDECB3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EFBFA0-1A0A-4ED8-95C7-3D1F56DD7AB7}"/>
              </a:ext>
            </a:extLst>
          </p:cNvPr>
          <p:cNvSpPr>
            <a:spLocks noGrp="1"/>
          </p:cNvSpPr>
          <p:nvPr/>
        </p:nvSpPr>
        <p:spPr>
          <a:xfrm>
            <a:off x="971550" y="3857625"/>
            <a:ext cx="6819900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Next analytical step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D96681-DDF4-446E-9FE2-5E0A79C4923B}"/>
              </a:ext>
            </a:extLst>
          </p:cNvPr>
          <p:cNvSpPr>
            <a:spLocks noGrp="1"/>
          </p:cNvSpPr>
          <p:nvPr/>
        </p:nvSpPr>
        <p:spPr>
          <a:xfrm>
            <a:off x="971550" y="4086225"/>
            <a:ext cx="6819900" cy="952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6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Review diagnostics, check sensitivity decisions, consider supplementary accuracy models, and refine the interaction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DA50FA2-080B-44FB-A57A-D43DB1ECDD8F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71B0F3-D2F5-4836-BFF5-1F18A32FD260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25 | TIMELINE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85D7BA-7B5F-4F52-8D75-8235860597CD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The six-month plan moves from design and data collection toward final modeling and write-up.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2F293C-7652-4BEC-86E1-BD7A0DF86D93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A9A894-C973-4103-93DC-C60565ABC44C}"/>
              </a:ext>
            </a:extLst>
          </p:cNvPr>
          <p:cNvSpPr>
            <a:spLocks noGrp="1"/>
          </p:cNvSpPr>
          <p:nvPr/>
        </p:nvSpPr>
        <p:spPr>
          <a:xfrm>
            <a:off x="1028700" y="2266950"/>
            <a:ext cx="6477000" cy="28575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AC0E0E-918C-4690-87C2-6DB444356752}"/>
              </a:ext>
            </a:extLst>
          </p:cNvPr>
          <p:cNvSpPr>
            <a:spLocks noGrp="1"/>
          </p:cNvSpPr>
          <p:nvPr/>
        </p:nvSpPr>
        <p:spPr>
          <a:xfrm>
            <a:off x="1171575" y="2181225"/>
            <a:ext cx="171450" cy="171450"/>
          </a:xfrm>
          <a:prstGeom prst="rect">
            <a:avLst/>
          </a:prstGeom>
          <a:solidFill>
            <a:srgbClr val="8DB600"/>
          </a:solidFill>
          <a:ln w="11430">
            <a:solidFill>
              <a:srgbClr val="8DB600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8A381D-37FE-484D-A9C1-0241186D6BC2}"/>
              </a:ext>
            </a:extLst>
          </p:cNvPr>
          <p:cNvSpPr>
            <a:spLocks noGrp="1"/>
          </p:cNvSpPr>
          <p:nvPr/>
        </p:nvSpPr>
        <p:spPr>
          <a:xfrm>
            <a:off x="714375" y="1619250"/>
            <a:ext cx="1047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7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Month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01E152-F30F-491B-B259-A5C82368A09E}"/>
              </a:ext>
            </a:extLst>
          </p:cNvPr>
          <p:cNvSpPr>
            <a:spLocks noGrp="1"/>
          </p:cNvSpPr>
          <p:nvPr/>
        </p:nvSpPr>
        <p:spPr>
          <a:xfrm>
            <a:off x="714375" y="1885950"/>
            <a:ext cx="10477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literature</a:t>
            </a:r>
          </a:p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final RQ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BCCE1-FD19-4209-9130-C6812643D143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1047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done / draft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2FBE2C-488C-4B1C-9A44-429E032A8176}"/>
              </a:ext>
            </a:extLst>
          </p:cNvPr>
          <p:cNvSpPr>
            <a:spLocks noGrp="1"/>
          </p:cNvSpPr>
          <p:nvPr/>
        </p:nvSpPr>
        <p:spPr>
          <a:xfrm>
            <a:off x="2457450" y="2181225"/>
            <a:ext cx="171450" cy="171450"/>
          </a:xfrm>
          <a:prstGeom prst="rect">
            <a:avLst/>
          </a:prstGeom>
          <a:solidFill>
            <a:srgbClr val="8DB600"/>
          </a:solidFill>
          <a:ln w="11430">
            <a:solidFill>
              <a:srgbClr val="8DB600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F30CED-8804-4FBF-9119-75D40367E7D4}"/>
              </a:ext>
            </a:extLst>
          </p:cNvPr>
          <p:cNvSpPr>
            <a:spLocks noGrp="1"/>
          </p:cNvSpPr>
          <p:nvPr/>
        </p:nvSpPr>
        <p:spPr>
          <a:xfrm>
            <a:off x="2000250" y="1619250"/>
            <a:ext cx="1047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7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Month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B83991-1566-425F-9873-677B5883E93B}"/>
              </a:ext>
            </a:extLst>
          </p:cNvPr>
          <p:cNvSpPr>
            <a:spLocks noGrp="1"/>
          </p:cNvSpPr>
          <p:nvPr/>
        </p:nvSpPr>
        <p:spPr>
          <a:xfrm>
            <a:off x="2000250" y="1885950"/>
            <a:ext cx="10477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stimuli</a:t>
            </a:r>
          </a:p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pseudowords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EA2CAE-AF86-4FE8-8A3F-3DB89E33A532}"/>
              </a:ext>
            </a:extLst>
          </p:cNvPr>
          <p:cNvSpPr>
            <a:spLocks noGrp="1"/>
          </p:cNvSpPr>
          <p:nvPr/>
        </p:nvSpPr>
        <p:spPr>
          <a:xfrm>
            <a:off x="2000250" y="2571750"/>
            <a:ext cx="1047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done / draft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2C81E3-AF08-4994-80BE-1F7C4810576F}"/>
              </a:ext>
            </a:extLst>
          </p:cNvPr>
          <p:cNvSpPr>
            <a:spLocks noGrp="1"/>
          </p:cNvSpPr>
          <p:nvPr/>
        </p:nvSpPr>
        <p:spPr>
          <a:xfrm>
            <a:off x="3743325" y="2181225"/>
            <a:ext cx="171450" cy="171450"/>
          </a:xfrm>
          <a:prstGeom prst="rect">
            <a:avLst/>
          </a:prstGeom>
          <a:solidFill>
            <a:srgbClr val="8DB600"/>
          </a:solidFill>
          <a:ln w="11430">
            <a:solidFill>
              <a:srgbClr val="8DB600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6A0509-6C23-4954-A23E-75E16A1AD11C}"/>
              </a:ext>
            </a:extLst>
          </p:cNvPr>
          <p:cNvSpPr>
            <a:spLocks noGrp="1"/>
          </p:cNvSpPr>
          <p:nvPr/>
        </p:nvSpPr>
        <p:spPr>
          <a:xfrm>
            <a:off x="3286125" y="1619250"/>
            <a:ext cx="1047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7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Month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6269E1-AE4A-4742-84F8-FFEF40A0277A}"/>
              </a:ext>
            </a:extLst>
          </p:cNvPr>
          <p:cNvSpPr>
            <a:spLocks noGrp="1"/>
          </p:cNvSpPr>
          <p:nvPr/>
        </p:nvSpPr>
        <p:spPr>
          <a:xfrm>
            <a:off x="3286125" y="1885950"/>
            <a:ext cx="10477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PsychoPy /</a:t>
            </a:r>
          </a:p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Pavlovia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252DFF-D72F-459F-9324-B84121A43068}"/>
              </a:ext>
            </a:extLst>
          </p:cNvPr>
          <p:cNvSpPr>
            <a:spLocks noGrp="1"/>
          </p:cNvSpPr>
          <p:nvPr/>
        </p:nvSpPr>
        <p:spPr>
          <a:xfrm>
            <a:off x="3286125" y="2571750"/>
            <a:ext cx="1047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done / draft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686183-2A79-4E4F-80F3-A0333BACE4C4}"/>
              </a:ext>
            </a:extLst>
          </p:cNvPr>
          <p:cNvSpPr>
            <a:spLocks noGrp="1"/>
          </p:cNvSpPr>
          <p:nvPr/>
        </p:nvSpPr>
        <p:spPr>
          <a:xfrm>
            <a:off x="5029200" y="2181225"/>
            <a:ext cx="171450" cy="171450"/>
          </a:xfrm>
          <a:prstGeom prst="rect">
            <a:avLst/>
          </a:prstGeom>
          <a:solidFill>
            <a:srgbClr val="8DB600"/>
          </a:solidFill>
          <a:ln w="11430">
            <a:solidFill>
              <a:srgbClr val="8DB600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BCBF65-D3FA-4B03-877E-A2C719B4BEE7}"/>
              </a:ext>
            </a:extLst>
          </p:cNvPr>
          <p:cNvSpPr>
            <a:spLocks noGrp="1"/>
          </p:cNvSpPr>
          <p:nvPr/>
        </p:nvSpPr>
        <p:spPr>
          <a:xfrm>
            <a:off x="4572000" y="1619250"/>
            <a:ext cx="1047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7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Month 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17CF12-6F8A-49C4-AF99-1C99851862A9}"/>
              </a:ext>
            </a:extLst>
          </p:cNvPr>
          <p:cNvSpPr>
            <a:spLocks noGrp="1"/>
          </p:cNvSpPr>
          <p:nvPr/>
        </p:nvSpPr>
        <p:spPr>
          <a:xfrm>
            <a:off x="4572000" y="1885950"/>
            <a:ext cx="10477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data</a:t>
            </a:r>
          </a:p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collection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148E44-DC92-4070-A119-CC526C753BE4}"/>
              </a:ext>
            </a:extLst>
          </p:cNvPr>
          <p:cNvSpPr>
            <a:spLocks noGrp="1"/>
          </p:cNvSpPr>
          <p:nvPr/>
        </p:nvSpPr>
        <p:spPr>
          <a:xfrm>
            <a:off x="4572000" y="2571750"/>
            <a:ext cx="1047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done / draft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27C868-A635-46EE-BC76-C15B12B059C7}"/>
              </a:ext>
            </a:extLst>
          </p:cNvPr>
          <p:cNvSpPr>
            <a:spLocks noGrp="1"/>
          </p:cNvSpPr>
          <p:nvPr/>
        </p:nvSpPr>
        <p:spPr>
          <a:xfrm>
            <a:off x="6315075" y="2181225"/>
            <a:ext cx="171450" cy="171450"/>
          </a:xfrm>
          <a:prstGeom prst="rect">
            <a:avLst/>
          </a:prstGeom>
          <a:solidFill>
            <a:srgbClr val="8DB600"/>
          </a:solidFill>
          <a:ln w="11430">
            <a:solidFill>
              <a:srgbClr val="8DB600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88256B-7107-40E9-BC7B-D4D7A2B27B6D}"/>
              </a:ext>
            </a:extLst>
          </p:cNvPr>
          <p:cNvSpPr>
            <a:spLocks noGrp="1"/>
          </p:cNvSpPr>
          <p:nvPr/>
        </p:nvSpPr>
        <p:spPr>
          <a:xfrm>
            <a:off x="5857875" y="1619250"/>
            <a:ext cx="1047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7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Month 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2B8987-2DBE-4CB0-AEB8-4C8A9CAC26C6}"/>
              </a:ext>
            </a:extLst>
          </p:cNvPr>
          <p:cNvSpPr>
            <a:spLocks noGrp="1"/>
          </p:cNvSpPr>
          <p:nvPr/>
        </p:nvSpPr>
        <p:spPr>
          <a:xfrm>
            <a:off x="5857875" y="1885950"/>
            <a:ext cx="10477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cleaning/QC</a:t>
            </a:r>
          </a:p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 Markdown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0B3D43-ADE5-4E22-BEDC-96C54F1389E0}"/>
              </a:ext>
            </a:extLst>
          </p:cNvPr>
          <p:cNvSpPr>
            <a:spLocks noGrp="1"/>
          </p:cNvSpPr>
          <p:nvPr/>
        </p:nvSpPr>
        <p:spPr>
          <a:xfrm>
            <a:off x="5857875" y="2571750"/>
            <a:ext cx="1047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8DB60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8DB600"/>
                </a:solidFill>
                <a:latin typeface="Poppins"/>
                <a:ea typeface="Poppins"/>
                <a:cs typeface="Poppins"/>
              </a:rPr>
              <a:t>done / draft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F63343-93A3-49EF-A9DB-A5FC0531892F}"/>
              </a:ext>
            </a:extLst>
          </p:cNvPr>
          <p:cNvSpPr>
            <a:spLocks noGrp="1"/>
          </p:cNvSpPr>
          <p:nvPr/>
        </p:nvSpPr>
        <p:spPr>
          <a:xfrm>
            <a:off x="7600950" y="2181225"/>
            <a:ext cx="171450" cy="171450"/>
          </a:xfrm>
          <a:prstGeom prst="rect">
            <a:avLst/>
          </a:prstGeom>
          <a:solidFill>
            <a:srgbClr val="FFFFFF"/>
          </a:solidFill>
          <a:ln w="11430">
            <a:solidFill>
              <a:srgbClr val="8DB600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523F98-CABF-409B-85E3-9F90839BB0B8}"/>
              </a:ext>
            </a:extLst>
          </p:cNvPr>
          <p:cNvSpPr>
            <a:spLocks noGrp="1"/>
          </p:cNvSpPr>
          <p:nvPr/>
        </p:nvSpPr>
        <p:spPr>
          <a:xfrm>
            <a:off x="7143750" y="1619250"/>
            <a:ext cx="1047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75" b="1">
                <a:solidFill>
                  <a:srgbClr val="003A61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Month 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803D5E-2F95-424C-BA4B-916324CD2F61}"/>
              </a:ext>
            </a:extLst>
          </p:cNvPr>
          <p:cNvSpPr>
            <a:spLocks noGrp="1"/>
          </p:cNvSpPr>
          <p:nvPr/>
        </p:nvSpPr>
        <p:spPr>
          <a:xfrm>
            <a:off x="7143750" y="1885950"/>
            <a:ext cx="104775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final models</a:t>
            </a:r>
          </a:p>
          <a:p>
            <a:pPr algn="ctr">
              <a:defRPr sz="825">
                <a:solidFill>
                  <a:srgbClr val="263845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write-up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29C518-C225-47FE-A0DA-94D62A0C21C9}"/>
              </a:ext>
            </a:extLst>
          </p:cNvPr>
          <p:cNvSpPr>
            <a:spLocks noGrp="1"/>
          </p:cNvSpPr>
          <p:nvPr/>
        </p:nvSpPr>
        <p:spPr>
          <a:xfrm>
            <a:off x="7143750" y="2571750"/>
            <a:ext cx="1047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13" b="1">
                <a:solidFill>
                  <a:srgbClr val="63717A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next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BF27CA-C3E7-45F8-B562-B517214F5CA5}"/>
              </a:ext>
            </a:extLst>
          </p:cNvPr>
          <p:cNvSpPr>
            <a:spLocks noGrp="1"/>
          </p:cNvSpPr>
          <p:nvPr/>
        </p:nvSpPr>
        <p:spPr>
          <a:xfrm>
            <a:off x="1238250" y="3333750"/>
            <a:ext cx="6048375" cy="666750"/>
          </a:xfrm>
          <a:prstGeom prst="rect">
            <a:avLst/>
          </a:prstGeom>
          <a:solidFill>
            <a:srgbClr val="EEF4F8"/>
          </a:solidFill>
        </p:spPr>
        <p:txBody>
          <a:bodyPr lIns="0" tIns="0" rIns="0" bIns="0"/>
          <a:lstStyle/>
          <a:p>
            <a:r>
              <a:rPr sz="100">
                <a:solidFill>
                  <a:srgbClr val="EEF4F8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EC9C3A-BE10-45EF-ADCF-7933B3ED86C9}"/>
              </a:ext>
            </a:extLst>
          </p:cNvPr>
          <p:cNvSpPr>
            <a:spLocks noGrp="1"/>
          </p:cNvSpPr>
          <p:nvPr/>
        </p:nvSpPr>
        <p:spPr>
          <a:xfrm>
            <a:off x="1352550" y="3429000"/>
            <a:ext cx="5819775" cy="1905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00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Current position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D7AE49-1F86-4790-9300-CED1D5D6B9E2}"/>
              </a:ext>
            </a:extLst>
          </p:cNvPr>
          <p:cNvSpPr>
            <a:spLocks noGrp="1"/>
          </p:cNvSpPr>
          <p:nvPr/>
        </p:nvSpPr>
        <p:spPr>
          <a:xfrm>
            <a:off x="1352550" y="3657600"/>
            <a:ext cx="5819775" cy="2667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97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Data collection, cleaning, first R Markdown analysis, figures, tables, and diagnostics are ready. Final interpretation and write-up still need review.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8D5F4AF-B581-4612-BA47-DF6BBED5D7A1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15D05E-121B-47C3-8101-D90C0C5B83BF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26 | REFERENCES 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5C1A52-B72F-4B6B-B911-C9B62DED9041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Selected sources for orthography, lexical decision, frequency, and methods.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6DC204-3B87-487C-8C57-3AA663F617A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BC4E19-DFC6-4776-A94C-793CFEC7719E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Baayen, R. H. (2008). Analyzing linguistic data. Cambridge University Press. https://doi.org/10.1017/CBO9780511801686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5F6173-F27A-4295-890B-6FFEB67B3EE9}"/>
              </a:ext>
            </a:extLst>
          </p:cNvPr>
          <p:cNvSpPr>
            <a:spLocks noGrp="1"/>
          </p:cNvSpPr>
          <p:nvPr/>
        </p:nvSpPr>
        <p:spPr>
          <a:xfrm>
            <a:off x="552450" y="18288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Baayen, R. H., Davidson, D. J., &amp; Bates, D. M. (2008). Mixed-effects modeling with crossed random effects. Journal of Memory and Language, 59(4), 390-412. https://doi.org/10.1016/j.jml.2007.12.005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4BE551-E089-480C-8E1E-703725E33B19}"/>
              </a:ext>
            </a:extLst>
          </p:cNvPr>
          <p:cNvSpPr>
            <a:spLocks noGrp="1"/>
          </p:cNvSpPr>
          <p:nvPr/>
        </p:nvSpPr>
        <p:spPr>
          <a:xfrm>
            <a:off x="552450" y="24765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Balota, D. A., &amp; Chumbley, J. I. (1984). Are lexical decisions a good measure of lexical access? JEP: HPP, 10(3), 340-357. https://doi.org/10.1037/0096-1523.10.3.340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89856-3A8B-41CF-9CED-1258C8F7E88F}"/>
              </a:ext>
            </a:extLst>
          </p:cNvPr>
          <p:cNvSpPr>
            <a:spLocks noGrp="1"/>
          </p:cNvSpPr>
          <p:nvPr/>
        </p:nvSpPr>
        <p:spPr>
          <a:xfrm>
            <a:off x="552450" y="31242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Bates, D., Mächler, M., Bolker, B., &amp; Walker, S. (2015). Fitting linear mixed-effects models using lme4. Journal of Statistical Software, 67(1), 1-48. https://doi.org/10.18637/jss.v067.i01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8291C4-75B6-418C-BBC8-12F155AAE65E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Brysbaert, M., Mandera, P., &amp; Keuleers, E. (2018). The word frequency effect in word processing. Current Directions in Psychological Science, 27(1), 45-50. https://doi.org/10.1177/0963721417727521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483569-4C40-4244-A9BE-84C1DD9A7D68}"/>
              </a:ext>
            </a:extLst>
          </p:cNvPr>
          <p:cNvSpPr>
            <a:spLocks noGrp="1"/>
          </p:cNvSpPr>
          <p:nvPr/>
        </p:nvSpPr>
        <p:spPr>
          <a:xfrm>
            <a:off x="4552950" y="11811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DeFrancis, J. (1977). Colonialism and language policy in Viet Nam. De Gruyter Mouton. https://doi.org/10.1515/9783110802405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C14419-CD18-497D-B832-986CDA0EC91A}"/>
              </a:ext>
            </a:extLst>
          </p:cNvPr>
          <p:cNvSpPr>
            <a:spLocks noGrp="1"/>
          </p:cNvSpPr>
          <p:nvPr/>
        </p:nvSpPr>
        <p:spPr>
          <a:xfrm>
            <a:off x="4552950" y="18288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Encyclopaedia Britannica. (2026). Quoc-ngu. https://www.britannica.com/topic/Quoc-ngu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34B379-42B1-477B-9990-39CB19945C71}"/>
              </a:ext>
            </a:extLst>
          </p:cNvPr>
          <p:cNvSpPr>
            <a:spLocks noGrp="1"/>
          </p:cNvSpPr>
          <p:nvPr/>
        </p:nvSpPr>
        <p:spPr>
          <a:xfrm>
            <a:off x="4552950" y="24765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Đinh, Q. T., Lê, H. P., Nguyễn, T. M. H., Nguyễn, C. T., Rossignol, M., &amp; Vũ, X. L. (2008). Word segmentation of Vietnamese texts: A comparison of approaches. LREC 2008. https://aclanthology.org/L08-1355/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299227-0E62-46F6-86A6-30036994B26D}"/>
              </a:ext>
            </a:extLst>
          </p:cNvPr>
          <p:cNvSpPr>
            <a:spLocks noGrp="1"/>
          </p:cNvSpPr>
          <p:nvPr/>
        </p:nvSpPr>
        <p:spPr>
          <a:xfrm>
            <a:off x="4552950" y="31242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15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Fernandes, G., &amp; Assunção, C. (2017). First codification of Vietnamese by 17th-century missionaries. Histoire Épistémologie Langage, 39(1), 155-176. https://doi.org/10.3406/hel.2017.3592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8D222B1-45F2-4916-831C-CE2CD4A40D72}"/>
              </a:ext>
            </a:extLst>
          </p:cNvPr>
          <p:cNvSpPr>
            <a:spLocks noGrp="1"/>
          </p:cNvSpPr>
          <p:nvPr/>
        </p:nvSpPr>
        <p:spPr>
          <a:xfrm>
            <a:off x="476250" y="419100"/>
            <a:ext cx="209550" cy="38100"/>
          </a:xfrm>
          <a:prstGeom prst="rect">
            <a:avLst/>
          </a:prstGeom>
          <a:solidFill>
            <a:srgbClr val="8DB600"/>
          </a:solidFill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D3EE3A-339F-4D4B-A1F4-F02FC0175103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5143500" cy="1714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750" b="1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27 | REFERENCES II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F234C6-ABC5-4AF2-8E07-2FB043737504}"/>
              </a:ext>
            </a:extLst>
          </p:cNvPr>
          <p:cNvSpPr>
            <a:spLocks noGrp="1"/>
          </p:cNvSpPr>
          <p:nvPr/>
        </p:nvSpPr>
        <p:spPr>
          <a:xfrm>
            <a:off x="476250" y="542925"/>
            <a:ext cx="7429500" cy="5143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2175" b="1">
                <a:solidFill>
                  <a:srgbClr val="003A61"/>
                </a:solidFill>
                <a:latin typeface="Poppins"/>
                <a:ea typeface="Poppins"/>
                <a:cs typeface="Poppins"/>
              </a:rPr>
              <a:t>Selected sources for pseudowords, software, and RT handling.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468859-6851-47F0-8293-330AA2890F90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2571750" cy="1428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638">
                <a:solidFill>
                  <a:srgbClr val="63717A"/>
                </a:solidFill>
                <a:latin typeface="Poppins"/>
                <a:ea typeface="Poppins"/>
                <a:cs typeface="Poppins"/>
              </a:rPr>
              <a:t>Vietnamese LDT | RP2 Colloquium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FC4B8E-B9CF-4A44-86C9-37AF6C36F5B0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Ha, L. A. (2003). A method for word segmentation in Vietnamese. Proceedings of Corpus Linguistics 2003, 282-287.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181E38-ED51-46EE-8369-E17B9A265F37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Keuleers, E., &amp; Brysbaert, M. (2010). Wuggy: A multilingual pseudoword generator. Behavior Research Methods, 42(3), 627-633. https://doi.org/10.3758/BRM.42.3.627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3163B-0721-4C73-8216-3256129E7B1C}"/>
              </a:ext>
            </a:extLst>
          </p:cNvPr>
          <p:cNvSpPr>
            <a:spLocks noGrp="1"/>
          </p:cNvSpPr>
          <p:nvPr/>
        </p:nvSpPr>
        <p:spPr>
          <a:xfrm>
            <a:off x="552450" y="207645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McKinney, W. (2010). Data structures for statistical computing in Python. Proceedings of the 9th Python in Science Conference, 56-61. https://doi.org/10.25080/Majora-92bf1922-00a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A9BB5D-71CD-4713-9DB9-4ECB926029E3}"/>
              </a:ext>
            </a:extLst>
          </p:cNvPr>
          <p:cNvSpPr>
            <a:spLocks noGrp="1"/>
          </p:cNvSpPr>
          <p:nvPr/>
        </p:nvSpPr>
        <p:spPr>
          <a:xfrm>
            <a:off x="552450" y="255270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Meyer, D. E., &amp; Schvaneveldt, R. W. (1971). Facilitation in recognizing pairs of words. Journal of Experimental Psychology, 90(2), 227-234. https://doi.org/10.1037/h0031564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52A87D-EC37-40CF-8C11-62BE26B0C687}"/>
              </a:ext>
            </a:extLst>
          </p:cNvPr>
          <p:cNvSpPr>
            <a:spLocks noGrp="1"/>
          </p:cNvSpPr>
          <p:nvPr/>
        </p:nvSpPr>
        <p:spPr>
          <a:xfrm>
            <a:off x="552450" y="302895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New, B., Ferrand, L., Pallier, C., &amp; Brysbaert, M. (2006). Reexamining the word length effect. Psychonomic Bulletin &amp; Review, 13(1), 45-52. https://doi.org/10.3758/BF03193811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38EDD2-D372-4D69-97C7-9802ED5594BD}"/>
              </a:ext>
            </a:extLst>
          </p:cNvPr>
          <p:cNvSpPr>
            <a:spLocks noGrp="1"/>
          </p:cNvSpPr>
          <p:nvPr/>
        </p:nvSpPr>
        <p:spPr>
          <a:xfrm>
            <a:off x="552450" y="350520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Peirce, J. W., Gray, J. R., Simpson, S., MacAskill, M. R., Höchenberger, R., Sogo, H., Kastman, E., &amp; Lindeløv, J. K. (2019). PsychoPy2. Behavior Research Methods, 51, 195-203. https://doi.org/10.3758/s13428-018-01193-y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B752ED-D023-4E6D-B27A-04C925121AE4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Pham, H., &amp; Baayen, H. (2015). Vietnamese compounds show an anti-frequency effect in visual lexical decision. Language, Cognition and Neuroscience, 30(9), 1077-1095. https://doi.org/10.1080/23273798.2015.1054844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B28E13-3AFE-4B43-B9EA-A1B38FD5B5B1}"/>
              </a:ext>
            </a:extLst>
          </p:cNvPr>
          <p:cNvSpPr>
            <a:spLocks noGrp="1"/>
          </p:cNvSpPr>
          <p:nvPr/>
        </p:nvSpPr>
        <p:spPr>
          <a:xfrm>
            <a:off x="4552950" y="112395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Pham, H., Tucker, B. V., &amp; Baayen, R. H. (2019). Constructing two Vietnamese corpora and building a lexical database. Language Resources and Evaluation, 53(3), 465-498. https://doi.org/10.1007/s10579-019-09451-x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DAC68F-A87F-412A-9825-78DFC19CB1C4}"/>
              </a:ext>
            </a:extLst>
          </p:cNvPr>
          <p:cNvSpPr>
            <a:spLocks noGrp="1"/>
          </p:cNvSpPr>
          <p:nvPr/>
        </p:nvSpPr>
        <p:spPr>
          <a:xfrm>
            <a:off x="4552950" y="160020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 Core Team. (2026). R: A language and environment for statistical computing. R Foundation for Statistical Computing. https://doi.org/10.32614/R.manuals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98909-9597-4D8B-B609-38D8507B9C1B}"/>
              </a:ext>
            </a:extLst>
          </p:cNvPr>
          <p:cNvSpPr>
            <a:spLocks noGrp="1"/>
          </p:cNvSpPr>
          <p:nvPr/>
        </p:nvSpPr>
        <p:spPr>
          <a:xfrm>
            <a:off x="4552950" y="207645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Ratcliff, R. (1993). Methods for dealing with reaction time outliers. Psychological Bulletin, 114(3), 510-532. https://doi.org/10.1037/0033-2909.114.3.510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FFA29E-6552-49AB-9AF4-925C1978257E}"/>
              </a:ext>
            </a:extLst>
          </p:cNvPr>
          <p:cNvSpPr>
            <a:spLocks noGrp="1"/>
          </p:cNvSpPr>
          <p:nvPr/>
        </p:nvSpPr>
        <p:spPr>
          <a:xfrm>
            <a:off x="4552950" y="255270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Verdonschot, R. G., Hoàng, T. L. P., &amp; Tamaoka, K. (2022). Phonological encoding in Vietnamese. Quarterly Journal of Experimental Psychology, 75(7), 1355-1366. https://doi.org/10.1177/17470218211053244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1377BA-0E72-4149-BD4D-D60A19FA9478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Whelan, R. (2008). Effective analysis of reaction time data. The Psychological Record, 58(3), 475-482. https://doi.org/10.1007/BF03395630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91CC54-5433-4957-938A-ABE4D254835C}"/>
              </a:ext>
            </a:extLst>
          </p:cNvPr>
          <p:cNvSpPr>
            <a:spLocks noGrp="1"/>
          </p:cNvSpPr>
          <p:nvPr/>
        </p:nvSpPr>
        <p:spPr>
          <a:xfrm>
            <a:off x="4552950" y="3505200"/>
            <a:ext cx="3762375" cy="40005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sz="570">
                <a:solidFill>
                  <a:srgbClr val="263845"/>
                </a:solidFill>
                <a:latin typeface="Poppins"/>
                <a:ea typeface="Poppins"/>
                <a:cs typeface="Poppins"/>
              </a:rPr>
              <a:t>Yap, M. J., &amp; Balota, D. A. (2009). Visual word recognition of multisyllabic words. Journal of Memory and Language, 60(4), 502-529. https://doi.org/10.1016/j.jml.2009.02.001</a:t>
            </a:r>
          </a:p>
        </p:txBody>
      </p:sp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234440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03656"/>
                </a:solidFill>
              </a:rPr>
              <a:t>Thank you for</a:t>
            </a:r>
            <a:br/>
            <a:r>
              <a:rPr sz="4000" b="1">
                <a:solidFill>
                  <a:srgbClr val="003656"/>
                </a:solidFill>
              </a:rPr>
              <a:t>your attention!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88920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3656"/>
                </a:solidFill>
              </a:rPr>
              <a:t>Vietnamese Lexical Decision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6126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3656"/>
                </a:solidFill>
              </a:rPr>
              <a:t>Dang Nhat Quang</a:t>
            </a:r>
            <a:br/>
            <a:r>
              <a:rPr sz="1400">
                <a:solidFill>
                  <a:srgbClr val="003656"/>
                </a:solidFill>
              </a:rPr>
              <a:t>Nhat.Dang@edu.ruhr-uni-bochum.de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4039</Words>
  <Application>Microsoft Office PowerPoint</Application>
  <DocSecurity>0</DocSecurity>
  <PresentationFormat>On-screen Show (16:9)</PresentationFormat>
  <Paragraphs>638</Paragraphs>
  <Slides>28</Slides>
  <Notes>27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Consolas</vt:lpstr>
      <vt:lpstr>Poppins</vt:lpstr>
      <vt:lpstr>RUB Scala MZ</vt:lpstr>
      <vt:lpstr>RubFlama</vt:lpstr>
      <vt:lpstr>PowerPoint Master RUB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Đặng Nhật Quang</cp:lastModifiedBy>
  <cp:revision>3</cp:revision>
  <dcterms:created xsi:type="dcterms:W3CDTF">2026-06-12T20:58:07Z</dcterms:created>
  <dcterms:modified xsi:type="dcterms:W3CDTF">2026-06-17T21:33:16Z</dcterms:modified>
</cp:coreProperties>
</file>